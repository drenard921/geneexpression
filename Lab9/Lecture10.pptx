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701" r:id="rId1"/>
  </p:sldMasterIdLst>
  <p:notesMasterIdLst>
    <p:notesMasterId r:id="rId37"/>
  </p:notesMasterIdLst>
  <p:sldIdLst>
    <p:sldId id="256" r:id="rId2"/>
    <p:sldId id="257" r:id="rId3"/>
    <p:sldId id="314" r:id="rId4"/>
    <p:sldId id="326" r:id="rId5"/>
    <p:sldId id="344" r:id="rId6"/>
    <p:sldId id="327" r:id="rId7"/>
    <p:sldId id="328" r:id="rId8"/>
    <p:sldId id="329" r:id="rId9"/>
    <p:sldId id="350" r:id="rId10"/>
    <p:sldId id="349" r:id="rId11"/>
    <p:sldId id="351" r:id="rId12"/>
    <p:sldId id="353" r:id="rId13"/>
    <p:sldId id="331" r:id="rId14"/>
    <p:sldId id="332" r:id="rId15"/>
    <p:sldId id="333" r:id="rId16"/>
    <p:sldId id="334" r:id="rId17"/>
    <p:sldId id="336" r:id="rId18"/>
    <p:sldId id="337" r:id="rId19"/>
    <p:sldId id="338" r:id="rId20"/>
    <p:sldId id="339" r:id="rId21"/>
    <p:sldId id="340" r:id="rId22"/>
    <p:sldId id="341" r:id="rId23"/>
    <p:sldId id="343" r:id="rId24"/>
    <p:sldId id="346" r:id="rId25"/>
    <p:sldId id="348" r:id="rId26"/>
    <p:sldId id="347" r:id="rId27"/>
    <p:sldId id="345" r:id="rId28"/>
    <p:sldId id="273" r:id="rId29"/>
    <p:sldId id="313" r:id="rId30"/>
    <p:sldId id="325" r:id="rId31"/>
    <p:sldId id="354" r:id="rId32"/>
    <p:sldId id="335" r:id="rId33"/>
    <p:sldId id="342" r:id="rId34"/>
    <p:sldId id="355" r:id="rId35"/>
    <p:sldId id="356" r:id="rId36"/>
  </p:sldIdLst>
  <p:sldSz cx="6400800" cy="48006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3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3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3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3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12">
          <p15:clr>
            <a:srgbClr val="A4A3A4"/>
          </p15:clr>
        </p15:guide>
        <p15:guide id="2" pos="20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82" autoAdjust="0"/>
    <p:restoredTop sz="94793" autoAdjust="0"/>
  </p:normalViewPr>
  <p:slideViewPr>
    <p:cSldViewPr>
      <p:cViewPr varScale="1">
        <p:scale>
          <a:sx n="153" d="100"/>
          <a:sy n="153" d="100"/>
        </p:scale>
        <p:origin x="1632" y="160"/>
      </p:cViewPr>
      <p:guideLst>
        <p:guide orient="horz" pos="1512"/>
        <p:guide pos="201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>
            <a:extLst>
              <a:ext uri="{FF2B5EF4-FFF2-40B4-BE49-F238E27FC236}">
                <a16:creationId xmlns:a16="http://schemas.microsoft.com/office/drawing/2014/main" id="{0668D4F0-C71A-B16E-8908-391D219F865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8227" name="Rectangle 3">
            <a:extLst>
              <a:ext uri="{FF2B5EF4-FFF2-40B4-BE49-F238E27FC236}">
                <a16:creationId xmlns:a16="http://schemas.microsoft.com/office/drawing/2014/main" id="{0A8D3A35-B77D-8FC6-FAFD-64763130F78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D704F117-2E3E-E9CF-5FCE-64E694141042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8229" name="Rectangle 5">
            <a:extLst>
              <a:ext uri="{FF2B5EF4-FFF2-40B4-BE49-F238E27FC236}">
                <a16:creationId xmlns:a16="http://schemas.microsoft.com/office/drawing/2014/main" id="{985AA3BB-8D67-28E7-D3DD-A9467E19CE4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8230" name="Rectangle 6">
            <a:extLst>
              <a:ext uri="{FF2B5EF4-FFF2-40B4-BE49-F238E27FC236}">
                <a16:creationId xmlns:a16="http://schemas.microsoft.com/office/drawing/2014/main" id="{CEDFF324-BEA0-0A4D-200C-2B1D5F7B1D4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8231" name="Rectangle 7">
            <a:extLst>
              <a:ext uri="{FF2B5EF4-FFF2-40B4-BE49-F238E27FC236}">
                <a16:creationId xmlns:a16="http://schemas.microsoft.com/office/drawing/2014/main" id="{830F4E8F-809D-958E-E348-8EDA21EDD6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3F19430-EBCA-7B4A-B1D8-211F49EAA8A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257D4F07-3769-5FD8-B3FC-4A9F79DBB4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1F07A41-6582-2A45-9D79-CE4585C0332B}" type="slidenum">
              <a:rPr lang="en-US" altLang="en-US" sz="1200"/>
              <a:pPr eaLnBrk="1" hangingPunct="1"/>
              <a:t>1</a:t>
            </a:fld>
            <a:endParaRPr lang="en-US" altLang="en-US" sz="12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4D0713B1-D3D3-F5D6-33B5-4AE2C9E07F5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5ECDE5DA-0C30-9E77-0DF6-4D02F6E4D4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715268F6-F02B-5136-2207-6BEE894D00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7349962-823A-D543-B62A-3C870C77077D}" type="slidenum">
              <a:rPr lang="en-US" altLang="en-US" sz="1200"/>
              <a:pPr eaLnBrk="1" hangingPunct="1"/>
              <a:t>2</a:t>
            </a:fld>
            <a:endParaRPr lang="en-US" altLang="en-US" sz="12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791E9771-B1FD-3A95-9B7F-90CB1788666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75B75695-EC12-2F7C-7F6B-8136AF150F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5BCE080D-954C-BFE1-4609-7713EA0A2A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EE3EA69-B618-A04E-B0DF-167EF9B1032D}" type="slidenum">
              <a:rPr lang="en-US" altLang="en-US" sz="1200"/>
              <a:pPr eaLnBrk="1" hangingPunct="1"/>
              <a:t>3</a:t>
            </a:fld>
            <a:endParaRPr lang="en-US" altLang="en-US" sz="12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06A646C2-3B94-21BF-2AB4-BFCCB54ED00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A23962F8-9634-C4B8-ADAA-249A973ED0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E29C5BA4-E268-CE3E-1C87-911F609ECB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6C8413A-3B31-3145-8F6C-AE29410C76C1}" type="slidenum">
              <a:rPr lang="en-US" altLang="en-US" sz="1200"/>
              <a:pPr eaLnBrk="1" hangingPunct="1"/>
              <a:t>4</a:t>
            </a:fld>
            <a:endParaRPr lang="en-US" altLang="en-US" sz="120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19CA440D-C0B0-C14B-C1C1-BF805732D53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86BC6E4A-01D1-C894-6855-0EB6F689CF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87C80999-5651-C21B-D7F6-FE9283C426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474EB09-626E-5C4B-AC79-1C2456E92B1C}" type="slidenum">
              <a:rPr lang="en-US" altLang="en-US" sz="1200"/>
              <a:pPr eaLnBrk="1" hangingPunct="1"/>
              <a:t>5</a:t>
            </a:fld>
            <a:endParaRPr lang="en-US" altLang="en-US" sz="12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9330EE82-622E-4B48-8C4B-B03B3F974FA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1287DB2D-5E09-F052-47A7-540379ED7E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73D702F5-D139-E85B-2FAC-FAEC044E4F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FB5FA90-BAEB-FB4E-87F5-57B04CC70B1C}" type="slidenum">
              <a:rPr lang="en-US" altLang="en-US" sz="1200"/>
              <a:pPr eaLnBrk="1" hangingPunct="1"/>
              <a:t>6</a:t>
            </a:fld>
            <a:endParaRPr lang="en-US" altLang="en-US" sz="120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8F529C6D-3506-34E6-34DB-6B8865BF15F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0A28985F-88D2-FE26-5E52-14F3743C46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856F6E9B-D166-06B0-E0CD-11CE6C3FAC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958698F-F611-EE4A-871E-B0E619828C37}" type="slidenum">
              <a:rPr lang="en-US" altLang="en-US" sz="1200"/>
              <a:pPr eaLnBrk="1" hangingPunct="1"/>
              <a:t>7</a:t>
            </a:fld>
            <a:endParaRPr lang="en-US" altLang="en-US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E341C120-DC1E-B2DF-CFA6-573254E483A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D10FBA81-9DD9-8E44-23BA-3B9BBA9120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1F8FD776-6426-F038-C329-E88C0620EB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E51A3E8-96C7-D544-950B-0C4BE22603A6}" type="slidenum">
              <a:rPr lang="en-US" altLang="en-US" sz="1200"/>
              <a:pPr eaLnBrk="1" hangingPunct="1"/>
              <a:t>8</a:t>
            </a:fld>
            <a:endParaRPr lang="en-US" altLang="en-US" sz="12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01598BA5-3B10-7D6D-D433-1273C544D43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5A2E0935-C39C-7BB3-CF72-9AC52F9B30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7C088154-FB44-0F54-CBBA-9342F7D491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49E2E50-B96B-5F4E-A288-712D0B18AA92}" type="slidenum">
              <a:rPr lang="en-US" altLang="en-US" sz="1200"/>
              <a:pPr eaLnBrk="1" hangingPunct="1"/>
              <a:t>9</a:t>
            </a:fld>
            <a:endParaRPr lang="en-US" altLang="en-US" sz="12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F0301D9A-3D1E-04DD-F3B6-83CD32CC30E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B76771F1-AC09-4F4C-922D-D74522BB99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EF75F7C4-56A3-8BEF-0B92-1CF16E294D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A27EBB4-E5ED-384C-ADB7-D0A5D28D6EFE}" type="slidenum">
              <a:rPr lang="en-US" altLang="en-US" sz="1200"/>
              <a:pPr eaLnBrk="1" hangingPunct="1"/>
              <a:t>10</a:t>
            </a:fld>
            <a:endParaRPr lang="en-US" altLang="en-US" sz="12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4F28B7D6-7B4B-CBB3-0441-71256FD233C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10A83517-8529-6293-F304-6E127339F9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75FEBC3F-F0D8-DA30-F4C6-339662933B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2758E13-6465-864B-BC20-567831EAA1BA}" type="slidenum">
              <a:rPr lang="en-US" altLang="en-US" sz="1200"/>
              <a:pPr eaLnBrk="1" hangingPunct="1"/>
              <a:t>11</a:t>
            </a:fld>
            <a:endParaRPr lang="en-US" altLang="en-US" sz="12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B62EB3F9-97AE-1405-6F3B-32BB6054B38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6A9A19D7-4309-D1E2-C0CF-F10EA56A92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90C0EED9-FA57-4306-88C9-521A773E59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C76BDF3-18CB-364C-B9A8-D863EEAF545A}" type="slidenum">
              <a:rPr lang="en-US" altLang="en-US" sz="1200"/>
              <a:pPr eaLnBrk="1" hangingPunct="1"/>
              <a:t>12</a:t>
            </a:fld>
            <a:endParaRPr lang="en-US" altLang="en-US" sz="12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2BECC122-AD87-719C-59CE-D5DE1890D97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082CBBC9-B52D-EC7A-E707-60C0B945DC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C082922F-F9BD-4310-74C2-53854A4F58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E3D21A5-2A8A-8143-B099-FA089E5C0710}" type="slidenum">
              <a:rPr lang="en-US" altLang="en-US" sz="1200"/>
              <a:pPr eaLnBrk="1" hangingPunct="1"/>
              <a:t>13</a:t>
            </a:fld>
            <a:endParaRPr lang="en-US" altLang="en-US" sz="12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A9E5D5F6-F364-3B62-070B-6D83855E6DB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057FD076-BF29-13F2-4D57-01564CC2CA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AF8F4328-1FC1-E054-E59C-5F69F223D7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3AE0203-7F39-B640-B2CE-9E5339066FCE}" type="slidenum">
              <a:rPr lang="en-US" altLang="en-US" sz="1200"/>
              <a:pPr eaLnBrk="1" hangingPunct="1"/>
              <a:t>14</a:t>
            </a:fld>
            <a:endParaRPr lang="en-US" altLang="en-US" sz="12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A7B9D1A8-0D83-49C9-DF53-B9462F9529F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38CF21A6-0238-FB43-DE6A-76A2925A9A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32B01057-5F16-6812-CC09-79FB7F3A9B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34A84EA-6C6C-C046-BE39-EA74F7ED8740}" type="slidenum">
              <a:rPr lang="en-US" altLang="en-US" sz="1200"/>
              <a:pPr eaLnBrk="1" hangingPunct="1"/>
              <a:t>15</a:t>
            </a:fld>
            <a:endParaRPr lang="en-US" altLang="en-US" sz="12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DFD29C1E-70CA-D351-D6B4-9F66C86516A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95193A30-64FE-AE06-839B-E636C75290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00599943-7705-0479-BFD8-65810EED8D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24E6820-4DFA-054D-B803-D880B42CE651}" type="slidenum">
              <a:rPr lang="en-US" altLang="en-US" sz="1200"/>
              <a:pPr eaLnBrk="1" hangingPunct="1"/>
              <a:t>16</a:t>
            </a:fld>
            <a:endParaRPr lang="en-US" altLang="en-US" sz="12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8EA4F36B-10D2-FF2F-E078-4B2EC876268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B505FEC6-1CF2-070F-6CA0-AB66E921D4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880D04D8-99F9-3FE1-A467-CDD83E18CC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16BF291-7A26-6548-BB3C-F224594B08A2}" type="slidenum">
              <a:rPr lang="en-US" altLang="en-US" sz="1200"/>
              <a:pPr eaLnBrk="1" hangingPunct="1"/>
              <a:t>17</a:t>
            </a:fld>
            <a:endParaRPr lang="en-US" altLang="en-US" sz="12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C56DE801-2691-214E-8127-4FA0C68EE75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9FCC9671-0975-BE5E-77FB-0B7F550696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74A03E7A-90F7-326B-7AD2-6F04DBD0C7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6E1EDD0-1081-6641-BA9D-5E125C83297D}" type="slidenum">
              <a:rPr lang="en-US" altLang="en-US" sz="1200"/>
              <a:pPr eaLnBrk="1" hangingPunct="1"/>
              <a:t>18</a:t>
            </a:fld>
            <a:endParaRPr lang="en-US" altLang="en-US" sz="12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EFD910C4-E7C2-A4B2-1065-C91FB59DE6C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B5DEE8EE-37AA-C9DD-1760-E1757EEEA3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EF6F4B7F-5AAC-08B5-AB5D-1497952FF6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5110B1D-2527-3A44-AE07-951A51953CBE}" type="slidenum">
              <a:rPr lang="en-US" altLang="en-US" sz="1200"/>
              <a:pPr eaLnBrk="1" hangingPunct="1"/>
              <a:t>19</a:t>
            </a:fld>
            <a:endParaRPr lang="en-US" altLang="en-US" sz="12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D9E36565-EA19-65C3-8A2F-B2EE7C98F24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369978ED-061A-E91B-C0B5-670FD5287D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A2F79059-3438-4512-516D-FD7795EB97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F30B710-F97A-4C47-8AFF-4F4942477C36}" type="slidenum">
              <a:rPr lang="en-US" altLang="en-US" sz="1200"/>
              <a:pPr eaLnBrk="1" hangingPunct="1"/>
              <a:t>20</a:t>
            </a:fld>
            <a:endParaRPr lang="en-US" altLang="en-US" sz="1200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3AFCB933-2F8C-F2C5-DD5E-FAEA8107ACF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7BD6EFE8-59F5-182C-A67F-26F9010837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42BF6E93-B15D-DF03-716B-D91C2BF8FB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BE70CA1-6DB7-6B44-BA58-FC1CFA0A42A3}" type="slidenum">
              <a:rPr lang="en-US" altLang="en-US" sz="1200"/>
              <a:pPr eaLnBrk="1" hangingPunct="1"/>
              <a:t>21</a:t>
            </a:fld>
            <a:endParaRPr lang="en-US" altLang="en-US" sz="12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1EFB91C3-6826-ECD5-08E7-CBAC4B9A9E0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F0F49403-F470-1439-63F9-816DA0D946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46D5188A-AA40-B30B-00FD-8696E4DB61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CDB7300-24F0-3246-846E-C47191C83ABD}" type="slidenum">
              <a:rPr lang="en-US" altLang="en-US" sz="1200"/>
              <a:pPr eaLnBrk="1" hangingPunct="1"/>
              <a:t>22</a:t>
            </a:fld>
            <a:endParaRPr lang="en-US" altLang="en-US" sz="12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780CC433-5773-96E1-523A-5A3B07E8B93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FEA5D532-1040-EA83-6FCC-A48CEE0758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4543EE0D-920F-89A1-EB1F-3B33127C8A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76C4D78-5E0B-8B48-B8D4-07D0F2E1CEC3}" type="slidenum">
              <a:rPr lang="en-US" altLang="en-US" sz="1200"/>
              <a:pPr eaLnBrk="1" hangingPunct="1"/>
              <a:t>23</a:t>
            </a:fld>
            <a:endParaRPr lang="en-US" altLang="en-US" sz="12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7A73651C-3BE1-6928-3DB9-33FB1B4770D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43F4E60E-1E4C-D25F-EA48-67ACA5B06F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71A3C34D-8A9C-0D92-A4AE-4B1FF65E8B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6F1F89F-17D6-1A4E-8C45-C7CCF32117A6}" type="slidenum">
              <a:rPr lang="en-US" altLang="en-US" sz="1200"/>
              <a:pPr eaLnBrk="1" hangingPunct="1"/>
              <a:t>24</a:t>
            </a:fld>
            <a:endParaRPr lang="en-US" altLang="en-US" sz="12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06980C18-87A5-AA4E-4442-FC8CA454E9A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AB32E881-A5C8-5EB4-CD82-5565188103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2459AB10-88B5-D9AE-7BAC-E4C334582B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5DD3062-E9A6-4B45-9C10-E9B492020665}" type="slidenum">
              <a:rPr lang="en-US" altLang="en-US" sz="1200"/>
              <a:pPr eaLnBrk="1" hangingPunct="1"/>
              <a:t>25</a:t>
            </a:fld>
            <a:endParaRPr lang="en-US" altLang="en-US" sz="12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F61A07A7-AD0A-3FA6-C4B9-B6437596961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730EDAE3-7643-F696-85D4-825B2AFE0D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11B72D0E-FE1F-15F6-ED90-B8671C4153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E33D7D0-8085-8746-A4EA-F67DECC82D4F}" type="slidenum">
              <a:rPr lang="en-US" altLang="en-US" sz="1200"/>
              <a:pPr eaLnBrk="1" hangingPunct="1"/>
              <a:t>26</a:t>
            </a:fld>
            <a:endParaRPr lang="en-US" altLang="en-US" sz="12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92FB3690-925B-98EE-A4D6-7F1687CC2DB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98FB0FDB-FA62-C105-83A3-6F1F0B9A26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BB9017F7-240C-3426-C7FB-0E7C24EEFD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EDC12C2-87FE-6F4A-BA6B-6E30FFD68672}" type="slidenum">
              <a:rPr lang="en-US" altLang="en-US" sz="1200"/>
              <a:pPr eaLnBrk="1" hangingPunct="1"/>
              <a:t>27</a:t>
            </a:fld>
            <a:endParaRPr lang="en-US" altLang="en-US" sz="1200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0A821ABB-9FDD-F2F5-8289-02E5963F3F5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0EEA2D70-3277-16DA-ED3D-677F19F101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82646054-146D-049D-C142-BD5D9A9143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45B878A-AFBD-644D-82D6-471113276C9F}" type="slidenum">
              <a:rPr lang="en-US" altLang="en-US" sz="1200"/>
              <a:pPr eaLnBrk="1" hangingPunct="1"/>
              <a:t>28</a:t>
            </a:fld>
            <a:endParaRPr lang="en-US" altLang="en-US" sz="1200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52015B4A-068A-C0FF-CB21-409AFF36E9A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B03B1212-05A5-FB7C-57CC-36A4CE422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731E59B2-EE6E-CD44-3335-62BEEF3C3C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510A851-9E2A-AA4C-AA33-CF1F22FEA95B}" type="slidenum">
              <a:rPr lang="en-US" altLang="en-US" sz="1200"/>
              <a:pPr eaLnBrk="1" hangingPunct="1"/>
              <a:t>29</a:t>
            </a:fld>
            <a:endParaRPr lang="en-US" altLang="en-US" sz="1200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1349BFC7-573F-886E-EB11-3123DC28F8D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6FEC14BA-85F6-3134-EAAA-59BD719159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D3C6C372-28E7-6888-AAE5-5F05CA7A08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F2BA1B1-D5C9-E247-A9AA-75C9BAB6DFF8}" type="slidenum">
              <a:rPr lang="en-US" altLang="en-US" sz="1200"/>
              <a:pPr eaLnBrk="1" hangingPunct="1"/>
              <a:t>30</a:t>
            </a:fld>
            <a:endParaRPr lang="en-US" altLang="en-US" sz="1200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EDBAA479-14BE-E504-2907-350C091B080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08C7338E-5C91-FB95-A597-8F9FDE8564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206BB8A1-64CD-83CD-2FFB-F562223A46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487CA84-9CAA-2D49-A1DC-EDC46C57EAA5}" type="slidenum">
              <a:rPr lang="en-US" altLang="en-US" sz="1200"/>
              <a:pPr eaLnBrk="1" hangingPunct="1"/>
              <a:t>32</a:t>
            </a:fld>
            <a:endParaRPr lang="en-US" altLang="en-US" sz="1200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662C5ADB-B7AF-BF51-03DF-6E06665BDA4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1B7B4E06-01D2-0EA1-3B39-32AF456264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CC3E5333-AD53-5460-89E1-EA71F3261B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A7A1334-62D2-0545-A35F-86B598031F54}" type="slidenum">
              <a:rPr lang="en-US" altLang="en-US" sz="1200"/>
              <a:pPr eaLnBrk="1" hangingPunct="1"/>
              <a:t>33</a:t>
            </a:fld>
            <a:endParaRPr lang="en-US" altLang="en-US" sz="1200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763DDE03-0D85-BCD1-6FD2-0BA4E983BC2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ECD041BB-7544-C447-E841-A6D5B51241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BE40C1B9-F1C0-F05E-E677-DCB17E44E4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AD22143-B4AB-0B4D-B174-D6720B4F00B5}" type="slidenum">
              <a:rPr lang="en-US" altLang="en-US" sz="1200"/>
              <a:pPr eaLnBrk="1" hangingPunct="1"/>
              <a:t>34</a:t>
            </a:fld>
            <a:endParaRPr lang="en-US" altLang="en-US" sz="1200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F090626F-A5CE-59CB-4687-08AA20F69DB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774095F8-2968-F3AC-35A7-32FD563D93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91C47D00-CCEA-E42C-7A87-766976A672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1481D71-3659-D547-8C46-98092CDCBD16}" type="slidenum">
              <a:rPr lang="en-US" altLang="en-US" sz="1200"/>
              <a:pPr eaLnBrk="1" hangingPunct="1"/>
              <a:t>35</a:t>
            </a:fld>
            <a:endParaRPr lang="en-US" altLang="en-US" sz="120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633FD2FC-DA97-3E84-781A-52AA644A8C6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F2C4E9F2-8E1B-0317-A216-F0B476969D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>
            <a:extLst>
              <a:ext uri="{FF2B5EF4-FFF2-40B4-BE49-F238E27FC236}">
                <a16:creationId xmlns:a16="http://schemas.microsoft.com/office/drawing/2014/main" id="{63049588-5892-5BC7-220E-62A89468B86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1275" y="746125"/>
            <a:ext cx="0" cy="31480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32A6741E-3337-D109-6409-DD8181930F5F}"/>
              </a:ext>
            </a:extLst>
          </p:cNvPr>
          <p:cNvGrpSpPr>
            <a:grpSpLocks/>
          </p:cNvGrpSpPr>
          <p:nvPr/>
        </p:nvGrpSpPr>
        <p:grpSpPr bwMode="auto">
          <a:xfrm>
            <a:off x="5245100" y="2093913"/>
            <a:ext cx="936625" cy="1533525"/>
            <a:chOff x="4704" y="1885"/>
            <a:chExt cx="843" cy="1379"/>
          </a:xfrm>
        </p:grpSpPr>
        <p:sp>
          <p:nvSpPr>
            <p:cNvPr id="4" name="Oval 9">
              <a:extLst>
                <a:ext uri="{FF2B5EF4-FFF2-40B4-BE49-F238E27FC236}">
                  <a16:creationId xmlns:a16="http://schemas.microsoft.com/office/drawing/2014/main" id="{940C9523-C30C-8943-91CE-D7C34A223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" name="Oval 10">
              <a:extLst>
                <a:ext uri="{FF2B5EF4-FFF2-40B4-BE49-F238E27FC236}">
                  <a16:creationId xmlns:a16="http://schemas.microsoft.com/office/drawing/2014/main" id="{57CA2640-EA3C-C8A3-B52D-CE8D509D4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" name="Oval 11">
              <a:extLst>
                <a:ext uri="{FF2B5EF4-FFF2-40B4-BE49-F238E27FC236}">
                  <a16:creationId xmlns:a16="http://schemas.microsoft.com/office/drawing/2014/main" id="{2BF5DD7F-8D24-43C0-5FE3-FD8C37BE9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" name="Oval 12">
              <a:extLst>
                <a:ext uri="{FF2B5EF4-FFF2-40B4-BE49-F238E27FC236}">
                  <a16:creationId xmlns:a16="http://schemas.microsoft.com/office/drawing/2014/main" id="{5BACF9BF-7484-6AAC-0892-4FD0205A0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" name="Oval 13">
              <a:extLst>
                <a:ext uri="{FF2B5EF4-FFF2-40B4-BE49-F238E27FC236}">
                  <a16:creationId xmlns:a16="http://schemas.microsoft.com/office/drawing/2014/main" id="{BD100B5D-B7EA-D567-E562-F61822DC4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" name="Oval 14">
              <a:extLst>
                <a:ext uri="{FF2B5EF4-FFF2-40B4-BE49-F238E27FC236}">
                  <a16:creationId xmlns:a16="http://schemas.microsoft.com/office/drawing/2014/main" id="{66C24EE2-EE09-F6B6-F122-2368BF143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" name="Oval 15">
              <a:extLst>
                <a:ext uri="{FF2B5EF4-FFF2-40B4-BE49-F238E27FC236}">
                  <a16:creationId xmlns:a16="http://schemas.microsoft.com/office/drawing/2014/main" id="{A534E5CE-71E2-B41F-28C9-A08648E97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" name="Oval 16">
              <a:extLst>
                <a:ext uri="{FF2B5EF4-FFF2-40B4-BE49-F238E27FC236}">
                  <a16:creationId xmlns:a16="http://schemas.microsoft.com/office/drawing/2014/main" id="{2F938142-2A03-7A62-C3E2-818446288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" name="Oval 17">
              <a:extLst>
                <a:ext uri="{FF2B5EF4-FFF2-40B4-BE49-F238E27FC236}">
                  <a16:creationId xmlns:a16="http://schemas.microsoft.com/office/drawing/2014/main" id="{B9449BCC-90F4-C028-847F-D8B94C543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" name="Oval 18">
              <a:extLst>
                <a:ext uri="{FF2B5EF4-FFF2-40B4-BE49-F238E27FC236}">
                  <a16:creationId xmlns:a16="http://schemas.microsoft.com/office/drawing/2014/main" id="{DF320D1A-DCDF-318C-1241-D0DB777AC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" name="Oval 19">
              <a:extLst>
                <a:ext uri="{FF2B5EF4-FFF2-40B4-BE49-F238E27FC236}">
                  <a16:creationId xmlns:a16="http://schemas.microsoft.com/office/drawing/2014/main" id="{C245D5B6-A22B-8903-5F08-8462A6088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5" name="Oval 20">
              <a:extLst>
                <a:ext uri="{FF2B5EF4-FFF2-40B4-BE49-F238E27FC236}">
                  <a16:creationId xmlns:a16="http://schemas.microsoft.com/office/drawing/2014/main" id="{A00B7E93-03CD-9D78-CBEF-AFEDFF5C0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" name="Oval 21">
              <a:extLst>
                <a:ext uri="{FF2B5EF4-FFF2-40B4-BE49-F238E27FC236}">
                  <a16:creationId xmlns:a16="http://schemas.microsoft.com/office/drawing/2014/main" id="{12786A7C-ABD6-EA40-AC38-AC2939522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" name="Oval 22">
              <a:extLst>
                <a:ext uri="{FF2B5EF4-FFF2-40B4-BE49-F238E27FC236}">
                  <a16:creationId xmlns:a16="http://schemas.microsoft.com/office/drawing/2014/main" id="{3CD6124E-6882-7433-6E41-63AF7F90DA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" name="Oval 23">
              <a:extLst>
                <a:ext uri="{FF2B5EF4-FFF2-40B4-BE49-F238E27FC236}">
                  <a16:creationId xmlns:a16="http://schemas.microsoft.com/office/drawing/2014/main" id="{6B2043E4-EF6E-80B3-65AA-460195658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" name="Oval 24">
              <a:extLst>
                <a:ext uri="{FF2B5EF4-FFF2-40B4-BE49-F238E27FC236}">
                  <a16:creationId xmlns:a16="http://schemas.microsoft.com/office/drawing/2014/main" id="{D89FC3D0-8CA7-F9BF-29EA-08DA734B2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" name="Oval 25">
              <a:extLst>
                <a:ext uri="{FF2B5EF4-FFF2-40B4-BE49-F238E27FC236}">
                  <a16:creationId xmlns:a16="http://schemas.microsoft.com/office/drawing/2014/main" id="{99306A81-1BD4-5671-485F-DB8063883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" name="Oval 26">
              <a:extLst>
                <a:ext uri="{FF2B5EF4-FFF2-40B4-BE49-F238E27FC236}">
                  <a16:creationId xmlns:a16="http://schemas.microsoft.com/office/drawing/2014/main" id="{2AC53B19-D8A4-F04C-53A4-1276BB2D4B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" name="Oval 27">
              <a:extLst>
                <a:ext uri="{FF2B5EF4-FFF2-40B4-BE49-F238E27FC236}">
                  <a16:creationId xmlns:a16="http://schemas.microsoft.com/office/drawing/2014/main" id="{6BF0B746-5E08-4A12-6785-65D456525C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" name="Oval 28">
              <a:extLst>
                <a:ext uri="{FF2B5EF4-FFF2-40B4-BE49-F238E27FC236}">
                  <a16:creationId xmlns:a16="http://schemas.microsoft.com/office/drawing/2014/main" id="{E5665084-4C01-3C14-E017-17BAD1825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4" name="Oval 29">
              <a:extLst>
                <a:ext uri="{FF2B5EF4-FFF2-40B4-BE49-F238E27FC236}">
                  <a16:creationId xmlns:a16="http://schemas.microsoft.com/office/drawing/2014/main" id="{94B9B2F3-7CF9-2CF5-E585-96F72AF0F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5" name="Oval 30">
              <a:extLst>
                <a:ext uri="{FF2B5EF4-FFF2-40B4-BE49-F238E27FC236}">
                  <a16:creationId xmlns:a16="http://schemas.microsoft.com/office/drawing/2014/main" id="{C6882CEB-0A71-56FE-E320-93CA375DDF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" name="Oval 31">
              <a:extLst>
                <a:ext uri="{FF2B5EF4-FFF2-40B4-BE49-F238E27FC236}">
                  <a16:creationId xmlns:a16="http://schemas.microsoft.com/office/drawing/2014/main" id="{77165BFD-ECCF-BCDB-101A-2B07F810C5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7" name="Oval 32">
              <a:extLst>
                <a:ext uri="{FF2B5EF4-FFF2-40B4-BE49-F238E27FC236}">
                  <a16:creationId xmlns:a16="http://schemas.microsoft.com/office/drawing/2014/main" id="{A3F52672-AEEB-FAB7-6DB5-E2234801E8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8" name="Oval 33">
              <a:extLst>
                <a:ext uri="{FF2B5EF4-FFF2-40B4-BE49-F238E27FC236}">
                  <a16:creationId xmlns:a16="http://schemas.microsoft.com/office/drawing/2014/main" id="{81D55894-3539-34EC-6551-D63BBC3C8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9" name="Oval 34">
              <a:extLst>
                <a:ext uri="{FF2B5EF4-FFF2-40B4-BE49-F238E27FC236}">
                  <a16:creationId xmlns:a16="http://schemas.microsoft.com/office/drawing/2014/main" id="{937334EE-5B96-37F7-5512-BD22E75894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0" name="Oval 35">
              <a:extLst>
                <a:ext uri="{FF2B5EF4-FFF2-40B4-BE49-F238E27FC236}">
                  <a16:creationId xmlns:a16="http://schemas.microsoft.com/office/drawing/2014/main" id="{3FC62754-EA45-3289-E40D-06E35BC16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1" name="Oval 36">
              <a:extLst>
                <a:ext uri="{FF2B5EF4-FFF2-40B4-BE49-F238E27FC236}">
                  <a16:creationId xmlns:a16="http://schemas.microsoft.com/office/drawing/2014/main" id="{BD46C271-2FDD-B11A-95A0-D69D2A969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2" name="Oval 37">
              <a:extLst>
                <a:ext uri="{FF2B5EF4-FFF2-40B4-BE49-F238E27FC236}">
                  <a16:creationId xmlns:a16="http://schemas.microsoft.com/office/drawing/2014/main" id="{F7F2D992-7FA8-5599-5054-2202D44077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3" name="Oval 38">
              <a:extLst>
                <a:ext uri="{FF2B5EF4-FFF2-40B4-BE49-F238E27FC236}">
                  <a16:creationId xmlns:a16="http://schemas.microsoft.com/office/drawing/2014/main" id="{F4026F6C-D0C8-FD1F-A986-578E33E6F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4" name="Oval 39">
              <a:extLst>
                <a:ext uri="{FF2B5EF4-FFF2-40B4-BE49-F238E27FC236}">
                  <a16:creationId xmlns:a16="http://schemas.microsoft.com/office/drawing/2014/main" id="{8F648C50-90C6-40C6-BF9C-740284C62D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35" name="Line 40">
            <a:extLst>
              <a:ext uri="{FF2B5EF4-FFF2-40B4-BE49-F238E27FC236}">
                <a16:creationId xmlns:a16="http://schemas.microsoft.com/office/drawing/2014/main" id="{B39E101A-745D-D474-3D38-37D06BE5C2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725" y="1973263"/>
            <a:ext cx="5761038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20663" y="327025"/>
            <a:ext cx="4748212" cy="1493838"/>
          </a:xfrm>
        </p:spPr>
        <p:txBody>
          <a:bodyPr/>
          <a:lstStyle>
            <a:lvl1pPr algn="r">
              <a:defRPr sz="34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595313" y="2135188"/>
            <a:ext cx="4373562" cy="1652587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22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3C019AB4-EED1-E4BE-157E-231150D93E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28D12944-93C4-8B70-CC78-02A2E1626C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8" name="Rectangle 7">
            <a:extLst>
              <a:ext uri="{FF2B5EF4-FFF2-40B4-BE49-F238E27FC236}">
                <a16:creationId xmlns:a16="http://schemas.microsoft.com/office/drawing/2014/main" id="{CEAA7490-E532-835A-4613-EDFBBC9E9B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407D9D-7076-D645-AD76-A2F9DE9D97E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776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6C1CB64-0B95-2005-7275-5CBEE5AF3D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DD98FD0-FC61-8683-B6F8-903A65CCEF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0196433-981B-ACCB-9A74-A327359725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CE9537-B9A1-BC4F-A8D2-7B24143399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2526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413" y="3084513"/>
            <a:ext cx="5440362" cy="95408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413" y="2035175"/>
            <a:ext cx="5440362" cy="104933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BF9B16D-E857-E0E2-A23C-77905E8E61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4DC92B2-1CF4-C178-F837-BA594E96A4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58550F6-5106-DB2B-C40F-C288665738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B34682-83B8-AF4C-89A7-52C5B2960EB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4966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0675" y="1203325"/>
            <a:ext cx="2803525" cy="3087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6600" y="1203325"/>
            <a:ext cx="2803525" cy="3087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8E5D339-EEEA-5378-82E8-A9AC647A93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4E4FC3E-ABC2-B279-AF66-9B5C8FCBAD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21A36333-5675-B4BA-35B3-BC85A16AC5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B36983-0319-9749-8974-AA021EF9AC6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3312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675" y="192088"/>
            <a:ext cx="5759450" cy="8001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675" y="1074738"/>
            <a:ext cx="2827338" cy="4476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0675" y="1522413"/>
            <a:ext cx="2827338" cy="27654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51200" y="1074738"/>
            <a:ext cx="2828925" cy="4476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51200" y="1522413"/>
            <a:ext cx="2828925" cy="27654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B305572-0BCE-76DF-05C9-27314151C2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12D919D-89FE-7BD9-9462-976ECC3DD7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1D659302-159B-EF0A-D733-27F12378F4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148764-61F2-5647-830D-D522334330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3789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85FC42B-84FC-F01E-5BB4-6E85B42A21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4D18D99-988C-E34B-14E5-A2F3B3BE2C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AAA96FF-65D4-72E0-9472-227B4F9750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56F2BC-6DAC-4842-95EF-ED006DD0790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0756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91DAB728-3554-F891-F799-2A0B98FF4D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528A873-976B-128E-51B5-51BB5B1C23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C7CBD264-ACD4-30CA-8414-26911BF525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9B7646-9900-F34D-80DA-43D7DCA540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5687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675" y="190500"/>
            <a:ext cx="2105025" cy="81438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1900" y="190500"/>
            <a:ext cx="3578225" cy="40973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0675" y="1004888"/>
            <a:ext cx="2105025" cy="32829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ED9048-CE3F-83FE-A061-CA6D3D34D6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9C1D729-DA04-D91C-67D1-D95CC1A6DC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250B86-C83A-5E57-4A36-BCC62EE858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5636A2-096C-C945-8A48-C09DF9420E5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8397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4125" y="3360738"/>
            <a:ext cx="3841750" cy="39687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54125" y="428625"/>
            <a:ext cx="3841750" cy="28813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4125" y="3757613"/>
            <a:ext cx="3841750" cy="5635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133A218-29DB-14A9-D437-F89D1C64B3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C5F6A6F-EC44-0044-EC38-077A2FDFC9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D2AF1F92-1ADA-5774-99E4-BD3773ED26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F5BB02-7610-4C43-B341-497E9087B3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8653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9E8807D-5048-37D7-FC23-D6A7A7D55B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DF4B80E-FA28-16E6-7D91-3784B18B25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FDAA442-A5E4-376B-5C09-EB2FD228D3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6D0321-F17A-4344-A4AA-CFF164A54A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8167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40263" y="85725"/>
            <a:ext cx="1439862" cy="42052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0675" y="85725"/>
            <a:ext cx="4167188" cy="42052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1D529D-81B0-1206-065F-A61851E575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1949D6A-FEE8-06BB-88A3-8612A6A695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B6BFDD6-0951-A86B-A4B3-BECDB07DE7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9D0D90-80FF-364F-8FAC-4774F1901AF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5232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675" y="85725"/>
            <a:ext cx="5280025" cy="9064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20675" y="1203325"/>
            <a:ext cx="2803525" cy="30876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6600" y="1203325"/>
            <a:ext cx="2803525" cy="30876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D6F16A4-25A3-7DDD-2100-8D971C0EC3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FD28E15-DEB0-40CC-6268-9708C6A723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224D3DEE-D5D4-2695-4FB0-A4CB5A5638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E98453-DE0D-4C4A-BF8A-F2AD617A3A1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9622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675" y="85725"/>
            <a:ext cx="5280025" cy="9064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20675" y="1203325"/>
            <a:ext cx="5759450" cy="3087688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A510539-6939-3D77-4BD9-CD451A5121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BB286DB-69C3-3360-0DCF-0986C370DE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751DDCB-BADA-4281-AD66-1EA062E4AC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D525D0-1896-E74B-94D9-4990FBFA93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7881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>
            <a:extLst>
              <a:ext uri="{FF2B5EF4-FFF2-40B4-BE49-F238E27FC236}">
                <a16:creationId xmlns:a16="http://schemas.microsoft.com/office/drawing/2014/main" id="{F04AA692-752C-7122-E88F-34F3AC88B8C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3713" y="106363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8C3D4A6-3310-70C7-92EE-4C9F43FCD3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0675" y="85725"/>
            <a:ext cx="5280025" cy="906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4008" tIns="32004" rIns="64008" bIns="32004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446D99B-D51A-6D1A-4661-C56A45BE3E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0675" y="1203325"/>
            <a:ext cx="5759450" cy="3087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4008" tIns="32004" rIns="64008" bIns="3200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1445" name="Rectangle 5">
            <a:extLst>
              <a:ext uri="{FF2B5EF4-FFF2-40B4-BE49-F238E27FC236}">
                <a16:creationId xmlns:a16="http://schemas.microsoft.com/office/drawing/2014/main" id="{DE9336D8-2309-785A-86A8-C8B804243B7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20675" y="4373563"/>
            <a:ext cx="149225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4008" tIns="32004" rIns="64008" bIns="32004" numCol="1" anchor="t" anchorCtr="0" compatLnSpc="1">
            <a:prstTxWarp prst="textNoShape">
              <a:avLst/>
            </a:prstTxWarp>
          </a:bodyPr>
          <a:lstStyle>
            <a:lvl1pPr defTabSz="639763">
              <a:defRPr sz="7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46" name="Rectangle 6">
            <a:extLst>
              <a:ext uri="{FF2B5EF4-FFF2-40B4-BE49-F238E27FC236}">
                <a16:creationId xmlns:a16="http://schemas.microsoft.com/office/drawing/2014/main" id="{63ECF9F1-BBD5-39B2-D917-E8FD03AA352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187575" y="4373563"/>
            <a:ext cx="202565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4008" tIns="32004" rIns="64008" bIns="32004" numCol="1" anchor="t" anchorCtr="0" compatLnSpc="1">
            <a:prstTxWarp prst="textNoShape">
              <a:avLst/>
            </a:prstTxWarp>
          </a:bodyPr>
          <a:lstStyle>
            <a:lvl1pPr algn="ctr" defTabSz="639763">
              <a:defRPr sz="7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47" name="Rectangle 7">
            <a:extLst>
              <a:ext uri="{FF2B5EF4-FFF2-40B4-BE49-F238E27FC236}">
                <a16:creationId xmlns:a16="http://schemas.microsoft.com/office/drawing/2014/main" id="{129E3078-7257-CD92-91B4-A1482B40003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87875" y="4373563"/>
            <a:ext cx="149225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4008" tIns="32004" rIns="64008" bIns="32004" numCol="1" anchor="t" anchorCtr="0" compatLnSpc="1">
            <a:prstTxWarp prst="textNoShape">
              <a:avLst/>
            </a:prstTxWarp>
          </a:bodyPr>
          <a:lstStyle>
            <a:lvl1pPr algn="r" defTabSz="639763">
              <a:defRPr sz="700"/>
            </a:lvl1pPr>
          </a:lstStyle>
          <a:p>
            <a:fld id="{019D16E7-60E6-9C48-B978-09E26AD122E7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>
            <a:extLst>
              <a:ext uri="{FF2B5EF4-FFF2-40B4-BE49-F238E27FC236}">
                <a16:creationId xmlns:a16="http://schemas.microsoft.com/office/drawing/2014/main" id="{6CF79078-0873-B59F-4FBA-5B644CD7BDE5}"/>
              </a:ext>
            </a:extLst>
          </p:cNvPr>
          <p:cNvGrpSpPr>
            <a:grpSpLocks/>
          </p:cNvGrpSpPr>
          <p:nvPr/>
        </p:nvGrpSpPr>
        <p:grpSpPr bwMode="auto">
          <a:xfrm>
            <a:off x="5707063" y="106363"/>
            <a:ext cx="555625" cy="906462"/>
            <a:chOff x="5136" y="960"/>
            <a:chExt cx="528" cy="864"/>
          </a:xfrm>
        </p:grpSpPr>
        <p:sp>
          <p:nvSpPr>
            <p:cNvPr id="1033" name="Oval 9">
              <a:extLst>
                <a:ext uri="{FF2B5EF4-FFF2-40B4-BE49-F238E27FC236}">
                  <a16:creationId xmlns:a16="http://schemas.microsoft.com/office/drawing/2014/main" id="{118725F2-1900-5C1B-C03A-3D2371BB8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34" name="Oval 10">
              <a:extLst>
                <a:ext uri="{FF2B5EF4-FFF2-40B4-BE49-F238E27FC236}">
                  <a16:creationId xmlns:a16="http://schemas.microsoft.com/office/drawing/2014/main" id="{84B80707-43EB-F188-BC16-79B867BD8C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35" name="Oval 11">
              <a:extLst>
                <a:ext uri="{FF2B5EF4-FFF2-40B4-BE49-F238E27FC236}">
                  <a16:creationId xmlns:a16="http://schemas.microsoft.com/office/drawing/2014/main" id="{C5AEEAE0-C150-BD15-A880-9547A997F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36" name="Oval 12">
              <a:extLst>
                <a:ext uri="{FF2B5EF4-FFF2-40B4-BE49-F238E27FC236}">
                  <a16:creationId xmlns:a16="http://schemas.microsoft.com/office/drawing/2014/main" id="{0AEB11F5-8E4F-550F-883F-5441F8FE0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37" name="Oval 13">
              <a:extLst>
                <a:ext uri="{FF2B5EF4-FFF2-40B4-BE49-F238E27FC236}">
                  <a16:creationId xmlns:a16="http://schemas.microsoft.com/office/drawing/2014/main" id="{6E45C285-252B-36E3-64D4-F68B40FE6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38" name="Oval 14">
              <a:extLst>
                <a:ext uri="{FF2B5EF4-FFF2-40B4-BE49-F238E27FC236}">
                  <a16:creationId xmlns:a16="http://schemas.microsoft.com/office/drawing/2014/main" id="{BBF58FF9-BF77-869B-1F9A-F96A53DAE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39" name="Oval 15">
              <a:extLst>
                <a:ext uri="{FF2B5EF4-FFF2-40B4-BE49-F238E27FC236}">
                  <a16:creationId xmlns:a16="http://schemas.microsoft.com/office/drawing/2014/main" id="{7EAE6FEC-D6A5-4F8F-0D81-9F3A71E57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0" name="Oval 16">
              <a:extLst>
                <a:ext uri="{FF2B5EF4-FFF2-40B4-BE49-F238E27FC236}">
                  <a16:creationId xmlns:a16="http://schemas.microsoft.com/office/drawing/2014/main" id="{7E315F7E-B5D9-72B9-371F-137EF730B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1" name="Oval 17">
              <a:extLst>
                <a:ext uri="{FF2B5EF4-FFF2-40B4-BE49-F238E27FC236}">
                  <a16:creationId xmlns:a16="http://schemas.microsoft.com/office/drawing/2014/main" id="{2D0D50F2-CC57-D882-B887-5A4F8E147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2" name="Oval 18">
              <a:extLst>
                <a:ext uri="{FF2B5EF4-FFF2-40B4-BE49-F238E27FC236}">
                  <a16:creationId xmlns:a16="http://schemas.microsoft.com/office/drawing/2014/main" id="{731A14CC-8B34-D2E6-FD64-D6CA01118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3" name="Oval 19">
              <a:extLst>
                <a:ext uri="{FF2B5EF4-FFF2-40B4-BE49-F238E27FC236}">
                  <a16:creationId xmlns:a16="http://schemas.microsoft.com/office/drawing/2014/main" id="{BFB43DCA-2DBA-FCCD-BFA9-A76B32DEE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4" name="Oval 20">
              <a:extLst>
                <a:ext uri="{FF2B5EF4-FFF2-40B4-BE49-F238E27FC236}">
                  <a16:creationId xmlns:a16="http://schemas.microsoft.com/office/drawing/2014/main" id="{47B2C6BC-A9CC-2145-D898-E2904C232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5" name="Oval 21">
              <a:extLst>
                <a:ext uri="{FF2B5EF4-FFF2-40B4-BE49-F238E27FC236}">
                  <a16:creationId xmlns:a16="http://schemas.microsoft.com/office/drawing/2014/main" id="{7DB1AE68-6F18-0443-8844-C5D11BEC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6" name="Oval 22">
              <a:extLst>
                <a:ext uri="{FF2B5EF4-FFF2-40B4-BE49-F238E27FC236}">
                  <a16:creationId xmlns:a16="http://schemas.microsoft.com/office/drawing/2014/main" id="{2D5E343A-6C8F-99C4-05A7-85CEECFE2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7" name="Oval 23">
              <a:extLst>
                <a:ext uri="{FF2B5EF4-FFF2-40B4-BE49-F238E27FC236}">
                  <a16:creationId xmlns:a16="http://schemas.microsoft.com/office/drawing/2014/main" id="{F8831E04-3372-A316-61AF-F4F66B5A7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8" name="Oval 24">
              <a:extLst>
                <a:ext uri="{FF2B5EF4-FFF2-40B4-BE49-F238E27FC236}">
                  <a16:creationId xmlns:a16="http://schemas.microsoft.com/office/drawing/2014/main" id="{7A16B5E7-C23B-592E-BA28-62E7AD2FE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49" name="Oval 25">
              <a:extLst>
                <a:ext uri="{FF2B5EF4-FFF2-40B4-BE49-F238E27FC236}">
                  <a16:creationId xmlns:a16="http://schemas.microsoft.com/office/drawing/2014/main" id="{B872D4A7-19CF-21AF-BFD3-5FD4C3C3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0" name="Oval 26">
              <a:extLst>
                <a:ext uri="{FF2B5EF4-FFF2-40B4-BE49-F238E27FC236}">
                  <a16:creationId xmlns:a16="http://schemas.microsoft.com/office/drawing/2014/main" id="{70D12048-507E-D865-68D2-1E2E81E7F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1" name="Oval 27">
              <a:extLst>
                <a:ext uri="{FF2B5EF4-FFF2-40B4-BE49-F238E27FC236}">
                  <a16:creationId xmlns:a16="http://schemas.microsoft.com/office/drawing/2014/main" id="{55879D42-9082-CAF8-7E9E-E9B24B8B4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2" name="Oval 28">
              <a:extLst>
                <a:ext uri="{FF2B5EF4-FFF2-40B4-BE49-F238E27FC236}">
                  <a16:creationId xmlns:a16="http://schemas.microsoft.com/office/drawing/2014/main" id="{5BC23F3A-BA9C-C44A-92B3-33C1811B3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3" name="Oval 29">
              <a:extLst>
                <a:ext uri="{FF2B5EF4-FFF2-40B4-BE49-F238E27FC236}">
                  <a16:creationId xmlns:a16="http://schemas.microsoft.com/office/drawing/2014/main" id="{B8AFF1E4-FD0E-6EE0-8556-FF85C4625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4" name="Oval 30">
              <a:extLst>
                <a:ext uri="{FF2B5EF4-FFF2-40B4-BE49-F238E27FC236}">
                  <a16:creationId xmlns:a16="http://schemas.microsoft.com/office/drawing/2014/main" id="{EFF72B91-B3A1-9EA0-1364-B64125672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5" name="Oval 31">
              <a:extLst>
                <a:ext uri="{FF2B5EF4-FFF2-40B4-BE49-F238E27FC236}">
                  <a16:creationId xmlns:a16="http://schemas.microsoft.com/office/drawing/2014/main" id="{FCA3925E-8F52-B2E4-F34A-BB4145831B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6" name="Oval 32">
              <a:extLst>
                <a:ext uri="{FF2B5EF4-FFF2-40B4-BE49-F238E27FC236}">
                  <a16:creationId xmlns:a16="http://schemas.microsoft.com/office/drawing/2014/main" id="{AF3817E3-0E39-2E7E-D450-55987FE6D5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7" name="Oval 33">
              <a:extLst>
                <a:ext uri="{FF2B5EF4-FFF2-40B4-BE49-F238E27FC236}">
                  <a16:creationId xmlns:a16="http://schemas.microsoft.com/office/drawing/2014/main" id="{22C20C28-DF29-2BC5-A461-5BF0414D7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8" name="Oval 34">
              <a:extLst>
                <a:ext uri="{FF2B5EF4-FFF2-40B4-BE49-F238E27FC236}">
                  <a16:creationId xmlns:a16="http://schemas.microsoft.com/office/drawing/2014/main" id="{61D4005C-B5F9-EFDD-A8F1-16077542C4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9" name="Oval 35">
              <a:extLst>
                <a:ext uri="{FF2B5EF4-FFF2-40B4-BE49-F238E27FC236}">
                  <a16:creationId xmlns:a16="http://schemas.microsoft.com/office/drawing/2014/main" id="{173A5D84-311F-7470-97E9-4A287E4C0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60" name="Oval 36">
              <a:extLst>
                <a:ext uri="{FF2B5EF4-FFF2-40B4-BE49-F238E27FC236}">
                  <a16:creationId xmlns:a16="http://schemas.microsoft.com/office/drawing/2014/main" id="{4D20B601-D769-2233-4C2D-F84F410DEB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61" name="Oval 37">
              <a:extLst>
                <a:ext uri="{FF2B5EF4-FFF2-40B4-BE49-F238E27FC236}">
                  <a16:creationId xmlns:a16="http://schemas.microsoft.com/office/drawing/2014/main" id="{063C3145-9077-0D0F-39E9-E0AB2A5034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62" name="Oval 38">
              <a:extLst>
                <a:ext uri="{FF2B5EF4-FFF2-40B4-BE49-F238E27FC236}">
                  <a16:creationId xmlns:a16="http://schemas.microsoft.com/office/drawing/2014/main" id="{46337A2F-EB3B-C70D-9201-9853F7618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63" name="Oval 39">
              <a:extLst>
                <a:ext uri="{FF2B5EF4-FFF2-40B4-BE49-F238E27FC236}">
                  <a16:creationId xmlns:a16="http://schemas.microsoft.com/office/drawing/2014/main" id="{993307F0-1E2F-0AD3-FE8B-DC7F5DBA4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</p:sldLayoutIdLst>
  <p:txStyles>
    <p:titleStyle>
      <a:lvl1pPr algn="l" defTabSz="639763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639763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2pPr>
      <a:lvl3pPr algn="l" defTabSz="639763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3pPr>
      <a:lvl4pPr algn="l" defTabSz="639763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4pPr>
      <a:lvl5pPr algn="l" defTabSz="639763" rtl="0" eaLnBrk="0" fontAlgn="base" hangingPunct="0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5pPr>
      <a:lvl6pPr marL="457200" algn="l" defTabSz="639763" rtl="0" fontAlgn="base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6pPr>
      <a:lvl7pPr marL="914400" algn="l" defTabSz="639763" rtl="0" fontAlgn="base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7pPr>
      <a:lvl8pPr marL="1371600" algn="l" defTabSz="639763" rtl="0" fontAlgn="base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8pPr>
      <a:lvl9pPr marL="1828800" algn="l" defTabSz="639763" rtl="0" fontAlgn="base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9pPr>
    </p:titleStyle>
    <p:bodyStyle>
      <a:lvl1pPr marL="239713" indent="-239713" algn="l" defTabSz="639763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484188" indent="-242888" algn="l" defTabSz="639763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2pPr>
      <a:lvl3pPr marL="690563" indent="-204788" algn="l" defTabSz="639763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1600">
          <a:solidFill>
            <a:schemeClr val="tx1"/>
          </a:solidFill>
          <a:latin typeface="+mn-lt"/>
        </a:defRPr>
      </a:lvl3pPr>
      <a:lvl4pPr marL="896938" indent="-204788" algn="l" defTabSz="639763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4pPr>
      <a:lvl5pPr marL="1119188" indent="-220663" algn="l" defTabSz="639763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5pPr>
      <a:lvl6pPr marL="1576388" indent="-220663" algn="l" defTabSz="639763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6pPr>
      <a:lvl7pPr marL="2033588" indent="-220663" algn="l" defTabSz="639763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7pPr>
      <a:lvl8pPr marL="2490788" indent="-220663" algn="l" defTabSz="639763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8pPr>
      <a:lvl9pPr marL="2947988" indent="-220663" algn="l" defTabSz="639763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atsoftinc.com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home.cc.umanitoba.ca/%7Eumcorbe9/neuron.html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B473486-763A-2CA9-4901-DF4B82C1655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Lecture #10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A64C1BE-3FA1-7C62-63B9-C23B0869A2E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Classification</a:t>
            </a:r>
            <a:endParaRPr lang="en-US" alt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395270E-A9F8-116A-CD2E-0951206B68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Outline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34614C6B-F0E1-2E3C-7466-364837152A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0675" y="1028700"/>
            <a:ext cx="5759450" cy="3330575"/>
          </a:xfrm>
        </p:spPr>
        <p:txBody>
          <a:bodyPr/>
          <a:lstStyle/>
          <a:p>
            <a:pPr eaLnBrk="1" hangingPunct="1"/>
            <a:r>
              <a:rPr lang="en-US" altLang="en-US" sz="1800"/>
              <a:t>Purpose of classification</a:t>
            </a:r>
          </a:p>
          <a:p>
            <a:pPr eaLnBrk="1" hangingPunct="1"/>
            <a:r>
              <a:rPr lang="en-US" altLang="en-US" sz="1800"/>
              <a:t>General terminology</a:t>
            </a:r>
          </a:p>
          <a:p>
            <a:pPr eaLnBrk="1" hangingPunct="1"/>
            <a:r>
              <a:rPr lang="en-US" altLang="en-US" sz="1800"/>
              <a:t>Methods</a:t>
            </a:r>
          </a:p>
          <a:p>
            <a:pPr lvl="1" eaLnBrk="1" hangingPunct="1"/>
            <a:r>
              <a:rPr lang="en-US" altLang="en-US" sz="1700"/>
              <a:t>Discriminant analysis (DA)</a:t>
            </a:r>
          </a:p>
          <a:p>
            <a:pPr lvl="1" eaLnBrk="1" hangingPunct="1"/>
            <a:r>
              <a:rPr lang="en-US" altLang="en-US" sz="1700"/>
              <a:t>Support vector machines (SVM)</a:t>
            </a:r>
          </a:p>
          <a:p>
            <a:pPr lvl="1" eaLnBrk="1" hangingPunct="1"/>
            <a:r>
              <a:rPr lang="en-US" altLang="en-US" sz="1700"/>
              <a:t>Classification and regression trees (CART)</a:t>
            </a:r>
          </a:p>
          <a:p>
            <a:pPr lvl="1" eaLnBrk="1" hangingPunct="1"/>
            <a:r>
              <a:rPr lang="en-US" altLang="en-US" sz="1700"/>
              <a:t>Partial least squares regression (PLS)</a:t>
            </a:r>
          </a:p>
          <a:p>
            <a:pPr lvl="1" eaLnBrk="1" hangingPunct="1"/>
            <a:r>
              <a:rPr lang="en-US" altLang="en-US" sz="1700" i="1"/>
              <a:t>k</a:t>
            </a:r>
            <a:r>
              <a:rPr lang="en-US" altLang="en-US" sz="1700"/>
              <a:t>-nearest neighbors (KNN)</a:t>
            </a:r>
          </a:p>
          <a:p>
            <a:pPr lvl="1" eaLnBrk="1" hangingPunct="1"/>
            <a:r>
              <a:rPr lang="en-US" altLang="en-US" sz="1700"/>
              <a:t>Artificial neural networks (NN)</a:t>
            </a:r>
          </a:p>
          <a:p>
            <a:pPr eaLnBrk="1" hangingPunct="1"/>
            <a:r>
              <a:rPr lang="en-US" altLang="en-US" sz="1800"/>
              <a:t>ROC curves</a:t>
            </a:r>
          </a:p>
          <a:p>
            <a:pPr eaLnBrk="1" hangingPunct="1"/>
            <a:r>
              <a:rPr lang="en-US" altLang="en-US" sz="1800"/>
              <a:t>Validating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804C17D-FC33-6471-51A9-BD36A48BCA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266700"/>
            <a:ext cx="5280025" cy="512763"/>
          </a:xfrm>
        </p:spPr>
        <p:txBody>
          <a:bodyPr/>
          <a:lstStyle/>
          <a:p>
            <a:pPr eaLnBrk="1" hangingPunct="1"/>
            <a:r>
              <a:rPr lang="en-US" altLang="en-US"/>
              <a:t>Purpose for Classification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E556E6B-4BA1-EB33-5F32-89CBBD65DD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0675" y="1066800"/>
            <a:ext cx="5927725" cy="3627438"/>
          </a:xfrm>
        </p:spPr>
        <p:txBody>
          <a:bodyPr/>
          <a:lstStyle/>
          <a:p>
            <a:pPr eaLnBrk="1" hangingPunct="1"/>
            <a:r>
              <a:rPr lang="en-US" altLang="en-US" sz="1800"/>
              <a:t>Classification analysis is used in all applications of genomics analysis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The utility in identifying which population a particular observation came from has great power in multiple research domains of gene expression</a:t>
            </a:r>
          </a:p>
          <a:p>
            <a:pPr lvl="1" eaLnBrk="1" hangingPunct="1"/>
            <a:r>
              <a:rPr lang="en-US" altLang="en-US" sz="1500"/>
              <a:t>Predicting patient response or survival (clinical outcome)</a:t>
            </a:r>
          </a:p>
          <a:p>
            <a:pPr lvl="1" eaLnBrk="1" hangingPunct="1"/>
            <a:r>
              <a:rPr lang="en-US" altLang="en-US" sz="1500"/>
              <a:t>Identifying unknown pathogens (Biosurveillance)</a:t>
            </a:r>
          </a:p>
          <a:p>
            <a:pPr lvl="1" eaLnBrk="1" hangingPunct="1"/>
            <a:r>
              <a:rPr lang="en-US" altLang="en-US" sz="1500"/>
              <a:t>Predict patient disease course (patient prognosis)</a:t>
            </a:r>
          </a:p>
          <a:p>
            <a:pPr lvl="1" eaLnBrk="1" hangingPunct="1"/>
            <a:r>
              <a:rPr lang="en-US" altLang="en-US" sz="1500"/>
              <a:t>Matching unidentified tissues/cells (QC)</a:t>
            </a:r>
          </a:p>
          <a:p>
            <a:pPr lvl="1" eaLnBrk="1" hangingPunct="1"/>
            <a:r>
              <a:rPr lang="en-US" altLang="en-US" sz="1500"/>
              <a:t>Modeling compound pharmacology or toxicity (toxicogenomics/pharmacogenomics)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FD755F4-3D4A-4964-1A68-2F93762304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266700"/>
            <a:ext cx="5280025" cy="512763"/>
          </a:xfrm>
        </p:spPr>
        <p:txBody>
          <a:bodyPr/>
          <a:lstStyle/>
          <a:p>
            <a:pPr eaLnBrk="1" hangingPunct="1"/>
            <a:r>
              <a:rPr lang="en-US" altLang="en-US" sz="2500"/>
              <a:t>Multiple classification methods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BA2A96F-ED11-D3AE-0D55-B0D0EAAA97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0675" y="1066800"/>
            <a:ext cx="5759450" cy="362743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/>
              <a:t>There are multiple methods to classify genes or samples, however, we will only focus on a few of the more common methods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700"/>
              <a:t>Discriminant analysis (DA)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700"/>
              <a:t>Support vector machines (SVM)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700"/>
              <a:t>Classification and regression trees (CART)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700"/>
              <a:t>Partial least squares regression (PLS)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700" i="1"/>
              <a:t>K</a:t>
            </a:r>
            <a:r>
              <a:rPr lang="en-US" altLang="en-US" sz="1700"/>
              <a:t>-nearest neighbors (KNN)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700"/>
              <a:t>Artificial neural networks (ANN)</a:t>
            </a:r>
          </a:p>
          <a:p>
            <a:pPr eaLnBrk="1" hangingPunct="1">
              <a:lnSpc>
                <a:spcPct val="80000"/>
              </a:lnSpc>
            </a:pPr>
            <a:endParaRPr lang="en-US" altLang="en-US" sz="2000"/>
          </a:p>
          <a:p>
            <a:pPr eaLnBrk="1" hangingPunct="1">
              <a:lnSpc>
                <a:spcPct val="80000"/>
              </a:lnSpc>
            </a:pPr>
            <a:r>
              <a:rPr lang="en-US" altLang="en-US" sz="2000"/>
              <a:t>You will find that many of these methods share some mathematical components in each algorithm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1BA61E2-7030-E420-388C-4E88D51EB2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85725"/>
            <a:ext cx="5280025" cy="660400"/>
          </a:xfrm>
        </p:spPr>
        <p:txBody>
          <a:bodyPr/>
          <a:lstStyle/>
          <a:p>
            <a:pPr eaLnBrk="1" hangingPunct="1"/>
            <a:r>
              <a:rPr lang="en-US" altLang="en-US"/>
              <a:t>Modeling terminology</a:t>
            </a:r>
            <a:endParaRPr lang="en-US" altLang="en-US" baseline="30000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5AE4A5E-D2E0-FFA3-6EC6-964426D95A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0675" y="952500"/>
            <a:ext cx="5759450" cy="3848100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500"/>
              <a:t>Training set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400"/>
              <a:t>The data used to build the model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400"/>
              <a:t>Observations and features that the model has used to optimize the parameters for performance</a:t>
            </a:r>
          </a:p>
          <a:p>
            <a:pPr eaLnBrk="1" hangingPunct="1">
              <a:lnSpc>
                <a:spcPct val="80000"/>
              </a:lnSpc>
            </a:pPr>
            <a:endParaRPr lang="en-US" altLang="en-US" sz="1500"/>
          </a:p>
          <a:p>
            <a:pPr eaLnBrk="1" hangingPunct="1">
              <a:lnSpc>
                <a:spcPct val="80000"/>
              </a:lnSpc>
            </a:pPr>
            <a:r>
              <a:rPr lang="en-US" altLang="en-US" sz="1500"/>
              <a:t>Test set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400"/>
              <a:t>The data that the model has not been exposed to for training or ‘tuning’ parameters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400"/>
              <a:t>Also called ‘hold-out’ set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400"/>
          </a:p>
          <a:p>
            <a:pPr eaLnBrk="1" hangingPunct="1">
              <a:lnSpc>
                <a:spcPct val="80000"/>
              </a:lnSpc>
            </a:pPr>
            <a:r>
              <a:rPr lang="en-US" altLang="en-US" sz="1500"/>
              <a:t>Parameters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400"/>
              <a:t>The variables that go into the modeling method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400"/>
              <a:t>Can be optimized and fit in the model training process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400"/>
          </a:p>
          <a:p>
            <a:pPr eaLnBrk="1" hangingPunct="1">
              <a:lnSpc>
                <a:spcPct val="80000"/>
              </a:lnSpc>
            </a:pPr>
            <a:r>
              <a:rPr lang="en-US" altLang="en-US" sz="1500"/>
              <a:t>Over-fitting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400"/>
              <a:t>Optimizing the model to makes it too specific for a particular data example; not generalized to perform well across multiple disparate examples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C0323D2-C715-C8C7-2B76-4A6C1D9C7C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266700"/>
            <a:ext cx="5280025" cy="512763"/>
          </a:xfrm>
        </p:spPr>
        <p:txBody>
          <a:bodyPr/>
          <a:lstStyle/>
          <a:p>
            <a:pPr eaLnBrk="1" hangingPunct="1"/>
            <a:r>
              <a:rPr lang="en-US" altLang="en-US"/>
              <a:t>Discriminant analysis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2A9A9660-D850-B841-D21F-BC36D5CE2B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0675" y="1066800"/>
            <a:ext cx="5759450" cy="3627438"/>
          </a:xfrm>
        </p:spPr>
        <p:txBody>
          <a:bodyPr/>
          <a:lstStyle/>
          <a:p>
            <a:pPr eaLnBrk="1" hangingPunct="1"/>
            <a:r>
              <a:rPr lang="en-US" altLang="en-US" sz="2000"/>
              <a:t>A multivariate technique concerned with separating distinct groups into different classes and allocating new observations to the previously identified groups</a:t>
            </a:r>
            <a:r>
              <a:rPr lang="en-US" altLang="en-US" sz="2000" baseline="30000"/>
              <a:t>3</a:t>
            </a:r>
          </a:p>
          <a:p>
            <a:pPr eaLnBrk="1" hangingPunct="1"/>
            <a:endParaRPr lang="en-US" altLang="en-US" sz="2000" baseline="30000"/>
          </a:p>
          <a:p>
            <a:pPr eaLnBrk="1" hangingPunct="1"/>
            <a:r>
              <a:rPr lang="en-US" altLang="en-US" sz="2000"/>
              <a:t>This method is supervised in the sense that the training of the model (initial separating step) is optimized by providing class membership information</a:t>
            </a:r>
          </a:p>
          <a:p>
            <a:pPr lvl="1" eaLnBrk="1" hangingPunct="1"/>
            <a:r>
              <a:rPr lang="en-US" altLang="en-US" sz="1700"/>
              <a:t>The testing (applying model to new observations) does not require class membership information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CCBA255-D5ED-D70E-EA18-F559B45697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266700"/>
            <a:ext cx="5280025" cy="512763"/>
          </a:xfrm>
        </p:spPr>
        <p:txBody>
          <a:bodyPr/>
          <a:lstStyle/>
          <a:p>
            <a:pPr eaLnBrk="1" hangingPunct="1"/>
            <a:r>
              <a:rPr lang="en-US" altLang="en-US"/>
              <a:t>Discriminant analysis theory</a:t>
            </a:r>
            <a:r>
              <a:rPr lang="en-US" altLang="en-US" baseline="30000"/>
              <a:t>3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A697B1C-5B39-8030-70B0-1BCEC00E84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0675" y="1066800"/>
            <a:ext cx="5759450" cy="362743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700"/>
              <a:t>If there are </a:t>
            </a:r>
            <a:r>
              <a:rPr lang="en-US" altLang="en-US" sz="1700" i="1"/>
              <a:t>K</a:t>
            </a:r>
            <a:r>
              <a:rPr lang="en-US" altLang="en-US" sz="1700"/>
              <a:t> populations with </a:t>
            </a:r>
            <a:r>
              <a:rPr lang="en-US" altLang="en-US" sz="1700" i="1"/>
              <a:t>p</a:t>
            </a:r>
            <a:r>
              <a:rPr lang="en-US" altLang="en-US" sz="1700"/>
              <a:t> dimensional observations in each population, we take </a:t>
            </a:r>
            <a:r>
              <a:rPr lang="en-US" altLang="en-US" sz="1700" b="1"/>
              <a:t>x</a:t>
            </a:r>
            <a:r>
              <a:rPr lang="en-US" altLang="en-US" sz="1700"/>
              <a:t> to be one observation from population </a:t>
            </a:r>
            <a:r>
              <a:rPr lang="en-US" altLang="en-US" sz="1700" i="1"/>
              <a:t>P</a:t>
            </a:r>
            <a:r>
              <a:rPr lang="en-US" altLang="en-US" sz="1700" i="1" baseline="-25000"/>
              <a:t>i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 b="1"/>
              <a:t>x</a:t>
            </a:r>
            <a:r>
              <a:rPr lang="en-US" altLang="en-US" sz="1400"/>
              <a:t> is multivariate normal with mean </a:t>
            </a:r>
            <a:r>
              <a:rPr lang="en-US" altLang="en-US" sz="1400">
                <a:cs typeface="Arial" panose="020B0604020202020204" pitchFamily="34" charset="0"/>
              </a:rPr>
              <a:t>µ</a:t>
            </a:r>
            <a:r>
              <a:rPr lang="en-US" altLang="en-US" sz="1400" baseline="-25000">
                <a:cs typeface="Arial" panose="020B0604020202020204" pitchFamily="34" charset="0"/>
              </a:rPr>
              <a:t>i </a:t>
            </a:r>
            <a:r>
              <a:rPr lang="en-US" altLang="en-US" sz="1400">
                <a:cs typeface="Arial" panose="020B0604020202020204" pitchFamily="34" charset="0"/>
              </a:rPr>
              <a:t>and covariance matrix ∑</a:t>
            </a:r>
            <a:r>
              <a:rPr lang="en-US" altLang="en-US" sz="1400" baseline="-25000">
                <a:cs typeface="Arial" panose="020B0604020202020204" pitchFamily="34" charset="0"/>
              </a:rPr>
              <a:t>i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400" baseline="-25000"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1700">
                <a:cs typeface="Arial" panose="020B0604020202020204" pitchFamily="34" charset="0"/>
              </a:rPr>
              <a:t>The probability that </a:t>
            </a:r>
            <a:r>
              <a:rPr lang="en-US" altLang="en-US" sz="1700" b="1">
                <a:cs typeface="Arial" panose="020B0604020202020204" pitchFamily="34" charset="0"/>
              </a:rPr>
              <a:t>x </a:t>
            </a:r>
            <a:r>
              <a:rPr lang="en-US" altLang="en-US" sz="1700">
                <a:cs typeface="Arial" panose="020B0604020202020204" pitchFamily="34" charset="0"/>
              </a:rPr>
              <a:t>came from </a:t>
            </a:r>
            <a:r>
              <a:rPr lang="en-US" altLang="en-US" sz="1700" i="1">
                <a:cs typeface="Arial" panose="020B0604020202020204" pitchFamily="34" charset="0"/>
              </a:rPr>
              <a:t>P</a:t>
            </a:r>
            <a:r>
              <a:rPr lang="en-US" altLang="en-US" sz="1700" i="1" baseline="-25000">
                <a:cs typeface="Arial" panose="020B0604020202020204" pitchFamily="34" charset="0"/>
              </a:rPr>
              <a:t>i </a:t>
            </a:r>
            <a:r>
              <a:rPr lang="en-US" altLang="en-US" sz="1700">
                <a:cs typeface="Arial" panose="020B0604020202020204" pitchFamily="34" charset="0"/>
              </a:rPr>
              <a:t>is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400" i="1">
                <a:cs typeface="Arial" panose="020B0604020202020204" pitchFamily="34" charset="0"/>
              </a:rPr>
              <a:t>e</a:t>
            </a:r>
            <a:r>
              <a:rPr lang="en-US" altLang="en-US" sz="1400">
                <a:cs typeface="Arial" panose="020B0604020202020204" pitchFamily="34" charset="0"/>
              </a:rPr>
              <a:t> </a:t>
            </a:r>
            <a:r>
              <a:rPr lang="en-US" altLang="en-US" sz="1400" baseline="30000">
                <a:cs typeface="Arial" panose="020B0604020202020204" pitchFamily="34" charset="0"/>
              </a:rPr>
              <a:t>-1/2(</a:t>
            </a:r>
            <a:r>
              <a:rPr lang="en-US" altLang="en-US" sz="1400" b="1" baseline="30000">
                <a:cs typeface="Arial" panose="020B0604020202020204" pitchFamily="34" charset="0"/>
              </a:rPr>
              <a:t>x</a:t>
            </a:r>
            <a:r>
              <a:rPr lang="en-US" altLang="en-US" sz="1400" baseline="30000">
                <a:cs typeface="Arial" panose="020B0604020202020204" pitchFamily="34" charset="0"/>
              </a:rPr>
              <a:t>-µi)’∑i-1(</a:t>
            </a:r>
            <a:r>
              <a:rPr lang="en-US" altLang="en-US" sz="1400" b="1" baseline="30000">
                <a:cs typeface="Arial" panose="020B0604020202020204" pitchFamily="34" charset="0"/>
              </a:rPr>
              <a:t>x</a:t>
            </a:r>
            <a:r>
              <a:rPr lang="en-US" altLang="en-US" sz="1400" baseline="30000">
                <a:cs typeface="Arial" panose="020B0604020202020204" pitchFamily="34" charset="0"/>
              </a:rPr>
              <a:t>- µi) / [(2</a:t>
            </a:r>
            <a:r>
              <a:rPr lang="el-GR" altLang="en-US" sz="1400" baseline="30000">
                <a:cs typeface="Arial" panose="020B0604020202020204" pitchFamily="34" charset="0"/>
              </a:rPr>
              <a:t>π</a:t>
            </a:r>
            <a:r>
              <a:rPr lang="en-US" altLang="en-US" sz="1400" baseline="30000">
                <a:cs typeface="Arial" panose="020B0604020202020204" pitchFamily="34" charset="0"/>
              </a:rPr>
              <a:t>)</a:t>
            </a:r>
            <a:r>
              <a:rPr lang="en-US" altLang="en-US" sz="1400" i="1" baseline="30000">
                <a:cs typeface="Arial" panose="020B0604020202020204" pitchFamily="34" charset="0"/>
              </a:rPr>
              <a:t>p</a:t>
            </a:r>
            <a:r>
              <a:rPr lang="en-US" altLang="en-US" sz="1400" baseline="30000">
                <a:cs typeface="Arial" panose="020B0604020202020204" pitchFamily="34" charset="0"/>
              </a:rPr>
              <a:t>/2|∑i|1/2]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400">
                <a:cs typeface="Arial" panose="020B0604020202020204" pitchFamily="34" charset="0"/>
              </a:rPr>
              <a:t>This is the probability density</a:t>
            </a:r>
          </a:p>
          <a:p>
            <a:pPr eaLnBrk="1" hangingPunct="1">
              <a:lnSpc>
                <a:spcPct val="90000"/>
              </a:lnSpc>
            </a:pPr>
            <a:endParaRPr lang="en-US" altLang="en-US" sz="1700"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1700">
                <a:cs typeface="Arial" panose="020B0604020202020204" pitchFamily="34" charset="0"/>
              </a:rPr>
              <a:t>So the way to classify an observation </a:t>
            </a:r>
            <a:r>
              <a:rPr lang="en-US" altLang="en-US" sz="1700" b="1">
                <a:cs typeface="Arial" panose="020B0604020202020204" pitchFamily="34" charset="0"/>
              </a:rPr>
              <a:t>x</a:t>
            </a:r>
            <a:r>
              <a:rPr lang="en-US" altLang="en-US" sz="1700">
                <a:cs typeface="Arial" panose="020B0604020202020204" pitchFamily="34" charset="0"/>
              </a:rPr>
              <a:t> to a particular </a:t>
            </a:r>
            <a:r>
              <a:rPr lang="en-US" altLang="en-US" sz="1700" i="1">
                <a:cs typeface="Arial" panose="020B0604020202020204" pitchFamily="34" charset="0"/>
              </a:rPr>
              <a:t>P</a:t>
            </a:r>
            <a:r>
              <a:rPr lang="en-US" altLang="en-US" sz="1700" i="1" baseline="-25000">
                <a:cs typeface="Arial" panose="020B0604020202020204" pitchFamily="34" charset="0"/>
              </a:rPr>
              <a:t>i </a:t>
            </a:r>
            <a:r>
              <a:rPr lang="en-US" altLang="en-US" sz="1700">
                <a:cs typeface="Arial" panose="020B0604020202020204" pitchFamily="34" charset="0"/>
              </a:rPr>
              <a:t>is to choose the </a:t>
            </a:r>
            <a:r>
              <a:rPr lang="en-US" altLang="en-US" sz="1700" i="1">
                <a:cs typeface="Arial" panose="020B0604020202020204" pitchFamily="34" charset="0"/>
              </a:rPr>
              <a:t>P</a:t>
            </a:r>
            <a:r>
              <a:rPr lang="en-US" altLang="en-US" sz="1700" i="1" baseline="-25000">
                <a:cs typeface="Arial" panose="020B0604020202020204" pitchFamily="34" charset="0"/>
              </a:rPr>
              <a:t>i</a:t>
            </a:r>
            <a:r>
              <a:rPr lang="en-US" altLang="en-US" sz="1700">
                <a:cs typeface="Arial" panose="020B0604020202020204" pitchFamily="34" charset="0"/>
              </a:rPr>
              <a:t> with the highest posterior probability, or where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500" i="1" baseline="-25000">
                <a:cs typeface="Arial" panose="020B0604020202020204" pitchFamily="34" charset="0"/>
              </a:rPr>
              <a:t>	</a:t>
            </a:r>
            <a:r>
              <a:rPr lang="en-US" altLang="en-US" sz="1500" i="1">
                <a:cs typeface="Arial" panose="020B0604020202020204" pitchFamily="34" charset="0"/>
              </a:rPr>
              <a:t>p</a:t>
            </a:r>
            <a:r>
              <a:rPr lang="en-US" altLang="en-US" sz="1500" i="1" baseline="-25000">
                <a:cs typeface="Arial" panose="020B0604020202020204" pitchFamily="34" charset="0"/>
              </a:rPr>
              <a:t>i</a:t>
            </a:r>
            <a:r>
              <a:rPr lang="en-US" altLang="en-US" sz="1500" i="1">
                <a:cs typeface="Arial" panose="020B0604020202020204" pitchFamily="34" charset="0"/>
              </a:rPr>
              <a:t>|∑</a:t>
            </a:r>
            <a:r>
              <a:rPr lang="en-US" altLang="en-US" sz="1500" i="1" baseline="-25000">
                <a:cs typeface="Arial" panose="020B0604020202020204" pitchFamily="34" charset="0"/>
              </a:rPr>
              <a:t>i</a:t>
            </a:r>
            <a:r>
              <a:rPr lang="en-US" altLang="en-US" sz="1500">
                <a:cs typeface="Arial" panose="020B0604020202020204" pitchFamily="34" charset="0"/>
              </a:rPr>
              <a:t>|</a:t>
            </a:r>
            <a:r>
              <a:rPr lang="en-US" altLang="en-US" sz="1500" baseline="30000">
                <a:cs typeface="Arial" panose="020B0604020202020204" pitchFamily="34" charset="0"/>
              </a:rPr>
              <a:t>-1/2 </a:t>
            </a:r>
            <a:r>
              <a:rPr lang="en-US" altLang="en-US" sz="1500">
                <a:cs typeface="Arial" panose="020B0604020202020204" pitchFamily="34" charset="0"/>
              </a:rPr>
              <a:t>e</a:t>
            </a:r>
            <a:r>
              <a:rPr lang="en-US" altLang="en-US" sz="1500" baseline="30000">
                <a:cs typeface="Arial" panose="020B0604020202020204" pitchFamily="34" charset="0"/>
              </a:rPr>
              <a:t>{-1/2(</a:t>
            </a:r>
            <a:r>
              <a:rPr lang="en-US" altLang="en-US" sz="1500" b="1" baseline="30000">
                <a:cs typeface="Arial" panose="020B0604020202020204" pitchFamily="34" charset="0"/>
              </a:rPr>
              <a:t>x</a:t>
            </a:r>
            <a:r>
              <a:rPr lang="en-US" altLang="en-US" sz="1500" baseline="30000">
                <a:cs typeface="Arial" panose="020B0604020202020204" pitchFamily="34" charset="0"/>
              </a:rPr>
              <a:t>-µi)’∑i-1(</a:t>
            </a:r>
            <a:r>
              <a:rPr lang="en-US" altLang="en-US" sz="1500" b="1" baseline="30000">
                <a:cs typeface="Arial" panose="020B0604020202020204" pitchFamily="34" charset="0"/>
              </a:rPr>
              <a:t>x</a:t>
            </a:r>
            <a:r>
              <a:rPr lang="en-US" altLang="en-US" sz="1500" baseline="30000">
                <a:cs typeface="Arial" panose="020B0604020202020204" pitchFamily="34" charset="0"/>
              </a:rPr>
              <a:t>-µi)}</a:t>
            </a:r>
            <a:r>
              <a:rPr lang="en-US" altLang="en-US" sz="1500">
                <a:cs typeface="Arial" panose="020B0604020202020204" pitchFamily="34" charset="0"/>
              </a:rPr>
              <a:t> is the largest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500">
                <a:cs typeface="Arial" panose="020B0604020202020204" pitchFamily="34" charset="0"/>
              </a:rPr>
              <a:t>	(this is the generalized squared distance)</a:t>
            </a:r>
            <a:endParaRPr lang="en-US" altLang="en-US" sz="1500" baseline="30000">
              <a:cs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sz="1400" baseline="3000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F0B7A42-C902-C9FB-D218-61C80DF696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Discriminant analysis example</a:t>
            </a:r>
            <a:br>
              <a:rPr lang="en-US" altLang="en-US"/>
            </a:br>
            <a:r>
              <a:rPr lang="en-US" altLang="en-US" sz="2000"/>
              <a:t>(linear )</a:t>
            </a:r>
          </a:p>
        </p:txBody>
      </p:sp>
      <p:graphicFrame>
        <p:nvGraphicFramePr>
          <p:cNvPr id="277724" name="Group 220">
            <a:extLst>
              <a:ext uri="{FF2B5EF4-FFF2-40B4-BE49-F238E27FC236}">
                <a16:creationId xmlns:a16="http://schemas.microsoft.com/office/drawing/2014/main" id="{F9AC7F5C-1FE7-E7AA-9FD1-31F5A0BE236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573463" y="1973263"/>
          <a:ext cx="2695575" cy="1387475"/>
        </p:xfrm>
        <a:graphic>
          <a:graphicData uri="http://schemas.openxmlformats.org/drawingml/2006/table">
            <a:tbl>
              <a:tblPr/>
              <a:tblGrid>
                <a:gridCol w="617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8962"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Predicted Membership</a:t>
                      </a: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888"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Tumor</a:t>
                      </a: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Normal</a:t>
                      </a: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813"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Actual</a:t>
                      </a: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Tumor</a:t>
                      </a: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39</a:t>
                      </a:r>
                      <a:endParaRPr kumimoji="0" lang="en-US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40</a:t>
                      </a: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813"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Membership</a:t>
                      </a: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Normal</a:t>
                      </a: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</a:t>
                      </a:r>
                      <a:endParaRPr kumimoji="0" lang="en-US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22</a:t>
                      </a: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271" name="Text Box 208">
            <a:extLst>
              <a:ext uri="{FF2B5EF4-FFF2-40B4-BE49-F238E27FC236}">
                <a16:creationId xmlns:a16="http://schemas.microsoft.com/office/drawing/2014/main" id="{1315FAF5-D1F2-8921-36FD-DD52C1D0F4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171700"/>
            <a:ext cx="213360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>
            <a:spAutoFit/>
          </a:bodyPr>
          <a:lstStyle>
            <a:lvl1pPr defTabSz="639763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20675" indent="-242888" defTabSz="6397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639763" indent="-204788" defTabSz="639763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960438" indent="-204788" defTabSz="639763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279525" indent="-220663" defTabSz="639763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36725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193925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651125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108325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300"/>
              <a:t>Confusion matrix from LDA</a:t>
            </a:r>
          </a:p>
        </p:txBody>
      </p:sp>
      <p:pic>
        <p:nvPicPr>
          <p:cNvPr id="10272" name="Picture 221">
            <a:extLst>
              <a:ext uri="{FF2B5EF4-FFF2-40B4-BE49-F238E27FC236}">
                <a16:creationId xmlns:a16="http://schemas.microsoft.com/office/drawing/2014/main" id="{7219D276-0334-0198-14A6-5AF7BB3E6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76363"/>
            <a:ext cx="3429000" cy="342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E0AE56F-513C-C74B-1C5C-A3CA97435C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266700"/>
            <a:ext cx="5280025" cy="512763"/>
          </a:xfrm>
        </p:spPr>
        <p:txBody>
          <a:bodyPr/>
          <a:lstStyle/>
          <a:p>
            <a:pPr eaLnBrk="1" hangingPunct="1"/>
            <a:r>
              <a:rPr lang="en-US" altLang="en-US" sz="2300"/>
              <a:t>Support vector machines (SVMs)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10D77E6D-6BE1-6119-BCC0-F4CDD49271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0675" y="1066800"/>
            <a:ext cx="5927725" cy="3627438"/>
          </a:xfrm>
        </p:spPr>
        <p:txBody>
          <a:bodyPr/>
          <a:lstStyle/>
          <a:p>
            <a:pPr eaLnBrk="1" hangingPunct="1"/>
            <a:r>
              <a:rPr lang="en-US" altLang="en-US" sz="1800"/>
              <a:t>One of the more popular supervised methods for classification and regression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SVMs apply a simple linear method to partition the data into classes, but does so in a high-dimensional feature space that is nonlinearly related to the input space</a:t>
            </a:r>
            <a:r>
              <a:rPr lang="en-US" altLang="en-US" sz="1800" baseline="30000"/>
              <a:t>6</a:t>
            </a:r>
          </a:p>
          <a:p>
            <a:pPr eaLnBrk="1" hangingPunct="1"/>
            <a:endParaRPr lang="en-US" altLang="en-US" sz="1800" baseline="30000"/>
          </a:p>
          <a:p>
            <a:pPr eaLnBrk="1" hangingPunct="1"/>
            <a:r>
              <a:rPr lang="en-US" altLang="en-US" sz="1800"/>
              <a:t>Nonlinear partitioning relies on projecting the data into a feature space via a kernel function</a:t>
            </a:r>
          </a:p>
          <a:p>
            <a:pPr lvl="1" eaLnBrk="1" hangingPunct="1"/>
            <a:r>
              <a:rPr lang="en-US" altLang="en-US" sz="1500"/>
              <a:t>These different kernel function were also discussed in methods of dimensionality reduction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8E04CF7-5BA7-C001-ADFD-BB7AA0DA03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190500"/>
            <a:ext cx="5280025" cy="512763"/>
          </a:xfrm>
        </p:spPr>
        <p:txBody>
          <a:bodyPr/>
          <a:lstStyle/>
          <a:p>
            <a:pPr eaLnBrk="1" hangingPunct="1"/>
            <a:r>
              <a:rPr lang="en-US" altLang="en-US"/>
              <a:t>SVM theory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80E579B9-6C88-EAEF-856F-78E35B6D19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0675" y="876300"/>
            <a:ext cx="5699125" cy="381793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400"/>
              <a:t>Suppose we have </a:t>
            </a:r>
            <a:r>
              <a:rPr lang="en-US" altLang="en-US" sz="1400" i="1"/>
              <a:t>n</a:t>
            </a:r>
            <a:r>
              <a:rPr lang="en-US" altLang="en-US" sz="1400"/>
              <a:t> points, (</a:t>
            </a:r>
            <a:r>
              <a:rPr lang="en-US" altLang="en-US" sz="1400" i="1"/>
              <a:t>x</a:t>
            </a:r>
            <a:r>
              <a:rPr lang="en-US" altLang="en-US" sz="1400" i="1" baseline="-25000"/>
              <a:t>i</a:t>
            </a:r>
            <a:r>
              <a:rPr lang="en-US" altLang="en-US" sz="1400"/>
              <a:t> </a:t>
            </a:r>
            <a:r>
              <a:rPr lang="en-US" altLang="en-US" sz="1400" i="1"/>
              <a:t>i</a:t>
            </a:r>
            <a:r>
              <a:rPr lang="en-US" altLang="en-US" sz="1400"/>
              <a:t>=1,…,</a:t>
            </a:r>
            <a:r>
              <a:rPr lang="en-US" altLang="en-US" sz="1400" i="1"/>
              <a:t>n</a:t>
            </a:r>
            <a:r>
              <a:rPr lang="en-US" altLang="en-US" sz="1400"/>
              <a:t>) in high-dimensional space defined as {(</a:t>
            </a:r>
            <a:r>
              <a:rPr lang="en-US" altLang="en-US" sz="1400" i="1"/>
              <a:t>x</a:t>
            </a:r>
            <a:r>
              <a:rPr lang="en-US" altLang="en-US" sz="1400" i="1" baseline="-25000"/>
              <a:t>1</a:t>
            </a:r>
            <a:r>
              <a:rPr lang="en-US" altLang="en-US" sz="1400"/>
              <a:t>,</a:t>
            </a:r>
            <a:r>
              <a:rPr lang="en-US" altLang="en-US" sz="1400" i="1"/>
              <a:t>c</a:t>
            </a:r>
            <a:r>
              <a:rPr lang="en-US" altLang="en-US" sz="1400" i="1" baseline="-25000"/>
              <a:t>1</a:t>
            </a:r>
            <a:r>
              <a:rPr lang="en-US" altLang="en-US" sz="1400"/>
              <a:t>), (</a:t>
            </a:r>
            <a:r>
              <a:rPr lang="en-US" altLang="en-US" sz="1400" i="1"/>
              <a:t>x</a:t>
            </a:r>
            <a:r>
              <a:rPr lang="en-US" altLang="en-US" sz="1400" i="1" baseline="-25000"/>
              <a:t>2</a:t>
            </a:r>
            <a:r>
              <a:rPr lang="en-US" altLang="en-US" sz="1400"/>
              <a:t>,</a:t>
            </a:r>
            <a:r>
              <a:rPr lang="en-US" altLang="en-US" sz="1400" i="1"/>
              <a:t>c</a:t>
            </a:r>
            <a:r>
              <a:rPr lang="en-US" altLang="en-US" sz="1400" i="1" baseline="-25000"/>
              <a:t>2</a:t>
            </a:r>
            <a:r>
              <a:rPr lang="en-US" altLang="en-US" sz="1400"/>
              <a:t>),…,(</a:t>
            </a:r>
            <a:r>
              <a:rPr lang="en-US" altLang="en-US" sz="1400" i="1"/>
              <a:t>x</a:t>
            </a:r>
            <a:r>
              <a:rPr lang="en-US" altLang="en-US" sz="1400" i="1" baseline="-25000"/>
              <a:t>n</a:t>
            </a:r>
            <a:r>
              <a:rPr lang="en-US" altLang="en-US" sz="1400"/>
              <a:t>,</a:t>
            </a:r>
            <a:r>
              <a:rPr lang="en-US" altLang="en-US" sz="1400" i="1"/>
              <a:t>c</a:t>
            </a:r>
            <a:r>
              <a:rPr lang="en-US" altLang="en-US" sz="1400" i="1" baseline="-25000"/>
              <a:t>n</a:t>
            </a:r>
            <a:r>
              <a:rPr lang="en-US" altLang="en-US" sz="1400"/>
              <a:t>)} and we want to separate them into their respective classes (</a:t>
            </a:r>
            <a:r>
              <a:rPr lang="en-US" altLang="en-US" sz="1400" i="1"/>
              <a:t>c</a:t>
            </a:r>
            <a:r>
              <a:rPr lang="en-US" altLang="en-US" sz="1400" i="1" baseline="-25000"/>
              <a:t>i</a:t>
            </a:r>
            <a:r>
              <a:rPr lang="en-US" altLang="en-US" sz="1400"/>
              <a:t> =1 or -1)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400"/>
              <a:t>For a </a:t>
            </a:r>
            <a:r>
              <a:rPr lang="en-US" altLang="en-US" sz="1400" u="sng"/>
              <a:t>linear</a:t>
            </a:r>
            <a:r>
              <a:rPr lang="en-US" altLang="en-US" sz="1400"/>
              <a:t> division, we can construct a dividing hyperplane to divide the classes of points defined by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400" b="1" i="1"/>
              <a:t>	</a:t>
            </a:r>
            <a:r>
              <a:rPr lang="en-US" altLang="en-US" sz="1200" b="1" i="1"/>
              <a:t>w</a:t>
            </a:r>
            <a:r>
              <a:rPr lang="en-US" altLang="en-US" sz="1200"/>
              <a:t> </a:t>
            </a:r>
            <a:r>
              <a:rPr lang="en-US" altLang="en-US" sz="1200" b="1">
                <a:cs typeface="Arial" panose="020B0604020202020204" pitchFamily="34" charset="0"/>
              </a:rPr>
              <a:t>·</a:t>
            </a:r>
            <a:r>
              <a:rPr lang="en-US" altLang="en-US" sz="1200">
                <a:cs typeface="Arial" panose="020B0604020202020204" pitchFamily="34" charset="0"/>
              </a:rPr>
              <a:t> </a:t>
            </a:r>
            <a:r>
              <a:rPr lang="en-US" altLang="en-US" sz="1200" b="1" i="1">
                <a:cs typeface="Arial" panose="020B0604020202020204" pitchFamily="34" charset="0"/>
              </a:rPr>
              <a:t>x</a:t>
            </a:r>
            <a:r>
              <a:rPr lang="en-US" altLang="en-US" sz="1200">
                <a:cs typeface="Arial" panose="020B0604020202020204" pitchFamily="34" charset="0"/>
              </a:rPr>
              <a:t>  + </a:t>
            </a:r>
            <a:r>
              <a:rPr lang="en-US" altLang="en-US" sz="1200" i="1">
                <a:cs typeface="Arial" panose="020B0604020202020204" pitchFamily="34" charset="0"/>
              </a:rPr>
              <a:t>b </a:t>
            </a:r>
            <a:r>
              <a:rPr lang="en-US" altLang="en-US" sz="1200">
                <a:cs typeface="Arial" panose="020B0604020202020204" pitchFamily="34" charset="0"/>
              </a:rPr>
              <a:t>= 0 					[1]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200">
                <a:cs typeface="Arial" panose="020B0604020202020204" pitchFamily="34" charset="0"/>
              </a:rPr>
              <a:t>	where the maximum separation between classes (i.e. margin) can be described by the parallel hyperplanes (for each class) as</a:t>
            </a:r>
            <a:r>
              <a:rPr lang="en-US" altLang="en-US" sz="1200" baseline="30000">
                <a:cs typeface="Arial" panose="020B0604020202020204" pitchFamily="34" charset="0"/>
              </a:rPr>
              <a:t>7</a:t>
            </a:r>
            <a:r>
              <a:rPr lang="en-US" altLang="en-US" sz="1200">
                <a:cs typeface="Arial" panose="020B0604020202020204" pitchFamily="34" charset="0"/>
              </a:rPr>
              <a:t>: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200">
                <a:cs typeface="Arial" panose="020B0604020202020204" pitchFamily="34" charset="0"/>
              </a:rPr>
              <a:t>	 H</a:t>
            </a:r>
            <a:r>
              <a:rPr lang="en-US" altLang="en-US" sz="1200" baseline="-25000">
                <a:cs typeface="Arial" panose="020B0604020202020204" pitchFamily="34" charset="0"/>
              </a:rPr>
              <a:t>1</a:t>
            </a:r>
            <a:r>
              <a:rPr lang="en-US" altLang="en-US" sz="1200">
                <a:cs typeface="Arial" panose="020B0604020202020204" pitchFamily="34" charset="0"/>
              </a:rPr>
              <a:t>: </a:t>
            </a:r>
            <a:r>
              <a:rPr lang="en-US" altLang="en-US" sz="1200" b="1" i="1"/>
              <a:t>w</a:t>
            </a:r>
            <a:r>
              <a:rPr lang="en-US" altLang="en-US" sz="1200"/>
              <a:t> </a:t>
            </a:r>
            <a:r>
              <a:rPr lang="en-US" altLang="en-US" sz="1200" b="1">
                <a:cs typeface="Arial" panose="020B0604020202020204" pitchFamily="34" charset="0"/>
              </a:rPr>
              <a:t>·</a:t>
            </a:r>
            <a:r>
              <a:rPr lang="en-US" altLang="en-US" sz="1200">
                <a:cs typeface="Arial" panose="020B0604020202020204" pitchFamily="34" charset="0"/>
              </a:rPr>
              <a:t> </a:t>
            </a:r>
            <a:r>
              <a:rPr lang="en-US" altLang="en-US" sz="1200" b="1" i="1">
                <a:cs typeface="Arial" panose="020B0604020202020204" pitchFamily="34" charset="0"/>
              </a:rPr>
              <a:t>x</a:t>
            </a:r>
            <a:r>
              <a:rPr lang="en-US" altLang="en-US" sz="1200" b="1" i="1" baseline="-25000">
                <a:cs typeface="Arial" panose="020B0604020202020204" pitchFamily="34" charset="0"/>
              </a:rPr>
              <a:t>i</a:t>
            </a:r>
            <a:r>
              <a:rPr lang="en-US" altLang="en-US" sz="1200">
                <a:cs typeface="Arial" panose="020B0604020202020204" pitchFamily="34" charset="0"/>
              </a:rPr>
              <a:t>  + </a:t>
            </a:r>
            <a:r>
              <a:rPr lang="en-US" altLang="en-US" sz="1200" i="1">
                <a:cs typeface="Arial" panose="020B0604020202020204" pitchFamily="34" charset="0"/>
              </a:rPr>
              <a:t>b </a:t>
            </a:r>
            <a:r>
              <a:rPr lang="en-US" altLang="en-US" sz="1200">
                <a:cs typeface="Arial" panose="020B0604020202020204" pitchFamily="34" charset="0"/>
              </a:rPr>
              <a:t>= 1 and  H</a:t>
            </a:r>
            <a:r>
              <a:rPr lang="en-US" altLang="en-US" sz="1200" baseline="-25000">
                <a:cs typeface="Arial" panose="020B0604020202020204" pitchFamily="34" charset="0"/>
              </a:rPr>
              <a:t>2</a:t>
            </a:r>
            <a:r>
              <a:rPr lang="en-US" altLang="en-US" sz="1200">
                <a:cs typeface="Arial" panose="020B0604020202020204" pitchFamily="34" charset="0"/>
              </a:rPr>
              <a:t>: </a:t>
            </a:r>
            <a:r>
              <a:rPr lang="en-US" altLang="en-US" sz="1200" b="1" i="1"/>
              <a:t>w</a:t>
            </a:r>
            <a:r>
              <a:rPr lang="en-US" altLang="en-US" sz="1200"/>
              <a:t> </a:t>
            </a:r>
            <a:r>
              <a:rPr lang="en-US" altLang="en-US" sz="1200" b="1">
                <a:cs typeface="Arial" panose="020B0604020202020204" pitchFamily="34" charset="0"/>
              </a:rPr>
              <a:t>·</a:t>
            </a:r>
            <a:r>
              <a:rPr lang="en-US" altLang="en-US" sz="1200">
                <a:cs typeface="Arial" panose="020B0604020202020204" pitchFamily="34" charset="0"/>
              </a:rPr>
              <a:t> </a:t>
            </a:r>
            <a:r>
              <a:rPr lang="en-US" altLang="en-US" sz="1200" b="1" i="1">
                <a:cs typeface="Arial" panose="020B0604020202020204" pitchFamily="34" charset="0"/>
              </a:rPr>
              <a:t>x</a:t>
            </a:r>
            <a:r>
              <a:rPr lang="en-US" altLang="en-US" sz="1200" b="1" i="1" baseline="-25000">
                <a:cs typeface="Arial" panose="020B0604020202020204" pitchFamily="34" charset="0"/>
              </a:rPr>
              <a:t>i</a:t>
            </a:r>
            <a:r>
              <a:rPr lang="en-US" altLang="en-US" sz="1200">
                <a:cs typeface="Arial" panose="020B0604020202020204" pitchFamily="34" charset="0"/>
              </a:rPr>
              <a:t>  + </a:t>
            </a:r>
            <a:r>
              <a:rPr lang="en-US" altLang="en-US" sz="1200" i="1">
                <a:cs typeface="Arial" panose="020B0604020202020204" pitchFamily="34" charset="0"/>
              </a:rPr>
              <a:t>b </a:t>
            </a:r>
            <a:r>
              <a:rPr lang="en-US" altLang="en-US" sz="1200">
                <a:cs typeface="Arial" panose="020B0604020202020204" pitchFamily="34" charset="0"/>
              </a:rPr>
              <a:t>= -1     		[2]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400"/>
              <a:t>So to maximize the partitioning between the parallel hyperplanes and the dividing hyperplane, we need to minimize |</a:t>
            </a:r>
            <a:r>
              <a:rPr lang="en-US" altLang="en-US" sz="1400" b="1" i="1"/>
              <a:t>w</a:t>
            </a:r>
            <a:r>
              <a:rPr lang="en-US" altLang="en-US" sz="1400"/>
              <a:t>| subject to the constraints of</a:t>
            </a:r>
            <a:r>
              <a:rPr lang="en-US" altLang="en-US" sz="1500" baseline="30000">
                <a:cs typeface="Arial" panose="020B0604020202020204" pitchFamily="34" charset="0"/>
              </a:rPr>
              <a:t>7</a:t>
            </a:r>
            <a:r>
              <a:rPr lang="en-US" altLang="en-US" sz="1400"/>
              <a:t>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200" i="1"/>
              <a:t>	c</a:t>
            </a:r>
            <a:r>
              <a:rPr lang="en-US" altLang="en-US" sz="1200" i="1" baseline="-25000"/>
              <a:t>i</a:t>
            </a:r>
            <a:r>
              <a:rPr lang="en-US" altLang="en-US" sz="1200"/>
              <a:t>(</a:t>
            </a:r>
            <a:r>
              <a:rPr lang="en-US" altLang="en-US" sz="1200" b="1" i="1"/>
              <a:t>w</a:t>
            </a:r>
            <a:r>
              <a:rPr lang="en-US" altLang="en-US" sz="1200"/>
              <a:t> </a:t>
            </a:r>
            <a:r>
              <a:rPr lang="en-US" altLang="en-US" sz="1200" b="1">
                <a:cs typeface="Arial" panose="020B0604020202020204" pitchFamily="34" charset="0"/>
              </a:rPr>
              <a:t>·</a:t>
            </a:r>
            <a:r>
              <a:rPr lang="en-US" altLang="en-US" sz="1200">
                <a:cs typeface="Arial" panose="020B0604020202020204" pitchFamily="34" charset="0"/>
              </a:rPr>
              <a:t> </a:t>
            </a:r>
            <a:r>
              <a:rPr lang="en-US" altLang="en-US" sz="1200" b="1" i="1">
                <a:cs typeface="Arial" panose="020B0604020202020204" pitchFamily="34" charset="0"/>
              </a:rPr>
              <a:t>x</a:t>
            </a:r>
            <a:r>
              <a:rPr lang="en-US" altLang="en-US" sz="1200" b="1" i="1" baseline="-25000">
                <a:cs typeface="Arial" panose="020B0604020202020204" pitchFamily="34" charset="0"/>
              </a:rPr>
              <a:t>i</a:t>
            </a:r>
            <a:r>
              <a:rPr lang="en-US" altLang="en-US" sz="1200">
                <a:cs typeface="Arial" panose="020B0604020202020204" pitchFamily="34" charset="0"/>
              </a:rPr>
              <a:t>  + </a:t>
            </a:r>
            <a:r>
              <a:rPr lang="en-US" altLang="en-US" sz="1200" i="1">
                <a:cs typeface="Arial" panose="020B0604020202020204" pitchFamily="34" charset="0"/>
              </a:rPr>
              <a:t>b) </a:t>
            </a:r>
            <a:r>
              <a:rPr lang="en-US" altLang="en-US" sz="1200">
                <a:cs typeface="Arial" panose="020B0604020202020204" pitchFamily="34" charset="0"/>
              </a:rPr>
              <a:t>-</a:t>
            </a:r>
            <a:r>
              <a:rPr lang="en-US" altLang="en-US" sz="1200" i="1">
                <a:cs typeface="Arial" panose="020B0604020202020204" pitchFamily="34" charset="0"/>
              </a:rPr>
              <a:t> </a:t>
            </a:r>
            <a:r>
              <a:rPr lang="en-US" altLang="en-US" sz="1200">
                <a:cs typeface="Arial" panose="020B0604020202020204" pitchFamily="34" charset="0"/>
              </a:rPr>
              <a:t>1</a:t>
            </a:r>
            <a:r>
              <a:rPr lang="en-US" altLang="en-US" sz="1200" i="1">
                <a:cs typeface="Arial" panose="020B0604020202020204" pitchFamily="34" charset="0"/>
              </a:rPr>
              <a:t> </a:t>
            </a:r>
            <a:r>
              <a:rPr lang="en-US" altLang="en-US" sz="1200" i="1">
                <a:latin typeface="Old English Text MT" panose="03040902040508030806" pitchFamily="66" charset="77"/>
                <a:cs typeface="Arial" panose="020B0604020202020204" pitchFamily="34" charset="0"/>
              </a:rPr>
              <a:t>≥ </a:t>
            </a:r>
            <a:r>
              <a:rPr lang="en-US" altLang="en-US" sz="1200">
                <a:cs typeface="Arial" panose="020B0604020202020204" pitchFamily="34" charset="0"/>
              </a:rPr>
              <a:t>0; 1 ≤ </a:t>
            </a:r>
            <a:r>
              <a:rPr lang="en-US" altLang="en-US" sz="1200" i="1">
                <a:cs typeface="Arial" panose="020B0604020202020204" pitchFamily="34" charset="0"/>
              </a:rPr>
              <a:t>i</a:t>
            </a:r>
            <a:r>
              <a:rPr lang="en-US" altLang="en-US" sz="1200">
                <a:cs typeface="Arial" panose="020B0604020202020204" pitchFamily="34" charset="0"/>
              </a:rPr>
              <a:t> ≤ </a:t>
            </a:r>
            <a:r>
              <a:rPr lang="en-US" altLang="en-US" sz="1200" i="1">
                <a:cs typeface="Arial" panose="020B0604020202020204" pitchFamily="34" charset="0"/>
              </a:rPr>
              <a:t>n				</a:t>
            </a:r>
            <a:r>
              <a:rPr lang="en-US" altLang="en-US" sz="1200">
                <a:cs typeface="Arial" panose="020B0604020202020204" pitchFamily="34" charset="0"/>
              </a:rPr>
              <a:t>[3]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200"/>
              <a:t>This is a quadratic programming problem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400"/>
              <a:t>The methodology above can be generalized to the nonlinear case, by the application of a kernel function to the linear domain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200">
                <a:cs typeface="Arial" panose="020B0604020202020204" pitchFamily="34" charset="0"/>
              </a:rPr>
              <a:t>The dividing hyperplane then takes the form: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200">
                <a:cs typeface="Arial" panose="020B0604020202020204" pitchFamily="34" charset="0"/>
              </a:rPr>
              <a:t>	&lt;</a:t>
            </a:r>
            <a:r>
              <a:rPr lang="en-US" altLang="en-US" sz="1200" b="1" i="1">
                <a:cs typeface="Arial" panose="020B0604020202020204" pitchFamily="34" charset="0"/>
              </a:rPr>
              <a:t>w</a:t>
            </a:r>
            <a:r>
              <a:rPr lang="en-US" altLang="en-US" sz="1200">
                <a:cs typeface="Arial" panose="020B0604020202020204" pitchFamily="34" charset="0"/>
              </a:rPr>
              <a:t>,</a:t>
            </a:r>
            <a:r>
              <a:rPr lang="el-GR" altLang="en-US" sz="1200" b="1" i="1">
                <a:cs typeface="Arial" panose="020B0604020202020204" pitchFamily="34" charset="0"/>
              </a:rPr>
              <a:t>Φ</a:t>
            </a:r>
            <a:r>
              <a:rPr lang="en-US" altLang="en-US" sz="1200">
                <a:cs typeface="Arial" panose="020B0604020202020204" pitchFamily="34" charset="0"/>
              </a:rPr>
              <a:t>(</a:t>
            </a:r>
            <a:r>
              <a:rPr lang="en-US" altLang="en-US" sz="1200" i="1">
                <a:cs typeface="Arial" panose="020B0604020202020204" pitchFamily="34" charset="0"/>
              </a:rPr>
              <a:t>x</a:t>
            </a:r>
            <a:r>
              <a:rPr lang="en-US" altLang="en-US" sz="1200">
                <a:cs typeface="Arial" panose="020B0604020202020204" pitchFamily="34" charset="0"/>
              </a:rPr>
              <a:t>)&gt; + </a:t>
            </a:r>
            <a:r>
              <a:rPr lang="en-US" altLang="en-US" sz="1200" i="1">
                <a:cs typeface="Arial" panose="020B0604020202020204" pitchFamily="34" charset="0"/>
              </a:rPr>
              <a:t>b</a:t>
            </a:r>
            <a:r>
              <a:rPr lang="en-US" altLang="en-US" sz="1200">
                <a:cs typeface="Arial" panose="020B0604020202020204" pitchFamily="34" charset="0"/>
              </a:rPr>
              <a:t> = 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486B540-FBD1-6584-6518-535217EF94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238125"/>
            <a:ext cx="5280025" cy="714375"/>
          </a:xfrm>
        </p:spPr>
        <p:txBody>
          <a:bodyPr/>
          <a:lstStyle/>
          <a:p>
            <a:pPr eaLnBrk="1" hangingPunct="1"/>
            <a:r>
              <a:rPr lang="en-US" altLang="en-US" sz="2300"/>
              <a:t>SVM illustration for two-dimensional example</a:t>
            </a:r>
            <a:r>
              <a:rPr lang="en-US" altLang="en-US" sz="2300" baseline="30000"/>
              <a:t>7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AA4BE31C-CED1-F11D-390B-F5BAEBA6C4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104900"/>
            <a:ext cx="5759450" cy="914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200"/>
              <a:t>This is a two group partitioning problem with one group identified with filled circles and the other group identified with unfilled circles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200"/>
              <a:t>The primary dividing hyperplane is the origin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200"/>
              <a:t>Those points circled that lie on the hyperplanes (H</a:t>
            </a:r>
            <a:r>
              <a:rPr lang="en-US" altLang="en-US" sz="1200" baseline="-25000"/>
              <a:t>1</a:t>
            </a:r>
            <a:r>
              <a:rPr lang="en-US" altLang="en-US" sz="1200"/>
              <a:t> and H</a:t>
            </a:r>
            <a:r>
              <a:rPr lang="en-US" altLang="en-US" sz="1200" baseline="-25000"/>
              <a:t>2</a:t>
            </a:r>
            <a:r>
              <a:rPr lang="en-US" altLang="en-US" sz="1200"/>
              <a:t>) are called support vectors</a:t>
            </a:r>
          </a:p>
        </p:txBody>
      </p:sp>
      <p:pic>
        <p:nvPicPr>
          <p:cNvPr id="13316" name="Picture 4">
            <a:extLst>
              <a:ext uri="{FF2B5EF4-FFF2-40B4-BE49-F238E27FC236}">
                <a16:creationId xmlns:a16="http://schemas.microsoft.com/office/drawing/2014/main" id="{814AEE79-4352-B631-7F38-EAEB7D9CD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51" t="42764" r="36874" b="21060"/>
          <a:stretch>
            <a:fillRect/>
          </a:stretch>
        </p:blipFill>
        <p:spPr bwMode="auto">
          <a:xfrm>
            <a:off x="1066800" y="2019300"/>
            <a:ext cx="41910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549B8B2-FC28-1F75-C447-B0ED38A5AA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85725"/>
            <a:ext cx="5280025" cy="638175"/>
          </a:xfrm>
        </p:spPr>
        <p:txBody>
          <a:bodyPr/>
          <a:lstStyle/>
          <a:p>
            <a:pPr eaLnBrk="1" hangingPunct="1"/>
            <a:r>
              <a:rPr lang="en-US" altLang="en-US"/>
              <a:t>SVM example </a:t>
            </a:r>
            <a:r>
              <a:rPr lang="en-US" altLang="en-US" sz="1400"/>
              <a:t>(Alon et al., colon cancer data)</a:t>
            </a:r>
          </a:p>
        </p:txBody>
      </p:sp>
      <p:graphicFrame>
        <p:nvGraphicFramePr>
          <p:cNvPr id="347140" name="Group 4">
            <a:extLst>
              <a:ext uri="{FF2B5EF4-FFF2-40B4-BE49-F238E27FC236}">
                <a16:creationId xmlns:a16="http://schemas.microsoft.com/office/drawing/2014/main" id="{65128E3C-A7EB-40E7-3BD0-FA1550F0F2BB}"/>
              </a:ext>
            </a:extLst>
          </p:cNvPr>
          <p:cNvGraphicFramePr>
            <a:graphicFrameLocks noGrp="1"/>
          </p:cNvGraphicFramePr>
          <p:nvPr/>
        </p:nvGraphicFramePr>
        <p:xfrm>
          <a:off x="0" y="2232025"/>
          <a:ext cx="2695575" cy="1387475"/>
        </p:xfrm>
        <a:graphic>
          <a:graphicData uri="http://schemas.openxmlformats.org/drawingml/2006/table">
            <a:tbl>
              <a:tblPr/>
              <a:tblGrid>
                <a:gridCol w="617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8962"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Predicted Membership</a:t>
                      </a: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888"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Tumor</a:t>
                      </a: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Normal</a:t>
                      </a: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813"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Actual</a:t>
                      </a: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Tumor</a:t>
                      </a: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38</a:t>
                      </a: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endParaRPr kumimoji="0" lang="en-US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40</a:t>
                      </a: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813"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Membership</a:t>
                      </a: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Normal</a:t>
                      </a: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endParaRPr kumimoji="0" lang="en-US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</a:t>
                      </a:r>
                      <a:endParaRPr kumimoji="0" lang="en-US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20675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39763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96043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279525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367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1939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6511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08325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22</a:t>
                      </a:r>
                      <a:endParaRPr kumimoji="0" lang="en-US" altLang="en-US" sz="13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367" name="Text Box 36">
            <a:extLst>
              <a:ext uri="{FF2B5EF4-FFF2-40B4-BE49-F238E27FC236}">
                <a16:creationId xmlns:a16="http://schemas.microsoft.com/office/drawing/2014/main" id="{490A2189-1175-0B45-7BAD-EFC2AC93F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2397125"/>
            <a:ext cx="2400300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>
            <a:spAutoFit/>
          </a:bodyPr>
          <a:lstStyle>
            <a:lvl1pPr defTabSz="639763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20675" indent="-242888" defTabSz="6397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639763" indent="-204788" defTabSz="639763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960438" indent="-204788" defTabSz="639763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279525" indent="-220663" defTabSz="639763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36725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193925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651125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108325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300"/>
              <a:t>Confusion matrix from SVM</a:t>
            </a:r>
          </a:p>
        </p:txBody>
      </p:sp>
      <p:pic>
        <p:nvPicPr>
          <p:cNvPr id="14368" name="Picture 38">
            <a:extLst>
              <a:ext uri="{FF2B5EF4-FFF2-40B4-BE49-F238E27FC236}">
                <a16:creationId xmlns:a16="http://schemas.microsoft.com/office/drawing/2014/main" id="{1AF4B0E9-5280-BC4F-474B-F475D1677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333500"/>
            <a:ext cx="3319463" cy="331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49A3439-5CA1-AAB8-9FDC-475416A2D6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85725"/>
            <a:ext cx="5280025" cy="660400"/>
          </a:xfrm>
        </p:spPr>
        <p:txBody>
          <a:bodyPr/>
          <a:lstStyle/>
          <a:p>
            <a:pPr eaLnBrk="1" hangingPunct="1"/>
            <a:r>
              <a:rPr lang="en-US" altLang="en-US"/>
              <a:t>CART</a:t>
            </a:r>
            <a:r>
              <a:rPr lang="en-US" altLang="en-US" baseline="30000"/>
              <a:t>4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21D0D15D-2947-0CD0-2682-D81935FA88F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20675" y="800100"/>
            <a:ext cx="5919788" cy="3733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500"/>
              <a:t>A method of using independent variables to predict either categorical or continuous dependent variables</a:t>
            </a:r>
            <a:r>
              <a:rPr lang="en-US" altLang="en-US" sz="1500" baseline="30000"/>
              <a:t>4</a:t>
            </a:r>
          </a:p>
          <a:p>
            <a:pPr eaLnBrk="1" hangingPunct="1">
              <a:lnSpc>
                <a:spcPct val="90000"/>
              </a:lnSpc>
            </a:pPr>
            <a:endParaRPr lang="en-US" altLang="en-US" sz="1500"/>
          </a:p>
          <a:p>
            <a:pPr eaLnBrk="1" hangingPunct="1">
              <a:lnSpc>
                <a:spcPct val="90000"/>
              </a:lnSpc>
            </a:pPr>
            <a:r>
              <a:rPr lang="en-US" altLang="en-US" sz="1500"/>
              <a:t>Using a series of if-then commands, the predictor variables are utilized to partition a classification for each dependent variable at various levels of a hierarchy</a:t>
            </a:r>
            <a:r>
              <a:rPr lang="en-US" altLang="en-US" sz="1500" baseline="30000"/>
              <a:t>4</a:t>
            </a:r>
            <a:endParaRPr lang="en-US" altLang="en-US" sz="1500"/>
          </a:p>
          <a:p>
            <a:pPr eaLnBrk="1" hangingPunct="1">
              <a:lnSpc>
                <a:spcPct val="90000"/>
              </a:lnSpc>
            </a:pPr>
            <a:endParaRPr lang="en-US" altLang="en-US" sz="1500"/>
          </a:p>
          <a:p>
            <a:pPr eaLnBrk="1" hangingPunct="1">
              <a:lnSpc>
                <a:spcPct val="90000"/>
              </a:lnSpc>
            </a:pPr>
            <a:r>
              <a:rPr lang="en-US" altLang="en-US" sz="1500"/>
              <a:t>The nodes on each level of the tree give the criteria used for each decision</a:t>
            </a:r>
          </a:p>
          <a:p>
            <a:pPr eaLnBrk="1" hangingPunct="1">
              <a:lnSpc>
                <a:spcPct val="90000"/>
              </a:lnSpc>
            </a:pPr>
            <a:endParaRPr lang="en-US" altLang="en-US" sz="1500"/>
          </a:p>
          <a:p>
            <a:pPr eaLnBrk="1" hangingPunct="1">
              <a:lnSpc>
                <a:spcPct val="90000"/>
              </a:lnSpc>
            </a:pPr>
            <a:r>
              <a:rPr lang="en-US" altLang="en-US" sz="1500"/>
              <a:t>The consistency of classification at a particular node is measured with multiple methods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/>
              <a:t>Entropy function, Gini measure of impurity, etc.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 i="1"/>
              <a:t>g</a:t>
            </a:r>
            <a:r>
              <a:rPr lang="en-US" altLang="en-US" sz="1400"/>
              <a:t>(</a:t>
            </a:r>
            <a:r>
              <a:rPr lang="en-US" altLang="en-US" sz="1400" i="1"/>
              <a:t>t</a:t>
            </a:r>
            <a:r>
              <a:rPr lang="en-US" altLang="en-US" sz="1400"/>
              <a:t>) = </a:t>
            </a:r>
            <a:r>
              <a:rPr lang="el-GR" altLang="en-US">
                <a:cs typeface="Arial" panose="020B0604020202020204" pitchFamily="34" charset="0"/>
              </a:rPr>
              <a:t>Σ</a:t>
            </a:r>
            <a:r>
              <a:rPr lang="en-US" altLang="en-US" i="1" baseline="-25000">
                <a:cs typeface="Arial" panose="020B0604020202020204" pitchFamily="34" charset="0"/>
              </a:rPr>
              <a:t>j </a:t>
            </a:r>
            <a:r>
              <a:rPr lang="en-US" altLang="en-US" sz="1400" i="1">
                <a:cs typeface="Arial" panose="020B0604020202020204" pitchFamily="34" charset="0"/>
              </a:rPr>
              <a:t>p</a:t>
            </a:r>
            <a:r>
              <a:rPr lang="en-US" altLang="en-US" sz="1400">
                <a:cs typeface="Arial" panose="020B0604020202020204" pitchFamily="34" charset="0"/>
              </a:rPr>
              <a:t>(</a:t>
            </a:r>
            <a:r>
              <a:rPr lang="en-US" altLang="en-US" sz="1400" i="1">
                <a:cs typeface="Arial" panose="020B0604020202020204" pitchFamily="34" charset="0"/>
              </a:rPr>
              <a:t>j </a:t>
            </a:r>
            <a:r>
              <a:rPr lang="en-US" altLang="en-US" sz="1400">
                <a:cs typeface="Arial" panose="020B0604020202020204" pitchFamily="34" charset="0"/>
              </a:rPr>
              <a:t>| </a:t>
            </a:r>
            <a:r>
              <a:rPr lang="en-US" altLang="en-US" sz="1400" i="1">
                <a:cs typeface="Arial" panose="020B0604020202020204" pitchFamily="34" charset="0"/>
              </a:rPr>
              <a:t>t</a:t>
            </a:r>
            <a:r>
              <a:rPr lang="en-US" altLang="en-US" sz="1400">
                <a:cs typeface="Arial" panose="020B0604020202020204" pitchFamily="34" charset="0"/>
              </a:rPr>
              <a:t>)</a:t>
            </a:r>
            <a:r>
              <a:rPr lang="en-US" altLang="en-US" sz="1400" i="1">
                <a:cs typeface="Arial" panose="020B0604020202020204" pitchFamily="34" charset="0"/>
              </a:rPr>
              <a:t>p</a:t>
            </a:r>
            <a:r>
              <a:rPr lang="en-US" altLang="en-US" sz="1400">
                <a:cs typeface="Arial" panose="020B0604020202020204" pitchFamily="34" charset="0"/>
              </a:rPr>
              <a:t>(</a:t>
            </a:r>
            <a:r>
              <a:rPr lang="en-US" altLang="en-US" sz="1400" i="1">
                <a:cs typeface="Arial" panose="020B0604020202020204" pitchFamily="34" charset="0"/>
              </a:rPr>
              <a:t>i </a:t>
            </a:r>
            <a:r>
              <a:rPr lang="en-US" altLang="en-US" sz="1400">
                <a:cs typeface="Arial" panose="020B0604020202020204" pitchFamily="34" charset="0"/>
              </a:rPr>
              <a:t>| </a:t>
            </a:r>
            <a:r>
              <a:rPr lang="en-US" altLang="en-US" sz="1400" i="1">
                <a:cs typeface="Arial" panose="020B0604020202020204" pitchFamily="34" charset="0"/>
              </a:rPr>
              <a:t>t</a:t>
            </a:r>
            <a:r>
              <a:rPr lang="en-US" altLang="en-US" sz="1400">
                <a:cs typeface="Arial" panose="020B0604020202020204" pitchFamily="34" charset="0"/>
              </a:rPr>
              <a:t>)</a:t>
            </a:r>
            <a:endParaRPr lang="el-GR" altLang="en-US">
              <a:cs typeface="Arial" panose="020B0604020202020204" pitchFamily="34" charset="0"/>
            </a:endParaRP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300"/>
              <a:t>                       </a:t>
            </a:r>
          </a:p>
        </p:txBody>
      </p:sp>
      <p:sp>
        <p:nvSpPr>
          <p:cNvPr id="15364" name="Text Box 9">
            <a:extLst>
              <a:ext uri="{FF2B5EF4-FFF2-40B4-BE49-F238E27FC236}">
                <a16:creationId xmlns:a16="http://schemas.microsoft.com/office/drawing/2014/main" id="{25AED80B-6802-0DAC-E616-9CCD55632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263" y="4229100"/>
            <a:ext cx="3360737" cy="231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>
            <a:spAutoFit/>
          </a:bodyPr>
          <a:lstStyle>
            <a:lvl1pPr defTabSz="639763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20675" indent="-242888" defTabSz="6397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639763" indent="-204788" defTabSz="639763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960438" indent="-204788" defTabSz="639763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279525" indent="-220663" defTabSz="639763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36725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193925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651125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108325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100"/>
              <a:t>where </a:t>
            </a:r>
            <a:r>
              <a:rPr lang="en-US" altLang="en-US" sz="1100" i="1"/>
              <a:t>p(j|t)</a:t>
            </a:r>
            <a:r>
              <a:rPr lang="en-US" altLang="en-US" sz="1100"/>
              <a:t> is the prob. of category </a:t>
            </a:r>
            <a:r>
              <a:rPr lang="en-US" altLang="en-US" sz="1100" i="1"/>
              <a:t>j</a:t>
            </a:r>
            <a:r>
              <a:rPr lang="en-US" altLang="en-US" sz="1100"/>
              <a:t> at node </a:t>
            </a:r>
            <a:r>
              <a:rPr lang="en-US" altLang="en-US" sz="1100" i="1"/>
              <a:t>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11">
            <a:extLst>
              <a:ext uri="{FF2B5EF4-FFF2-40B4-BE49-F238E27FC236}">
                <a16:creationId xmlns:a16="http://schemas.microsoft.com/office/drawing/2014/main" id="{62A483FE-2AF8-8864-1AA8-C77D7BC38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181100"/>
            <a:ext cx="3760788" cy="375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Line 6">
            <a:extLst>
              <a:ext uri="{FF2B5EF4-FFF2-40B4-BE49-F238E27FC236}">
                <a16:creationId xmlns:a16="http://schemas.microsoft.com/office/drawing/2014/main" id="{45FDC191-9F79-11B9-FE9A-C69F35C9EE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98838" y="1790700"/>
            <a:ext cx="1249362" cy="411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8" name="Text Box 7">
            <a:extLst>
              <a:ext uri="{FF2B5EF4-FFF2-40B4-BE49-F238E27FC236}">
                <a16:creationId xmlns:a16="http://schemas.microsoft.com/office/drawing/2014/main" id="{1E809E8C-846E-2303-0240-E882AB2EF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1038" y="2049463"/>
            <a:ext cx="1447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39763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84188" indent="-242888" defTabSz="6397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690563" indent="-204788" defTabSz="639763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896938" indent="-204788" defTabSz="639763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119188" indent="-220663" defTabSz="639763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5763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335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4907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479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800">
                <a:latin typeface="Courier New" panose="02070309020205020404" pitchFamily="49" charset="0"/>
              </a:rPr>
              <a:t>Gene 1671 is the primary bifurcation at a value of &gt; 0.57</a:t>
            </a:r>
          </a:p>
        </p:txBody>
      </p:sp>
      <p:sp>
        <p:nvSpPr>
          <p:cNvPr id="16389" name="Text Box 9">
            <a:extLst>
              <a:ext uri="{FF2B5EF4-FFF2-40B4-BE49-F238E27FC236}">
                <a16:creationId xmlns:a16="http://schemas.microsoft.com/office/drawing/2014/main" id="{6854668C-3EF2-2B67-5386-763B87920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6638" y="3344863"/>
            <a:ext cx="1752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639763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84188" indent="-242888" defTabSz="6397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690563" indent="-204788" defTabSz="639763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896938" indent="-204788" defTabSz="639763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119188" indent="-220663" defTabSz="639763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5763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335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4907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479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800">
                <a:latin typeface="Courier New" panose="02070309020205020404" pitchFamily="49" charset="0"/>
              </a:rPr>
              <a:t>Gene 590 is the secondary bifurcation at a value of -0.67</a:t>
            </a:r>
          </a:p>
        </p:txBody>
      </p:sp>
      <p:sp>
        <p:nvSpPr>
          <p:cNvPr id="16390" name="Line 10">
            <a:extLst>
              <a:ext uri="{FF2B5EF4-FFF2-40B4-BE49-F238E27FC236}">
                <a16:creationId xmlns:a16="http://schemas.microsoft.com/office/drawing/2014/main" id="{7663BACF-FC65-033E-B06A-083F0FD705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36838" y="3057525"/>
            <a:ext cx="2620962" cy="439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1" name="Rectangle 3">
            <a:extLst>
              <a:ext uri="{FF2B5EF4-FFF2-40B4-BE49-F238E27FC236}">
                <a16:creationId xmlns:a16="http://schemas.microsoft.com/office/drawing/2014/main" id="{6F2C5293-1D74-A448-AE4A-13A6BB4BD16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4152900"/>
            <a:ext cx="3048000" cy="2444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000"/>
              <a:t>Number of terminal nodes:  5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000"/>
              <a:t>Residual mean deviance:  0.1181 = 6.73 / 57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000"/>
              <a:t>Misclassification error rate: 0.03226 = 2 / 62 </a:t>
            </a:r>
            <a:endParaRPr lang="en-US" altLang="en-US" sz="1000" baseline="30000"/>
          </a:p>
        </p:txBody>
      </p:sp>
      <p:sp>
        <p:nvSpPr>
          <p:cNvPr id="16392" name="Rectangle 2">
            <a:extLst>
              <a:ext uri="{FF2B5EF4-FFF2-40B4-BE49-F238E27FC236}">
                <a16:creationId xmlns:a16="http://schemas.microsoft.com/office/drawing/2014/main" id="{8C27720C-AE9F-CF1C-98F9-4481FDEB72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2575" y="800100"/>
            <a:ext cx="5013325" cy="500063"/>
          </a:xfrm>
        </p:spPr>
        <p:txBody>
          <a:bodyPr/>
          <a:lstStyle/>
          <a:p>
            <a:pPr eaLnBrk="1" hangingPunct="1"/>
            <a:r>
              <a:rPr lang="en-US" altLang="en-US" sz="2500"/>
              <a:t>Binary Tree example                 </a:t>
            </a:r>
            <a:r>
              <a:rPr lang="en-US" altLang="en-US" sz="1400"/>
              <a:t>Alon et al. colon cancer data</a:t>
            </a:r>
            <a:br>
              <a:rPr lang="en-US" altLang="en-US" sz="1400"/>
            </a:br>
            <a:br>
              <a:rPr lang="en-US" altLang="en-US" sz="1400"/>
            </a:br>
            <a:endParaRPr lang="en-US" altLang="en-US"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572A5F5-20AC-B2B9-3B83-B7E915A729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85725"/>
            <a:ext cx="5280025" cy="660400"/>
          </a:xfrm>
        </p:spPr>
        <p:txBody>
          <a:bodyPr/>
          <a:lstStyle/>
          <a:p>
            <a:pPr eaLnBrk="1" hangingPunct="1"/>
            <a:r>
              <a:rPr lang="en-US" altLang="en-US"/>
              <a:t>PLS – classification (review)</a:t>
            </a:r>
          </a:p>
        </p:txBody>
      </p:sp>
      <p:sp>
        <p:nvSpPr>
          <p:cNvPr id="17411" name="Rectangle 5">
            <a:extLst>
              <a:ext uri="{FF2B5EF4-FFF2-40B4-BE49-F238E27FC236}">
                <a16:creationId xmlns:a16="http://schemas.microsoft.com/office/drawing/2014/main" id="{0BE498A5-1F4E-C195-2FE7-0954C42E33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0675" y="952500"/>
            <a:ext cx="5759450" cy="3627438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400"/>
              <a:t>PLS is a multivariate regression method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300"/>
              <a:t>Discussed in lecture #8</a:t>
            </a:r>
          </a:p>
          <a:p>
            <a:pPr eaLnBrk="1" hangingPunct="1">
              <a:lnSpc>
                <a:spcPct val="90000"/>
              </a:lnSpc>
            </a:pPr>
            <a:endParaRPr lang="en-US" altLang="en-US" sz="1400"/>
          </a:p>
          <a:p>
            <a:pPr eaLnBrk="1" hangingPunct="1">
              <a:lnSpc>
                <a:spcPct val="90000"/>
              </a:lnSpc>
            </a:pPr>
            <a:r>
              <a:rPr lang="en-US" altLang="en-US" sz="1400"/>
              <a:t>Very generally, PLS, like PCA works to maximize the variability of a matrix by calculating linear combinations of the original variables </a:t>
            </a:r>
          </a:p>
          <a:p>
            <a:pPr eaLnBrk="1" hangingPunct="1">
              <a:lnSpc>
                <a:spcPct val="90000"/>
              </a:lnSpc>
            </a:pPr>
            <a:endParaRPr lang="en-US" altLang="en-US" sz="1400"/>
          </a:p>
          <a:p>
            <a:pPr eaLnBrk="1" hangingPunct="1">
              <a:lnSpc>
                <a:spcPct val="90000"/>
              </a:lnSpc>
            </a:pPr>
            <a:r>
              <a:rPr lang="en-US" altLang="en-US" sz="1400"/>
              <a:t>However, PCA maximizes this variability between the samples/genes, while PLS relates the data matrix, </a:t>
            </a:r>
            <a:r>
              <a:rPr lang="en-US" altLang="en-US" sz="1400" b="1"/>
              <a:t>X</a:t>
            </a:r>
            <a:r>
              <a:rPr lang="en-US" altLang="en-US" sz="1400"/>
              <a:t> to a response, </a:t>
            </a:r>
            <a:r>
              <a:rPr lang="en-US" altLang="en-US" sz="1400" b="1"/>
              <a:t>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300" b="1"/>
              <a:t>X</a:t>
            </a:r>
            <a:r>
              <a:rPr lang="en-US" altLang="en-US" sz="1300"/>
              <a:t> is this example is a matrix of genes by samples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300" b="1"/>
              <a:t>Y</a:t>
            </a:r>
            <a:r>
              <a:rPr lang="en-US" altLang="en-US" sz="1300"/>
              <a:t> in this example is the expected continuous response or class membership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300"/>
          </a:p>
          <a:p>
            <a:pPr eaLnBrk="1" hangingPunct="1">
              <a:lnSpc>
                <a:spcPct val="90000"/>
              </a:lnSpc>
            </a:pPr>
            <a:r>
              <a:rPr lang="en-US" altLang="en-US" sz="1500"/>
              <a:t>Supervised classification method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/>
              <a:t>Maximization between response and predictors is dependent upon class membership information</a:t>
            </a:r>
            <a:endParaRPr lang="en-US" altLang="en-US" sz="1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EB3D7266-AA26-F636-B293-74C62CC04D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85725"/>
            <a:ext cx="4586288" cy="768350"/>
          </a:xfrm>
        </p:spPr>
        <p:txBody>
          <a:bodyPr/>
          <a:lstStyle/>
          <a:p>
            <a:pPr eaLnBrk="1" hangingPunct="1"/>
            <a:r>
              <a:rPr lang="en-US" altLang="en-US" sz="2500"/>
              <a:t>PLS - classification example </a:t>
            </a:r>
            <a:r>
              <a:rPr lang="en-US" altLang="en-US" sz="1400"/>
              <a:t>Alon et al. colon cancer data</a:t>
            </a:r>
          </a:p>
        </p:txBody>
      </p:sp>
      <p:pic>
        <p:nvPicPr>
          <p:cNvPr id="18435" name="Picture 7">
            <a:extLst>
              <a:ext uri="{FF2B5EF4-FFF2-40B4-BE49-F238E27FC236}">
                <a16:creationId xmlns:a16="http://schemas.microsoft.com/office/drawing/2014/main" id="{F150DD7D-923B-1CCF-AFC8-E15247A7B5F2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73163" y="800100"/>
            <a:ext cx="3649662" cy="4000500"/>
          </a:xfr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FC65BF2-46A2-9DA3-5589-8C0650ED26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85725"/>
            <a:ext cx="5280025" cy="660400"/>
          </a:xfrm>
        </p:spPr>
        <p:txBody>
          <a:bodyPr/>
          <a:lstStyle/>
          <a:p>
            <a:pPr eaLnBrk="1" hangingPunct="1"/>
            <a:r>
              <a:rPr lang="en-US" altLang="en-US"/>
              <a:t>KNN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B8CDD571-9183-BABB-C46B-9E6430A994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0675" y="906463"/>
            <a:ext cx="5759450" cy="3787775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800"/>
              <a:t>Classifies a point (gene/sample) by calculating the distances between all points and assigns the point to the class that is most common among its </a:t>
            </a:r>
            <a:r>
              <a:rPr lang="en-US" altLang="en-US" sz="1800" i="1"/>
              <a:t>k</a:t>
            </a:r>
            <a:r>
              <a:rPr lang="en-US" altLang="en-US" sz="1800"/>
              <a:t>-nearest neighbors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/>
          </a:p>
          <a:p>
            <a:pPr eaLnBrk="1" hangingPunct="1">
              <a:lnSpc>
                <a:spcPct val="80000"/>
              </a:lnSpc>
            </a:pPr>
            <a:r>
              <a:rPr lang="en-US" altLang="en-US" sz="1800"/>
              <a:t>Spatial relationships between points in n-dimensional space determine class membership</a:t>
            </a:r>
          </a:p>
          <a:p>
            <a:pPr eaLnBrk="1" hangingPunct="1">
              <a:lnSpc>
                <a:spcPct val="80000"/>
              </a:lnSpc>
            </a:pPr>
            <a:endParaRPr lang="en-US" altLang="en-US" sz="1800"/>
          </a:p>
          <a:p>
            <a:pPr eaLnBrk="1" hangingPunct="1">
              <a:lnSpc>
                <a:spcPct val="80000"/>
              </a:lnSpc>
            </a:pPr>
            <a:r>
              <a:rPr lang="en-US" altLang="en-US" sz="1800"/>
              <a:t>The larger </a:t>
            </a:r>
            <a:r>
              <a:rPr lang="en-US" altLang="en-US" sz="1800" i="1"/>
              <a:t>k </a:t>
            </a:r>
            <a:r>
              <a:rPr lang="en-US" altLang="en-US" sz="1800"/>
              <a:t>that is specified, the larger the error rate</a:t>
            </a:r>
            <a:endParaRPr lang="en-US" altLang="en-US" sz="1800" i="1"/>
          </a:p>
          <a:p>
            <a:pPr eaLnBrk="1" hangingPunct="1">
              <a:lnSpc>
                <a:spcPct val="80000"/>
              </a:lnSpc>
            </a:pPr>
            <a:endParaRPr lang="en-US" altLang="en-US" sz="1800"/>
          </a:p>
          <a:p>
            <a:pPr eaLnBrk="1" hangingPunct="1">
              <a:lnSpc>
                <a:spcPct val="80000"/>
              </a:lnSpc>
            </a:pPr>
            <a:r>
              <a:rPr lang="en-US" altLang="en-US" sz="1800"/>
              <a:t>Non-supervised classification method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500"/>
              <a:t>No class structure is utilized for the algorithm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500"/>
              <a:t>Class membership is only utilized to count votes from neighboring points, not to optimize the classifier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B362B8C4-28C9-723D-96E6-06839C30D2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85725"/>
            <a:ext cx="4586288" cy="768350"/>
          </a:xfrm>
        </p:spPr>
        <p:txBody>
          <a:bodyPr/>
          <a:lstStyle/>
          <a:p>
            <a:pPr eaLnBrk="1" hangingPunct="1"/>
            <a:r>
              <a:rPr lang="en-US" altLang="en-US"/>
              <a:t>KNN methodology</a:t>
            </a:r>
            <a:r>
              <a:rPr lang="en-US" altLang="en-US" baseline="30000"/>
              <a:t>4</a:t>
            </a:r>
          </a:p>
        </p:txBody>
      </p:sp>
      <p:pic>
        <p:nvPicPr>
          <p:cNvPr id="20483" name="Picture 6" descr="KNNOverViewImageA">
            <a:extLst>
              <a:ext uri="{FF2B5EF4-FFF2-40B4-BE49-F238E27FC236}">
                <a16:creationId xmlns:a16="http://schemas.microsoft.com/office/drawing/2014/main" id="{2D89A020-9647-C698-AFDA-47535B02824F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0675" y="1122363"/>
            <a:ext cx="5067300" cy="36242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>
            <a:extLst>
              <a:ext uri="{FF2B5EF4-FFF2-40B4-BE49-F238E27FC236}">
                <a16:creationId xmlns:a16="http://schemas.microsoft.com/office/drawing/2014/main" id="{76AD026B-0914-59B8-77DB-2227FD68B7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160338"/>
            <a:ext cx="4586288" cy="766762"/>
          </a:xfrm>
          <a:noFill/>
        </p:spPr>
        <p:txBody>
          <a:bodyPr/>
          <a:lstStyle/>
          <a:p>
            <a:pPr eaLnBrk="1" hangingPunct="1"/>
            <a:r>
              <a:rPr lang="en-US" altLang="en-US" sz="2500"/>
              <a:t>KNN - classification example</a:t>
            </a:r>
            <a:r>
              <a:rPr lang="en-US" altLang="en-US"/>
              <a:t> </a:t>
            </a:r>
            <a:r>
              <a:rPr lang="en-US" altLang="en-US" sz="1400"/>
              <a:t>Alon et al. colon cancer data</a:t>
            </a:r>
          </a:p>
        </p:txBody>
      </p:sp>
      <p:pic>
        <p:nvPicPr>
          <p:cNvPr id="21507" name="Picture 7">
            <a:extLst>
              <a:ext uri="{FF2B5EF4-FFF2-40B4-BE49-F238E27FC236}">
                <a16:creationId xmlns:a16="http://schemas.microsoft.com/office/drawing/2014/main" id="{53A07E06-C088-058C-7750-BFF5426591D9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73163" y="1019175"/>
            <a:ext cx="3787775" cy="3781425"/>
          </a:xfr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C66D7F9-D907-7255-9EE9-41169939B3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85725"/>
            <a:ext cx="5280025" cy="660400"/>
          </a:xfrm>
        </p:spPr>
        <p:txBody>
          <a:bodyPr/>
          <a:lstStyle/>
          <a:p>
            <a:pPr eaLnBrk="1" hangingPunct="1"/>
            <a:r>
              <a:rPr lang="en-US" altLang="en-US"/>
              <a:t>Neural Networks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BBE4B58-CE09-2697-55B5-647E6AFCEE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0675" y="1066800"/>
            <a:ext cx="5759450" cy="3627438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800"/>
              <a:t>Based on the principles underlying the information processing conducted by the brain neurons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500"/>
              <a:t>Attempts to simulate the logic process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500"/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Trains through processing multiple examples or observations to “learn” rules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500"/>
              <a:t>Connection weights are strengthened or weakened, consistent with the example data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1500"/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Simple network models consist of an input layer (examples are presented), a middle layer (connections are adjusted), and an output layer (the outcome or answer is outputted)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F5B3B7B2-FAC7-CC00-E973-812A4CA191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85725"/>
            <a:ext cx="5280025" cy="660400"/>
          </a:xfrm>
        </p:spPr>
        <p:txBody>
          <a:bodyPr/>
          <a:lstStyle/>
          <a:p>
            <a:pPr eaLnBrk="1" hangingPunct="1"/>
            <a:r>
              <a:rPr lang="en-US" altLang="en-US"/>
              <a:t>Neural Network simple theory</a:t>
            </a:r>
            <a:r>
              <a:rPr lang="en-US" altLang="en-US" baseline="30000"/>
              <a:t>5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D82F7B99-95B9-5B04-500E-3EBE128CA2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0675" y="1066800"/>
            <a:ext cx="5759450" cy="3627438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800"/>
              <a:t>This particular simple model was developed by McCulloch and Pitts in 1943</a:t>
            </a:r>
            <a:r>
              <a:rPr lang="en-US" altLang="en-US" sz="1800" baseline="30000"/>
              <a:t>5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Model components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500"/>
              <a:t>Input set: x</a:t>
            </a:r>
            <a:r>
              <a:rPr lang="en-US" altLang="en-US" sz="1500" baseline="-25000"/>
              <a:t>i </a:t>
            </a:r>
            <a:r>
              <a:rPr lang="en-US" altLang="en-US" sz="1500"/>
              <a:t>– discrete or continuous values fed into the network (gene vectors)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500"/>
              <a:t>Weights: w</a:t>
            </a:r>
            <a:r>
              <a:rPr lang="en-US" altLang="en-US" sz="1500" baseline="-25000"/>
              <a:t>i </a:t>
            </a:r>
            <a:r>
              <a:rPr lang="en-US" altLang="en-US" sz="1500"/>
              <a:t>– determine the contribution of the input variables to the output result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500"/>
              <a:t>Threshold: u – a value that can be added or subtracted from the weighted sum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500"/>
              <a:t>Activation function: f – the function that calculates the output value, using the threshold as a paramter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500"/>
              <a:t>Output: y – solution to the function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8458EBA-17AD-0E40-8B0F-B95A7432E7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160338"/>
            <a:ext cx="4586288" cy="639762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Artificial Neuron – visual</a:t>
            </a:r>
            <a:r>
              <a:rPr lang="en-US" altLang="en-US" baseline="30000"/>
              <a:t>5</a:t>
            </a:r>
          </a:p>
        </p:txBody>
      </p:sp>
      <p:pic>
        <p:nvPicPr>
          <p:cNvPr id="24579" name="Picture 5">
            <a:extLst>
              <a:ext uri="{FF2B5EF4-FFF2-40B4-BE49-F238E27FC236}">
                <a16:creationId xmlns:a16="http://schemas.microsoft.com/office/drawing/2014/main" id="{71789363-2A51-06A8-51F7-2587E804F75C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37" t="36473" r="25401" b="8636"/>
          <a:stretch>
            <a:fillRect/>
          </a:stretch>
        </p:blipFill>
        <p:spPr>
          <a:xfrm>
            <a:off x="854075" y="1066800"/>
            <a:ext cx="4319588" cy="3521075"/>
          </a:xfr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FC6B6873-34C6-1FA7-D6C3-AFD2B9C9D3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85725"/>
            <a:ext cx="4640263" cy="906463"/>
          </a:xfrm>
          <a:noFill/>
        </p:spPr>
        <p:txBody>
          <a:bodyPr/>
          <a:lstStyle/>
          <a:p>
            <a:pPr eaLnBrk="1" hangingPunct="1"/>
            <a:r>
              <a:rPr lang="en-US" altLang="en-US" sz="2500"/>
              <a:t>NN - classification example</a:t>
            </a:r>
            <a:r>
              <a:rPr lang="en-US" altLang="en-US"/>
              <a:t> </a:t>
            </a:r>
            <a:r>
              <a:rPr lang="en-US" altLang="en-US" sz="1400"/>
              <a:t>Alon et al. colon cancer data</a:t>
            </a:r>
          </a:p>
        </p:txBody>
      </p:sp>
      <p:sp>
        <p:nvSpPr>
          <p:cNvPr id="25603" name="Text Box 5">
            <a:extLst>
              <a:ext uri="{FF2B5EF4-FFF2-40B4-BE49-F238E27FC236}">
                <a16:creationId xmlns:a16="http://schemas.microsoft.com/office/drawing/2014/main" id="{CF6B8AB7-CC57-E9E1-C338-0CAAE6B8D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044575"/>
            <a:ext cx="3252788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>
            <a:spAutoFit/>
          </a:bodyPr>
          <a:lstStyle>
            <a:lvl1pPr defTabSz="639763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20675" indent="-242888" defTabSz="6397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639763" indent="-204788" defTabSz="639763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960438" indent="-204788" defTabSz="639763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279525" indent="-220663" defTabSz="639763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36725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193925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651125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108325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500"/>
              <a:t>A 4-layer neural network model</a:t>
            </a:r>
            <a:endParaRPr lang="en-US" altLang="en-US" sz="1300"/>
          </a:p>
        </p:txBody>
      </p:sp>
      <p:graphicFrame>
        <p:nvGraphicFramePr>
          <p:cNvPr id="296014" name="Group 78">
            <a:extLst>
              <a:ext uri="{FF2B5EF4-FFF2-40B4-BE49-F238E27FC236}">
                <a16:creationId xmlns:a16="http://schemas.microsoft.com/office/drawing/2014/main" id="{921DEEAB-0598-10F0-630D-0E5F5CCCCCA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2324100"/>
          <a:ext cx="2278063" cy="2159000"/>
        </p:xfrm>
        <a:graphic>
          <a:graphicData uri="http://schemas.openxmlformats.org/drawingml/2006/table">
            <a:tbl>
              <a:tblPr/>
              <a:tblGrid>
                <a:gridCol w="965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8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 gridSpan="2"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Confusion matrix</a:t>
                      </a:r>
                      <a:endParaRPr kumimoji="0" lang="en-US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3996" marR="63996" marT="32004" marB="32004"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l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3996" marR="63996" marT="32004" marB="32004"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l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3996" marR="63996" marT="32004" marB="32004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l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3996" marR="63996" marT="32004" marB="32004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l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3996" marR="63996" marT="32004" marB="32004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3996" marR="63996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pNormal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3996" marR="63996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pTumor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3996" marR="63996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aNormal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3996" marR="63996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</a:t>
                      </a:r>
                      <a:endParaRPr kumimoji="0" lang="en-US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3996" marR="63996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  <a:endParaRPr kumimoji="0" lang="en-US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3996" marR="63996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aTumor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3996" marR="63996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  <a:endParaRPr kumimoji="0" lang="en-US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3996" marR="63996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39</a:t>
                      </a:r>
                      <a:endParaRPr kumimoji="0" lang="en-US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3996" marR="63996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5627" name="Picture 80">
            <a:extLst>
              <a:ext uri="{FF2B5EF4-FFF2-40B4-BE49-F238E27FC236}">
                <a16:creationId xmlns:a16="http://schemas.microsoft.com/office/drawing/2014/main" id="{54F21C32-9655-F7CE-7171-4C66A7E6B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262063"/>
            <a:ext cx="3543300" cy="353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5A7971B-F0CE-7E27-54E8-D50B2CAA6F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38100"/>
            <a:ext cx="5280025" cy="660400"/>
          </a:xfrm>
        </p:spPr>
        <p:txBody>
          <a:bodyPr/>
          <a:lstStyle/>
          <a:p>
            <a:pPr eaLnBrk="1" hangingPunct="1"/>
            <a:r>
              <a:rPr lang="en-US" altLang="en-US"/>
              <a:t>ROC curve evaluation</a:t>
            </a:r>
            <a:endParaRPr lang="en-US" altLang="en-US" baseline="30000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89C42918-5420-C007-584F-711A23FDA5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0675" y="876300"/>
            <a:ext cx="5759450" cy="37338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500"/>
              <a:t>Receiver operator curves (ROC) are utilized to represent the sensitivity and the specificity of the model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/>
              <a:t>Sensitivity: probability of a positive test results, given the presence of the condition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300"/>
              <a:t>Also referred to as true-positive rate (TP rate)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/>
              <a:t>Specificity: probability of a negative test result given the absence of the condition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300"/>
              <a:t>Also referred to as true-negative rate (TN rate)</a:t>
            </a:r>
          </a:p>
          <a:p>
            <a:pPr lvl="2" eaLnBrk="1" hangingPunct="1">
              <a:lnSpc>
                <a:spcPct val="90000"/>
              </a:lnSpc>
            </a:pPr>
            <a:endParaRPr lang="en-US" altLang="en-US" sz="1300"/>
          </a:p>
          <a:p>
            <a:pPr eaLnBrk="1" hangingPunct="1">
              <a:lnSpc>
                <a:spcPct val="90000"/>
              </a:lnSpc>
            </a:pPr>
            <a:r>
              <a:rPr lang="en-US" altLang="en-US" sz="1500"/>
              <a:t>For model optimization, some parameter is iteratively adjusted and the model success is evaluated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/>
              <a:t>PCA: number of components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/>
              <a:t>KNN: number of </a:t>
            </a:r>
            <a:r>
              <a:rPr lang="en-US" altLang="en-US" sz="1400" i="1"/>
              <a:t>k</a:t>
            </a:r>
            <a:r>
              <a:rPr lang="en-US" altLang="en-US" sz="1400"/>
              <a:t>-neighbors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400"/>
              <a:t>Cut-points for a continuous score output</a:t>
            </a:r>
          </a:p>
          <a:p>
            <a:pPr eaLnBrk="1" hangingPunct="1">
              <a:lnSpc>
                <a:spcPct val="90000"/>
              </a:lnSpc>
            </a:pPr>
            <a:endParaRPr lang="en-US" altLang="en-US" sz="1500"/>
          </a:p>
          <a:p>
            <a:pPr eaLnBrk="1" hangingPunct="1">
              <a:lnSpc>
                <a:spcPct val="90000"/>
              </a:lnSpc>
            </a:pPr>
            <a:r>
              <a:rPr lang="en-US" altLang="en-US" sz="1500"/>
              <a:t>The plot usually contains a bend, where the optimal trade-off between sensitivity and specificity occurs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D978C583-8F34-5F42-8038-971D646D80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85725"/>
            <a:ext cx="5280025" cy="561975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Sensitivity and Specificity</a:t>
            </a:r>
            <a:endParaRPr lang="en-US" altLang="en-US" sz="1700"/>
          </a:p>
        </p:txBody>
      </p:sp>
      <p:graphicFrame>
        <p:nvGraphicFramePr>
          <p:cNvPr id="306307" name="Group 131">
            <a:extLst>
              <a:ext uri="{FF2B5EF4-FFF2-40B4-BE49-F238E27FC236}">
                <a16:creationId xmlns:a16="http://schemas.microsoft.com/office/drawing/2014/main" id="{EB440E70-04B4-A242-881F-7699B251CA1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93738" y="876300"/>
          <a:ext cx="3875087" cy="1944688"/>
        </p:xfrm>
        <a:graphic>
          <a:graphicData uri="http://schemas.openxmlformats.org/drawingml/2006/table">
            <a:tbl>
              <a:tblPr/>
              <a:tblGrid>
                <a:gridCol w="909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0387"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Condition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488"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Present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Absent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663"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Positive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 + B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488"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Test result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Negative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 + D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663"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Total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 + C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 + D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239713" indent="-239713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19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84188" indent="-242888" defTabSz="6397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90563" indent="-204788" defTabSz="63976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896938" indent="-204788" defTabSz="63976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119188" indent="-220663" defTabSz="63976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5763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0335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4907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2947988" indent="-220663" defTabSz="63976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239713" marR="0" lvl="0" indent="-239713" algn="ctr" defTabSz="639763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</a:t>
                      </a: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64008" marR="64008" marT="32004" marB="32004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687" name="Text Box 130">
            <a:extLst>
              <a:ext uri="{FF2B5EF4-FFF2-40B4-BE49-F238E27FC236}">
                <a16:creationId xmlns:a16="http://schemas.microsoft.com/office/drawing/2014/main" id="{BBD8B1D6-176A-FF47-6D96-B196269A5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9525" y="3009900"/>
            <a:ext cx="3627438" cy="145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>
            <a:spAutoFit/>
          </a:bodyPr>
          <a:lstStyle>
            <a:lvl1pPr defTabSz="639763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20675" indent="-242888" defTabSz="6397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639763" indent="-204788" defTabSz="639763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960438" indent="-204788" defTabSz="639763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279525" indent="-220663" defTabSz="639763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36725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193925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651125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108325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300" b="1" u="sng"/>
              <a:t>Terminology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300"/>
              <a:t>A / (A+C) = sensitivity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300"/>
              <a:t>D / (B + D) = specificity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300"/>
              <a:t>B / (B+D) = false positive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300"/>
              <a:t>C / (C+A) = false negative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6D24ABF0-38F4-80D7-E25F-BB737D18D9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85725"/>
            <a:ext cx="3146425" cy="906463"/>
          </a:xfrm>
          <a:noFill/>
        </p:spPr>
        <p:txBody>
          <a:bodyPr/>
          <a:lstStyle/>
          <a:p>
            <a:pPr eaLnBrk="1" hangingPunct="1"/>
            <a:r>
              <a:rPr lang="en-US" altLang="en-US" sz="2500"/>
              <a:t>ROC curve example</a:t>
            </a:r>
            <a:r>
              <a:rPr lang="en-US" altLang="en-US"/>
              <a:t> </a:t>
            </a:r>
            <a:r>
              <a:rPr lang="en-US" altLang="en-US" sz="1400"/>
              <a:t>Alon et al. colon cancer data</a:t>
            </a:r>
          </a:p>
        </p:txBody>
      </p:sp>
      <p:pic>
        <p:nvPicPr>
          <p:cNvPr id="28675" name="Picture 36">
            <a:extLst>
              <a:ext uri="{FF2B5EF4-FFF2-40B4-BE49-F238E27FC236}">
                <a16:creationId xmlns:a16="http://schemas.microsoft.com/office/drawing/2014/main" id="{F2CDBC10-C422-563F-232D-479196528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919163"/>
            <a:ext cx="3886200" cy="387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9B1AA1D5-3876-5503-D11A-2B11FB7101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85725"/>
            <a:ext cx="5280025" cy="660400"/>
          </a:xfrm>
        </p:spPr>
        <p:txBody>
          <a:bodyPr/>
          <a:lstStyle/>
          <a:p>
            <a:pPr eaLnBrk="1" hangingPunct="1"/>
            <a:r>
              <a:rPr lang="en-US" altLang="en-US"/>
              <a:t>Model Validation</a:t>
            </a:r>
            <a:endParaRPr lang="en-US" altLang="en-US" baseline="30000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4A434CA6-DB49-ABC3-781A-9316BB0314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0675" y="1066800"/>
            <a:ext cx="5759450" cy="3627438"/>
          </a:xfrm>
          <a:noFill/>
        </p:spPr>
        <p:txBody>
          <a:bodyPr/>
          <a:lstStyle/>
          <a:p>
            <a:pPr eaLnBrk="1" hangingPunct="1"/>
            <a:r>
              <a:rPr lang="en-US" altLang="en-US" sz="1800"/>
              <a:t>Using the training data for prediction is seldom a good assessment of the model’s true success</a:t>
            </a:r>
          </a:p>
          <a:p>
            <a:pPr lvl="1" eaLnBrk="1" hangingPunct="1"/>
            <a:r>
              <a:rPr lang="en-US" altLang="en-US" sz="1500"/>
              <a:t>The parameters have been optimized for the training data, so this gives an over-optimistic accuracy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Multiple methods are used to get a more realistic sense of the model success</a:t>
            </a:r>
          </a:p>
          <a:p>
            <a:pPr lvl="1" eaLnBrk="1" hangingPunct="1"/>
            <a:r>
              <a:rPr lang="en-US" altLang="en-US" sz="1500"/>
              <a:t>Leave-one-out validation</a:t>
            </a:r>
          </a:p>
          <a:p>
            <a:pPr lvl="2" eaLnBrk="1" hangingPunct="1"/>
            <a:r>
              <a:rPr lang="en-US" altLang="en-US" sz="1500"/>
              <a:t>One sample is omitted from model build and predicted</a:t>
            </a:r>
          </a:p>
          <a:p>
            <a:pPr lvl="1" eaLnBrk="1" hangingPunct="1"/>
            <a:r>
              <a:rPr lang="en-US" altLang="en-US" sz="1500"/>
              <a:t>Data partitioning validation</a:t>
            </a:r>
          </a:p>
          <a:p>
            <a:pPr lvl="2" eaLnBrk="1" hangingPunct="1"/>
            <a:r>
              <a:rPr lang="en-US" altLang="en-US" sz="1500"/>
              <a:t>e.g. 60% training set:40% test set</a:t>
            </a:r>
          </a:p>
          <a:p>
            <a:pPr lvl="1" eaLnBrk="1" hangingPunct="1"/>
            <a:r>
              <a:rPr lang="en-US" altLang="en-US" sz="1500"/>
              <a:t>True external test data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EB37092D-B166-9CBB-7774-E631A617C1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238125"/>
            <a:ext cx="5280025" cy="409575"/>
          </a:xfrm>
        </p:spPr>
        <p:txBody>
          <a:bodyPr/>
          <a:lstStyle/>
          <a:p>
            <a:pPr eaLnBrk="1" hangingPunct="1"/>
            <a:r>
              <a:rPr lang="en-US" altLang="en-US" sz="2800"/>
              <a:t>References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BEA0E67F-6075-E57A-C973-19F460FFF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952500"/>
            <a:ext cx="575945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/>
          <a:lstStyle>
            <a:lvl1pPr marL="239713" indent="-239713" defTabSz="639763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84188" indent="-242888" defTabSz="6397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690563" indent="-204788" defTabSz="639763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896938" indent="-204788" defTabSz="639763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119188" indent="-220663" defTabSz="639763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5763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335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4907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479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en-US" sz="1400"/>
              <a:t>1) Zhang H, Yu C, Singer B, and Xiong M.  (2001) Recursive partitioning for tumor classification with gene expression microarray data. </a:t>
            </a:r>
            <a:r>
              <a:rPr lang="en-US" altLang="en-US" sz="1400" i="1"/>
              <a:t> PNAS</a:t>
            </a:r>
            <a:r>
              <a:rPr lang="en-US" altLang="en-US" sz="1400"/>
              <a:t>. </a:t>
            </a:r>
            <a:r>
              <a:rPr lang="en-US" altLang="en-US" sz="1400" b="1"/>
              <a:t>98</a:t>
            </a:r>
            <a:r>
              <a:rPr lang="en-US" altLang="en-US" sz="1400"/>
              <a:t>, 6730-6735.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400"/>
              <a:t>2) Olshen A and Jain A.  (2002) Deriving quantitative conclusions from microarray expression data.  </a:t>
            </a:r>
            <a:r>
              <a:rPr lang="en-US" altLang="en-US" sz="1400" i="1"/>
              <a:t>Bioinformatics</a:t>
            </a:r>
            <a:r>
              <a:rPr lang="en-US" altLang="en-US" sz="1400"/>
              <a:t>. </a:t>
            </a:r>
            <a:r>
              <a:rPr lang="en-US" altLang="en-US" sz="1400" b="1"/>
              <a:t>18</a:t>
            </a:r>
            <a:r>
              <a:rPr lang="en-US" altLang="en-US" sz="1400"/>
              <a:t>, 961-970.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400"/>
              <a:t>3) Applied Multivariate Statistical Analysis.  Johnson and Wichern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400"/>
              <a:t>4) Statsoft - </a:t>
            </a:r>
            <a:r>
              <a:rPr lang="en-US" altLang="en-US" sz="1400">
                <a:hlinkClick r:id="rId3"/>
              </a:rPr>
              <a:t>http://www.statsoftinc.com</a:t>
            </a:r>
            <a:endParaRPr lang="en-US" altLang="en-US" sz="1400"/>
          </a:p>
          <a:p>
            <a:pPr eaLnBrk="1" hangingPunct="1">
              <a:buFont typeface="Wingdings" pitchFamily="2" charset="2"/>
              <a:buNone/>
            </a:pPr>
            <a:r>
              <a:rPr lang="en-US" altLang="en-US" sz="1400"/>
              <a:t>5) Artificial neuron applet - </a:t>
            </a:r>
            <a:r>
              <a:rPr lang="en-US" altLang="en-US" sz="1400" u="sng">
                <a:solidFill>
                  <a:schemeClr val="hlink"/>
                </a:solidFill>
                <a:hlinkClick r:id="rId4"/>
              </a:rPr>
              <a:t>http://home.cc.umanitoba.ca/%7Eumcorbe9/neuron.html</a:t>
            </a:r>
            <a:endParaRPr lang="en-US" altLang="en-US" sz="1400" u="sng">
              <a:solidFill>
                <a:schemeClr val="hlink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400"/>
              <a:t>6) Karatzoglou A et al., (2006) Support Vector Machines in R. </a:t>
            </a:r>
            <a:r>
              <a:rPr lang="en-US" altLang="en-US" sz="1400" i="1"/>
              <a:t>Journal of Statistical Software</a:t>
            </a:r>
            <a:r>
              <a:rPr lang="en-US" altLang="en-US" sz="1400"/>
              <a:t>. </a:t>
            </a:r>
            <a:r>
              <a:rPr lang="en-US" altLang="en-US" sz="1400" b="1"/>
              <a:t>15</a:t>
            </a:r>
            <a:r>
              <a:rPr lang="en-US" altLang="en-US" sz="1400"/>
              <a:t>(9).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1400"/>
              <a:t>7) Burges C, (1998) A tutorial on support vector machines for pattern recognition. </a:t>
            </a:r>
            <a:r>
              <a:rPr lang="en-US" altLang="en-US" sz="1400" i="1"/>
              <a:t>Data Mining and Knowledge Discovery</a:t>
            </a:r>
            <a:r>
              <a:rPr lang="en-US" altLang="en-US" sz="1400"/>
              <a:t>. </a:t>
            </a:r>
            <a:r>
              <a:rPr lang="en-US" altLang="en-US" sz="1400" b="1"/>
              <a:t>2</a:t>
            </a:r>
            <a:r>
              <a:rPr lang="en-US" altLang="en-US" sz="1400"/>
              <a:t>(2):212-167.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94E4708-F83B-18BF-9B4B-AAB8302858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53975"/>
            <a:ext cx="5280025" cy="404813"/>
          </a:xfrm>
        </p:spPr>
        <p:txBody>
          <a:bodyPr/>
          <a:lstStyle/>
          <a:p>
            <a:pPr eaLnBrk="1" hangingPunct="1"/>
            <a:r>
              <a:rPr lang="en-US" altLang="en-US" sz="2400"/>
              <a:t>R Code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E34092AB-D469-F9D7-79BC-A58039672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75" y="1120775"/>
            <a:ext cx="5759450" cy="3573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/>
          <a:lstStyle>
            <a:lvl1pPr marL="239713" indent="-239713" defTabSz="639763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84188" indent="-242888" defTabSz="6397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690563" indent="-204788" defTabSz="639763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896938" indent="-204788" defTabSz="639763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119188" indent="-220663" defTabSz="639763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5763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335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4907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479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endParaRPr lang="en-US" altLang="en-US" sz="1500"/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2898E2AD-B60B-7EA0-0844-AE5B084C4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75" y="571500"/>
            <a:ext cx="5707063" cy="427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/>
          <a:lstStyle>
            <a:lvl1pPr marL="239713" indent="-239713" defTabSz="639763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00025" defTabSz="6397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00100" indent="-160338" defTabSz="639763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20775" indent="-160338" defTabSz="639763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439863" indent="-160338" defTabSz="639763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97063" indent="-160338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354263" indent="-160338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11463" indent="-160338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68663" indent="-160338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(W1)" pitchFamily="49" charset="0"/>
              </a:rPr>
              <a:t># get Alon et al. colon cancer data set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(W1)" pitchFamily="49" charset="0"/>
              </a:rPr>
              <a:t>d &lt;- read.table("C:\\Users\\higgsb\\Dropbox\\JHU\\Microarrays\\Data\\alon.txt",header=T,sep="\t",row.names=1)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(W1)" pitchFamily="49" charset="0"/>
              </a:rPr>
              <a:t>clas &lt;- names(d)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(W1)" pitchFamily="49" charset="0"/>
              </a:rPr>
              <a:t>clas[grep("norm",clas)] &lt;- rep("n",length(clas[grep("norm",clas)]))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(W1)" pitchFamily="49" charset="0"/>
              </a:rPr>
              <a:t>clas[grep("tumor",clas)] &lt;- rep("t",length(clas[grep("tumor",clas)]))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700">
              <a:latin typeface="Courier (W1)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(W1)" pitchFamily="49" charset="0"/>
              </a:rPr>
              <a:t># conduct differential expression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(W1)" pitchFamily="49" charset="0"/>
              </a:rPr>
              <a:t>## Wilcoxon-Mann_Whitney two sample test (non-parametric)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(W1)" pitchFamily="49" charset="0"/>
              </a:rPr>
              <a:t>#sam: a vector of T/F values designating each group (must be equal in length to column in matrix)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(W1)" pitchFamily="49" charset="0"/>
              </a:rPr>
              <a:t>wilcox.two &lt;- function(x,sam)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(W1)" pitchFamily="49" charset="0"/>
              </a:rPr>
              <a:t>	u &lt;- wilcox.test(as.numeric(x[sam]),as.numeric(x[!sam]),alternative="two.sided")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(W1)" pitchFamily="49" charset="0"/>
              </a:rPr>
              <a:t>	o &lt;- as.numeric(c(u$statistic,u$p.value))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(W1)" pitchFamily="49" charset="0"/>
              </a:rPr>
              <a:t>	names(o) &lt;- c("test_statistic","pv")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(W1)" pitchFamily="49" charset="0"/>
              </a:rPr>
              <a:t>	o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(W1)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(W1)" pitchFamily="49" charset="0"/>
              </a:rPr>
              <a:t>pv &lt;- t(apply(d,1,wilcox.two,sam=clas=="t"))[,2]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(W1)" pitchFamily="49" charset="0"/>
              </a:rPr>
              <a:t>dat &lt;- d[pv&lt;.01,]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700">
              <a:latin typeface="Courier (W1)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(W1)" pitchFamily="49" charset="0"/>
              </a:rPr>
              <a:t># discriminant analysis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(W1)" pitchFamily="49" charset="0"/>
              </a:rPr>
              <a:t>library(MASS)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(W1)" pitchFamily="49" charset="0"/>
              </a:rPr>
              <a:t>datx &lt;- as.data.frame(t(dat))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(W1)" pitchFamily="49" charset="0"/>
              </a:rPr>
              <a:t>datx &lt;- data.frame(clas,datx)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(W1)" pitchFamily="49" charset="0"/>
              </a:rPr>
              <a:t>dat.lda &lt;- lda(clas~.,datx)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(W1)" pitchFamily="49" charset="0"/>
              </a:rPr>
              <a:t>dat.pred &lt;- predict(dat.lda,datx)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(W1)" pitchFamily="49" charset="0"/>
              </a:rPr>
              <a:t>plot(dat.pred$x,bg=as.numeric(factor(clas)),pch=21,col=1,ylab="Discriminant function",axes=F,xlab="Score",main="Discriminant function for Colon dataset")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(W1)" pitchFamily="49" charset="0"/>
              </a:rPr>
              <a:t>axis(1,at=c(1:62),names(d),las=2,cex.axis=0.5)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(W1)" pitchFamily="49" charset="0"/>
              </a:rPr>
              <a:t>axis(2)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700">
              <a:latin typeface="Courier (W1)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(W1)" pitchFamily="49" charset="0"/>
              </a:rPr>
              <a:t># add up correct classifications and incorrect ones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(W1)" pitchFamily="49" charset="0"/>
              </a:rPr>
              <a:t>table(clas,dat.pred$class)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3B55986-30B6-E24F-DA36-1DDB7C9107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266700"/>
            <a:ext cx="5280025" cy="404813"/>
          </a:xfrm>
        </p:spPr>
        <p:txBody>
          <a:bodyPr/>
          <a:lstStyle/>
          <a:p>
            <a:pPr eaLnBrk="1" hangingPunct="1"/>
            <a:r>
              <a:rPr lang="en-US" altLang="en-US" sz="2400"/>
              <a:t>R Code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B6344B8C-0C7B-AAB7-907E-D594429B8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75" y="1120775"/>
            <a:ext cx="5759450" cy="3573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/>
          <a:lstStyle>
            <a:lvl1pPr marL="239713" indent="-239713" defTabSz="639763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84188" indent="-242888" defTabSz="6397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690563" indent="-204788" defTabSz="639763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896938" indent="-204788" defTabSz="639763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119188" indent="-220663" defTabSz="639763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5763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335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4907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479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endParaRPr lang="en-US" altLang="en-US" sz="1500"/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441B1935-8A84-12BD-1787-DF4008B46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8" y="693738"/>
            <a:ext cx="5707062" cy="3840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/>
          <a:lstStyle>
            <a:lvl1pPr marL="239713" indent="-239713" defTabSz="639763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00025" defTabSz="6397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00100" indent="-160338" defTabSz="639763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20775" indent="-160338" defTabSz="639763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439863" indent="-160338" defTabSz="639763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97063" indent="-160338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354263" indent="-160338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11463" indent="-160338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68663" indent="-160338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# CART code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library(tree)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dat &lt;- scale(t(dat),center=T,scale=T)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dat.pca &lt;- prcomp(dat)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dat.loads &lt;- dat.pca$x[,1:10]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dat &lt;- as.data.frame(dat.loads)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dat.c &lt;- data.frame(clas,dat)	# bind class labels to dataframe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dat.train.tree&lt;-tree(clas~.,data=dat.c)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plot(dat.train.tree,col='blue',lwd=2)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text(dat.train.tree)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title(main="Binary tree for Colon dataset")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summary(dat.train.tree)	# classification results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700">
              <a:latin typeface="Courier New" panose="020703090202050204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# PLS classifier code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library(gpls);	library(colonCA);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data(colonCA)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dat &lt;- exprs(colonCA)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clas &lt;- as.character(colonCA$class)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clas[clas==“n”]&lt;- 0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clas[clas==“t”]&lt;- 1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clas &lt;- as.numeric(clas)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700">
              <a:latin typeface="Courier New" panose="020703090202050204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# run PLS model with increasing # of components in a for loop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error.list &lt;- NULL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for(i in 1:10)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	dat.pls &lt;- glpls1a.train.test.error (t(dat),clas, t(dat),clas,K.prov=i,lmax=20,br=F)$error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	dat.pls &lt;- round(dat.pls*100,2)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	error.list &lt;- c(error.list,dat.pls)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1FB8AC9C-723C-E722-0684-A85DB46688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85725"/>
            <a:ext cx="5280025" cy="561975"/>
          </a:xfrm>
        </p:spPr>
        <p:txBody>
          <a:bodyPr/>
          <a:lstStyle/>
          <a:p>
            <a:pPr eaLnBrk="1" hangingPunct="1"/>
            <a:r>
              <a:rPr lang="en-US" altLang="en-US" sz="2400"/>
              <a:t>R Code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6C4CD73C-87CF-622D-6E1C-95FF73CFC0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0675" y="800100"/>
            <a:ext cx="5759450" cy="3733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#get sensitivity and specificity information for ROC curve using PLS model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train &lt;- dat[,1:40]	#training set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test &lt;- dat[,41:62]	#test set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model.pls &lt;- glpls1a.train.test.error(t(train),clas[1:40], t(test),clas[41:62],K.prov=3,lmax=20,br=F)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preds &lt;- model.pls$predict.test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tpf &lt;- NULL		#true positive fraction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fpf &lt;- NULL		#false positive fraction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test.class &lt;- clas[41:62]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for(i in seq(from=0.03,to=0.94,by=0.01))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	upper &lt;- preds&gt;i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	conf.mtx &lt;- table(as.numeric(upper),test.class)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	tpf &lt;- c(tpf, conf.mtx[2,2]/sum(conf.mtx[,2]))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	fpf &lt;- c(fpf, conf.mtx[2,1]/sum(conf.mtx[,1]))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700">
              <a:latin typeface="Courier New" panose="020703090202050204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library(ROC)	#library to calculate the area under the curve (AUC)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auc &lt;- trapezint(fpf,tpf,0,1)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700">
              <a:latin typeface="Courier New" panose="020703090202050204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#plot ROC curve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plot(c(0,1),c(0,1),type="n",xlab="False positive fraction",ylab="True positive fraction",main="ROC curve\nPLS model with 3 components")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lines(fpf,tpf,col="blue",lwd=2)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grid(col="grey")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text(0.5,0.7,paste("AUC=",round(auc,2),sep=""))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60E54620-711D-9271-A752-B31B0B5246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266700"/>
            <a:ext cx="5280025" cy="404813"/>
          </a:xfrm>
        </p:spPr>
        <p:txBody>
          <a:bodyPr/>
          <a:lstStyle/>
          <a:p>
            <a:pPr eaLnBrk="1" hangingPunct="1"/>
            <a:r>
              <a:rPr lang="en-US" altLang="en-US" sz="2400"/>
              <a:t>R Code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DE67E277-4BF0-1828-7A87-D8F9A2C7A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75" y="1120775"/>
            <a:ext cx="5759450" cy="3573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/>
          <a:lstStyle>
            <a:lvl1pPr marL="239713" indent="-239713" defTabSz="639763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84188" indent="-242888" defTabSz="6397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690563" indent="-204788" defTabSz="639763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896938" indent="-204788" defTabSz="639763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119188" indent="-220663" defTabSz="639763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5763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335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4907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479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endParaRPr lang="en-US" altLang="en-US" sz="1500"/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9EA5E9B0-A845-5F73-86DB-76A4CE42E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8" y="693738"/>
            <a:ext cx="5707062" cy="3840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/>
          <a:lstStyle>
            <a:lvl1pPr marL="239713" indent="-239713" defTabSz="639763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00025" defTabSz="6397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00100" indent="-160338" defTabSz="639763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20775" indent="-160338" defTabSz="639763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439863" indent="-160338" defTabSz="639763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97063" indent="-160338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354263" indent="-160338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11463" indent="-160338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68663" indent="-160338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# plot classification error vs. # components in PLS model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plot(c(1:10),error.list,type=“b”,col=‘blue’,xlab=“number of components”,ylab=“% error in classification”,main=“PLS model-Error vs. # of components”)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grid(col="grey")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700">
              <a:latin typeface="Courier New" panose="020703090202050204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# run knn classifier with increasing # of k in a for loop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library(class)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error.list&lt;-NULL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for(i in 1:10)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	dat.knn &lt;- knn(t(dat),t(dat),clas,k=i,prob=T)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	# error rates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	er1 &lt;- sum(dat.knn[clas=="n"]=="t")		# number of incorrect normal classifications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	er2 &lt;- sum(dat.knn[clas=="t"]=="n")		# number of correct tumor classifications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	er.total &lt;- sum(er1,er2)/ncol(dat)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	er.total &lt;- round(er.total*100,1)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	# store in list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	error.list &lt;- c(error.list,er.total)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700">
              <a:latin typeface="Courier New" panose="020703090202050204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# plot classification error vs. k in knn classifier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plot(c(1:10),error.list,type="b",col="blue",xlab="number of k",ylab="% error in classification",main="KNN-Error vs. # of k")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grid(col="grey")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700">
              <a:latin typeface="Courier New" panose="020703090202050204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sz="7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E498E557-3407-F13E-7631-5EA0A2841F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190500"/>
            <a:ext cx="5280025" cy="404813"/>
          </a:xfrm>
        </p:spPr>
        <p:txBody>
          <a:bodyPr/>
          <a:lstStyle/>
          <a:p>
            <a:pPr eaLnBrk="1" hangingPunct="1"/>
            <a:r>
              <a:rPr lang="en-US" altLang="en-US" sz="2400"/>
              <a:t>R Code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F5D9E1C2-45B4-6FDA-02D7-B05C85E00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75" y="1120775"/>
            <a:ext cx="5759450" cy="3573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/>
          <a:lstStyle>
            <a:lvl1pPr marL="239713" indent="-239713" defTabSz="639763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84188" indent="-242888" defTabSz="6397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690563" indent="-204788" defTabSz="639763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896938" indent="-204788" defTabSz="639763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119188" indent="-220663" defTabSz="639763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5763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335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4907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479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endParaRPr lang="en-US" altLang="en-US" sz="1500"/>
          </a:p>
        </p:txBody>
      </p:sp>
      <p:sp>
        <p:nvSpPr>
          <p:cNvPr id="294916" name="Rectangle 4">
            <a:extLst>
              <a:ext uri="{FF2B5EF4-FFF2-40B4-BE49-F238E27FC236}">
                <a16:creationId xmlns:a16="http://schemas.microsoft.com/office/drawing/2014/main" id="{E8C7AA3A-D530-13BD-9AB6-C9F4B3210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8" y="723900"/>
            <a:ext cx="5707062" cy="3817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/>
          <a:lstStyle>
            <a:lvl1pPr marL="239713" indent="-239713" defTabSz="639763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100">
                <a:solidFill>
                  <a:schemeClr val="tx1"/>
                </a:solidFill>
                <a:latin typeface="Arial" charset="0"/>
              </a:defRPr>
            </a:lvl1pPr>
            <a:lvl2pPr marL="520700" indent="-200025" defTabSz="63976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charset="0"/>
              </a:defRPr>
            </a:lvl2pPr>
            <a:lvl3pPr marL="800100" indent="-160338" defTabSz="639763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charset="0"/>
              </a:defRPr>
            </a:lvl3pPr>
            <a:lvl4pPr marL="1120775" indent="-160338" defTabSz="639763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charset="0"/>
              </a:defRPr>
            </a:lvl4pPr>
            <a:lvl5pPr marL="1439863" indent="-160338" defTabSz="639763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charset="0"/>
              </a:defRPr>
            </a:lvl5pPr>
            <a:lvl6pPr marL="1897063" indent="-160338" defTabSz="63976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354263" indent="-160338" defTabSz="63976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charset="0"/>
              </a:defRPr>
            </a:lvl7pPr>
            <a:lvl8pPr marL="2811463" indent="-160338" defTabSz="63976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268663" indent="-160338" defTabSz="639763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 typeface="Wingdings" pitchFamily="2" charset="2"/>
              <a:buNone/>
              <a:defRPr/>
            </a:pPr>
            <a:r>
              <a:rPr lang="en-US" altLang="en-US" sz="650" dirty="0">
                <a:latin typeface="Courier New" pitchFamily="49" charset="0"/>
              </a:rPr>
              <a:t># neural network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sz="650" dirty="0">
                <a:latin typeface="Courier New" pitchFamily="49" charset="0"/>
              </a:rPr>
              <a:t>library(</a:t>
            </a:r>
            <a:r>
              <a:rPr lang="en-US" altLang="en-US" sz="650" dirty="0" err="1">
                <a:latin typeface="Courier New" pitchFamily="49" charset="0"/>
              </a:rPr>
              <a:t>nnet</a:t>
            </a:r>
            <a:r>
              <a:rPr lang="en-US" altLang="en-US" sz="650" dirty="0">
                <a:latin typeface="Courier New" pitchFamily="49" charset="0"/>
              </a:rPr>
              <a:t>)</a:t>
            </a:r>
          </a:p>
          <a:p>
            <a:pPr>
              <a:buFont typeface="Wingdings" pitchFamily="2" charset="2"/>
              <a:buNone/>
              <a:defRPr/>
            </a:pPr>
            <a:endParaRPr lang="en-US" altLang="en-US" sz="650" dirty="0">
              <a:latin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en-US" sz="650" dirty="0">
                <a:latin typeface="Courier New" pitchFamily="49" charset="0"/>
              </a:rPr>
              <a:t># define training samples by random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sz="650" dirty="0" err="1">
                <a:latin typeface="Courier New" pitchFamily="49" charset="0"/>
              </a:rPr>
              <a:t>samp</a:t>
            </a:r>
            <a:r>
              <a:rPr lang="en-US" altLang="en-US" sz="650" dirty="0">
                <a:latin typeface="Courier New" pitchFamily="49" charset="0"/>
              </a:rPr>
              <a:t> &lt;- sample(c(1:ncol(</a:t>
            </a:r>
            <a:r>
              <a:rPr lang="en-US" altLang="en-US" sz="650" dirty="0" err="1">
                <a:latin typeface="Courier New" pitchFamily="49" charset="0"/>
              </a:rPr>
              <a:t>dat</a:t>
            </a:r>
            <a:r>
              <a:rPr lang="en-US" altLang="en-US" sz="650" dirty="0">
                <a:latin typeface="Courier New" pitchFamily="49" charset="0"/>
              </a:rPr>
              <a:t>)),30,replace=F)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sz="650" dirty="0">
                <a:latin typeface="Courier New" pitchFamily="49" charset="0"/>
              </a:rPr>
              <a:t>sap &lt;- </a:t>
            </a:r>
          </a:p>
          <a:p>
            <a:pPr>
              <a:buFont typeface="Wingdings" pitchFamily="2" charset="2"/>
              <a:buNone/>
              <a:defRPr/>
            </a:pPr>
            <a:endParaRPr lang="en-US" altLang="en-US" sz="650" dirty="0">
              <a:latin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en-US" sz="650" dirty="0" err="1">
                <a:latin typeface="Courier New" pitchFamily="49" charset="0"/>
              </a:rPr>
              <a:t>dat.n</a:t>
            </a:r>
            <a:r>
              <a:rPr lang="en-US" altLang="en-US" sz="650" dirty="0">
                <a:latin typeface="Courier New" pitchFamily="49" charset="0"/>
              </a:rPr>
              <a:t> &lt;- </a:t>
            </a:r>
            <a:r>
              <a:rPr lang="en-US" altLang="en-US" sz="650" dirty="0" err="1">
                <a:latin typeface="Courier New" pitchFamily="49" charset="0"/>
              </a:rPr>
              <a:t>data.frame</a:t>
            </a:r>
            <a:r>
              <a:rPr lang="en-US" altLang="en-US" sz="650" dirty="0">
                <a:latin typeface="Courier New" pitchFamily="49" charset="0"/>
              </a:rPr>
              <a:t>(</a:t>
            </a:r>
            <a:r>
              <a:rPr lang="en-US" altLang="en-US" sz="650" dirty="0" err="1">
                <a:latin typeface="Courier New" pitchFamily="49" charset="0"/>
              </a:rPr>
              <a:t>dat.loads,clas</a:t>
            </a:r>
            <a:r>
              <a:rPr lang="en-US" altLang="en-US" sz="650" dirty="0">
                <a:latin typeface="Courier New" pitchFamily="49" charset="0"/>
              </a:rPr>
              <a:t>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sz="650" dirty="0">
                <a:latin typeface="Courier New" pitchFamily="49" charset="0"/>
              </a:rPr>
              <a:t>dat.nn2 &lt;- </a:t>
            </a:r>
            <a:r>
              <a:rPr lang="en-US" altLang="en-US" sz="650" dirty="0" err="1">
                <a:latin typeface="Courier New" pitchFamily="49" charset="0"/>
              </a:rPr>
              <a:t>nnet</a:t>
            </a:r>
            <a:r>
              <a:rPr lang="en-US" altLang="en-US" sz="650" dirty="0">
                <a:latin typeface="Courier New" pitchFamily="49" charset="0"/>
              </a:rPr>
              <a:t>(</a:t>
            </a:r>
            <a:r>
              <a:rPr lang="en-US" altLang="en-US" sz="650" dirty="0" err="1">
                <a:latin typeface="Courier New" pitchFamily="49" charset="0"/>
              </a:rPr>
              <a:t>clas</a:t>
            </a:r>
            <a:r>
              <a:rPr lang="en-US" altLang="en-US" sz="650" dirty="0">
                <a:latin typeface="Courier New" pitchFamily="49" charset="0"/>
              </a:rPr>
              <a:t> ~ ., data = </a:t>
            </a:r>
            <a:r>
              <a:rPr lang="en-US" altLang="en-US" sz="650" dirty="0" err="1">
                <a:latin typeface="Courier New" pitchFamily="49" charset="0"/>
              </a:rPr>
              <a:t>dat.n</a:t>
            </a:r>
            <a:r>
              <a:rPr lang="en-US" altLang="en-US" sz="650" dirty="0">
                <a:latin typeface="Courier New" pitchFamily="49" charset="0"/>
              </a:rPr>
              <a:t>, subset = c(1:nrow(</a:t>
            </a:r>
            <a:r>
              <a:rPr lang="en-US" altLang="en-US" sz="650" dirty="0" err="1">
                <a:latin typeface="Courier New" pitchFamily="49" charset="0"/>
              </a:rPr>
              <a:t>dat</a:t>
            </a:r>
            <a:r>
              <a:rPr lang="en-US" altLang="en-US" sz="650" dirty="0">
                <a:latin typeface="Courier New" pitchFamily="49" charset="0"/>
              </a:rPr>
              <a:t>)),size=4,rang=0.1,decay=5e-4,maxit=200)</a:t>
            </a:r>
          </a:p>
          <a:p>
            <a:pPr>
              <a:buFont typeface="Wingdings" pitchFamily="2" charset="2"/>
              <a:buNone/>
              <a:defRPr/>
            </a:pPr>
            <a:endParaRPr lang="en-US" altLang="en-US" sz="650" dirty="0">
              <a:latin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en-US" sz="650" dirty="0">
                <a:latin typeface="Courier New" pitchFamily="49" charset="0"/>
              </a:rPr>
              <a:t># confusion matrix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sz="650" dirty="0" err="1">
                <a:latin typeface="Courier New" pitchFamily="49" charset="0"/>
              </a:rPr>
              <a:t>pred</a:t>
            </a:r>
            <a:r>
              <a:rPr lang="en-US" altLang="en-US" sz="650" dirty="0">
                <a:latin typeface="Courier New" pitchFamily="49" charset="0"/>
              </a:rPr>
              <a:t> &lt;- predict(dat.nn2, </a:t>
            </a:r>
            <a:r>
              <a:rPr lang="en-US" altLang="en-US" sz="650" dirty="0" err="1">
                <a:latin typeface="Courier New" pitchFamily="49" charset="0"/>
              </a:rPr>
              <a:t>dat.n</a:t>
            </a:r>
            <a:r>
              <a:rPr lang="en-US" altLang="en-US" sz="650" dirty="0">
                <a:latin typeface="Courier New" pitchFamily="49" charset="0"/>
              </a:rPr>
              <a:t>, type = "class")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sz="650" dirty="0">
                <a:latin typeface="Courier New" pitchFamily="49" charset="0"/>
              </a:rPr>
              <a:t>table(</a:t>
            </a:r>
            <a:r>
              <a:rPr lang="en-US" altLang="en-US" sz="650" dirty="0" err="1">
                <a:latin typeface="Courier New" pitchFamily="49" charset="0"/>
              </a:rPr>
              <a:t>clas,pred</a:t>
            </a:r>
            <a:r>
              <a:rPr lang="en-US" altLang="en-US" sz="650" dirty="0">
                <a:latin typeface="Courier New" pitchFamily="49" charset="0"/>
              </a:rPr>
              <a:t>)</a:t>
            </a:r>
          </a:p>
          <a:p>
            <a:pPr>
              <a:buFont typeface="Wingdings" pitchFamily="2" charset="2"/>
              <a:buNone/>
              <a:defRPr/>
            </a:pPr>
            <a:endParaRPr lang="en-US" altLang="en-US" sz="650" dirty="0">
              <a:latin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en-US" sz="650" dirty="0">
                <a:latin typeface="Courier New" pitchFamily="49" charset="0"/>
              </a:rPr>
              <a:t># plot fitted values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sz="650" dirty="0">
                <a:latin typeface="Courier New" pitchFamily="49" charset="0"/>
              </a:rPr>
              <a:t>plot(dat.nn2$fitted.values,type="n",</a:t>
            </a:r>
            <a:r>
              <a:rPr lang="en-US" altLang="en-US" sz="650" dirty="0" err="1">
                <a:latin typeface="Courier New" pitchFamily="49" charset="0"/>
              </a:rPr>
              <a:t>ylab</a:t>
            </a:r>
            <a:r>
              <a:rPr lang="en-US" altLang="en-US" sz="650" dirty="0">
                <a:latin typeface="Courier New" pitchFamily="49" charset="0"/>
              </a:rPr>
              <a:t>="Fitted values",</a:t>
            </a:r>
            <a:r>
              <a:rPr lang="en-US" altLang="en-US" sz="650" dirty="0" err="1">
                <a:latin typeface="Courier New" pitchFamily="49" charset="0"/>
              </a:rPr>
              <a:t>xlab</a:t>
            </a:r>
            <a:r>
              <a:rPr lang="en-US" altLang="en-US" sz="650" dirty="0">
                <a:latin typeface="Courier New" pitchFamily="49" charset="0"/>
              </a:rPr>
              <a:t>="",axes=</a:t>
            </a:r>
            <a:r>
              <a:rPr lang="en-US" altLang="en-US" sz="650" dirty="0" err="1">
                <a:latin typeface="Courier New" pitchFamily="49" charset="0"/>
              </a:rPr>
              <a:t>F,main</a:t>
            </a:r>
            <a:r>
              <a:rPr lang="en-US" altLang="en-US" sz="650" dirty="0">
                <a:latin typeface="Courier New" pitchFamily="49" charset="0"/>
              </a:rPr>
              <a:t>="Neural Network using Colon dataset")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sz="650" dirty="0">
                <a:latin typeface="Courier New" pitchFamily="49" charset="0"/>
              </a:rPr>
              <a:t>text(c(1:62),dat.nn2$fitted.values,pred,col=</a:t>
            </a:r>
            <a:r>
              <a:rPr lang="en-US" altLang="en-US" sz="650" dirty="0" err="1">
                <a:latin typeface="Courier New" pitchFamily="49" charset="0"/>
              </a:rPr>
              <a:t>as.numeric</a:t>
            </a:r>
            <a:r>
              <a:rPr lang="en-US" altLang="en-US" sz="650" dirty="0">
                <a:latin typeface="Courier New" pitchFamily="49" charset="0"/>
              </a:rPr>
              <a:t>(factor(</a:t>
            </a:r>
            <a:r>
              <a:rPr lang="en-US" altLang="en-US" sz="650" dirty="0" err="1">
                <a:latin typeface="Courier New" pitchFamily="49" charset="0"/>
              </a:rPr>
              <a:t>pred</a:t>
            </a:r>
            <a:r>
              <a:rPr lang="en-US" altLang="en-US" sz="650" dirty="0">
                <a:latin typeface="Courier New" pitchFamily="49" charset="0"/>
              </a:rPr>
              <a:t>)))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sz="650" dirty="0">
                <a:latin typeface="Courier New" pitchFamily="49" charset="0"/>
              </a:rPr>
              <a:t>axis(2)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sz="650" dirty="0">
                <a:latin typeface="Courier New" pitchFamily="49" charset="0"/>
              </a:rPr>
              <a:t>axis(1,at=c(1:62),labels=</a:t>
            </a:r>
            <a:r>
              <a:rPr lang="en-US" altLang="en-US" sz="650" dirty="0" err="1">
                <a:latin typeface="Courier New" pitchFamily="49" charset="0"/>
              </a:rPr>
              <a:t>dimnames</a:t>
            </a:r>
            <a:r>
              <a:rPr lang="en-US" altLang="en-US" sz="650" dirty="0">
                <a:latin typeface="Courier New" pitchFamily="49" charset="0"/>
              </a:rPr>
              <a:t>(</a:t>
            </a:r>
            <a:r>
              <a:rPr lang="en-US" altLang="en-US" sz="650" dirty="0" err="1">
                <a:latin typeface="Courier New" pitchFamily="49" charset="0"/>
              </a:rPr>
              <a:t>dat</a:t>
            </a:r>
            <a:r>
              <a:rPr lang="en-US" altLang="en-US" sz="650" dirty="0">
                <a:latin typeface="Courier New" pitchFamily="49" charset="0"/>
              </a:rPr>
              <a:t>)[[1]],</a:t>
            </a:r>
            <a:r>
              <a:rPr lang="en-US" altLang="en-US" sz="650" dirty="0" err="1">
                <a:latin typeface="Courier New" pitchFamily="49" charset="0"/>
              </a:rPr>
              <a:t>cex.axis</a:t>
            </a:r>
            <a:r>
              <a:rPr lang="en-US" altLang="en-US" sz="650" dirty="0">
                <a:latin typeface="Courier New" pitchFamily="49" charset="0"/>
              </a:rPr>
              <a:t>=0.75,las=2)</a:t>
            </a:r>
          </a:p>
          <a:p>
            <a:pPr>
              <a:defRPr/>
            </a:pPr>
            <a:endParaRPr lang="en-US" altLang="en-US" sz="650" dirty="0">
              <a:latin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en-US" sz="650" dirty="0">
                <a:latin typeface="Courier New" pitchFamily="49" charset="0"/>
              </a:rPr>
              <a:t># run KNN model with increasing # of k-neighbors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sz="650" dirty="0" err="1">
                <a:latin typeface="Courier New" pitchFamily="49" charset="0"/>
              </a:rPr>
              <a:t>tp.list</a:t>
            </a:r>
            <a:r>
              <a:rPr lang="en-US" altLang="en-US" sz="650" dirty="0">
                <a:latin typeface="Courier New" pitchFamily="49" charset="0"/>
              </a:rPr>
              <a:t> &lt;- NULL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sz="650" dirty="0" err="1">
                <a:latin typeface="Courier New" pitchFamily="49" charset="0"/>
              </a:rPr>
              <a:t>fp.list</a:t>
            </a:r>
            <a:r>
              <a:rPr lang="en-US" altLang="en-US" sz="650" dirty="0">
                <a:latin typeface="Courier New" pitchFamily="49" charset="0"/>
              </a:rPr>
              <a:t> &lt;- NULL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sz="650" dirty="0" err="1">
                <a:latin typeface="Courier New" pitchFamily="49" charset="0"/>
              </a:rPr>
              <a:t>k.list</a:t>
            </a:r>
            <a:r>
              <a:rPr lang="en-US" altLang="en-US" sz="650" dirty="0">
                <a:latin typeface="Courier New" pitchFamily="49" charset="0"/>
              </a:rPr>
              <a:t> &lt;- c(1:35)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sz="650" dirty="0">
                <a:latin typeface="Courier New" pitchFamily="49" charset="0"/>
              </a:rPr>
              <a:t>for(</a:t>
            </a:r>
            <a:r>
              <a:rPr lang="en-US" altLang="en-US" sz="650" dirty="0" err="1">
                <a:latin typeface="Courier New" pitchFamily="49" charset="0"/>
              </a:rPr>
              <a:t>i</a:t>
            </a:r>
            <a:r>
              <a:rPr lang="en-US" altLang="en-US" sz="650" dirty="0">
                <a:latin typeface="Courier New" pitchFamily="49" charset="0"/>
              </a:rPr>
              <a:t> in 2:length(</a:t>
            </a:r>
            <a:r>
              <a:rPr lang="en-US" altLang="en-US" sz="650" dirty="0" err="1">
                <a:latin typeface="Courier New" pitchFamily="49" charset="0"/>
              </a:rPr>
              <a:t>k.list</a:t>
            </a:r>
            <a:r>
              <a:rPr lang="en-US" altLang="en-US" sz="650" dirty="0">
                <a:latin typeface="Courier New" pitchFamily="49" charset="0"/>
              </a:rPr>
              <a:t>))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sz="650" dirty="0">
                <a:latin typeface="Courier New" pitchFamily="49" charset="0"/>
              </a:rPr>
              <a:t>	 </a:t>
            </a:r>
            <a:r>
              <a:rPr lang="en-US" altLang="en-US" sz="650" dirty="0" err="1">
                <a:latin typeface="Courier New" pitchFamily="49" charset="0"/>
              </a:rPr>
              <a:t>dat.knn</a:t>
            </a:r>
            <a:r>
              <a:rPr lang="en-US" altLang="en-US" sz="650" dirty="0">
                <a:latin typeface="Courier New" pitchFamily="49" charset="0"/>
              </a:rPr>
              <a:t> &lt;- </a:t>
            </a:r>
            <a:r>
              <a:rPr lang="en-US" altLang="en-US" sz="650" dirty="0" err="1">
                <a:latin typeface="Courier New" pitchFamily="49" charset="0"/>
              </a:rPr>
              <a:t>knn</a:t>
            </a:r>
            <a:r>
              <a:rPr lang="en-US" altLang="en-US" sz="650" dirty="0">
                <a:latin typeface="Courier New" pitchFamily="49" charset="0"/>
              </a:rPr>
              <a:t>(t(</a:t>
            </a:r>
            <a:r>
              <a:rPr lang="en-US" altLang="en-US" sz="650" dirty="0" err="1">
                <a:latin typeface="Courier New" pitchFamily="49" charset="0"/>
              </a:rPr>
              <a:t>dat</a:t>
            </a:r>
            <a:r>
              <a:rPr lang="en-US" altLang="en-US" sz="650" dirty="0">
                <a:latin typeface="Courier New" pitchFamily="49" charset="0"/>
              </a:rPr>
              <a:t>[1:10,]),t(</a:t>
            </a:r>
            <a:r>
              <a:rPr lang="en-US" altLang="en-US" sz="650" dirty="0" err="1">
                <a:latin typeface="Courier New" pitchFamily="49" charset="0"/>
              </a:rPr>
              <a:t>dat</a:t>
            </a:r>
            <a:r>
              <a:rPr lang="en-US" altLang="en-US" sz="650" dirty="0">
                <a:latin typeface="Courier New" pitchFamily="49" charset="0"/>
              </a:rPr>
              <a:t>[1:10,]),</a:t>
            </a:r>
            <a:r>
              <a:rPr lang="en-US" altLang="en-US" sz="650" dirty="0" err="1">
                <a:latin typeface="Courier New" pitchFamily="49" charset="0"/>
              </a:rPr>
              <a:t>clas,k</a:t>
            </a:r>
            <a:r>
              <a:rPr lang="en-US" altLang="en-US" sz="650" dirty="0">
                <a:latin typeface="Courier New" pitchFamily="49" charset="0"/>
              </a:rPr>
              <a:t>=</a:t>
            </a:r>
            <a:r>
              <a:rPr lang="en-US" altLang="en-US" sz="650" dirty="0" err="1">
                <a:latin typeface="Courier New" pitchFamily="49" charset="0"/>
              </a:rPr>
              <a:t>k.list</a:t>
            </a:r>
            <a:r>
              <a:rPr lang="en-US" altLang="en-US" sz="650" dirty="0">
                <a:latin typeface="Courier New" pitchFamily="49" charset="0"/>
              </a:rPr>
              <a:t>[</a:t>
            </a:r>
            <a:r>
              <a:rPr lang="en-US" altLang="en-US" sz="650" dirty="0" err="1">
                <a:latin typeface="Courier New" pitchFamily="49" charset="0"/>
              </a:rPr>
              <a:t>i</a:t>
            </a:r>
            <a:r>
              <a:rPr lang="en-US" altLang="en-US" sz="650" dirty="0">
                <a:latin typeface="Courier New" pitchFamily="49" charset="0"/>
              </a:rPr>
              <a:t>],</a:t>
            </a:r>
            <a:r>
              <a:rPr lang="en-US" altLang="en-US" sz="650" dirty="0" err="1">
                <a:latin typeface="Courier New" pitchFamily="49" charset="0"/>
              </a:rPr>
              <a:t>prob</a:t>
            </a:r>
            <a:r>
              <a:rPr lang="en-US" altLang="en-US" sz="650" dirty="0">
                <a:latin typeface="Courier New" pitchFamily="49" charset="0"/>
              </a:rPr>
              <a:t>=T)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sz="650" dirty="0">
                <a:latin typeface="Courier New" pitchFamily="49" charset="0"/>
              </a:rPr>
              <a:t>	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sz="650" dirty="0">
                <a:latin typeface="Courier New" pitchFamily="49" charset="0"/>
              </a:rPr>
              <a:t>	# error rates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sz="650" dirty="0">
                <a:latin typeface="Courier New" pitchFamily="49" charset="0"/>
              </a:rPr>
              <a:t>	er1 &lt;- sum(</a:t>
            </a:r>
            <a:r>
              <a:rPr lang="en-US" altLang="en-US" sz="650" dirty="0" err="1">
                <a:latin typeface="Courier New" pitchFamily="49" charset="0"/>
              </a:rPr>
              <a:t>dat.knn</a:t>
            </a:r>
            <a:r>
              <a:rPr lang="en-US" altLang="en-US" sz="650" dirty="0">
                <a:latin typeface="Courier New" pitchFamily="49" charset="0"/>
              </a:rPr>
              <a:t>[</a:t>
            </a:r>
            <a:r>
              <a:rPr lang="en-US" altLang="en-US" sz="650" dirty="0" err="1">
                <a:latin typeface="Courier New" pitchFamily="49" charset="0"/>
              </a:rPr>
              <a:t>clas</a:t>
            </a:r>
            <a:r>
              <a:rPr lang="en-US" altLang="en-US" sz="650" dirty="0">
                <a:latin typeface="Courier New" pitchFamily="49" charset="0"/>
              </a:rPr>
              <a:t>=="t"]=="t")/sum(</a:t>
            </a:r>
            <a:r>
              <a:rPr lang="en-US" altLang="en-US" sz="650" dirty="0" err="1">
                <a:latin typeface="Courier New" pitchFamily="49" charset="0"/>
              </a:rPr>
              <a:t>clas</a:t>
            </a:r>
            <a:r>
              <a:rPr lang="en-US" altLang="en-US" sz="650" dirty="0">
                <a:latin typeface="Courier New" pitchFamily="49" charset="0"/>
              </a:rPr>
              <a:t>=="t")*100	# true positive rate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sz="650" dirty="0">
                <a:latin typeface="Courier New" pitchFamily="49" charset="0"/>
              </a:rPr>
              <a:t>	er2 &lt;- sum(</a:t>
            </a:r>
            <a:r>
              <a:rPr lang="en-US" altLang="en-US" sz="650" dirty="0" err="1">
                <a:latin typeface="Courier New" pitchFamily="49" charset="0"/>
              </a:rPr>
              <a:t>dat.knn</a:t>
            </a:r>
            <a:r>
              <a:rPr lang="en-US" altLang="en-US" sz="650" dirty="0">
                <a:latin typeface="Courier New" pitchFamily="49" charset="0"/>
              </a:rPr>
              <a:t>[</a:t>
            </a:r>
            <a:r>
              <a:rPr lang="en-US" altLang="en-US" sz="650" dirty="0" err="1">
                <a:latin typeface="Courier New" pitchFamily="49" charset="0"/>
              </a:rPr>
              <a:t>clas</a:t>
            </a:r>
            <a:r>
              <a:rPr lang="en-US" altLang="en-US" sz="650" dirty="0">
                <a:latin typeface="Courier New" pitchFamily="49" charset="0"/>
              </a:rPr>
              <a:t>=="n"]=="t")/sum(</a:t>
            </a:r>
            <a:r>
              <a:rPr lang="en-US" altLang="en-US" sz="650" dirty="0" err="1">
                <a:latin typeface="Courier New" pitchFamily="49" charset="0"/>
              </a:rPr>
              <a:t>clas</a:t>
            </a:r>
            <a:r>
              <a:rPr lang="en-US" altLang="en-US" sz="650" dirty="0">
                <a:latin typeface="Courier New" pitchFamily="49" charset="0"/>
              </a:rPr>
              <a:t>=="n")*100	# false positive rate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sz="650" dirty="0">
                <a:latin typeface="Courier New" pitchFamily="49" charset="0"/>
              </a:rPr>
              <a:t>	</a:t>
            </a:r>
            <a:r>
              <a:rPr lang="en-US" altLang="en-US" sz="650" dirty="0" err="1">
                <a:latin typeface="Courier New" pitchFamily="49" charset="0"/>
              </a:rPr>
              <a:t>tp.list</a:t>
            </a:r>
            <a:r>
              <a:rPr lang="en-US" altLang="en-US" sz="650" dirty="0">
                <a:latin typeface="Courier New" pitchFamily="49" charset="0"/>
              </a:rPr>
              <a:t> &lt;- c(tp.list,er1)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sz="650" dirty="0">
                <a:latin typeface="Courier New" pitchFamily="49" charset="0"/>
              </a:rPr>
              <a:t>	</a:t>
            </a:r>
            <a:r>
              <a:rPr lang="en-US" altLang="en-US" sz="650" dirty="0" err="1">
                <a:latin typeface="Courier New" pitchFamily="49" charset="0"/>
              </a:rPr>
              <a:t>fp.list</a:t>
            </a:r>
            <a:r>
              <a:rPr lang="en-US" altLang="en-US" sz="650" dirty="0">
                <a:latin typeface="Courier New" pitchFamily="49" charset="0"/>
              </a:rPr>
              <a:t> &lt;- c(fp.list,er2)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en-US" sz="650" dirty="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803CC21D-D718-576C-4632-565AF86544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242888"/>
            <a:ext cx="5280025" cy="404812"/>
          </a:xfrm>
        </p:spPr>
        <p:txBody>
          <a:bodyPr/>
          <a:lstStyle/>
          <a:p>
            <a:pPr eaLnBrk="1" hangingPunct="1"/>
            <a:r>
              <a:rPr lang="en-US" altLang="en-US" sz="2400"/>
              <a:t>R Code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0568C03D-81AF-2B76-88CB-8BECC4B98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75" y="1120775"/>
            <a:ext cx="5759450" cy="3573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/>
          <a:lstStyle>
            <a:lvl1pPr marL="239713" indent="-239713" defTabSz="639763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84188" indent="-242888" defTabSz="6397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690563" indent="-204788" defTabSz="639763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896938" indent="-204788" defTabSz="639763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119188" indent="-220663" defTabSz="639763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5763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335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4907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479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endParaRPr lang="en-US" altLang="en-US" sz="1500"/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1B040267-541B-74F2-F4D2-B6DB7FA95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8" y="647700"/>
            <a:ext cx="5707062" cy="397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/>
          <a:lstStyle>
            <a:lvl1pPr marL="239713" indent="-239713" defTabSz="639763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00025" defTabSz="6397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00100" indent="-160338" defTabSz="639763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20775" indent="-160338" defTabSz="639763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439863" indent="-160338" defTabSz="639763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97063" indent="-160338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354263" indent="-160338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11463" indent="-160338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68663" indent="-160338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# ROC curve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#a is vector of test values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#b is vector of condition values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#bx is the list of character values for the condition values (true is first, false is second)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roc &lt;- function(a,b,bx=c("1","0")) {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700">
              <a:latin typeface="Courier New" panose="020703090202050204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        tp &lt;- NULL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        fp &lt;- NULL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	cut &lt;- NULL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        for (i in seq(0,1,by=.05))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#                print(i)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                qu &lt;- quantile(a,i)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                cut &lt;- c(cut,as.numeric(qu))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		ax &lt;- a&gt;=qu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                con &lt;- table(ax,b)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700">
              <a:latin typeface="Courier New" panose="020703090202050204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                if(nrow(con)==1 &amp; length(intersect(dimnames(con)[[1]],"FALSE"))==1) {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			tp &lt;- 0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			fp &lt;- 0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			next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		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	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		tp &lt;- c(tp,con["TRUE",bx[1]]/sum(con[,bx[1]]))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                fp &lt;- c(fp,con["TRUE",bx[2]]/sum(con[,bx[2]]))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        }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700">
              <a:latin typeface="Courier New" panose="020703090202050204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	trap.rule &lt;- function(x,y) {sum(diff(x)*(y[-1]+y[-length(y)]))/2}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	auc &lt;- abs(trap.rule(x=fp,y=tp))	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700">
              <a:latin typeface="Courier New" panose="020703090202050204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        return(list(cbind(tp,fp,cut),c(auc)))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7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CCAAC610-F80F-30F3-2581-D4E3EF90A3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0675" y="242888"/>
            <a:ext cx="5280025" cy="404812"/>
          </a:xfrm>
        </p:spPr>
        <p:txBody>
          <a:bodyPr/>
          <a:lstStyle/>
          <a:p>
            <a:pPr eaLnBrk="1" hangingPunct="1"/>
            <a:r>
              <a:rPr lang="en-US" altLang="en-US" sz="2400"/>
              <a:t>R Code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F36207AC-7F83-D1A1-F5D9-A1274145D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75" y="1120775"/>
            <a:ext cx="5759450" cy="3573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/>
          <a:lstStyle>
            <a:lvl1pPr marL="239713" indent="-239713" defTabSz="639763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84188" indent="-242888" defTabSz="6397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690563" indent="-204788" defTabSz="639763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896938" indent="-204788" defTabSz="639763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119188" indent="-220663" defTabSz="639763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5763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0335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4907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2947988" indent="-220663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endParaRPr lang="en-US" altLang="en-US" sz="1500"/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6D8E1D64-4F18-3BAE-4398-41F5FE413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8" y="647700"/>
            <a:ext cx="5707062" cy="397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008" tIns="32004" rIns="64008" bIns="32004"/>
          <a:lstStyle>
            <a:lvl1pPr marL="239713" indent="-239713" defTabSz="639763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l"/>
              <a:defRPr sz="2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20700" indent="-200025" defTabSz="6397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00100" indent="-160338" defTabSz="639763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itchFamily="2" charset="2"/>
              <a:buChar char="l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120775" indent="-160338" defTabSz="639763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439863" indent="-160338" defTabSz="639763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897063" indent="-160338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354263" indent="-160338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811463" indent="-160338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268663" indent="-160338" defTabSz="6397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# plot ROC curve of sensitivity vs. specificity using nnet output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rocx &lt;- roc(a=dat.nn2$fitted.values,b=clas,bx=c("t","n"))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plot(rocx[[1]][,2],rocx[[1]][,1],type="b",col="blue",xlab="False positive rate",ylab="True positive rate",lwd=2)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title(main="ROC curve for Colon dataset using NNet model")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legend("bottomright",paste("AUC=",round(rocx[[2]],3)))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grid()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700">
              <a:latin typeface="Courier New" panose="020703090202050204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# Support vector machine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library(kernlab)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700">
              <a:latin typeface="Courier New" panose="020703090202050204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#dat.loads &lt;- data.frame(dat.loads,clas)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svp &lt;- ksvm(dat,clas,type="C-svc")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svp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700">
              <a:latin typeface="Courier New" panose="020703090202050204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# get fitted values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fit &lt;- fitted(svp)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700">
              <a:latin typeface="Courier New" panose="020703090202050204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# demo of the plot function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plot(svp@coef[[1]],type="n",ylab="Coefficient*data",xlab="",axes=F,main="SVM using Colon dataset")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text(c(1:62),svp@coef[[1]],fit,col=as.numeric(factor(fit)))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axis(2)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axis(1,at=c(1:62),labels=dimnames(dat)[[1]],cex.axis=0.75,las=2)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700">
              <a:latin typeface="Courier New" panose="02070309020205020404" pitchFamily="49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# error rates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700">
                <a:latin typeface="Courier New" panose="02070309020205020404" pitchFamily="49" charset="0"/>
              </a:rPr>
              <a:t>table(clas,fit)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6397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6397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4730</TotalTime>
  <Words>4143</Words>
  <Application>Microsoft Macintosh PowerPoint</Application>
  <PresentationFormat>Custom</PresentationFormat>
  <Paragraphs>501</Paragraphs>
  <Slides>35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Wingdings</vt:lpstr>
      <vt:lpstr>Old English Text MT</vt:lpstr>
      <vt:lpstr>Courier New</vt:lpstr>
      <vt:lpstr>Courier (W1)</vt:lpstr>
      <vt:lpstr>Times New Roman</vt:lpstr>
      <vt:lpstr>Network</vt:lpstr>
      <vt:lpstr>Lecture #10</vt:lpstr>
      <vt:lpstr>Outline</vt:lpstr>
      <vt:lpstr>Purpose for Classification</vt:lpstr>
      <vt:lpstr>Multiple classification methods</vt:lpstr>
      <vt:lpstr>Modeling terminology</vt:lpstr>
      <vt:lpstr>Discriminant analysis</vt:lpstr>
      <vt:lpstr>Discriminant analysis theory3</vt:lpstr>
      <vt:lpstr>Discriminant analysis example (linear )</vt:lpstr>
      <vt:lpstr>Support vector machines (SVMs)</vt:lpstr>
      <vt:lpstr>SVM theory</vt:lpstr>
      <vt:lpstr>SVM illustration for two-dimensional example7</vt:lpstr>
      <vt:lpstr>SVM example (Alon et al., colon cancer data)</vt:lpstr>
      <vt:lpstr>CART4</vt:lpstr>
      <vt:lpstr>Binary Tree example                 Alon et al. colon cancer data  </vt:lpstr>
      <vt:lpstr>PLS – classification (review)</vt:lpstr>
      <vt:lpstr>PLS - classification example Alon et al. colon cancer data</vt:lpstr>
      <vt:lpstr>KNN</vt:lpstr>
      <vt:lpstr>KNN methodology4</vt:lpstr>
      <vt:lpstr>KNN - classification example Alon et al. colon cancer data</vt:lpstr>
      <vt:lpstr>Neural Networks</vt:lpstr>
      <vt:lpstr>Neural Network simple theory5</vt:lpstr>
      <vt:lpstr>Artificial Neuron – visual5</vt:lpstr>
      <vt:lpstr>NN - classification example Alon et al. colon cancer data</vt:lpstr>
      <vt:lpstr>ROC curve evaluation</vt:lpstr>
      <vt:lpstr>Sensitivity and Specificity</vt:lpstr>
      <vt:lpstr>ROC curve example Alon et al. colon cancer data</vt:lpstr>
      <vt:lpstr>Model Validation</vt:lpstr>
      <vt:lpstr>References</vt:lpstr>
      <vt:lpstr>R Code</vt:lpstr>
      <vt:lpstr>R Code</vt:lpstr>
      <vt:lpstr>R Code</vt:lpstr>
      <vt:lpstr>R Code</vt:lpstr>
      <vt:lpstr>R Code</vt:lpstr>
      <vt:lpstr>R Code</vt:lpstr>
      <vt:lpstr>R Code</vt:lpstr>
    </vt:vector>
  </TitlesOfParts>
  <Company>Gene Logic,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#1</dc:title>
  <dc:creator>bhiggs</dc:creator>
  <cp:lastModifiedBy>Renard, Dylan T</cp:lastModifiedBy>
  <cp:revision>839</cp:revision>
  <dcterms:created xsi:type="dcterms:W3CDTF">2004-02-02T19:40:01Z</dcterms:created>
  <dcterms:modified xsi:type="dcterms:W3CDTF">2025-11-01T20:26:22Z</dcterms:modified>
</cp:coreProperties>
</file>