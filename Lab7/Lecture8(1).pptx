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44"/>
  </p:notesMasterIdLst>
  <p:sldIdLst>
    <p:sldId id="256" r:id="rId2"/>
    <p:sldId id="257" r:id="rId3"/>
    <p:sldId id="314" r:id="rId4"/>
    <p:sldId id="315" r:id="rId5"/>
    <p:sldId id="316" r:id="rId6"/>
    <p:sldId id="318" r:id="rId7"/>
    <p:sldId id="319" r:id="rId8"/>
    <p:sldId id="321" r:id="rId9"/>
    <p:sldId id="320" r:id="rId10"/>
    <p:sldId id="322" r:id="rId11"/>
    <p:sldId id="326" r:id="rId12"/>
    <p:sldId id="323" r:id="rId13"/>
    <p:sldId id="367" r:id="rId14"/>
    <p:sldId id="324" r:id="rId15"/>
    <p:sldId id="328" r:id="rId16"/>
    <p:sldId id="325" r:id="rId17"/>
    <p:sldId id="329" r:id="rId18"/>
    <p:sldId id="368" r:id="rId19"/>
    <p:sldId id="330" r:id="rId20"/>
    <p:sldId id="331" r:id="rId21"/>
    <p:sldId id="332" r:id="rId22"/>
    <p:sldId id="333" r:id="rId23"/>
    <p:sldId id="361" r:id="rId24"/>
    <p:sldId id="363" r:id="rId25"/>
    <p:sldId id="355" r:id="rId26"/>
    <p:sldId id="359" r:id="rId27"/>
    <p:sldId id="356" r:id="rId28"/>
    <p:sldId id="358" r:id="rId29"/>
    <p:sldId id="334" r:id="rId30"/>
    <p:sldId id="336" r:id="rId31"/>
    <p:sldId id="335" r:id="rId32"/>
    <p:sldId id="337" r:id="rId33"/>
    <p:sldId id="364" r:id="rId34"/>
    <p:sldId id="365" r:id="rId35"/>
    <p:sldId id="366" r:id="rId36"/>
    <p:sldId id="360" r:id="rId37"/>
    <p:sldId id="273" r:id="rId38"/>
    <p:sldId id="313" r:id="rId39"/>
    <p:sldId id="317" r:id="rId40"/>
    <p:sldId id="327" r:id="rId41"/>
    <p:sldId id="357" r:id="rId42"/>
    <p:sldId id="362" r:id="rId4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3366FF"/>
    <a:srgbClr val="009900"/>
    <a:srgbClr val="00FF00"/>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35" autoAdjust="0"/>
    <p:restoredTop sz="94693" autoAdjust="0"/>
  </p:normalViewPr>
  <p:slideViewPr>
    <p:cSldViewPr>
      <p:cViewPr varScale="1">
        <p:scale>
          <a:sx n="105" d="100"/>
          <a:sy n="105" d="100"/>
        </p:scale>
        <p:origin x="293"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68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32768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327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68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68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32768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E67418B-3095-4CE5-B78D-F0871F2DC641}" type="slidenum">
              <a:rPr lang="en-US"/>
              <a:pPr/>
              <a:t>‹#›</a:t>
            </a:fld>
            <a:endParaRPr lang="en-US"/>
          </a:p>
        </p:txBody>
      </p:sp>
    </p:spTree>
    <p:extLst>
      <p:ext uri="{BB962C8B-B14F-4D97-AF65-F5344CB8AC3E}">
        <p14:creationId xmlns:p14="http://schemas.microsoft.com/office/powerpoint/2010/main" val="19824870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A77E78-9D56-4395-AC77-8A2F5D49AB6D}" type="slidenum">
              <a:rPr lang="en-US"/>
              <a:pPr/>
              <a:t>1</a:t>
            </a:fld>
            <a:endParaRPr lang="en-US"/>
          </a:p>
        </p:txBody>
      </p:sp>
      <p:sp>
        <p:nvSpPr>
          <p:cNvPr id="328706" name="Rectangle 2"/>
          <p:cNvSpPr>
            <a:spLocks noGrp="1" noRot="1" noChangeAspect="1" noChangeArrowheads="1" noTextEdit="1"/>
          </p:cNvSpPr>
          <p:nvPr>
            <p:ph type="sldImg"/>
          </p:nvPr>
        </p:nvSpPr>
        <p:spPr>
          <a:ln/>
        </p:spPr>
      </p:sp>
      <p:sp>
        <p:nvSpPr>
          <p:cNvPr id="328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9669BE-BAF4-49D4-B8CE-6135BC80DDDB}" type="slidenum">
              <a:rPr lang="en-US"/>
              <a:pPr/>
              <a:t>2</a:t>
            </a:fld>
            <a:endParaRPr lang="en-US"/>
          </a:p>
        </p:txBody>
      </p:sp>
      <p:sp>
        <p:nvSpPr>
          <p:cNvPr id="329730" name="Rectangle 2"/>
          <p:cNvSpPr>
            <a:spLocks noGrp="1" noRot="1" noChangeAspect="1" noChangeArrowheads="1" noTextEdit="1"/>
          </p:cNvSpPr>
          <p:nvPr>
            <p:ph type="sldImg"/>
          </p:nvPr>
        </p:nvSpPr>
        <p:spPr>
          <a:ln/>
        </p:spPr>
      </p:sp>
      <p:sp>
        <p:nvSpPr>
          <p:cNvPr id="329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385B5B-2757-4A02-8B00-06C0B754A61F}" type="slidenum">
              <a:rPr lang="en-US"/>
              <a:pPr/>
              <a:t>3</a:t>
            </a:fld>
            <a:endParaRPr lang="en-US"/>
          </a:p>
        </p:txBody>
      </p:sp>
      <p:sp>
        <p:nvSpPr>
          <p:cNvPr id="330754" name="Rectangle 2"/>
          <p:cNvSpPr>
            <a:spLocks noGrp="1" noRot="1" noChangeAspect="1" noChangeArrowheads="1" noTextEdit="1"/>
          </p:cNvSpPr>
          <p:nvPr>
            <p:ph type="sldImg"/>
          </p:nvPr>
        </p:nvSpPr>
        <p:spPr>
          <a:ln/>
        </p:spPr>
      </p:sp>
      <p:sp>
        <p:nvSpPr>
          <p:cNvPr id="3307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A53328-3FD7-4EB2-8757-8EAC00ED47D2}" type="slidenum">
              <a:rPr lang="en-US"/>
              <a:pPr/>
              <a:t>4</a:t>
            </a:fld>
            <a:endParaRPr lang="en-US"/>
          </a:p>
        </p:txBody>
      </p:sp>
      <p:sp>
        <p:nvSpPr>
          <p:cNvPr id="331778" name="Rectangle 2"/>
          <p:cNvSpPr>
            <a:spLocks noGrp="1" noRot="1" noChangeAspect="1" noChangeArrowheads="1" noTextEdit="1"/>
          </p:cNvSpPr>
          <p:nvPr>
            <p:ph type="sldImg"/>
          </p:nvPr>
        </p:nvSpPr>
        <p:spPr>
          <a:ln/>
        </p:spPr>
      </p:sp>
      <p:sp>
        <p:nvSpPr>
          <p:cNvPr id="331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3EAB6D-D20B-4635-8858-6162B61A2CCB}" type="slidenum">
              <a:rPr lang="en-US"/>
              <a:pPr/>
              <a:t>5</a:t>
            </a:fld>
            <a:endParaRPr lang="en-US"/>
          </a:p>
        </p:txBody>
      </p:sp>
      <p:sp>
        <p:nvSpPr>
          <p:cNvPr id="332802" name="Rectangle 2"/>
          <p:cNvSpPr>
            <a:spLocks noGrp="1" noRot="1" noChangeAspect="1" noChangeArrowheads="1" noTextEdit="1"/>
          </p:cNvSpPr>
          <p:nvPr>
            <p:ph type="sldImg"/>
          </p:nvPr>
        </p:nvSpPr>
        <p:spPr>
          <a:ln/>
        </p:spPr>
      </p:sp>
      <p:sp>
        <p:nvSpPr>
          <p:cNvPr id="332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739D28-33ED-4B4C-931F-EFD88CC078CD}" type="slidenum">
              <a:rPr lang="en-US"/>
              <a:pPr/>
              <a:t>6</a:t>
            </a:fld>
            <a:endParaRPr lang="en-US"/>
          </a:p>
        </p:txBody>
      </p:sp>
      <p:sp>
        <p:nvSpPr>
          <p:cNvPr id="333826" name="Rectangle 2"/>
          <p:cNvSpPr>
            <a:spLocks noGrp="1" noRot="1" noChangeAspect="1" noChangeArrowheads="1" noTextEdit="1"/>
          </p:cNvSpPr>
          <p:nvPr>
            <p:ph type="sldImg"/>
          </p:nvPr>
        </p:nvSpPr>
        <p:spPr>
          <a:ln/>
        </p:spPr>
      </p:sp>
      <p:sp>
        <p:nvSpPr>
          <p:cNvPr id="333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9B4A-C44C-477C-B3BD-CA5613D84F40}" type="slidenum">
              <a:rPr lang="en-US"/>
              <a:pPr/>
              <a:t>7</a:t>
            </a:fld>
            <a:endParaRPr lang="en-US"/>
          </a:p>
        </p:txBody>
      </p:sp>
      <p:sp>
        <p:nvSpPr>
          <p:cNvPr id="334850" name="Rectangle 2"/>
          <p:cNvSpPr>
            <a:spLocks noGrp="1" noRot="1" noChangeAspect="1" noChangeArrowheads="1" noTextEdit="1"/>
          </p:cNvSpPr>
          <p:nvPr>
            <p:ph type="sldImg"/>
          </p:nvPr>
        </p:nvSpPr>
        <p:spPr>
          <a:ln/>
        </p:spPr>
      </p:sp>
      <p:sp>
        <p:nvSpPr>
          <p:cNvPr id="334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6B898C-7BD9-4513-B18F-4078B6AB9576}" type="slidenum">
              <a:rPr lang="en-US"/>
              <a:pPr/>
              <a:t>8</a:t>
            </a:fld>
            <a:endParaRPr lang="en-US"/>
          </a:p>
        </p:txBody>
      </p:sp>
      <p:sp>
        <p:nvSpPr>
          <p:cNvPr id="335874" name="Rectangle 2"/>
          <p:cNvSpPr>
            <a:spLocks noGrp="1" noRot="1" noChangeAspect="1" noChangeArrowheads="1" noTextEdit="1"/>
          </p:cNvSpPr>
          <p:nvPr>
            <p:ph type="sldImg"/>
          </p:nvPr>
        </p:nvSpPr>
        <p:spPr>
          <a:ln/>
        </p:spPr>
      </p:sp>
      <p:sp>
        <p:nvSpPr>
          <p:cNvPr id="335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A98AED-8EC0-4DF0-9804-8E8632BAD4D1}" type="slidenum">
              <a:rPr lang="en-US"/>
              <a:pPr/>
              <a:t>9</a:t>
            </a:fld>
            <a:endParaRPr lang="en-US"/>
          </a:p>
        </p:txBody>
      </p:sp>
      <p:sp>
        <p:nvSpPr>
          <p:cNvPr id="336898" name="Rectangle 2"/>
          <p:cNvSpPr>
            <a:spLocks noGrp="1" noRot="1" noChangeAspect="1" noChangeArrowheads="1" noTextEdit="1"/>
          </p:cNvSpPr>
          <p:nvPr>
            <p:ph type="sldImg"/>
          </p:nvPr>
        </p:nvSpPr>
        <p:spPr>
          <a:ln/>
        </p:spPr>
      </p:sp>
      <p:sp>
        <p:nvSpPr>
          <p:cNvPr id="336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3CA513-7A3E-4255-BA5A-B1C4DC7A5C40}" type="slidenum">
              <a:rPr lang="en-US"/>
              <a:pPr/>
              <a:t>10</a:t>
            </a:fld>
            <a:endParaRPr lang="en-US"/>
          </a:p>
        </p:txBody>
      </p:sp>
      <p:sp>
        <p:nvSpPr>
          <p:cNvPr id="337922" name="Rectangle 2"/>
          <p:cNvSpPr>
            <a:spLocks noGrp="1" noRot="1" noChangeAspect="1" noChangeArrowheads="1" noTextEdit="1"/>
          </p:cNvSpPr>
          <p:nvPr>
            <p:ph type="sldImg"/>
          </p:nvPr>
        </p:nvSpPr>
        <p:spPr>
          <a:ln/>
        </p:spPr>
      </p:sp>
      <p:sp>
        <p:nvSpPr>
          <p:cNvPr id="337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00E1B4-9968-4A9A-83C7-BCF722B2F91B}" type="slidenum">
              <a:rPr lang="en-US"/>
              <a:pPr/>
              <a:t>11</a:t>
            </a:fld>
            <a:endParaRPr lang="en-US"/>
          </a:p>
        </p:txBody>
      </p:sp>
      <p:sp>
        <p:nvSpPr>
          <p:cNvPr id="338946" name="Rectangle 2"/>
          <p:cNvSpPr>
            <a:spLocks noGrp="1" noRot="1" noChangeAspect="1"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F0EAEE-234E-4339-9C01-26C46DB0E5A3}" type="slidenum">
              <a:rPr lang="en-US"/>
              <a:pPr/>
              <a:t>12</a:t>
            </a:fld>
            <a:endParaRPr lang="en-US"/>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F0EAEE-234E-4339-9C01-26C46DB0E5A3}" type="slidenum">
              <a:rPr lang="en-US"/>
              <a:pPr/>
              <a:t>13</a:t>
            </a:fld>
            <a:endParaRPr lang="en-US"/>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35F87E-3647-48F7-AFB6-2B4016CC51DE}" type="slidenum">
              <a:rPr lang="en-US"/>
              <a:pPr/>
              <a:t>14</a:t>
            </a:fld>
            <a:endParaRPr lang="en-US"/>
          </a:p>
        </p:txBody>
      </p:sp>
      <p:sp>
        <p:nvSpPr>
          <p:cNvPr id="340994" name="Rectangle 2"/>
          <p:cNvSpPr>
            <a:spLocks noGrp="1" noRot="1" noChangeAspect="1" noChangeArrowheads="1" noTextEdit="1"/>
          </p:cNvSpPr>
          <p:nvPr>
            <p:ph type="sldImg"/>
          </p:nvPr>
        </p:nvSpPr>
        <p:spPr>
          <a:ln/>
        </p:spPr>
      </p:sp>
      <p:sp>
        <p:nvSpPr>
          <p:cNvPr id="340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DCE573-5CAD-48C8-A77F-0798AA0924E1}" type="slidenum">
              <a:rPr lang="en-US"/>
              <a:pPr/>
              <a:t>15</a:t>
            </a:fld>
            <a:endParaRPr lang="en-US"/>
          </a:p>
        </p:txBody>
      </p:sp>
      <p:sp>
        <p:nvSpPr>
          <p:cNvPr id="342018" name="Rectangle 2"/>
          <p:cNvSpPr>
            <a:spLocks noGrp="1" noRot="1" noChangeAspect="1" noChangeArrowheads="1" noTextEdit="1"/>
          </p:cNvSpPr>
          <p:nvPr>
            <p:ph type="sldImg"/>
          </p:nvPr>
        </p:nvSpPr>
        <p:spPr>
          <a:ln/>
        </p:spPr>
      </p:sp>
      <p:sp>
        <p:nvSpPr>
          <p:cNvPr id="342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1B7035-42C1-4297-A466-B4C2065E3A8A}" type="slidenum">
              <a:rPr lang="en-US"/>
              <a:pPr/>
              <a:t>16</a:t>
            </a:fld>
            <a:endParaRPr lang="en-US"/>
          </a:p>
        </p:txBody>
      </p:sp>
      <p:sp>
        <p:nvSpPr>
          <p:cNvPr id="343042" name="Rectangle 2"/>
          <p:cNvSpPr>
            <a:spLocks noGrp="1" noRot="1" noChangeAspect="1" noChangeArrowheads="1" noTextEdit="1"/>
          </p:cNvSpPr>
          <p:nvPr>
            <p:ph type="sldImg"/>
          </p:nvPr>
        </p:nvSpPr>
        <p:spPr>
          <a:ln/>
        </p:spPr>
      </p:sp>
      <p:sp>
        <p:nvSpPr>
          <p:cNvPr id="343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B8804C-D590-4510-A0AD-2FD2649412C5}" type="slidenum">
              <a:rPr lang="en-US"/>
              <a:pPr/>
              <a:t>17</a:t>
            </a:fld>
            <a:endParaRPr lang="en-US"/>
          </a:p>
        </p:txBody>
      </p:sp>
      <p:sp>
        <p:nvSpPr>
          <p:cNvPr id="344066" name="Rectangle 2"/>
          <p:cNvSpPr>
            <a:spLocks noGrp="1" noRot="1" noChangeAspect="1" noChangeArrowheads="1" noTextEdit="1"/>
          </p:cNvSpPr>
          <p:nvPr>
            <p:ph type="sldImg"/>
          </p:nvPr>
        </p:nvSpPr>
        <p:spPr>
          <a:ln/>
        </p:spPr>
      </p:sp>
      <p:sp>
        <p:nvSpPr>
          <p:cNvPr id="344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D67DC8-F413-4D9B-A357-09F16DDE0903}" type="slidenum">
              <a:rPr lang="en-US"/>
              <a:pPr/>
              <a:t>19</a:t>
            </a:fld>
            <a:endParaRPr lang="en-US"/>
          </a:p>
        </p:txBody>
      </p:sp>
      <p:sp>
        <p:nvSpPr>
          <p:cNvPr id="345090" name="Rectangle 2"/>
          <p:cNvSpPr>
            <a:spLocks noGrp="1" noRot="1" noChangeAspect="1" noChangeArrowheads="1" noTextEdit="1"/>
          </p:cNvSpPr>
          <p:nvPr>
            <p:ph type="sldImg"/>
          </p:nvPr>
        </p:nvSpPr>
        <p:spPr>
          <a:ln/>
        </p:spPr>
      </p:sp>
      <p:sp>
        <p:nvSpPr>
          <p:cNvPr id="345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9FF30F-E677-4439-B931-87812B3DDBAA}" type="slidenum">
              <a:rPr lang="en-US"/>
              <a:pPr/>
              <a:t>20</a:t>
            </a:fld>
            <a:endParaRPr lang="en-US"/>
          </a:p>
        </p:txBody>
      </p:sp>
      <p:sp>
        <p:nvSpPr>
          <p:cNvPr id="346114" name="Rectangle 2"/>
          <p:cNvSpPr>
            <a:spLocks noGrp="1" noRot="1" noChangeAspect="1" noChangeArrowheads="1" noTextEdit="1"/>
          </p:cNvSpPr>
          <p:nvPr>
            <p:ph type="sldImg"/>
          </p:nvPr>
        </p:nvSpPr>
        <p:spPr>
          <a:ln/>
        </p:spPr>
      </p:sp>
      <p:sp>
        <p:nvSpPr>
          <p:cNvPr id="346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8DAB91-E4A3-4991-97E4-25CBCF6FC25E}" type="slidenum">
              <a:rPr lang="en-US"/>
              <a:pPr/>
              <a:t>21</a:t>
            </a:fld>
            <a:endParaRPr lang="en-US"/>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5B11D4-AD6D-4C21-AA8D-0CAE811A9A37}" type="slidenum">
              <a:rPr lang="en-US"/>
              <a:pPr/>
              <a:t>22</a:t>
            </a:fld>
            <a:endParaRPr lang="en-US"/>
          </a:p>
        </p:txBody>
      </p:sp>
      <p:sp>
        <p:nvSpPr>
          <p:cNvPr id="348162" name="Rectangle 2"/>
          <p:cNvSpPr>
            <a:spLocks noGrp="1" noRot="1" noChangeAspect="1" noChangeArrowheads="1" noTextEdit="1"/>
          </p:cNvSpPr>
          <p:nvPr>
            <p:ph type="sldImg"/>
          </p:nvPr>
        </p:nvSpPr>
        <p:spPr>
          <a:ln/>
        </p:spPr>
      </p:sp>
      <p:sp>
        <p:nvSpPr>
          <p:cNvPr id="348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8CE9B9-C919-4C31-B043-0DF0D50E5899}" type="slidenum">
              <a:rPr lang="en-US"/>
              <a:pPr/>
              <a:t>23</a:t>
            </a:fld>
            <a:endParaRPr lang="en-US"/>
          </a:p>
        </p:txBody>
      </p:sp>
      <p:sp>
        <p:nvSpPr>
          <p:cNvPr id="385026" name="Rectangle 2"/>
          <p:cNvSpPr>
            <a:spLocks noGrp="1" noRot="1" noChangeAspect="1" noChangeArrowheads="1" noTextEdit="1"/>
          </p:cNvSpPr>
          <p:nvPr>
            <p:ph type="sldImg"/>
          </p:nvPr>
        </p:nvSpPr>
        <p:spPr>
          <a:ln/>
        </p:spPr>
      </p:sp>
      <p:sp>
        <p:nvSpPr>
          <p:cNvPr id="3850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F6373E-DBD9-4ADA-9117-DC55C41E86C7}" type="slidenum">
              <a:rPr lang="en-US"/>
              <a:pPr/>
              <a:t>24</a:t>
            </a:fld>
            <a:endParaRPr lang="en-US"/>
          </a:p>
        </p:txBody>
      </p:sp>
      <p:sp>
        <p:nvSpPr>
          <p:cNvPr id="389122" name="Rectangle 2"/>
          <p:cNvSpPr>
            <a:spLocks noGrp="1" noRot="1" noChangeAspect="1" noChangeArrowheads="1" noTextEdit="1"/>
          </p:cNvSpPr>
          <p:nvPr>
            <p:ph type="sldImg"/>
          </p:nvPr>
        </p:nvSpPr>
        <p:spPr>
          <a:ln/>
        </p:spPr>
      </p:sp>
      <p:sp>
        <p:nvSpPr>
          <p:cNvPr id="3891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DF7F11-FB54-4C2A-9F9A-F25A73FE4F3A}" type="slidenum">
              <a:rPr lang="en-US"/>
              <a:pPr/>
              <a:t>25</a:t>
            </a:fld>
            <a:endParaRPr lang="en-US"/>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579030-3CFF-4049-84C0-3466BD617DE4}" type="slidenum">
              <a:rPr lang="en-US"/>
              <a:pPr/>
              <a:t>26</a:t>
            </a:fld>
            <a:endParaRPr lang="en-US"/>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8EBA00-AD20-45D2-9C03-6F6B62C4D4AE}" type="slidenum">
              <a:rPr lang="en-US"/>
              <a:pPr/>
              <a:t>27</a:t>
            </a:fld>
            <a:endParaRPr lang="en-US"/>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90B058-3AD4-431D-8259-95CFAD54FBEB}" type="slidenum">
              <a:rPr lang="en-US"/>
              <a:pPr/>
              <a:t>28</a:t>
            </a:fld>
            <a:endParaRPr lang="en-US"/>
          </a:p>
        </p:txBody>
      </p:sp>
      <p:sp>
        <p:nvSpPr>
          <p:cNvPr id="352258" name="Rectangle 2"/>
          <p:cNvSpPr>
            <a:spLocks noGrp="1" noRot="1" noChangeAspect="1" noChangeArrowheads="1" noTextEdit="1"/>
          </p:cNvSpPr>
          <p:nvPr>
            <p:ph type="sldImg"/>
          </p:nvPr>
        </p:nvSpPr>
        <p:spPr>
          <a:ln/>
        </p:spPr>
      </p:sp>
      <p:sp>
        <p:nvSpPr>
          <p:cNvPr id="3522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1623AD-2BB5-419F-A472-D6C75D51D99D}" type="slidenum">
              <a:rPr lang="en-US"/>
              <a:pPr/>
              <a:t>29</a:t>
            </a:fld>
            <a:endParaRPr lang="en-US"/>
          </a:p>
        </p:txBody>
      </p:sp>
      <p:sp>
        <p:nvSpPr>
          <p:cNvPr id="353282" name="Rectangle 2"/>
          <p:cNvSpPr>
            <a:spLocks noGrp="1" noRot="1" noChangeAspect="1" noChangeArrowheads="1" noTextEdit="1"/>
          </p:cNvSpPr>
          <p:nvPr>
            <p:ph type="sldImg"/>
          </p:nvPr>
        </p:nvSpPr>
        <p:spPr>
          <a:ln/>
        </p:spPr>
      </p:sp>
      <p:sp>
        <p:nvSpPr>
          <p:cNvPr id="353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0C857D-577B-467D-BE04-6A0E7E1B938C}" type="slidenum">
              <a:rPr lang="en-US"/>
              <a:pPr/>
              <a:t>30</a:t>
            </a:fld>
            <a:endParaRPr lang="en-US"/>
          </a:p>
        </p:txBody>
      </p:sp>
      <p:sp>
        <p:nvSpPr>
          <p:cNvPr id="354306" name="Rectangle 2"/>
          <p:cNvSpPr>
            <a:spLocks noGrp="1" noRot="1" noChangeAspect="1" noChangeArrowheads="1" noTextEdit="1"/>
          </p:cNvSpPr>
          <p:nvPr>
            <p:ph type="sldImg"/>
          </p:nvPr>
        </p:nvSpPr>
        <p:spPr>
          <a:ln/>
        </p:spPr>
      </p:sp>
      <p:sp>
        <p:nvSpPr>
          <p:cNvPr id="354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5D2FD5-1E1E-479B-856C-0722966C6E4F}" type="slidenum">
              <a:rPr lang="en-US"/>
              <a:pPr/>
              <a:t>31</a:t>
            </a:fld>
            <a:endParaRPr lang="en-US"/>
          </a:p>
        </p:txBody>
      </p:sp>
      <p:sp>
        <p:nvSpPr>
          <p:cNvPr id="355330" name="Rectangle 2"/>
          <p:cNvSpPr>
            <a:spLocks noGrp="1" noRot="1" noChangeAspect="1" noChangeArrowheads="1" noTextEdit="1"/>
          </p:cNvSpPr>
          <p:nvPr>
            <p:ph type="sldImg"/>
          </p:nvPr>
        </p:nvSpPr>
        <p:spPr>
          <a:ln/>
        </p:spPr>
      </p:sp>
      <p:sp>
        <p:nvSpPr>
          <p:cNvPr id="355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2042F77-EB2E-4982-903D-9E9237E8E4C9}" type="slidenum">
              <a:rPr lang="en-US"/>
              <a:pPr/>
              <a:t>32</a:t>
            </a:fld>
            <a:endParaRPr lang="en-US"/>
          </a:p>
        </p:txBody>
      </p:sp>
      <p:sp>
        <p:nvSpPr>
          <p:cNvPr id="356354" name="Rectangle 2"/>
          <p:cNvSpPr>
            <a:spLocks noGrp="1" noRot="1" noChangeAspect="1" noChangeArrowheads="1" noTextEdit="1"/>
          </p:cNvSpPr>
          <p:nvPr>
            <p:ph type="sldImg"/>
          </p:nvPr>
        </p:nvSpPr>
        <p:spPr>
          <a:ln/>
        </p:spPr>
      </p:sp>
      <p:sp>
        <p:nvSpPr>
          <p:cNvPr id="356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2021F1-7607-4D9B-9447-3F1827BE46C6}" type="slidenum">
              <a:rPr lang="en-US"/>
              <a:pPr/>
              <a:t>33</a:t>
            </a:fld>
            <a:endParaRPr lang="en-US"/>
          </a:p>
        </p:txBody>
      </p:sp>
      <p:sp>
        <p:nvSpPr>
          <p:cNvPr id="391170" name="Rectangle 2"/>
          <p:cNvSpPr>
            <a:spLocks noGrp="1" noRot="1" noChangeAspect="1" noChangeArrowheads="1" noTextEdit="1"/>
          </p:cNvSpPr>
          <p:nvPr>
            <p:ph type="sldImg"/>
          </p:nvPr>
        </p:nvSpPr>
        <p:spPr>
          <a:ln/>
        </p:spPr>
      </p:sp>
      <p:sp>
        <p:nvSpPr>
          <p:cNvPr id="3911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74574B-D35F-4DF5-90BB-1F791FC516EA}" type="slidenum">
              <a:rPr lang="en-US"/>
              <a:pPr/>
              <a:t>34</a:t>
            </a:fld>
            <a:endParaRPr lang="en-US"/>
          </a:p>
        </p:txBody>
      </p:sp>
      <p:sp>
        <p:nvSpPr>
          <p:cNvPr id="393218" name="Rectangle 2"/>
          <p:cNvSpPr>
            <a:spLocks noGrp="1" noRot="1" noChangeAspect="1" noChangeArrowheads="1" noTextEdit="1"/>
          </p:cNvSpPr>
          <p:nvPr>
            <p:ph type="sldImg"/>
          </p:nvPr>
        </p:nvSpPr>
        <p:spPr>
          <a:ln/>
        </p:spPr>
      </p:sp>
      <p:sp>
        <p:nvSpPr>
          <p:cNvPr id="3932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85005D-3512-4577-BEE0-6F8283498D63}" type="slidenum">
              <a:rPr lang="en-US"/>
              <a:pPr/>
              <a:t>35</a:t>
            </a:fld>
            <a:endParaRPr lang="en-US"/>
          </a:p>
        </p:txBody>
      </p:sp>
      <p:sp>
        <p:nvSpPr>
          <p:cNvPr id="395266" name="Rectangle 2"/>
          <p:cNvSpPr>
            <a:spLocks noGrp="1" noRot="1" noChangeAspect="1" noChangeArrowheads="1" noTextEdit="1"/>
          </p:cNvSpPr>
          <p:nvPr>
            <p:ph type="sldImg"/>
          </p:nvPr>
        </p:nvSpPr>
        <p:spPr>
          <a:ln/>
        </p:spPr>
      </p:sp>
      <p:sp>
        <p:nvSpPr>
          <p:cNvPr id="395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0CD9DB-42EB-4975-B4B5-7AC8C6510014}" type="slidenum">
              <a:rPr lang="en-US"/>
              <a:pPr/>
              <a:t>36</a:t>
            </a:fld>
            <a:endParaRPr lang="en-US"/>
          </a:p>
        </p:txBody>
      </p:sp>
      <p:sp>
        <p:nvSpPr>
          <p:cNvPr id="380930" name="Rectangle 2"/>
          <p:cNvSpPr>
            <a:spLocks noGrp="1" noRot="1" noChangeAspect="1" noChangeArrowheads="1" noTextEdit="1"/>
          </p:cNvSpPr>
          <p:nvPr>
            <p:ph type="sldImg"/>
          </p:nvPr>
        </p:nvSpPr>
        <p:spPr>
          <a:ln/>
        </p:spPr>
      </p:sp>
      <p:sp>
        <p:nvSpPr>
          <p:cNvPr id="3809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8BF18E-F310-46D4-8A81-37CA98A84649}" type="slidenum">
              <a:rPr lang="en-US"/>
              <a:pPr/>
              <a:t>37</a:t>
            </a:fld>
            <a:endParaRPr lang="en-US"/>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FAA1BA-1663-4CC7-B257-20475DCD761B}" type="slidenum">
              <a:rPr lang="en-US"/>
              <a:pPr/>
              <a:t>38</a:t>
            </a:fld>
            <a:endParaRPr lang="en-US"/>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B8D95F-71DB-419A-B6AA-F557625BEFD5}" type="slidenum">
              <a:rPr lang="en-US"/>
              <a:pPr/>
              <a:t>39</a:t>
            </a:fld>
            <a:endParaRPr lang="en-US"/>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E6BF12-CC05-4F2A-B16F-DCF0A1A1B8BE}" type="slidenum">
              <a:rPr lang="en-US"/>
              <a:pPr/>
              <a:t>40</a:t>
            </a:fld>
            <a:endParaRPr lang="en-US"/>
          </a:p>
        </p:txBody>
      </p:sp>
      <p:sp>
        <p:nvSpPr>
          <p:cNvPr id="377858" name="Rectangle 2"/>
          <p:cNvSpPr>
            <a:spLocks noGrp="1" noRot="1" noChangeAspect="1" noChangeArrowheads="1" noTextEdit="1"/>
          </p:cNvSpPr>
          <p:nvPr>
            <p:ph type="sldImg"/>
          </p:nvPr>
        </p:nvSpPr>
        <p:spPr>
          <a:ln/>
        </p:spPr>
      </p:sp>
      <p:sp>
        <p:nvSpPr>
          <p:cNvPr id="377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28D40F-49EF-4EF2-9213-AEB987D37B50}" type="slidenum">
              <a:rPr lang="en-US"/>
              <a:pPr/>
              <a:t>41</a:t>
            </a:fld>
            <a:endParaRPr lang="en-US"/>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F52DC1-124A-4AB8-88CC-E5E5F88F42F4}" type="slidenum">
              <a:rPr lang="en-US"/>
              <a:pPr/>
              <a:t>42</a:t>
            </a:fld>
            <a:endParaRPr lang="en-US"/>
          </a:p>
        </p:txBody>
      </p:sp>
      <p:sp>
        <p:nvSpPr>
          <p:cNvPr id="387074" name="Rectangle 2"/>
          <p:cNvSpPr>
            <a:spLocks noGrp="1" noRot="1" noChangeAspect="1" noChangeArrowheads="1" noTextEdit="1"/>
          </p:cNvSpPr>
          <p:nvPr>
            <p:ph type="sldImg"/>
          </p:nvPr>
        </p:nvSpPr>
        <p:spPr>
          <a:ln/>
        </p:spPr>
      </p:sp>
      <p:sp>
        <p:nvSpPr>
          <p:cNvPr id="38707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6246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2467"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en-US" noProof="0"/>
              <a:t>Click to edit Master title style</a:t>
            </a:r>
          </a:p>
        </p:txBody>
      </p:sp>
      <p:sp>
        <p:nvSpPr>
          <p:cNvPr id="62468"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en-US" altLang="en-US" noProof="0"/>
              <a:t>Click to edit Master subtitle style</a:t>
            </a:r>
          </a:p>
        </p:txBody>
      </p:sp>
      <p:sp>
        <p:nvSpPr>
          <p:cNvPr id="62469" name="Rectangle 5"/>
          <p:cNvSpPr>
            <a:spLocks noGrp="1" noChangeArrowheads="1"/>
          </p:cNvSpPr>
          <p:nvPr>
            <p:ph type="dt" sz="half" idx="2"/>
          </p:nvPr>
        </p:nvSpPr>
        <p:spPr/>
        <p:txBody>
          <a:bodyPr/>
          <a:lstStyle>
            <a:lvl1pPr>
              <a:defRPr/>
            </a:lvl1pPr>
          </a:lstStyle>
          <a:p>
            <a:endParaRPr lang="en-US" altLang="en-US"/>
          </a:p>
        </p:txBody>
      </p:sp>
      <p:sp>
        <p:nvSpPr>
          <p:cNvPr id="62470" name="Rectangle 6"/>
          <p:cNvSpPr>
            <a:spLocks noGrp="1" noChangeArrowheads="1"/>
          </p:cNvSpPr>
          <p:nvPr>
            <p:ph type="ftr" sz="quarter" idx="3"/>
          </p:nvPr>
        </p:nvSpPr>
        <p:spPr/>
        <p:txBody>
          <a:bodyPr/>
          <a:lstStyle>
            <a:lvl1pPr>
              <a:defRPr/>
            </a:lvl1pPr>
          </a:lstStyle>
          <a:p>
            <a:endParaRPr lang="en-US" altLang="en-US"/>
          </a:p>
        </p:txBody>
      </p:sp>
      <p:sp>
        <p:nvSpPr>
          <p:cNvPr id="62471" name="Rectangle 7"/>
          <p:cNvSpPr>
            <a:spLocks noGrp="1" noChangeArrowheads="1"/>
          </p:cNvSpPr>
          <p:nvPr>
            <p:ph type="sldNum" sz="quarter" idx="4"/>
          </p:nvPr>
        </p:nvSpPr>
        <p:spPr/>
        <p:txBody>
          <a:bodyPr/>
          <a:lstStyle>
            <a:lvl1pPr>
              <a:defRPr/>
            </a:lvl1pPr>
          </a:lstStyle>
          <a:p>
            <a:fld id="{8C168290-CC85-410A-9D64-AFA3A7670875}" type="slidenum">
              <a:rPr lang="en-US" altLang="en-US"/>
              <a:pPr/>
              <a:t>‹#›</a:t>
            </a:fld>
            <a:endParaRPr lang="en-US" altLang="en-US"/>
          </a:p>
        </p:txBody>
      </p:sp>
      <p:grpSp>
        <p:nvGrpSpPr>
          <p:cNvPr id="62472" name="Group 8"/>
          <p:cNvGrpSpPr>
            <a:grpSpLocks/>
          </p:cNvGrpSpPr>
          <p:nvPr/>
        </p:nvGrpSpPr>
        <p:grpSpPr bwMode="auto">
          <a:xfrm>
            <a:off x="7493000" y="2992438"/>
            <a:ext cx="1338263" cy="2189162"/>
            <a:chOff x="4704" y="1885"/>
            <a:chExt cx="843" cy="1379"/>
          </a:xfrm>
        </p:grpSpPr>
        <p:sp>
          <p:nvSpPr>
            <p:cNvPr id="6247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7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8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49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250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6250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73D2BF07-F13C-46F5-8B0A-12D4F68096E4}" type="slidenum">
              <a:rPr lang="en-US" altLang="en-US"/>
              <a:pPr/>
              <a:t>‹#›</a:t>
            </a:fld>
            <a:endParaRPr lang="en-US" altLang="en-US"/>
          </a:p>
        </p:txBody>
      </p:sp>
    </p:spTree>
    <p:extLst>
      <p:ext uri="{BB962C8B-B14F-4D97-AF65-F5344CB8AC3E}">
        <p14:creationId xmlns:p14="http://schemas.microsoft.com/office/powerpoint/2010/main" val="3880684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AAFC68CE-D190-4B2A-8DCD-9D53657BC203}" type="slidenum">
              <a:rPr lang="en-US" altLang="en-US"/>
              <a:pPr/>
              <a:t>‹#›</a:t>
            </a:fld>
            <a:endParaRPr lang="en-US" altLang="en-US"/>
          </a:p>
        </p:txBody>
      </p:sp>
    </p:spTree>
    <p:extLst>
      <p:ext uri="{BB962C8B-B14F-4D97-AF65-F5344CB8AC3E}">
        <p14:creationId xmlns:p14="http://schemas.microsoft.com/office/powerpoint/2010/main" val="567359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CF30C264-AD47-44EC-A762-58051049AC7D}" type="slidenum">
              <a:rPr lang="en-US" altLang="en-US"/>
              <a:pPr/>
              <a:t>‹#›</a:t>
            </a:fld>
            <a:endParaRPr lang="en-US" altLang="en-US"/>
          </a:p>
        </p:txBody>
      </p:sp>
    </p:spTree>
    <p:extLst>
      <p:ext uri="{BB962C8B-B14F-4D97-AF65-F5344CB8AC3E}">
        <p14:creationId xmlns:p14="http://schemas.microsoft.com/office/powerpoint/2010/main" val="4249621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039AEA44-5DF5-439C-A85D-44176A514FBA}" type="slidenum">
              <a:rPr lang="en-US" altLang="en-US"/>
              <a:pPr/>
              <a:t>‹#›</a:t>
            </a:fld>
            <a:endParaRPr lang="en-US" altLang="en-US"/>
          </a:p>
        </p:txBody>
      </p:sp>
    </p:spTree>
    <p:extLst>
      <p:ext uri="{BB962C8B-B14F-4D97-AF65-F5344CB8AC3E}">
        <p14:creationId xmlns:p14="http://schemas.microsoft.com/office/powerpoint/2010/main" val="3256085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CA3F8A93-30D1-47F8-B040-060E421E2EB6}" type="slidenum">
              <a:rPr lang="en-US" altLang="en-US"/>
              <a:pPr/>
              <a:t>‹#›</a:t>
            </a:fld>
            <a:endParaRPr lang="en-US" altLang="en-US"/>
          </a:p>
        </p:txBody>
      </p:sp>
    </p:spTree>
    <p:extLst>
      <p:ext uri="{BB962C8B-B14F-4D97-AF65-F5344CB8AC3E}">
        <p14:creationId xmlns:p14="http://schemas.microsoft.com/office/powerpoint/2010/main" val="3081491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E7D1F14D-1D15-411F-B97F-5D20A63598A9}" type="slidenum">
              <a:rPr lang="en-US" altLang="en-US"/>
              <a:pPr/>
              <a:t>‹#›</a:t>
            </a:fld>
            <a:endParaRPr lang="en-US" altLang="en-US"/>
          </a:p>
        </p:txBody>
      </p:sp>
    </p:spTree>
    <p:extLst>
      <p:ext uri="{BB962C8B-B14F-4D97-AF65-F5344CB8AC3E}">
        <p14:creationId xmlns:p14="http://schemas.microsoft.com/office/powerpoint/2010/main" val="2995337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6880C8A9-6A04-4AA0-930F-2FF92E1EEC5F}" type="slidenum">
              <a:rPr lang="en-US" altLang="en-US"/>
              <a:pPr/>
              <a:t>‹#›</a:t>
            </a:fld>
            <a:endParaRPr lang="en-US" altLang="en-US"/>
          </a:p>
        </p:txBody>
      </p:sp>
    </p:spTree>
    <p:extLst>
      <p:ext uri="{BB962C8B-B14F-4D97-AF65-F5344CB8AC3E}">
        <p14:creationId xmlns:p14="http://schemas.microsoft.com/office/powerpoint/2010/main" val="3989677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FF782D8C-AEC8-4830-8E44-40F46DB9D1DE}" type="slidenum">
              <a:rPr lang="en-US" altLang="en-US"/>
              <a:pPr/>
              <a:t>‹#›</a:t>
            </a:fld>
            <a:endParaRPr lang="en-US" altLang="en-US"/>
          </a:p>
        </p:txBody>
      </p:sp>
    </p:spTree>
    <p:extLst>
      <p:ext uri="{BB962C8B-B14F-4D97-AF65-F5344CB8AC3E}">
        <p14:creationId xmlns:p14="http://schemas.microsoft.com/office/powerpoint/2010/main" val="4029072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1570175B-2589-4DD6-92E9-74FC4BAF4488}" type="slidenum">
              <a:rPr lang="en-US" altLang="en-US"/>
              <a:pPr/>
              <a:t>‹#›</a:t>
            </a:fld>
            <a:endParaRPr lang="en-US" altLang="en-US"/>
          </a:p>
        </p:txBody>
      </p:sp>
    </p:spTree>
    <p:extLst>
      <p:ext uri="{BB962C8B-B14F-4D97-AF65-F5344CB8AC3E}">
        <p14:creationId xmlns:p14="http://schemas.microsoft.com/office/powerpoint/2010/main" val="1232832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C4C71AC5-800C-461A-9741-B46151D3A8A4}" type="slidenum">
              <a:rPr lang="en-US" altLang="en-US"/>
              <a:pPr/>
              <a:t>‹#›</a:t>
            </a:fld>
            <a:endParaRPr lang="en-US" altLang="en-US"/>
          </a:p>
        </p:txBody>
      </p:sp>
    </p:spTree>
    <p:extLst>
      <p:ext uri="{BB962C8B-B14F-4D97-AF65-F5344CB8AC3E}">
        <p14:creationId xmlns:p14="http://schemas.microsoft.com/office/powerpoint/2010/main" val="401918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443" name="Rectangle 3"/>
          <p:cNvSpPr>
            <a:spLocks noGrp="1" noChangeArrowheads="1"/>
          </p:cNvSpPr>
          <p:nvPr>
            <p:ph type="title"/>
          </p:nvPr>
        </p:nvSpPr>
        <p:spPr bwMode="auto">
          <a:xfrm>
            <a:off x="457200" y="122238"/>
            <a:ext cx="7543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61444" name="Rectangle 4"/>
          <p:cNvSpPr>
            <a:spLocks noGrp="1" noChangeArrowheads="1"/>
          </p:cNvSpPr>
          <p:nvPr>
            <p:ph type="body" idx="1"/>
          </p:nvPr>
        </p:nvSpPr>
        <p:spPr bwMode="auto">
          <a:xfrm>
            <a:off x="457200" y="1719263"/>
            <a:ext cx="8229600"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61445" name="Rectangle 5"/>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000"/>
            </a:lvl1pPr>
          </a:lstStyle>
          <a:p>
            <a:endParaRPr lang="en-US" altLang="en-US"/>
          </a:p>
        </p:txBody>
      </p:sp>
      <p:sp>
        <p:nvSpPr>
          <p:cNvPr id="61446" name="Rectangle 6"/>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000"/>
            </a:lvl1pPr>
          </a:lstStyle>
          <a:p>
            <a:endParaRPr lang="en-US" altLang="en-US"/>
          </a:p>
        </p:txBody>
      </p:sp>
      <p:sp>
        <p:nvSpPr>
          <p:cNvPr id="61447" name="Rectangle 7"/>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000"/>
            </a:lvl1pPr>
          </a:lstStyle>
          <a:p>
            <a:fld id="{7824F1DE-C79F-4D47-9CB4-EAF135989DB7}" type="slidenum">
              <a:rPr lang="en-US" altLang="en-US"/>
              <a:pPr/>
              <a:t>‹#›</a:t>
            </a:fld>
            <a:endParaRPr lang="en-US" altLang="en-US"/>
          </a:p>
        </p:txBody>
      </p:sp>
      <p:grpSp>
        <p:nvGrpSpPr>
          <p:cNvPr id="61448" name="Group 8"/>
          <p:cNvGrpSpPr>
            <a:grpSpLocks/>
          </p:cNvGrpSpPr>
          <p:nvPr/>
        </p:nvGrpSpPr>
        <p:grpSpPr bwMode="auto">
          <a:xfrm>
            <a:off x="8153400" y="152400"/>
            <a:ext cx="792163" cy="1295400"/>
            <a:chOff x="5136" y="960"/>
            <a:chExt cx="528" cy="864"/>
          </a:xfrm>
        </p:grpSpPr>
        <p:sp>
          <p:nvSpPr>
            <p:cNvPr id="6144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5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6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7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rtl="0" fontAlgn="base">
        <a:spcBef>
          <a:spcPct val="0"/>
        </a:spcBef>
        <a:spcAft>
          <a:spcPct val="0"/>
        </a:spcAft>
        <a:defRPr sz="3900" b="1">
          <a:solidFill>
            <a:schemeClr val="tx2"/>
          </a:solidFill>
          <a:latin typeface="+mj-lt"/>
          <a:ea typeface="+mj-ea"/>
          <a:cs typeface="+mj-cs"/>
        </a:defRPr>
      </a:lvl1pPr>
      <a:lvl2pPr algn="l" rtl="0" fontAlgn="base">
        <a:spcBef>
          <a:spcPct val="0"/>
        </a:spcBef>
        <a:spcAft>
          <a:spcPct val="0"/>
        </a:spcAft>
        <a:defRPr sz="3900" b="1">
          <a:solidFill>
            <a:schemeClr val="tx2"/>
          </a:solidFill>
          <a:latin typeface="Arial" charset="0"/>
        </a:defRPr>
      </a:lvl2pPr>
      <a:lvl3pPr algn="l" rtl="0" fontAlgn="base">
        <a:spcBef>
          <a:spcPct val="0"/>
        </a:spcBef>
        <a:spcAft>
          <a:spcPct val="0"/>
        </a:spcAft>
        <a:defRPr sz="3900" b="1">
          <a:solidFill>
            <a:schemeClr val="tx2"/>
          </a:solidFill>
          <a:latin typeface="Arial" charset="0"/>
        </a:defRPr>
      </a:lvl3pPr>
      <a:lvl4pPr algn="l" rtl="0" fontAlgn="base">
        <a:spcBef>
          <a:spcPct val="0"/>
        </a:spcBef>
        <a:spcAft>
          <a:spcPct val="0"/>
        </a:spcAft>
        <a:defRPr sz="3900" b="1">
          <a:solidFill>
            <a:schemeClr val="tx2"/>
          </a:solidFill>
          <a:latin typeface="Arial" charset="0"/>
        </a:defRPr>
      </a:lvl4pPr>
      <a:lvl5pPr algn="l" rtl="0" fontAlgn="base">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fontAlgn="base">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fontAlgn="base">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fontAlgn="base">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fontAlgn="base">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r>
              <a:rPr lang="en-US"/>
              <a:t>Lecture #8</a:t>
            </a:r>
          </a:p>
        </p:txBody>
      </p:sp>
      <p:sp>
        <p:nvSpPr>
          <p:cNvPr id="2051" name="Rectangle 3"/>
          <p:cNvSpPr>
            <a:spLocks noGrp="1" noChangeArrowheads="1"/>
          </p:cNvSpPr>
          <p:nvPr>
            <p:ph type="subTitle" idx="1"/>
          </p:nvPr>
        </p:nvSpPr>
        <p:spPr/>
        <p:txBody>
          <a:bodyPr/>
          <a:lstStyle/>
          <a:p>
            <a:r>
              <a:rPr lang="en-US" b="1"/>
              <a:t>Dimensionality Reduction</a:t>
            </a:r>
            <a:endParaRPr lang="en-US"/>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457200" y="122238"/>
            <a:ext cx="7543800" cy="1020762"/>
          </a:xfrm>
        </p:spPr>
        <p:txBody>
          <a:bodyPr/>
          <a:lstStyle/>
          <a:p>
            <a:r>
              <a:rPr lang="en-US"/>
              <a:t>Outline</a:t>
            </a:r>
          </a:p>
        </p:txBody>
      </p:sp>
      <p:sp>
        <p:nvSpPr>
          <p:cNvPr id="63491" name="Rectangle 3"/>
          <p:cNvSpPr>
            <a:spLocks noGrp="1" noChangeArrowheads="1"/>
          </p:cNvSpPr>
          <p:nvPr>
            <p:ph type="body" idx="1"/>
          </p:nvPr>
        </p:nvSpPr>
        <p:spPr>
          <a:xfrm>
            <a:off x="457200" y="1295400"/>
            <a:ext cx="8229600" cy="4757738"/>
          </a:xfrm>
        </p:spPr>
        <p:txBody>
          <a:bodyPr/>
          <a:lstStyle/>
          <a:p>
            <a:pPr>
              <a:lnSpc>
                <a:spcPct val="80000"/>
              </a:lnSpc>
            </a:pPr>
            <a:r>
              <a:rPr lang="en-US" sz="2200" dirty="0"/>
              <a:t>Purpose</a:t>
            </a:r>
          </a:p>
          <a:p>
            <a:pPr>
              <a:lnSpc>
                <a:spcPct val="80000"/>
              </a:lnSpc>
            </a:pPr>
            <a:r>
              <a:rPr lang="en-US" sz="2200" dirty="0"/>
              <a:t>Methods</a:t>
            </a:r>
          </a:p>
          <a:p>
            <a:pPr lvl="1">
              <a:lnSpc>
                <a:spcPct val="80000"/>
              </a:lnSpc>
            </a:pPr>
            <a:r>
              <a:rPr lang="en-US" sz="2000" dirty="0"/>
              <a:t>Linear</a:t>
            </a:r>
          </a:p>
          <a:p>
            <a:pPr lvl="2">
              <a:lnSpc>
                <a:spcPct val="80000"/>
              </a:lnSpc>
            </a:pPr>
            <a:r>
              <a:rPr lang="en-US" sz="1900" dirty="0"/>
              <a:t>Principal components analysis (PCA)</a:t>
            </a:r>
          </a:p>
          <a:p>
            <a:pPr lvl="2">
              <a:lnSpc>
                <a:spcPct val="80000"/>
              </a:lnSpc>
            </a:pPr>
            <a:r>
              <a:rPr lang="en-US" sz="1900" dirty="0"/>
              <a:t>Partial least squares regression (PLS)</a:t>
            </a:r>
          </a:p>
          <a:p>
            <a:pPr lvl="2">
              <a:lnSpc>
                <a:spcPct val="80000"/>
              </a:lnSpc>
            </a:pPr>
            <a:r>
              <a:rPr lang="en-US" sz="1900" dirty="0"/>
              <a:t>Multidimensional scaling (MDS)</a:t>
            </a:r>
          </a:p>
          <a:p>
            <a:pPr lvl="3">
              <a:lnSpc>
                <a:spcPct val="80000"/>
              </a:lnSpc>
            </a:pPr>
            <a:r>
              <a:rPr lang="en-US" sz="1600" dirty="0"/>
              <a:t>Non-metric</a:t>
            </a:r>
          </a:p>
          <a:p>
            <a:pPr lvl="3">
              <a:lnSpc>
                <a:spcPct val="80000"/>
              </a:lnSpc>
            </a:pPr>
            <a:r>
              <a:rPr lang="en-US" sz="1600" dirty="0"/>
              <a:t>Metric (classical)</a:t>
            </a:r>
          </a:p>
          <a:p>
            <a:pPr lvl="1">
              <a:lnSpc>
                <a:spcPct val="80000"/>
              </a:lnSpc>
            </a:pPr>
            <a:r>
              <a:rPr lang="en-US" sz="2000" dirty="0"/>
              <a:t>Nonlinear</a:t>
            </a:r>
          </a:p>
          <a:p>
            <a:pPr lvl="2">
              <a:lnSpc>
                <a:spcPct val="80000"/>
              </a:lnSpc>
            </a:pPr>
            <a:r>
              <a:rPr lang="en-US" sz="1900" dirty="0"/>
              <a:t>Kernel PCA</a:t>
            </a:r>
          </a:p>
          <a:p>
            <a:pPr lvl="2">
              <a:lnSpc>
                <a:spcPct val="80000"/>
              </a:lnSpc>
            </a:pPr>
            <a:r>
              <a:rPr lang="en-US" sz="1900" dirty="0"/>
              <a:t>The weighted graph Laplacian (spectral method)</a:t>
            </a:r>
          </a:p>
          <a:p>
            <a:pPr lvl="2">
              <a:lnSpc>
                <a:spcPct val="80000"/>
              </a:lnSpc>
            </a:pPr>
            <a:r>
              <a:rPr lang="en-US" sz="1900" dirty="0"/>
              <a:t>Isometric feature mapping (ISOMAP)</a:t>
            </a:r>
          </a:p>
          <a:p>
            <a:pPr>
              <a:lnSpc>
                <a:spcPct val="80000"/>
              </a:lnSpc>
            </a:pPr>
            <a:r>
              <a:rPr lang="en-US" sz="2200" dirty="0"/>
              <a:t>Which method to use?</a:t>
            </a:r>
          </a:p>
          <a:p>
            <a:pPr lvl="1">
              <a:lnSpc>
                <a:spcPct val="80000"/>
              </a:lnSpc>
            </a:pPr>
            <a:r>
              <a:rPr lang="en-US" sz="2000" dirty="0"/>
              <a:t>Nonlinear example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a:xfrm>
            <a:off x="457200" y="381000"/>
            <a:ext cx="7543800" cy="731838"/>
          </a:xfrm>
        </p:spPr>
        <p:txBody>
          <a:bodyPr>
            <a:normAutofit fontScale="90000"/>
          </a:bodyPr>
          <a:lstStyle/>
          <a:p>
            <a:r>
              <a:rPr lang="en-US" sz="3500" dirty="0"/>
              <a:t>Dimensionality in transcriptomic data</a:t>
            </a:r>
          </a:p>
        </p:txBody>
      </p:sp>
      <p:sp>
        <p:nvSpPr>
          <p:cNvPr id="258051" name="Rectangle 3"/>
          <p:cNvSpPr>
            <a:spLocks noGrp="1" noChangeArrowheads="1"/>
          </p:cNvSpPr>
          <p:nvPr>
            <p:ph type="body" idx="1"/>
          </p:nvPr>
        </p:nvSpPr>
        <p:spPr>
          <a:xfrm>
            <a:off x="304800" y="1447800"/>
            <a:ext cx="8229600" cy="5181600"/>
          </a:xfrm>
        </p:spPr>
        <p:txBody>
          <a:bodyPr>
            <a:normAutofit lnSpcReduction="10000"/>
          </a:bodyPr>
          <a:lstStyle/>
          <a:p>
            <a:pPr>
              <a:lnSpc>
                <a:spcPct val="90000"/>
              </a:lnSpc>
            </a:pPr>
            <a:r>
              <a:rPr lang="en-US" sz="2400" dirty="0"/>
              <a:t>Transcriptomic data most often has a format that includes </a:t>
            </a:r>
            <a:r>
              <a:rPr lang="en-US" sz="2400" i="1" dirty="0"/>
              <a:t>n</a:t>
            </a:r>
            <a:r>
              <a:rPr lang="en-US" sz="2400" dirty="0"/>
              <a:t> genes by </a:t>
            </a:r>
            <a:r>
              <a:rPr lang="en-US" sz="2400" i="1" dirty="0"/>
              <a:t>s </a:t>
            </a:r>
            <a:r>
              <a:rPr lang="en-US" sz="2400" dirty="0"/>
              <a:t>samples, where </a:t>
            </a:r>
            <a:r>
              <a:rPr lang="en-US" sz="2400" i="1" dirty="0"/>
              <a:t>n</a:t>
            </a:r>
            <a:r>
              <a:rPr lang="en-US" sz="2400" dirty="0"/>
              <a:t> &gt;&gt; </a:t>
            </a:r>
            <a:r>
              <a:rPr lang="en-US" sz="2400" i="1" dirty="0"/>
              <a:t>s</a:t>
            </a:r>
            <a:endParaRPr lang="en-US" sz="2400" dirty="0"/>
          </a:p>
          <a:p>
            <a:pPr lvl="1">
              <a:lnSpc>
                <a:spcPct val="90000"/>
              </a:lnSpc>
            </a:pPr>
            <a:r>
              <a:rPr lang="en-US" sz="2000" dirty="0"/>
              <a:t>Curse of dimensionality: an estimator converges to the true value of a function defined on a high dimensional space very slowly</a:t>
            </a:r>
          </a:p>
          <a:p>
            <a:pPr lvl="1">
              <a:lnSpc>
                <a:spcPct val="90000"/>
              </a:lnSpc>
            </a:pPr>
            <a:r>
              <a:rPr lang="en-US" sz="2000" dirty="0"/>
              <a:t>In other terms: We require many observations to get an accurate estimate of the variables that we are measuring</a:t>
            </a:r>
          </a:p>
          <a:p>
            <a:pPr lvl="1">
              <a:lnSpc>
                <a:spcPct val="90000"/>
              </a:lnSpc>
            </a:pPr>
            <a:endParaRPr lang="en-US" sz="2000" dirty="0"/>
          </a:p>
          <a:p>
            <a:pPr>
              <a:lnSpc>
                <a:spcPct val="90000"/>
              </a:lnSpc>
            </a:pPr>
            <a:r>
              <a:rPr lang="en-US" sz="2400" dirty="0"/>
              <a:t>With so many variables, it is often difficult to see patterns that may exist in the data</a:t>
            </a:r>
          </a:p>
          <a:p>
            <a:pPr>
              <a:lnSpc>
                <a:spcPct val="90000"/>
              </a:lnSpc>
            </a:pPr>
            <a:endParaRPr lang="en-US" sz="2400" dirty="0"/>
          </a:p>
          <a:p>
            <a:pPr>
              <a:lnSpc>
                <a:spcPct val="90000"/>
              </a:lnSpc>
            </a:pPr>
            <a:r>
              <a:rPr lang="en-US" sz="2400" dirty="0"/>
              <a:t>Dimensionality reduction techniques “attempt to examine the underlying patterns or relationships for a large number of variables and determine whether the information can be better summarized in a few factors or components.”</a:t>
            </a:r>
          </a:p>
          <a:p>
            <a:pPr lvl="1">
              <a:lnSpc>
                <a:spcPct val="90000"/>
              </a:lnSpc>
            </a:pPr>
            <a:r>
              <a:rPr lang="en-US" sz="2100" dirty="0"/>
              <a:t>i.e. Latent variables, Components, Factors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a:xfrm>
            <a:off x="457200" y="122238"/>
            <a:ext cx="7543800" cy="792162"/>
          </a:xfrm>
        </p:spPr>
        <p:txBody>
          <a:bodyPr/>
          <a:lstStyle/>
          <a:p>
            <a:r>
              <a:rPr lang="en-US"/>
              <a:t>Only top 6 genes</a:t>
            </a:r>
          </a:p>
        </p:txBody>
      </p:sp>
      <p:pic>
        <p:nvPicPr>
          <p:cNvPr id="274437"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81000" y="1009650"/>
            <a:ext cx="6248400" cy="5848350"/>
          </a:xfrm>
          <a:noFill/>
          <a:ln/>
        </p:spPr>
      </p:pic>
      <p:sp>
        <p:nvSpPr>
          <p:cNvPr id="274439" name="Text Box 7"/>
          <p:cNvSpPr txBox="1">
            <a:spLocks noChangeArrowheads="1"/>
          </p:cNvSpPr>
          <p:nvPr/>
        </p:nvSpPr>
        <p:spPr bwMode="auto">
          <a:xfrm>
            <a:off x="6705600" y="2590800"/>
            <a:ext cx="21336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Can only visualize so many genes or gene interactions in 2 dimensions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57200" y="122238"/>
            <a:ext cx="7543800" cy="792162"/>
          </a:xfrm>
        </p:spPr>
        <p:txBody>
          <a:bodyPr/>
          <a:lstStyle/>
          <a:p>
            <a:r>
              <a:rPr lang="en-US" sz="3500"/>
              <a:t>First 2 components in PCA space</a:t>
            </a:r>
          </a:p>
        </p:txBody>
      </p:sp>
      <p:sp>
        <p:nvSpPr>
          <p:cNvPr id="276490" name="Text Box 10"/>
          <p:cNvSpPr txBox="1">
            <a:spLocks noChangeArrowheads="1"/>
          </p:cNvSpPr>
          <p:nvPr/>
        </p:nvSpPr>
        <p:spPr bwMode="auto">
          <a:xfrm>
            <a:off x="6705600" y="2590800"/>
            <a:ext cx="22860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dirty="0"/>
              <a:t>With dimensionality reduction, you can see gross patterns between samples in 2-dimensions</a:t>
            </a:r>
          </a:p>
        </p:txBody>
      </p:sp>
      <p:pic>
        <p:nvPicPr>
          <p:cNvPr id="276494"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0047" y="1447800"/>
            <a:ext cx="5029200" cy="5021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457200" y="228600"/>
            <a:ext cx="7543800" cy="1066800"/>
          </a:xfrm>
        </p:spPr>
        <p:txBody>
          <a:bodyPr/>
          <a:lstStyle/>
          <a:p>
            <a:r>
              <a:rPr lang="en-US" sz="3500" dirty="0"/>
              <a:t>Principal components analysis (PCA)</a:t>
            </a:r>
          </a:p>
        </p:txBody>
      </p:sp>
      <p:sp>
        <p:nvSpPr>
          <p:cNvPr id="278531" name="Rectangle 3"/>
          <p:cNvSpPr>
            <a:spLocks noGrp="1" noChangeArrowheads="1"/>
          </p:cNvSpPr>
          <p:nvPr>
            <p:ph type="body" idx="1"/>
          </p:nvPr>
        </p:nvSpPr>
        <p:spPr>
          <a:xfrm>
            <a:off x="457200" y="1524000"/>
            <a:ext cx="8229600" cy="5181600"/>
          </a:xfrm>
        </p:spPr>
        <p:txBody>
          <a:bodyPr/>
          <a:lstStyle/>
          <a:p>
            <a:pPr>
              <a:lnSpc>
                <a:spcPct val="80000"/>
              </a:lnSpc>
            </a:pPr>
            <a:r>
              <a:rPr lang="en-US" sz="1900" dirty="0"/>
              <a:t>One of the most utilized methods to view transcriptomic data today</a:t>
            </a:r>
          </a:p>
          <a:p>
            <a:pPr lvl="1">
              <a:lnSpc>
                <a:spcPct val="80000"/>
              </a:lnSpc>
            </a:pPr>
            <a:endParaRPr lang="en-US" sz="1800" dirty="0"/>
          </a:p>
          <a:p>
            <a:pPr>
              <a:lnSpc>
                <a:spcPct val="80000"/>
              </a:lnSpc>
            </a:pPr>
            <a:r>
              <a:rPr lang="en-US" sz="1900" dirty="0"/>
              <a:t>Principal components</a:t>
            </a:r>
          </a:p>
          <a:p>
            <a:pPr lvl="1">
              <a:lnSpc>
                <a:spcPct val="80000"/>
              </a:lnSpc>
            </a:pPr>
            <a:r>
              <a:rPr lang="en-US" sz="1800" dirty="0"/>
              <a:t>Linear combinations of the original variables chosen such that the first principal component explains the largest variance of any linear combinations, the second explains the next largest variance, which is uncorrelated with the first, and so on</a:t>
            </a:r>
          </a:p>
          <a:p>
            <a:pPr lvl="1">
              <a:lnSpc>
                <a:spcPct val="80000"/>
              </a:lnSpc>
            </a:pPr>
            <a:endParaRPr lang="en-US" sz="1800" dirty="0"/>
          </a:p>
          <a:p>
            <a:pPr>
              <a:lnSpc>
                <a:spcPct val="80000"/>
              </a:lnSpc>
            </a:pPr>
            <a:r>
              <a:rPr lang="en-US" sz="1900" dirty="0"/>
              <a:t>What is a linear combination?</a:t>
            </a:r>
          </a:p>
          <a:p>
            <a:pPr lvl="1">
              <a:lnSpc>
                <a:spcPct val="80000"/>
              </a:lnSpc>
            </a:pPr>
            <a:r>
              <a:rPr lang="en-US" sz="1800" dirty="0"/>
              <a:t>A linear equation of coefficients, such that each gene/sample is weighted according to its contribution to the sum</a:t>
            </a:r>
          </a:p>
          <a:p>
            <a:pPr lvl="1">
              <a:lnSpc>
                <a:spcPct val="80000"/>
              </a:lnSpc>
            </a:pPr>
            <a:r>
              <a:rPr lang="en-US" sz="1800" dirty="0"/>
              <a:t>y = x</a:t>
            </a:r>
            <a:r>
              <a:rPr lang="en-US" sz="1800" baseline="-25000" dirty="0"/>
              <a:t>1</a:t>
            </a:r>
            <a:r>
              <a:rPr lang="en-US" sz="1800" dirty="0"/>
              <a:t>c</a:t>
            </a:r>
            <a:r>
              <a:rPr lang="en-US" sz="1800" baseline="-25000" dirty="0"/>
              <a:t>1</a:t>
            </a:r>
            <a:r>
              <a:rPr lang="en-US" sz="1800" dirty="0"/>
              <a:t> + x</a:t>
            </a:r>
            <a:r>
              <a:rPr lang="en-US" sz="1800" baseline="-25000" dirty="0"/>
              <a:t>2</a:t>
            </a:r>
            <a:r>
              <a:rPr lang="en-US" sz="1800" dirty="0"/>
              <a:t> c</a:t>
            </a:r>
            <a:r>
              <a:rPr lang="en-US" sz="1800" baseline="-25000" dirty="0"/>
              <a:t>2</a:t>
            </a:r>
            <a:r>
              <a:rPr lang="en-US" sz="1800" dirty="0"/>
              <a:t> - x</a:t>
            </a:r>
            <a:r>
              <a:rPr lang="en-US" sz="1800" baseline="-25000" dirty="0"/>
              <a:t>3</a:t>
            </a:r>
            <a:r>
              <a:rPr lang="en-US" sz="1800" dirty="0"/>
              <a:t>c</a:t>
            </a:r>
            <a:r>
              <a:rPr lang="en-US" sz="1800" baseline="-25000" dirty="0"/>
              <a:t>3</a:t>
            </a:r>
            <a:r>
              <a:rPr lang="en-US" sz="1800" dirty="0"/>
              <a:t> + x</a:t>
            </a:r>
            <a:r>
              <a:rPr lang="en-US" sz="1800" baseline="-25000" dirty="0"/>
              <a:t>4</a:t>
            </a:r>
            <a:r>
              <a:rPr lang="en-US" sz="1800" dirty="0"/>
              <a:t>c</a:t>
            </a:r>
            <a:r>
              <a:rPr lang="en-US" sz="1800" baseline="-25000" dirty="0"/>
              <a:t>4 </a:t>
            </a:r>
            <a:r>
              <a:rPr lang="en-US" sz="1800" dirty="0"/>
              <a:t>… </a:t>
            </a:r>
          </a:p>
          <a:p>
            <a:pPr lvl="1">
              <a:lnSpc>
                <a:spcPct val="80000"/>
              </a:lnSpc>
            </a:pPr>
            <a:endParaRPr lang="en-US" sz="1800" dirty="0"/>
          </a:p>
          <a:p>
            <a:pPr>
              <a:lnSpc>
                <a:spcPct val="80000"/>
              </a:lnSpc>
            </a:pPr>
            <a:r>
              <a:rPr lang="en-US" sz="1900" dirty="0"/>
              <a:t>Why should one calculate linear combinations instead of using the actual variables?</a:t>
            </a:r>
          </a:p>
          <a:p>
            <a:pPr lvl="1">
              <a:lnSpc>
                <a:spcPct val="80000"/>
              </a:lnSpc>
            </a:pPr>
            <a:r>
              <a:rPr lang="en-US" sz="1800" dirty="0"/>
              <a:t>Need to reduce the dimensionality, while maintaining the inherent structure</a:t>
            </a:r>
          </a:p>
          <a:p>
            <a:pPr lvl="1">
              <a:lnSpc>
                <a:spcPct val="80000"/>
              </a:lnSpc>
            </a:pPr>
            <a:r>
              <a:rPr lang="en-US" sz="1800" dirty="0"/>
              <a:t>The data might not have been measured in the most appropriate units, so linear combinations of the original variables give more suitable units</a:t>
            </a:r>
          </a:p>
          <a:p>
            <a:pPr>
              <a:lnSpc>
                <a:spcPct val="80000"/>
              </a:lnSpc>
            </a:pP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457200" y="411163"/>
            <a:ext cx="7543800" cy="731837"/>
          </a:xfrm>
        </p:spPr>
        <p:txBody>
          <a:bodyPr/>
          <a:lstStyle/>
          <a:p>
            <a:r>
              <a:rPr lang="en-US"/>
              <a:t>PCA general methodology</a:t>
            </a:r>
          </a:p>
        </p:txBody>
      </p:sp>
      <p:sp>
        <p:nvSpPr>
          <p:cNvPr id="279555" name="Rectangle 3"/>
          <p:cNvSpPr>
            <a:spLocks noGrp="1" noChangeArrowheads="1"/>
          </p:cNvSpPr>
          <p:nvPr>
            <p:ph type="body" idx="1"/>
          </p:nvPr>
        </p:nvSpPr>
        <p:spPr>
          <a:xfrm>
            <a:off x="457200" y="1524000"/>
            <a:ext cx="8229600" cy="5181600"/>
          </a:xfrm>
        </p:spPr>
        <p:txBody>
          <a:bodyPr/>
          <a:lstStyle/>
          <a:p>
            <a:pPr>
              <a:lnSpc>
                <a:spcPct val="80000"/>
              </a:lnSpc>
            </a:pPr>
            <a:r>
              <a:rPr lang="en-US" sz="1700"/>
              <a:t>We start with either the covariance matrix </a:t>
            </a:r>
            <a:r>
              <a:rPr lang="el-GR" sz="1700" b="1">
                <a:cs typeface="Arial" charset="0"/>
              </a:rPr>
              <a:t>Σ</a:t>
            </a:r>
            <a:r>
              <a:rPr lang="en-US" sz="1700" b="1">
                <a:cs typeface="Arial" charset="0"/>
              </a:rPr>
              <a:t> </a:t>
            </a:r>
            <a:r>
              <a:rPr lang="en-US" sz="1700"/>
              <a:t>or the correlation matrix </a:t>
            </a:r>
            <a:r>
              <a:rPr lang="el-GR" sz="1700" b="1">
                <a:cs typeface="Arial" charset="0"/>
              </a:rPr>
              <a:t>ρ</a:t>
            </a:r>
            <a:r>
              <a:rPr lang="en-US" sz="1700" b="1">
                <a:cs typeface="Arial" charset="0"/>
              </a:rPr>
              <a:t> </a:t>
            </a:r>
            <a:r>
              <a:rPr lang="en-US" sz="1700">
                <a:cs typeface="Arial" charset="0"/>
              </a:rPr>
              <a:t>of </a:t>
            </a:r>
            <a:r>
              <a:rPr lang="en-US" sz="1700" i="1">
                <a:cs typeface="Arial" charset="0"/>
              </a:rPr>
              <a:t>X</a:t>
            </a:r>
            <a:r>
              <a:rPr lang="en-US" sz="1700" i="1" baseline="-25000">
                <a:cs typeface="Arial" charset="0"/>
              </a:rPr>
              <a:t>1</a:t>
            </a:r>
            <a:r>
              <a:rPr lang="en-US" sz="1700" i="1">
                <a:cs typeface="Arial" charset="0"/>
              </a:rPr>
              <a:t>, X</a:t>
            </a:r>
            <a:r>
              <a:rPr lang="en-US" sz="1700" i="1" baseline="-25000">
                <a:cs typeface="Arial" charset="0"/>
              </a:rPr>
              <a:t>2</a:t>
            </a:r>
            <a:r>
              <a:rPr lang="en-US" sz="1700" i="1">
                <a:cs typeface="Arial" charset="0"/>
              </a:rPr>
              <a:t>,…X</a:t>
            </a:r>
            <a:r>
              <a:rPr lang="en-US" sz="1700" i="1" baseline="-25000">
                <a:cs typeface="Arial" charset="0"/>
              </a:rPr>
              <a:t>p</a:t>
            </a:r>
            <a:endParaRPr lang="el-GR" sz="1700" i="1" baseline="-25000">
              <a:cs typeface="Arial" charset="0"/>
            </a:endParaRPr>
          </a:p>
          <a:p>
            <a:pPr lvl="1">
              <a:lnSpc>
                <a:spcPct val="80000"/>
              </a:lnSpc>
            </a:pPr>
            <a:r>
              <a:rPr lang="en-US" sz="1500"/>
              <a:t>Note: </a:t>
            </a:r>
            <a:r>
              <a:rPr lang="en-US" sz="1500" b="1"/>
              <a:t>bold </a:t>
            </a:r>
            <a:r>
              <a:rPr lang="en-US" sz="1500"/>
              <a:t>text represents vector or matrix notation, while non-bold text represents scalar notation</a:t>
            </a:r>
            <a:endParaRPr lang="en-US" sz="1500" b="1"/>
          </a:p>
          <a:p>
            <a:pPr>
              <a:lnSpc>
                <a:spcPct val="80000"/>
              </a:lnSpc>
            </a:pPr>
            <a:endParaRPr lang="en-US" sz="1700"/>
          </a:p>
          <a:p>
            <a:pPr>
              <a:lnSpc>
                <a:spcPct val="80000"/>
              </a:lnSpc>
            </a:pPr>
            <a:r>
              <a:rPr lang="en-US" sz="1700"/>
              <a:t>The random vector </a:t>
            </a:r>
            <a:r>
              <a:rPr lang="en-US" sz="1700" b="1"/>
              <a:t>X’</a:t>
            </a:r>
            <a:r>
              <a:rPr lang="en-US" sz="1700"/>
              <a:t>=[</a:t>
            </a:r>
            <a:r>
              <a:rPr lang="en-US" sz="1700" i="1">
                <a:cs typeface="Arial" charset="0"/>
              </a:rPr>
              <a:t>X</a:t>
            </a:r>
            <a:r>
              <a:rPr lang="en-US" sz="1700" i="1" baseline="-25000">
                <a:cs typeface="Arial" charset="0"/>
              </a:rPr>
              <a:t>1</a:t>
            </a:r>
            <a:r>
              <a:rPr lang="en-US" sz="1700" i="1">
                <a:cs typeface="Arial" charset="0"/>
              </a:rPr>
              <a:t>, X</a:t>
            </a:r>
            <a:r>
              <a:rPr lang="en-US" sz="1700" i="1" baseline="-25000">
                <a:cs typeface="Arial" charset="0"/>
              </a:rPr>
              <a:t>2</a:t>
            </a:r>
            <a:r>
              <a:rPr lang="en-US" sz="1700" i="1">
                <a:cs typeface="Arial" charset="0"/>
              </a:rPr>
              <a:t>,…X</a:t>
            </a:r>
            <a:r>
              <a:rPr lang="en-US" sz="1700" i="1" baseline="-25000">
                <a:cs typeface="Arial" charset="0"/>
              </a:rPr>
              <a:t>p</a:t>
            </a:r>
            <a:r>
              <a:rPr lang="en-US" sz="1700">
                <a:cs typeface="Arial" charset="0"/>
              </a:rPr>
              <a:t>] has the covariance matrix </a:t>
            </a:r>
            <a:r>
              <a:rPr lang="el-GR" sz="1700" b="1">
                <a:cs typeface="Arial" charset="0"/>
              </a:rPr>
              <a:t>Σ</a:t>
            </a:r>
            <a:r>
              <a:rPr lang="en-US" sz="1700" b="1">
                <a:cs typeface="Arial" charset="0"/>
              </a:rPr>
              <a:t> </a:t>
            </a:r>
            <a:r>
              <a:rPr lang="en-US" sz="1700">
                <a:cs typeface="Arial" charset="0"/>
              </a:rPr>
              <a:t>with eigenvalues </a:t>
            </a:r>
            <a:r>
              <a:rPr lang="el-GR" sz="1700" i="1">
                <a:cs typeface="Arial" charset="0"/>
              </a:rPr>
              <a:t>λ</a:t>
            </a:r>
            <a:r>
              <a:rPr lang="en-US" sz="1700" i="1" baseline="-25000">
                <a:cs typeface="Arial" charset="0"/>
              </a:rPr>
              <a:t>1</a:t>
            </a:r>
            <a:r>
              <a:rPr lang="en-US" sz="1700">
                <a:latin typeface="Arial Unicode MS" pitchFamily="34" charset="-128"/>
                <a:ea typeface="Arial Unicode MS" pitchFamily="34" charset="-128"/>
                <a:cs typeface="Arial Unicode MS" pitchFamily="34" charset="-128"/>
              </a:rPr>
              <a:t>≥</a:t>
            </a:r>
            <a:r>
              <a:rPr lang="el-GR" sz="1700" i="1">
                <a:cs typeface="Arial" charset="0"/>
              </a:rPr>
              <a:t>λ</a:t>
            </a:r>
            <a:r>
              <a:rPr lang="en-US" sz="1700" i="1" baseline="-25000">
                <a:cs typeface="Arial" charset="0"/>
              </a:rPr>
              <a:t>2</a:t>
            </a:r>
            <a:r>
              <a:rPr lang="en-US" sz="1700">
                <a:latin typeface="Arial Unicode MS" pitchFamily="34" charset="-128"/>
                <a:ea typeface="Arial Unicode MS" pitchFamily="34" charset="-128"/>
                <a:cs typeface="Arial Unicode MS" pitchFamily="34" charset="-128"/>
              </a:rPr>
              <a:t>≥</a:t>
            </a:r>
            <a:r>
              <a:rPr lang="en-US" sz="1700">
                <a:cs typeface="Arial" charset="0"/>
              </a:rPr>
              <a:t>…</a:t>
            </a:r>
            <a:r>
              <a:rPr lang="el-GR" sz="1700" i="1">
                <a:cs typeface="Arial" charset="0"/>
              </a:rPr>
              <a:t>λ</a:t>
            </a:r>
            <a:r>
              <a:rPr lang="en-US" sz="1700" i="1" baseline="-25000">
                <a:cs typeface="Arial" charset="0"/>
              </a:rPr>
              <a:t>p</a:t>
            </a:r>
            <a:r>
              <a:rPr lang="en-US" sz="1700">
                <a:latin typeface="Arial Unicode MS" pitchFamily="34" charset="-128"/>
                <a:ea typeface="Arial Unicode MS" pitchFamily="34" charset="-128"/>
                <a:cs typeface="Arial Unicode MS" pitchFamily="34" charset="-128"/>
              </a:rPr>
              <a:t>≥</a:t>
            </a:r>
            <a:r>
              <a:rPr lang="en-US" sz="1700">
                <a:cs typeface="Arial" charset="0"/>
              </a:rPr>
              <a:t> 0 and eigenvectors </a:t>
            </a:r>
            <a:r>
              <a:rPr lang="en-US" sz="1700" b="1">
                <a:cs typeface="Arial" charset="0"/>
              </a:rPr>
              <a:t>e</a:t>
            </a:r>
            <a:r>
              <a:rPr lang="en-US" sz="1700" b="1" i="1" baseline="-25000">
                <a:cs typeface="Arial" charset="0"/>
              </a:rPr>
              <a:t>1</a:t>
            </a:r>
            <a:r>
              <a:rPr lang="en-US" sz="1700">
                <a:cs typeface="Arial" charset="0"/>
              </a:rPr>
              <a:t>,</a:t>
            </a:r>
            <a:r>
              <a:rPr lang="en-US" sz="1700" b="1">
                <a:cs typeface="Arial" charset="0"/>
              </a:rPr>
              <a:t> e</a:t>
            </a:r>
            <a:r>
              <a:rPr lang="en-US" sz="1700" b="1" i="1" baseline="-25000">
                <a:cs typeface="Arial" charset="0"/>
              </a:rPr>
              <a:t>2</a:t>
            </a:r>
            <a:r>
              <a:rPr lang="en-US" sz="1700">
                <a:cs typeface="Arial" charset="0"/>
              </a:rPr>
              <a:t>,…</a:t>
            </a:r>
            <a:r>
              <a:rPr lang="en-US" sz="1700" b="1">
                <a:cs typeface="Arial" charset="0"/>
              </a:rPr>
              <a:t>e</a:t>
            </a:r>
            <a:r>
              <a:rPr lang="en-US" sz="1700" b="1" i="1" baseline="-25000">
                <a:cs typeface="Arial" charset="0"/>
              </a:rPr>
              <a:t>p</a:t>
            </a:r>
            <a:r>
              <a:rPr lang="en-US" sz="1700" b="1">
                <a:cs typeface="Arial" charset="0"/>
              </a:rPr>
              <a:t> </a:t>
            </a:r>
          </a:p>
          <a:p>
            <a:pPr>
              <a:lnSpc>
                <a:spcPct val="80000"/>
              </a:lnSpc>
            </a:pPr>
            <a:endParaRPr lang="en-US" sz="1700">
              <a:cs typeface="Arial" charset="0"/>
            </a:endParaRPr>
          </a:p>
          <a:p>
            <a:pPr>
              <a:lnSpc>
                <a:spcPct val="80000"/>
              </a:lnSpc>
            </a:pPr>
            <a:r>
              <a:rPr lang="en-US" sz="1700">
                <a:cs typeface="Arial" charset="0"/>
              </a:rPr>
              <a:t>What are eigenvalues and eigenvectors?</a:t>
            </a:r>
          </a:p>
          <a:p>
            <a:pPr lvl="1">
              <a:lnSpc>
                <a:spcPct val="80000"/>
              </a:lnSpc>
            </a:pPr>
            <a:r>
              <a:rPr lang="el-GR" sz="1500" b="1">
                <a:cs typeface="Arial" charset="0"/>
              </a:rPr>
              <a:t>Σ</a:t>
            </a:r>
            <a:r>
              <a:rPr lang="en-US" sz="1500">
                <a:cs typeface="Arial" charset="0"/>
              </a:rPr>
              <a:t>=</a:t>
            </a:r>
            <a:r>
              <a:rPr lang="en-US" sz="1500" b="1">
                <a:cs typeface="Arial" charset="0"/>
              </a:rPr>
              <a:t>P</a:t>
            </a:r>
            <a:r>
              <a:rPr lang="el-GR" sz="1500" b="1">
                <a:cs typeface="Arial" charset="0"/>
              </a:rPr>
              <a:t>λ</a:t>
            </a:r>
            <a:r>
              <a:rPr lang="en-US" sz="1500" b="1">
                <a:cs typeface="Arial" charset="0"/>
              </a:rPr>
              <a:t>P’</a:t>
            </a:r>
            <a:r>
              <a:rPr lang="en-US" sz="1500">
                <a:cs typeface="Arial" charset="0"/>
              </a:rPr>
              <a:t>, where </a:t>
            </a:r>
            <a:r>
              <a:rPr lang="el-GR" sz="1500" b="1">
                <a:cs typeface="Arial" charset="0"/>
              </a:rPr>
              <a:t>λ</a:t>
            </a:r>
            <a:r>
              <a:rPr lang="en-US" sz="1500">
                <a:cs typeface="Arial" charset="0"/>
              </a:rPr>
              <a:t> is a diagonal matrix of </a:t>
            </a:r>
            <a:r>
              <a:rPr lang="el-GR" sz="1300">
                <a:cs typeface="Arial" charset="0"/>
              </a:rPr>
              <a:t>λ</a:t>
            </a:r>
            <a:r>
              <a:rPr lang="en-US" sz="1300" baseline="-25000">
                <a:cs typeface="Arial" charset="0"/>
              </a:rPr>
              <a:t>i </a:t>
            </a:r>
            <a:r>
              <a:rPr lang="en-US" sz="1500">
                <a:cs typeface="Arial" charset="0"/>
              </a:rPr>
              <a:t>eigenvalues on the diagonal and </a:t>
            </a:r>
            <a:r>
              <a:rPr lang="en-US" sz="1500" b="1">
                <a:cs typeface="Arial" charset="0"/>
              </a:rPr>
              <a:t>P</a:t>
            </a:r>
            <a:r>
              <a:rPr lang="en-US" sz="1500">
                <a:cs typeface="Arial" charset="0"/>
              </a:rPr>
              <a:t> is an orthogonal matrix of [</a:t>
            </a:r>
            <a:r>
              <a:rPr lang="en-US" sz="1500" b="1">
                <a:cs typeface="Arial" charset="0"/>
              </a:rPr>
              <a:t>e</a:t>
            </a:r>
            <a:r>
              <a:rPr lang="en-US" sz="1500" b="1" baseline="-25000">
                <a:cs typeface="Arial" charset="0"/>
              </a:rPr>
              <a:t>1</a:t>
            </a:r>
            <a:r>
              <a:rPr lang="en-US" sz="1500">
                <a:cs typeface="Arial" charset="0"/>
              </a:rPr>
              <a:t>,</a:t>
            </a:r>
            <a:r>
              <a:rPr lang="en-US" sz="1500" b="1">
                <a:cs typeface="Arial" charset="0"/>
              </a:rPr>
              <a:t>e</a:t>
            </a:r>
            <a:r>
              <a:rPr lang="en-US" sz="1500" b="1" baseline="-25000">
                <a:cs typeface="Arial" charset="0"/>
              </a:rPr>
              <a:t>2</a:t>
            </a:r>
            <a:r>
              <a:rPr lang="en-US" sz="1500">
                <a:cs typeface="Arial" charset="0"/>
              </a:rPr>
              <a:t>,…,</a:t>
            </a:r>
            <a:r>
              <a:rPr lang="en-US" sz="1500" b="1">
                <a:cs typeface="Arial" charset="0"/>
              </a:rPr>
              <a:t>e</a:t>
            </a:r>
            <a:r>
              <a:rPr lang="en-US" sz="1500" b="1" i="1" baseline="-25000">
                <a:cs typeface="Arial" charset="0"/>
              </a:rPr>
              <a:t>p</a:t>
            </a:r>
            <a:r>
              <a:rPr lang="en-US" sz="1500">
                <a:cs typeface="Arial" charset="0"/>
              </a:rPr>
              <a:t>], so </a:t>
            </a:r>
            <a:r>
              <a:rPr lang="en-US" sz="1500" b="1">
                <a:cs typeface="Arial" charset="0"/>
              </a:rPr>
              <a:t>PP’</a:t>
            </a:r>
            <a:r>
              <a:rPr lang="en-US" sz="1500">
                <a:cs typeface="Arial" charset="0"/>
              </a:rPr>
              <a:t>=</a:t>
            </a:r>
            <a:r>
              <a:rPr lang="en-US" sz="1500" b="1">
                <a:cs typeface="Arial" charset="0"/>
              </a:rPr>
              <a:t>P’P</a:t>
            </a:r>
            <a:r>
              <a:rPr lang="en-US" sz="1500">
                <a:cs typeface="Arial" charset="0"/>
              </a:rPr>
              <a:t>=</a:t>
            </a:r>
            <a:r>
              <a:rPr lang="en-US" sz="1500" b="1">
                <a:cs typeface="Arial" charset="0"/>
              </a:rPr>
              <a:t>I</a:t>
            </a:r>
          </a:p>
          <a:p>
            <a:pPr lvl="1">
              <a:lnSpc>
                <a:spcPct val="80000"/>
              </a:lnSpc>
            </a:pPr>
            <a:endParaRPr lang="en-US" sz="1500">
              <a:cs typeface="Arial" charset="0"/>
            </a:endParaRPr>
          </a:p>
          <a:p>
            <a:pPr>
              <a:lnSpc>
                <a:spcPct val="80000"/>
              </a:lnSpc>
            </a:pPr>
            <a:r>
              <a:rPr lang="en-US" sz="1700">
                <a:cs typeface="Arial" charset="0"/>
              </a:rPr>
              <a:t>Then the </a:t>
            </a:r>
            <a:r>
              <a:rPr lang="en-US" sz="1700" i="1">
                <a:cs typeface="Arial" charset="0"/>
              </a:rPr>
              <a:t>ith</a:t>
            </a:r>
            <a:r>
              <a:rPr lang="en-US" sz="1700">
                <a:cs typeface="Arial" charset="0"/>
              </a:rPr>
              <a:t> principal components is given by:</a:t>
            </a:r>
          </a:p>
          <a:p>
            <a:pPr lvl="1">
              <a:lnSpc>
                <a:spcPct val="80000"/>
              </a:lnSpc>
              <a:buFont typeface="Wingdings" pitchFamily="2" charset="2"/>
              <a:buNone/>
            </a:pPr>
            <a:r>
              <a:rPr lang="en-US" sz="1500" i="1">
                <a:cs typeface="Arial" charset="0"/>
              </a:rPr>
              <a:t>Y</a:t>
            </a:r>
            <a:r>
              <a:rPr lang="en-US" sz="1500" i="1" baseline="-25000">
                <a:cs typeface="Arial" charset="0"/>
              </a:rPr>
              <a:t>i</a:t>
            </a:r>
            <a:r>
              <a:rPr lang="en-US" sz="1500">
                <a:cs typeface="Arial" charset="0"/>
              </a:rPr>
              <a:t>=</a:t>
            </a:r>
            <a:r>
              <a:rPr lang="en-US" sz="1500" b="1">
                <a:cs typeface="Arial" charset="0"/>
              </a:rPr>
              <a:t>e’</a:t>
            </a:r>
            <a:r>
              <a:rPr lang="en-US" sz="1500" b="1" i="1" baseline="-25000">
                <a:cs typeface="Arial" charset="0"/>
              </a:rPr>
              <a:t>i</a:t>
            </a:r>
            <a:r>
              <a:rPr lang="en-US" sz="1500" b="1">
                <a:cs typeface="Arial" charset="0"/>
              </a:rPr>
              <a:t>X</a:t>
            </a:r>
            <a:r>
              <a:rPr lang="en-US" sz="1500">
                <a:cs typeface="Arial" charset="0"/>
              </a:rPr>
              <a:t>=</a:t>
            </a:r>
            <a:r>
              <a:rPr lang="en-US" sz="1500" i="1">
                <a:cs typeface="Arial" charset="0"/>
              </a:rPr>
              <a:t>e</a:t>
            </a:r>
            <a:r>
              <a:rPr lang="en-US" sz="1500" i="1" baseline="-25000">
                <a:cs typeface="Arial" charset="0"/>
              </a:rPr>
              <a:t>i1</a:t>
            </a:r>
            <a:r>
              <a:rPr lang="en-US" sz="1500" i="1">
                <a:cs typeface="Arial" charset="0"/>
              </a:rPr>
              <a:t>X</a:t>
            </a:r>
            <a:r>
              <a:rPr lang="en-US" sz="1500" i="1" baseline="-25000">
                <a:cs typeface="Arial" charset="0"/>
              </a:rPr>
              <a:t>1</a:t>
            </a:r>
            <a:r>
              <a:rPr lang="en-US" sz="1500">
                <a:cs typeface="Arial" charset="0"/>
              </a:rPr>
              <a:t>+</a:t>
            </a:r>
            <a:r>
              <a:rPr lang="en-US" sz="1500" i="1">
                <a:cs typeface="Arial" charset="0"/>
              </a:rPr>
              <a:t>e</a:t>
            </a:r>
            <a:r>
              <a:rPr lang="en-US" sz="1500" i="1" baseline="-25000">
                <a:cs typeface="Arial" charset="0"/>
              </a:rPr>
              <a:t>i2</a:t>
            </a:r>
            <a:r>
              <a:rPr lang="en-US" sz="1500" i="1">
                <a:cs typeface="Arial" charset="0"/>
              </a:rPr>
              <a:t>X</a:t>
            </a:r>
            <a:r>
              <a:rPr lang="en-US" sz="1500" i="1" baseline="-25000">
                <a:cs typeface="Arial" charset="0"/>
              </a:rPr>
              <a:t>2</a:t>
            </a:r>
            <a:r>
              <a:rPr lang="en-US" sz="1500">
                <a:cs typeface="Arial" charset="0"/>
              </a:rPr>
              <a:t>+…</a:t>
            </a:r>
            <a:r>
              <a:rPr lang="en-US" sz="1500" i="1">
                <a:cs typeface="Arial" charset="0"/>
              </a:rPr>
              <a:t>e</a:t>
            </a:r>
            <a:r>
              <a:rPr lang="en-US" sz="1500" i="1" baseline="-25000">
                <a:cs typeface="Arial" charset="0"/>
              </a:rPr>
              <a:t>ip</a:t>
            </a:r>
            <a:r>
              <a:rPr lang="en-US" sz="1500" i="1">
                <a:cs typeface="Arial" charset="0"/>
              </a:rPr>
              <a:t>X</a:t>
            </a:r>
            <a:r>
              <a:rPr lang="en-US" sz="1500" i="1" baseline="-25000">
                <a:cs typeface="Arial" charset="0"/>
              </a:rPr>
              <a:t>p</a:t>
            </a:r>
            <a:r>
              <a:rPr lang="en-US" sz="1500">
                <a:cs typeface="Arial" charset="0"/>
              </a:rPr>
              <a:t>;	</a:t>
            </a:r>
            <a:r>
              <a:rPr lang="en-US" sz="1500" i="1">
                <a:cs typeface="Arial" charset="0"/>
              </a:rPr>
              <a:t>i</a:t>
            </a:r>
            <a:r>
              <a:rPr lang="en-US" sz="1500">
                <a:cs typeface="Arial" charset="0"/>
              </a:rPr>
              <a:t>=1,2,…,</a:t>
            </a:r>
            <a:r>
              <a:rPr lang="en-US" sz="1500" i="1">
                <a:cs typeface="Arial" charset="0"/>
              </a:rPr>
              <a:t>p </a:t>
            </a:r>
            <a:r>
              <a:rPr lang="en-US" sz="1500">
                <a:cs typeface="Arial" charset="0"/>
              </a:rPr>
              <a:t>and </a:t>
            </a:r>
            <a:r>
              <a:rPr lang="en-US" sz="1500" b="1">
                <a:cs typeface="Arial" charset="0"/>
              </a:rPr>
              <a:t>e’</a:t>
            </a:r>
            <a:r>
              <a:rPr lang="en-US" sz="1500" b="1" baseline="-25000">
                <a:cs typeface="Arial" charset="0"/>
              </a:rPr>
              <a:t>i</a:t>
            </a:r>
            <a:r>
              <a:rPr lang="en-US" sz="1500" b="1">
                <a:cs typeface="Arial" charset="0"/>
              </a:rPr>
              <a:t>e</a:t>
            </a:r>
            <a:r>
              <a:rPr lang="en-US" sz="1500" b="1" baseline="-25000">
                <a:cs typeface="Arial" charset="0"/>
              </a:rPr>
              <a:t>i</a:t>
            </a:r>
            <a:r>
              <a:rPr lang="en-US" sz="1500">
                <a:cs typeface="Arial" charset="0"/>
              </a:rPr>
              <a:t>=1</a:t>
            </a:r>
            <a:endParaRPr lang="en-US" sz="1500" i="1">
              <a:cs typeface="Arial" charset="0"/>
            </a:endParaRPr>
          </a:p>
          <a:p>
            <a:pPr lvl="1">
              <a:lnSpc>
                <a:spcPct val="80000"/>
              </a:lnSpc>
              <a:buFont typeface="Wingdings" pitchFamily="2" charset="2"/>
              <a:buNone/>
            </a:pPr>
            <a:r>
              <a:rPr lang="en-US" sz="1500">
                <a:cs typeface="Arial" charset="0"/>
              </a:rPr>
              <a:t>With choices that </a:t>
            </a:r>
            <a:r>
              <a:rPr lang="en-US" sz="1500" i="1">
                <a:cs typeface="Arial" charset="0"/>
              </a:rPr>
              <a:t>Var</a:t>
            </a:r>
            <a:r>
              <a:rPr lang="en-US" sz="1500">
                <a:cs typeface="Arial" charset="0"/>
              </a:rPr>
              <a:t>(</a:t>
            </a:r>
            <a:r>
              <a:rPr lang="en-US" sz="1500" i="1">
                <a:cs typeface="Arial" charset="0"/>
              </a:rPr>
              <a:t>Y</a:t>
            </a:r>
            <a:r>
              <a:rPr lang="en-US" sz="1500" i="1" baseline="-25000">
                <a:cs typeface="Arial" charset="0"/>
              </a:rPr>
              <a:t>i</a:t>
            </a:r>
            <a:r>
              <a:rPr lang="en-US" sz="1500">
                <a:cs typeface="Arial" charset="0"/>
              </a:rPr>
              <a:t>)=</a:t>
            </a:r>
            <a:r>
              <a:rPr lang="en-US" sz="1500" b="1">
                <a:cs typeface="Arial" charset="0"/>
              </a:rPr>
              <a:t>e’</a:t>
            </a:r>
            <a:r>
              <a:rPr lang="en-US" sz="1500" b="1" baseline="-25000">
                <a:cs typeface="Arial" charset="0"/>
              </a:rPr>
              <a:t>i</a:t>
            </a:r>
            <a:r>
              <a:rPr lang="el-GR" sz="1400" b="1">
                <a:cs typeface="Arial" charset="0"/>
              </a:rPr>
              <a:t>Σ</a:t>
            </a:r>
            <a:r>
              <a:rPr lang="en-US" sz="1400" b="1">
                <a:cs typeface="Arial" charset="0"/>
              </a:rPr>
              <a:t>e</a:t>
            </a:r>
            <a:r>
              <a:rPr lang="en-US" sz="1400" b="1" baseline="-25000">
                <a:cs typeface="Arial" charset="0"/>
              </a:rPr>
              <a:t>i</a:t>
            </a:r>
            <a:r>
              <a:rPr lang="en-US" sz="1400" b="1">
                <a:cs typeface="Arial" charset="0"/>
              </a:rPr>
              <a:t>=</a:t>
            </a:r>
            <a:r>
              <a:rPr lang="el-GR" sz="1400" i="1">
                <a:cs typeface="Arial" charset="0"/>
              </a:rPr>
              <a:t>λ</a:t>
            </a:r>
            <a:r>
              <a:rPr lang="en-US" sz="1400" i="1" baseline="-25000">
                <a:cs typeface="Arial" charset="0"/>
              </a:rPr>
              <a:t>i</a:t>
            </a:r>
            <a:r>
              <a:rPr lang="en-US" sz="1400" i="1">
                <a:cs typeface="Arial" charset="0"/>
              </a:rPr>
              <a:t>;  i=</a:t>
            </a:r>
            <a:r>
              <a:rPr lang="en-US" sz="1400">
                <a:cs typeface="Arial" charset="0"/>
              </a:rPr>
              <a:t>1,2,…,</a:t>
            </a:r>
            <a:r>
              <a:rPr lang="en-US" sz="1400" i="1">
                <a:cs typeface="Arial" charset="0"/>
              </a:rPr>
              <a:t>p </a:t>
            </a:r>
            <a:r>
              <a:rPr lang="en-US" sz="1500">
                <a:cs typeface="Arial" charset="0"/>
              </a:rPr>
              <a:t>and </a:t>
            </a:r>
          </a:p>
          <a:p>
            <a:pPr lvl="1">
              <a:lnSpc>
                <a:spcPct val="80000"/>
              </a:lnSpc>
              <a:buFont typeface="Wingdings" pitchFamily="2" charset="2"/>
              <a:buNone/>
            </a:pPr>
            <a:r>
              <a:rPr lang="en-US" sz="1500" i="1">
                <a:cs typeface="Arial" charset="0"/>
              </a:rPr>
              <a:t>Cov</a:t>
            </a:r>
            <a:r>
              <a:rPr lang="en-US" sz="1500">
                <a:cs typeface="Arial" charset="0"/>
              </a:rPr>
              <a:t>(</a:t>
            </a:r>
            <a:r>
              <a:rPr lang="en-US" sz="1500" i="1">
                <a:cs typeface="Arial" charset="0"/>
              </a:rPr>
              <a:t>Y</a:t>
            </a:r>
            <a:r>
              <a:rPr lang="en-US" sz="1500" i="1" baseline="-25000">
                <a:cs typeface="Arial" charset="0"/>
              </a:rPr>
              <a:t>i</a:t>
            </a:r>
            <a:r>
              <a:rPr lang="en-US" sz="1500" i="1">
                <a:cs typeface="Arial" charset="0"/>
              </a:rPr>
              <a:t>,Y</a:t>
            </a:r>
            <a:r>
              <a:rPr lang="en-US" sz="1500" i="1" baseline="-25000">
                <a:cs typeface="Arial" charset="0"/>
              </a:rPr>
              <a:t>k</a:t>
            </a:r>
            <a:r>
              <a:rPr lang="en-US" sz="1500">
                <a:cs typeface="Arial" charset="0"/>
              </a:rPr>
              <a:t>)=</a:t>
            </a:r>
            <a:r>
              <a:rPr lang="en-US" sz="1500" b="1">
                <a:cs typeface="Arial" charset="0"/>
              </a:rPr>
              <a:t>e’</a:t>
            </a:r>
            <a:r>
              <a:rPr lang="en-US" sz="1500" b="1" baseline="-25000">
                <a:cs typeface="Arial" charset="0"/>
              </a:rPr>
              <a:t>i</a:t>
            </a:r>
            <a:r>
              <a:rPr lang="el-GR" sz="1400" b="1">
                <a:cs typeface="Arial" charset="0"/>
              </a:rPr>
              <a:t>Σ</a:t>
            </a:r>
            <a:r>
              <a:rPr lang="en-US" sz="1400" b="1">
                <a:cs typeface="Arial" charset="0"/>
              </a:rPr>
              <a:t>e</a:t>
            </a:r>
            <a:r>
              <a:rPr lang="en-US" sz="1400" b="1" baseline="-25000">
                <a:cs typeface="Arial" charset="0"/>
              </a:rPr>
              <a:t>k</a:t>
            </a:r>
            <a:r>
              <a:rPr lang="en-US" sz="1400">
                <a:cs typeface="Arial" charset="0"/>
              </a:rPr>
              <a:t>=0;  </a:t>
            </a:r>
            <a:r>
              <a:rPr lang="en-US" sz="1400" i="1">
                <a:cs typeface="Arial" charset="0"/>
              </a:rPr>
              <a:t>i</a:t>
            </a:r>
            <a:r>
              <a:rPr lang="en-US" sz="1400">
                <a:cs typeface="Arial" charset="0"/>
              </a:rPr>
              <a:t>!=</a:t>
            </a:r>
            <a:r>
              <a:rPr lang="en-US" sz="1400" i="1">
                <a:cs typeface="Arial" charset="0"/>
              </a:rPr>
              <a:t>k</a:t>
            </a:r>
          </a:p>
          <a:p>
            <a:pPr>
              <a:lnSpc>
                <a:spcPct val="80000"/>
              </a:lnSpc>
            </a:pPr>
            <a:endParaRPr lang="en-US" sz="1700">
              <a:cs typeface="Arial" charset="0"/>
            </a:endParaRPr>
          </a:p>
          <a:p>
            <a:pPr>
              <a:lnSpc>
                <a:spcPct val="80000"/>
              </a:lnSpc>
            </a:pPr>
            <a:r>
              <a:rPr lang="en-US" sz="1700">
                <a:cs typeface="Arial" charset="0"/>
              </a:rPr>
              <a:t>The principal components are the uncorrelated linear combinations </a:t>
            </a:r>
            <a:r>
              <a:rPr lang="en-US" sz="1700" i="1">
                <a:cs typeface="Arial" charset="0"/>
              </a:rPr>
              <a:t>Y</a:t>
            </a:r>
            <a:r>
              <a:rPr lang="en-US" sz="1700" i="1" baseline="-25000">
                <a:cs typeface="Arial" charset="0"/>
              </a:rPr>
              <a:t>1</a:t>
            </a:r>
            <a:r>
              <a:rPr lang="en-US" sz="1700" i="1">
                <a:cs typeface="Arial" charset="0"/>
              </a:rPr>
              <a:t>,Y</a:t>
            </a:r>
            <a:r>
              <a:rPr lang="en-US" sz="1700" i="1" baseline="-25000">
                <a:cs typeface="Arial" charset="0"/>
              </a:rPr>
              <a:t>2</a:t>
            </a:r>
            <a:r>
              <a:rPr lang="en-US" sz="1700" i="1">
                <a:cs typeface="Arial" charset="0"/>
              </a:rPr>
              <a:t>,…,Y</a:t>
            </a:r>
            <a:r>
              <a:rPr lang="en-US" sz="1700" i="1" baseline="-25000">
                <a:cs typeface="Arial" charset="0"/>
              </a:rPr>
              <a:t>p</a:t>
            </a:r>
            <a:r>
              <a:rPr lang="en-US" sz="1700">
                <a:cs typeface="Arial" charset="0"/>
              </a:rPr>
              <a:t> with variances as large as possible, and each successive component explaining less and less variability</a:t>
            </a:r>
            <a:r>
              <a:rPr lang="en-US" sz="1700" baseline="30000">
                <a:cs typeface="Arial" charset="0"/>
              </a:rP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ChangeArrowheads="1"/>
          </p:cNvSpPr>
          <p:nvPr>
            <p:ph type="title"/>
          </p:nvPr>
        </p:nvSpPr>
        <p:spPr>
          <a:xfrm>
            <a:off x="457200" y="411163"/>
            <a:ext cx="7543800" cy="731837"/>
          </a:xfrm>
        </p:spPr>
        <p:txBody>
          <a:bodyPr/>
          <a:lstStyle/>
          <a:p>
            <a:r>
              <a:rPr lang="en-US" sz="3500"/>
              <a:t>PCA loadings plot interpretation</a:t>
            </a:r>
          </a:p>
        </p:txBody>
      </p:sp>
      <p:sp>
        <p:nvSpPr>
          <p:cNvPr id="281603" name="Rectangle 3"/>
          <p:cNvSpPr>
            <a:spLocks noGrp="1" noChangeArrowheads="1"/>
          </p:cNvSpPr>
          <p:nvPr>
            <p:ph type="body" idx="1"/>
          </p:nvPr>
        </p:nvSpPr>
        <p:spPr>
          <a:xfrm>
            <a:off x="457200" y="1524000"/>
            <a:ext cx="8229600" cy="5181600"/>
          </a:xfrm>
        </p:spPr>
        <p:txBody>
          <a:bodyPr/>
          <a:lstStyle/>
          <a:p>
            <a:r>
              <a:rPr lang="en-US" sz="2600" dirty="0"/>
              <a:t>Since the eigenvalues that we calculate from PCA are cumulative in explained variance, and we can only really view data in 2 or 3 dimensions, the loadings for the first two or three components are usually plotted against each other</a:t>
            </a:r>
          </a:p>
          <a:p>
            <a:endParaRPr lang="en-US" sz="2600" dirty="0"/>
          </a:p>
          <a:p>
            <a:r>
              <a:rPr lang="en-US" sz="2600" dirty="0"/>
              <a:t>This allows us to identify a particular trend associated with within the data</a:t>
            </a:r>
          </a:p>
          <a:p>
            <a:pPr lvl="1"/>
            <a:r>
              <a:rPr lang="en-US" sz="2200" dirty="0"/>
              <a:t>Example will better illustrate this point</a:t>
            </a:r>
          </a:p>
          <a:p>
            <a:endParaRPr lang="en-US" sz="2600" dirty="0">
              <a:cs typeface="Arial"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457200" y="411163"/>
            <a:ext cx="7543800" cy="731837"/>
          </a:xfrm>
        </p:spPr>
        <p:txBody>
          <a:bodyPr/>
          <a:lstStyle/>
          <a:p>
            <a:r>
              <a:rPr lang="en-US"/>
              <a:t>PCA variance explained</a:t>
            </a:r>
          </a:p>
        </p:txBody>
      </p:sp>
      <p:sp>
        <p:nvSpPr>
          <p:cNvPr id="280579" name="Rectangle 3"/>
          <p:cNvSpPr>
            <a:spLocks noGrp="1" noChangeArrowheads="1"/>
          </p:cNvSpPr>
          <p:nvPr>
            <p:ph type="body" idx="1"/>
          </p:nvPr>
        </p:nvSpPr>
        <p:spPr>
          <a:xfrm>
            <a:off x="457200" y="1524000"/>
            <a:ext cx="8229600" cy="5181600"/>
          </a:xfrm>
        </p:spPr>
        <p:txBody>
          <a:bodyPr/>
          <a:lstStyle/>
          <a:p>
            <a:pPr>
              <a:lnSpc>
                <a:spcPct val="80000"/>
              </a:lnSpc>
            </a:pPr>
            <a:r>
              <a:rPr lang="en-US" sz="2200"/>
              <a:t>While reducing the dimensionality in the data, we hope to capture the most variance in the fewest components</a:t>
            </a:r>
          </a:p>
          <a:p>
            <a:pPr lvl="1">
              <a:lnSpc>
                <a:spcPct val="80000"/>
              </a:lnSpc>
            </a:pPr>
            <a:r>
              <a:rPr lang="en-US" sz="2200"/>
              <a:t>Since the first eigenvalue explains the largest amount of variance, the second explains the second largest variance, etc.</a:t>
            </a:r>
          </a:p>
          <a:p>
            <a:pPr>
              <a:lnSpc>
                <a:spcPct val="80000"/>
              </a:lnSpc>
            </a:pPr>
            <a:endParaRPr lang="en-US" sz="2200">
              <a:cs typeface="Arial" charset="0"/>
            </a:endParaRPr>
          </a:p>
          <a:p>
            <a:pPr>
              <a:lnSpc>
                <a:spcPct val="80000"/>
              </a:lnSpc>
            </a:pPr>
            <a:r>
              <a:rPr lang="en-US" sz="2200">
                <a:cs typeface="Arial" charset="0"/>
              </a:rPr>
              <a:t>We can visualize this variance with a plot of the variance vs. the number of components</a:t>
            </a:r>
          </a:p>
          <a:p>
            <a:pPr lvl="1">
              <a:lnSpc>
                <a:spcPct val="80000"/>
              </a:lnSpc>
            </a:pPr>
            <a:r>
              <a:rPr lang="en-US" sz="2200">
                <a:cs typeface="Arial" charset="0"/>
              </a:rPr>
              <a:t>Scree plot</a:t>
            </a:r>
          </a:p>
          <a:p>
            <a:pPr lvl="1">
              <a:lnSpc>
                <a:spcPct val="80000"/>
              </a:lnSpc>
            </a:pPr>
            <a:endParaRPr lang="en-US" sz="2200">
              <a:cs typeface="Arial" charset="0"/>
            </a:endParaRPr>
          </a:p>
          <a:p>
            <a:pPr>
              <a:lnSpc>
                <a:spcPct val="80000"/>
              </a:lnSpc>
            </a:pPr>
            <a:r>
              <a:rPr lang="en-US" sz="2200">
                <a:cs typeface="Arial" charset="0"/>
              </a:rPr>
              <a:t>This plot depicts how the variance is distributed across the n components, so we can see how much to weight each component</a:t>
            </a:r>
          </a:p>
          <a:p>
            <a:pPr>
              <a:lnSpc>
                <a:spcPct val="80000"/>
              </a:lnSpc>
            </a:pPr>
            <a:endParaRPr lang="en-US" sz="2200">
              <a:cs typeface="Arial" charset="0"/>
            </a:endParaRPr>
          </a:p>
          <a:p>
            <a:pPr>
              <a:lnSpc>
                <a:spcPct val="80000"/>
              </a:lnSpc>
            </a:pPr>
            <a:r>
              <a:rPr lang="en-US" sz="2200">
                <a:cs typeface="Arial" charset="0"/>
              </a:rPr>
              <a:t>We look for an elbow in the scree plot to where the variance has reached a plateau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263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76400"/>
            <a:ext cx="5181600" cy="5173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2626" name="Rectangle 2"/>
          <p:cNvSpPr>
            <a:spLocks noGrp="1" noChangeArrowheads="1"/>
          </p:cNvSpPr>
          <p:nvPr>
            <p:ph type="title"/>
          </p:nvPr>
        </p:nvSpPr>
        <p:spPr>
          <a:xfrm>
            <a:off x="533400" y="228600"/>
            <a:ext cx="7467600" cy="1066800"/>
          </a:xfrm>
        </p:spPr>
        <p:txBody>
          <a:bodyPr/>
          <a:lstStyle/>
          <a:p>
            <a:r>
              <a:rPr lang="en-US" sz="3500" dirty="0"/>
              <a:t>PCA example with AML/ALL data – number of components to retain</a:t>
            </a:r>
          </a:p>
        </p:txBody>
      </p:sp>
      <p:sp>
        <p:nvSpPr>
          <p:cNvPr id="282631" name="Line 7"/>
          <p:cNvSpPr>
            <a:spLocks noChangeShapeType="1"/>
          </p:cNvSpPr>
          <p:nvPr/>
        </p:nvSpPr>
        <p:spPr bwMode="auto">
          <a:xfrm>
            <a:off x="2743200" y="5181600"/>
            <a:ext cx="762000" cy="0"/>
          </a:xfrm>
          <a:prstGeom prst="line">
            <a:avLst/>
          </a:prstGeom>
          <a:noFill/>
          <a:ln w="57150">
            <a:solidFill>
              <a:srgbClr val="FF5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533400" y="228600"/>
            <a:ext cx="7467600" cy="1066800"/>
          </a:xfrm>
        </p:spPr>
        <p:txBody>
          <a:bodyPr/>
          <a:lstStyle/>
          <a:p>
            <a:r>
              <a:rPr lang="en-US" sz="3500" dirty="0"/>
              <a:t>PCA example with AML/ALL data – loadings plot </a:t>
            </a:r>
            <a:r>
              <a:rPr lang="en-US" sz="2500" dirty="0"/>
              <a:t>(first 3 components)</a:t>
            </a:r>
          </a:p>
        </p:txBody>
      </p:sp>
      <p:pic>
        <p:nvPicPr>
          <p:cNvPr id="28775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684110"/>
            <a:ext cx="5181600" cy="5173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469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02922" y="2057400"/>
            <a:ext cx="4800600" cy="479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4674" name="Rectangle 2"/>
          <p:cNvSpPr>
            <a:spLocks noGrp="1" noChangeArrowheads="1"/>
          </p:cNvSpPr>
          <p:nvPr>
            <p:ph type="title"/>
          </p:nvPr>
        </p:nvSpPr>
        <p:spPr>
          <a:xfrm>
            <a:off x="533400" y="228600"/>
            <a:ext cx="7467600" cy="1066800"/>
          </a:xfrm>
        </p:spPr>
        <p:txBody>
          <a:bodyPr/>
          <a:lstStyle/>
          <a:p>
            <a:r>
              <a:rPr lang="en-US" sz="3500" dirty="0"/>
              <a:t>PCA example with AML/ALL data – loadings plot </a:t>
            </a:r>
            <a:r>
              <a:rPr lang="en-US" sz="2500" dirty="0"/>
              <a:t>(first 2 components)</a:t>
            </a:r>
          </a:p>
        </p:txBody>
      </p:sp>
      <p:sp>
        <p:nvSpPr>
          <p:cNvPr id="284688" name="Line 16"/>
          <p:cNvSpPr>
            <a:spLocks noChangeShapeType="1"/>
          </p:cNvSpPr>
          <p:nvPr/>
        </p:nvSpPr>
        <p:spPr bwMode="auto">
          <a:xfrm>
            <a:off x="4953000" y="2667000"/>
            <a:ext cx="0" cy="3505200"/>
          </a:xfrm>
          <a:prstGeom prst="line">
            <a:avLst/>
          </a:prstGeom>
          <a:noFill/>
          <a:ln w="38100">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TextBox 2"/>
          <p:cNvSpPr txBox="1"/>
          <p:nvPr/>
        </p:nvSpPr>
        <p:spPr>
          <a:xfrm>
            <a:off x="6858000" y="3805535"/>
            <a:ext cx="1676400" cy="461665"/>
          </a:xfrm>
          <a:prstGeom prst="rect">
            <a:avLst/>
          </a:prstGeom>
          <a:noFill/>
        </p:spPr>
        <p:txBody>
          <a:bodyPr wrap="square" rtlCol="0">
            <a:spAutoFit/>
          </a:bodyPr>
          <a:lstStyle/>
          <a:p>
            <a:r>
              <a:rPr lang="en-US" sz="1200" dirty="0"/>
              <a:t>p1=Difference between AML/ALL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4688"/>
                                        </p:tgtEl>
                                        <p:attrNameLst>
                                          <p:attrName>style.visibility</p:attrName>
                                        </p:attrNameLst>
                                      </p:cBhvr>
                                      <p:to>
                                        <p:strVal val="visible"/>
                                      </p:to>
                                    </p:set>
                                    <p:animEffect transition="in" filter="dissolve">
                                      <p:cBhvr>
                                        <p:cTn id="7" dur="500"/>
                                        <p:tgtEl>
                                          <p:spTgt spid="284688"/>
                                        </p:tgtEl>
                                      </p:cBhvr>
                                    </p:animEffect>
                                  </p:childTnLst>
                                  <p:subTnLst>
                                    <p:set>
                                      <p:cBhvr override="childStyle">
                                        <p:cTn dur="1" fill="hold" display="0" masterRel="nextClick" afterEffect="1"/>
                                        <p:tgtEl>
                                          <p:spTgt spid="28468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6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064544"/>
            <a:ext cx="4800600" cy="4793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4674" name="Rectangle 2"/>
          <p:cNvSpPr>
            <a:spLocks noGrp="1" noChangeArrowheads="1"/>
          </p:cNvSpPr>
          <p:nvPr>
            <p:ph type="title"/>
          </p:nvPr>
        </p:nvSpPr>
        <p:spPr>
          <a:xfrm>
            <a:off x="533400" y="228600"/>
            <a:ext cx="7467600" cy="1066800"/>
          </a:xfrm>
        </p:spPr>
        <p:txBody>
          <a:bodyPr/>
          <a:lstStyle/>
          <a:p>
            <a:r>
              <a:rPr lang="en-US" sz="3500" dirty="0"/>
              <a:t>PCA example with AML/ALL data – loadings plot </a:t>
            </a:r>
            <a:r>
              <a:rPr lang="en-US" sz="2500" dirty="0"/>
              <a:t>(first 2 components)</a:t>
            </a:r>
          </a:p>
        </p:txBody>
      </p:sp>
      <p:sp>
        <p:nvSpPr>
          <p:cNvPr id="284688" name="Line 16"/>
          <p:cNvSpPr>
            <a:spLocks noChangeShapeType="1"/>
          </p:cNvSpPr>
          <p:nvPr/>
        </p:nvSpPr>
        <p:spPr bwMode="auto">
          <a:xfrm>
            <a:off x="2590800" y="4191000"/>
            <a:ext cx="3962400" cy="0"/>
          </a:xfrm>
          <a:prstGeom prst="line">
            <a:avLst/>
          </a:prstGeom>
          <a:noFill/>
          <a:ln w="38100">
            <a:solidFill>
              <a:srgbClr val="0099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 name="TextBox 5"/>
          <p:cNvSpPr txBox="1"/>
          <p:nvPr/>
        </p:nvSpPr>
        <p:spPr>
          <a:xfrm>
            <a:off x="6858000" y="3805535"/>
            <a:ext cx="1981200" cy="461665"/>
          </a:xfrm>
          <a:prstGeom prst="rect">
            <a:avLst/>
          </a:prstGeom>
          <a:noFill/>
        </p:spPr>
        <p:txBody>
          <a:bodyPr wrap="square" rtlCol="0">
            <a:spAutoFit/>
          </a:bodyPr>
          <a:lstStyle/>
          <a:p>
            <a:r>
              <a:rPr lang="en-US" sz="1200" dirty="0"/>
              <a:t>p2=Difference between chemo </a:t>
            </a:r>
            <a:r>
              <a:rPr lang="en-US" sz="1200" dirty="0" err="1"/>
              <a:t>tx</a:t>
            </a:r>
            <a:r>
              <a:rPr lang="en-US" sz="1200" dirty="0"/>
              <a:t>/no chemo </a:t>
            </a:r>
            <a:r>
              <a:rPr lang="en-US" sz="1200" dirty="0" err="1"/>
              <a:t>tx</a:t>
            </a:r>
            <a:endParaRPr lang="en-US" sz="1200" dirty="0"/>
          </a:p>
        </p:txBody>
      </p:sp>
    </p:spTree>
    <p:extLst>
      <p:ext uri="{BB962C8B-B14F-4D97-AF65-F5344CB8AC3E}">
        <p14:creationId xmlns:p14="http://schemas.microsoft.com/office/powerpoint/2010/main" val="3936421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84688"/>
                                        </p:tgtEl>
                                        <p:attrNameLst>
                                          <p:attrName>style.visibility</p:attrName>
                                        </p:attrNameLst>
                                      </p:cBhvr>
                                      <p:to>
                                        <p:strVal val="visible"/>
                                      </p:to>
                                    </p:set>
                                    <p:animEffect transition="in" filter="dissolve">
                                      <p:cBhvr>
                                        <p:cTn id="7" dur="500"/>
                                        <p:tgtEl>
                                          <p:spTgt spid="284688"/>
                                        </p:tgtEl>
                                      </p:cBhvr>
                                    </p:animEffect>
                                  </p:childTnLst>
                                  <p:subTnLst>
                                    <p:set>
                                      <p:cBhvr override="childStyle">
                                        <p:cTn dur="1" fill="hold" display="0" masterRel="nextClick" afterEffect="1"/>
                                        <p:tgtEl>
                                          <p:spTgt spid="28468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468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457200" y="563563"/>
            <a:ext cx="7543800" cy="731837"/>
          </a:xfrm>
        </p:spPr>
        <p:txBody>
          <a:bodyPr/>
          <a:lstStyle/>
          <a:p>
            <a:r>
              <a:rPr lang="en-US" sz="3500"/>
              <a:t>Partial least squares regression (PLS)</a:t>
            </a:r>
          </a:p>
        </p:txBody>
      </p:sp>
      <p:sp>
        <p:nvSpPr>
          <p:cNvPr id="285699" name="Rectangle 3"/>
          <p:cNvSpPr>
            <a:spLocks noGrp="1" noChangeArrowheads="1"/>
          </p:cNvSpPr>
          <p:nvPr>
            <p:ph type="body" idx="1"/>
          </p:nvPr>
        </p:nvSpPr>
        <p:spPr>
          <a:xfrm>
            <a:off x="457200" y="1524000"/>
            <a:ext cx="8229600" cy="5181600"/>
          </a:xfrm>
        </p:spPr>
        <p:txBody>
          <a:bodyPr/>
          <a:lstStyle/>
          <a:p>
            <a:r>
              <a:rPr lang="en-US" sz="2600"/>
              <a:t>PLS is a multivariate regression method</a:t>
            </a:r>
          </a:p>
          <a:p>
            <a:endParaRPr lang="en-US" sz="2200"/>
          </a:p>
          <a:p>
            <a:r>
              <a:rPr lang="en-US" sz="2600"/>
              <a:t>Very generally, PLS, like PCA works to maximize the variability of a matrix by calculating linear combinations of the original variables </a:t>
            </a:r>
          </a:p>
          <a:p>
            <a:endParaRPr lang="en-US" sz="2200"/>
          </a:p>
          <a:p>
            <a:r>
              <a:rPr lang="en-US" sz="2600"/>
              <a:t>However, PCA maximizes this variability between the samples/genes, while PLS r</a:t>
            </a:r>
            <a:r>
              <a:rPr lang="en-US" sz="2700"/>
              <a:t>elates the data matrix, </a:t>
            </a:r>
            <a:r>
              <a:rPr lang="en-US" sz="2700" b="1"/>
              <a:t>X</a:t>
            </a:r>
            <a:r>
              <a:rPr lang="en-US" sz="2700"/>
              <a:t> to a response, </a:t>
            </a:r>
            <a:r>
              <a:rPr lang="en-US" sz="2700" b="1"/>
              <a:t>Y</a:t>
            </a:r>
          </a:p>
          <a:p>
            <a:pPr lvl="1"/>
            <a:r>
              <a:rPr lang="en-US" sz="2200" b="1"/>
              <a:t>X</a:t>
            </a:r>
            <a:r>
              <a:rPr lang="en-US" sz="2200"/>
              <a:t> is this example is a matrix of genes by samples</a:t>
            </a:r>
          </a:p>
          <a:p>
            <a:pPr lvl="1"/>
            <a:r>
              <a:rPr lang="en-US" sz="2200" b="1"/>
              <a:t>Y</a:t>
            </a:r>
            <a:r>
              <a:rPr lang="en-US" sz="2200"/>
              <a:t> in this example is the expected continuous response or class membership</a:t>
            </a:r>
            <a:endParaRPr lang="en-US" sz="2000">
              <a:cs typeface="Arial"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a:xfrm>
            <a:off x="457200" y="563563"/>
            <a:ext cx="7543800" cy="731837"/>
          </a:xfrm>
        </p:spPr>
        <p:txBody>
          <a:bodyPr/>
          <a:lstStyle/>
          <a:p>
            <a:r>
              <a:rPr lang="en-US" sz="3500"/>
              <a:t>PLS general methodology</a:t>
            </a:r>
          </a:p>
        </p:txBody>
      </p:sp>
      <p:sp>
        <p:nvSpPr>
          <p:cNvPr id="290819" name="Rectangle 3"/>
          <p:cNvSpPr>
            <a:spLocks noGrp="1" noChangeArrowheads="1"/>
          </p:cNvSpPr>
          <p:nvPr>
            <p:ph type="body" idx="1"/>
          </p:nvPr>
        </p:nvSpPr>
        <p:spPr>
          <a:xfrm>
            <a:off x="152400" y="1676400"/>
            <a:ext cx="5867400" cy="4800600"/>
          </a:xfrm>
          <a:noFill/>
          <a:ln/>
        </p:spPr>
        <p:txBody>
          <a:bodyPr/>
          <a:lstStyle/>
          <a:p>
            <a:r>
              <a:rPr lang="en-US" sz="1600"/>
              <a:t>Regression model</a:t>
            </a:r>
          </a:p>
          <a:p>
            <a:pPr marL="742950" lvl="1" indent="-285750"/>
            <a:r>
              <a:rPr lang="en-US" sz="1600"/>
              <a:t>Y is the response and X is the predictor matrix</a:t>
            </a:r>
          </a:p>
          <a:p>
            <a:pPr marL="742950" lvl="1" indent="-285750"/>
            <a:endParaRPr lang="en-US" sz="1600"/>
          </a:p>
          <a:p>
            <a:r>
              <a:rPr lang="en-US" sz="1600"/>
              <a:t>Factor score matrix is calculated by factor extraction</a:t>
            </a:r>
          </a:p>
          <a:p>
            <a:pPr marL="742950" lvl="1" indent="-285750"/>
            <a:r>
              <a:rPr lang="en-US" sz="1600"/>
              <a:t>W is a weight matrix</a:t>
            </a:r>
          </a:p>
          <a:p>
            <a:pPr marL="742950" lvl="1" indent="-285750"/>
            <a:endParaRPr lang="en-US" sz="1400"/>
          </a:p>
          <a:p>
            <a:endParaRPr lang="en-US" sz="1600"/>
          </a:p>
          <a:p>
            <a:r>
              <a:rPr lang="en-US" sz="1600"/>
              <a:t>The new model is considered using T from above and Q as a loading vector of T</a:t>
            </a:r>
          </a:p>
          <a:p>
            <a:pPr marL="742950" lvl="1" indent="-285750"/>
            <a:r>
              <a:rPr lang="en-US" sz="1600"/>
              <a:t>Q is a loading matrix </a:t>
            </a:r>
          </a:p>
          <a:p>
            <a:endParaRPr lang="en-US" sz="1600"/>
          </a:p>
          <a:p>
            <a:r>
              <a:rPr lang="en-US" sz="1600"/>
              <a:t>Once Q is solved for, the coefficient vector, B is calculated</a:t>
            </a:r>
          </a:p>
          <a:p>
            <a:endParaRPr lang="en-US" sz="1600"/>
          </a:p>
          <a:p>
            <a:r>
              <a:rPr lang="en-US" sz="1600"/>
              <a:t>The predictor matrix, X, is multiplied by the coefficient vector, B, to get the expected response values</a:t>
            </a:r>
          </a:p>
        </p:txBody>
      </p:sp>
      <p:sp>
        <p:nvSpPr>
          <p:cNvPr id="290820" name="Rectangle 4"/>
          <p:cNvSpPr>
            <a:spLocks noChangeArrowheads="1"/>
          </p:cNvSpPr>
          <p:nvPr/>
        </p:nvSpPr>
        <p:spPr bwMode="auto">
          <a:xfrm>
            <a:off x="6629400" y="1905000"/>
            <a:ext cx="198120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r>
              <a:rPr lang="en-US" sz="1700"/>
              <a:t>Y = XB + E</a:t>
            </a:r>
          </a:p>
          <a:p>
            <a:pPr marL="742950" lvl="1" indent="-285750">
              <a:spcBef>
                <a:spcPct val="20000"/>
              </a:spcBef>
              <a:buClr>
                <a:schemeClr val="accent2"/>
              </a:buClr>
              <a:buSzPct val="70000"/>
              <a:buFont typeface="Wingdings" pitchFamily="2" charset="2"/>
              <a:buChar char="l"/>
            </a:pPr>
            <a:endParaRPr lang="en-US" sz="1700"/>
          </a:p>
          <a:p>
            <a:pPr marL="342900" indent="-342900">
              <a:spcBef>
                <a:spcPct val="20000"/>
              </a:spcBef>
              <a:buClr>
                <a:schemeClr val="tx2"/>
              </a:buClr>
              <a:buSzPct val="70000"/>
              <a:buFont typeface="Wingdings" pitchFamily="2" charset="2"/>
              <a:buNone/>
            </a:pPr>
            <a:endParaRPr lang="en-US" sz="1700"/>
          </a:p>
          <a:p>
            <a:pPr marL="342900" indent="-342900">
              <a:spcBef>
                <a:spcPct val="20000"/>
              </a:spcBef>
              <a:buClr>
                <a:schemeClr val="tx2"/>
              </a:buClr>
              <a:buSzPct val="70000"/>
              <a:buFont typeface="Wingdings" pitchFamily="2" charset="2"/>
              <a:buNone/>
            </a:pPr>
            <a:r>
              <a:rPr lang="en-US" sz="1700"/>
              <a:t>T = XW</a:t>
            </a:r>
          </a:p>
          <a:p>
            <a:pPr marL="342900" indent="-342900">
              <a:spcBef>
                <a:spcPct val="20000"/>
              </a:spcBef>
              <a:buClr>
                <a:schemeClr val="tx2"/>
              </a:buClr>
              <a:buSzPct val="70000"/>
              <a:buFont typeface="Wingdings" pitchFamily="2" charset="2"/>
              <a:buChar char="l"/>
            </a:pPr>
            <a:endParaRPr lang="en-US" sz="1000"/>
          </a:p>
          <a:p>
            <a:pPr marL="342900" indent="-342900">
              <a:spcBef>
                <a:spcPct val="20000"/>
              </a:spcBef>
              <a:buClr>
                <a:schemeClr val="tx2"/>
              </a:buClr>
              <a:buSzPct val="70000"/>
              <a:buFont typeface="Wingdings" pitchFamily="2" charset="2"/>
              <a:buChar char="l"/>
            </a:pPr>
            <a:endParaRPr lang="en-US" sz="1700"/>
          </a:p>
          <a:p>
            <a:pPr marL="342900" indent="-342900">
              <a:spcBef>
                <a:spcPct val="20000"/>
              </a:spcBef>
              <a:buClr>
                <a:schemeClr val="tx2"/>
              </a:buClr>
              <a:buSzPct val="70000"/>
              <a:buFont typeface="Wingdings" pitchFamily="2" charset="2"/>
              <a:buNone/>
            </a:pPr>
            <a:r>
              <a:rPr lang="en-US" sz="1700"/>
              <a:t>Y = TQ + E</a:t>
            </a:r>
          </a:p>
          <a:p>
            <a:pPr marL="342900" indent="-342900">
              <a:spcBef>
                <a:spcPct val="20000"/>
              </a:spcBef>
              <a:buClr>
                <a:schemeClr val="tx2"/>
              </a:buClr>
              <a:buSzPct val="70000"/>
              <a:buFont typeface="Wingdings" pitchFamily="2" charset="2"/>
              <a:buChar char="l"/>
            </a:pPr>
            <a:endParaRPr lang="en-US" sz="1700"/>
          </a:p>
          <a:p>
            <a:pPr marL="342900" indent="-342900">
              <a:spcBef>
                <a:spcPct val="20000"/>
              </a:spcBef>
              <a:buClr>
                <a:schemeClr val="tx2"/>
              </a:buClr>
              <a:buSzPct val="70000"/>
              <a:buFont typeface="Wingdings" pitchFamily="2" charset="2"/>
              <a:buChar char="l"/>
            </a:pPr>
            <a:endParaRPr lang="en-US" sz="1700"/>
          </a:p>
          <a:p>
            <a:pPr marL="342900" indent="-342900">
              <a:spcBef>
                <a:spcPct val="20000"/>
              </a:spcBef>
              <a:buClr>
                <a:schemeClr val="tx2"/>
              </a:buClr>
              <a:buSzPct val="70000"/>
              <a:buFont typeface="Wingdings" pitchFamily="2" charset="2"/>
              <a:buNone/>
            </a:pPr>
            <a:endParaRPr lang="en-US" sz="1700"/>
          </a:p>
          <a:p>
            <a:pPr marL="342900" indent="-342900">
              <a:spcBef>
                <a:spcPct val="20000"/>
              </a:spcBef>
              <a:buClr>
                <a:schemeClr val="tx2"/>
              </a:buClr>
              <a:buSzPct val="70000"/>
              <a:buFont typeface="Wingdings" pitchFamily="2" charset="2"/>
              <a:buNone/>
            </a:pPr>
            <a:r>
              <a:rPr lang="en-US" sz="1700"/>
              <a:t>B = WQ</a:t>
            </a:r>
          </a:p>
          <a:p>
            <a:pPr marL="342900" indent="-342900">
              <a:spcBef>
                <a:spcPct val="20000"/>
              </a:spcBef>
              <a:buClr>
                <a:schemeClr val="tx2"/>
              </a:buClr>
              <a:buSzPct val="70000"/>
              <a:buFont typeface="Wingdings" pitchFamily="2" charset="2"/>
              <a:buChar char="l"/>
            </a:pPr>
            <a:endParaRPr lang="en-US" sz="1700"/>
          </a:p>
          <a:p>
            <a:pPr marL="342900" indent="-342900">
              <a:spcBef>
                <a:spcPct val="20000"/>
              </a:spcBef>
              <a:buClr>
                <a:schemeClr val="tx2"/>
              </a:buClr>
              <a:buSzPct val="70000"/>
              <a:buFont typeface="Wingdings" pitchFamily="2" charset="2"/>
              <a:buNone/>
            </a:pPr>
            <a:r>
              <a:rPr lang="en-US" sz="1700"/>
              <a:t>Y = XB + E</a:t>
            </a:r>
          </a:p>
          <a:p>
            <a:pPr marL="342900" indent="-342900">
              <a:spcBef>
                <a:spcPct val="20000"/>
              </a:spcBef>
              <a:buClr>
                <a:schemeClr val="tx2"/>
              </a:buClr>
              <a:buSzPct val="70000"/>
              <a:buFont typeface="Wingdings" pitchFamily="2" charset="2"/>
              <a:buChar char="l"/>
            </a:pPr>
            <a:endParaRPr lang="en-US" sz="17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457200" y="563563"/>
            <a:ext cx="7543800" cy="731837"/>
          </a:xfrm>
        </p:spPr>
        <p:txBody>
          <a:bodyPr/>
          <a:lstStyle/>
          <a:p>
            <a:r>
              <a:rPr lang="en-US" sz="3500"/>
              <a:t>PLS (cont.)</a:t>
            </a:r>
          </a:p>
        </p:txBody>
      </p:sp>
      <p:sp>
        <p:nvSpPr>
          <p:cNvPr id="286723" name="Rectangle 3"/>
          <p:cNvSpPr>
            <a:spLocks noGrp="1" noChangeArrowheads="1"/>
          </p:cNvSpPr>
          <p:nvPr>
            <p:ph type="body" idx="1"/>
          </p:nvPr>
        </p:nvSpPr>
        <p:spPr>
          <a:xfrm>
            <a:off x="457200" y="1524000"/>
            <a:ext cx="8229600" cy="5181600"/>
          </a:xfrm>
        </p:spPr>
        <p:txBody>
          <a:bodyPr/>
          <a:lstStyle/>
          <a:p>
            <a:pPr>
              <a:lnSpc>
                <a:spcPct val="90000"/>
              </a:lnSpc>
            </a:pPr>
            <a:r>
              <a:rPr lang="en-US" sz="2500"/>
              <a:t>Similar to PCA, in PLS the number of components to use in the model are also evaluated for variance explained</a:t>
            </a:r>
          </a:p>
          <a:p>
            <a:pPr lvl="1">
              <a:lnSpc>
                <a:spcPct val="90000"/>
              </a:lnSpc>
            </a:pPr>
            <a:r>
              <a:rPr lang="en-US" sz="2000"/>
              <a:t>Scree plot depicts the variance for each component</a:t>
            </a:r>
          </a:p>
          <a:p>
            <a:pPr>
              <a:lnSpc>
                <a:spcPct val="90000"/>
              </a:lnSpc>
            </a:pPr>
            <a:endParaRPr lang="en-US" sz="2500"/>
          </a:p>
          <a:p>
            <a:pPr>
              <a:lnSpc>
                <a:spcPct val="90000"/>
              </a:lnSpc>
            </a:pPr>
            <a:r>
              <a:rPr lang="en-US" sz="2500"/>
              <a:t>Also similar to PCA, the loading values can be viewed in 2 or 3 dimensional plots to see patterns in the data</a:t>
            </a:r>
          </a:p>
          <a:p>
            <a:pPr>
              <a:lnSpc>
                <a:spcPct val="90000"/>
              </a:lnSpc>
            </a:pPr>
            <a:endParaRPr lang="en-US" sz="2500"/>
          </a:p>
          <a:p>
            <a:pPr>
              <a:lnSpc>
                <a:spcPct val="90000"/>
              </a:lnSpc>
            </a:pPr>
            <a:r>
              <a:rPr lang="en-US" sz="2500"/>
              <a:t>Unlike PCA, however, the dimensionality reduction is conducted to maximize the predictor and response variables</a:t>
            </a:r>
          </a:p>
          <a:p>
            <a:pPr lvl="1">
              <a:lnSpc>
                <a:spcPct val="90000"/>
              </a:lnSpc>
            </a:pPr>
            <a:r>
              <a:rPr lang="en-US" sz="2000"/>
              <a:t>PCA does not evaluate a response (e.g. class membership or continuous value) in the dimension reduction</a:t>
            </a:r>
          </a:p>
          <a:p>
            <a:pPr lvl="1">
              <a:lnSpc>
                <a:spcPct val="90000"/>
              </a:lnSpc>
            </a:pPr>
            <a:r>
              <a:rPr lang="en-US" sz="2000"/>
              <a:t>PLS can be used for classification (coming in lecture #10)</a:t>
            </a:r>
            <a:endParaRPr lang="en-US"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457200" y="563563"/>
            <a:ext cx="7543800" cy="731837"/>
          </a:xfrm>
        </p:spPr>
        <p:txBody>
          <a:bodyPr/>
          <a:lstStyle/>
          <a:p>
            <a:r>
              <a:rPr lang="en-US" sz="3500"/>
              <a:t>Multidimensional scaling (MDS)</a:t>
            </a:r>
          </a:p>
        </p:txBody>
      </p:sp>
      <p:sp>
        <p:nvSpPr>
          <p:cNvPr id="292867" name="Rectangle 3"/>
          <p:cNvSpPr>
            <a:spLocks noGrp="1" noChangeArrowheads="1"/>
          </p:cNvSpPr>
          <p:nvPr>
            <p:ph type="body" idx="1"/>
          </p:nvPr>
        </p:nvSpPr>
        <p:spPr>
          <a:xfrm>
            <a:off x="457200" y="1524000"/>
            <a:ext cx="8229600" cy="5181600"/>
          </a:xfrm>
        </p:spPr>
        <p:txBody>
          <a:bodyPr/>
          <a:lstStyle/>
          <a:p>
            <a:r>
              <a:rPr lang="en-US" sz="2400"/>
              <a:t>A method to “fit the original data into a low-dimensional coordinate system, such that any distortion caused by dimension reduction is minimized” </a:t>
            </a:r>
            <a:r>
              <a:rPr lang="en-US" sz="2400" baseline="30000"/>
              <a:t>2</a:t>
            </a:r>
            <a:endParaRPr lang="en-US" sz="2400"/>
          </a:p>
          <a:p>
            <a:pPr lvl="1"/>
            <a:endParaRPr lang="en-US" sz="2400"/>
          </a:p>
          <a:p>
            <a:r>
              <a:rPr lang="en-US" sz="2400"/>
              <a:t>MDS attempts to use the distances or similarities between genes or samples in representing the proximities in few dimensions, while nearly matching the original distances or similarities</a:t>
            </a:r>
          </a:p>
          <a:p>
            <a:endParaRPr lang="en-US" sz="2400"/>
          </a:p>
          <a:p>
            <a:r>
              <a:rPr lang="en-US" sz="2400"/>
              <a:t>The measure used to determine how close the low dimensional space matches the high dimensional space is called the stress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01D96F7-34D8-44E2-A3C5-F53AC955E9CC}"/>
              </a:ext>
            </a:extLst>
          </p:cNvPr>
          <p:cNvSpPr>
            <a:spLocks noGrp="1"/>
          </p:cNvSpPr>
          <p:nvPr>
            <p:ph type="title"/>
          </p:nvPr>
        </p:nvSpPr>
        <p:spPr>
          <a:xfrm>
            <a:off x="457200" y="122238"/>
            <a:ext cx="7543800" cy="1295400"/>
          </a:xfrm>
        </p:spPr>
        <p:txBody>
          <a:bodyPr/>
          <a:lstStyle/>
          <a:p>
            <a:r>
              <a:rPr lang="en-US" sz="2800" dirty="0"/>
              <a:t>How to map distances from a 3D sphere to a 2D map?</a:t>
            </a:r>
          </a:p>
        </p:txBody>
      </p:sp>
      <p:pic>
        <p:nvPicPr>
          <p:cNvPr id="5" name="Content Placeholder 4" descr="A picture containing food&#10;&#10;Description automatically generated">
            <a:extLst>
              <a:ext uri="{FF2B5EF4-FFF2-40B4-BE49-F238E27FC236}">
                <a16:creationId xmlns:a16="http://schemas.microsoft.com/office/drawing/2014/main" id="{54382FD5-636A-4D27-8AB1-848B7B720B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556923"/>
            <a:ext cx="8229600" cy="2736342"/>
          </a:xfrm>
          <a:noFill/>
        </p:spPr>
      </p:pic>
    </p:spTree>
    <p:extLst>
      <p:ext uri="{BB962C8B-B14F-4D97-AF65-F5344CB8AC3E}">
        <p14:creationId xmlns:p14="http://schemas.microsoft.com/office/powerpoint/2010/main" val="3036916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a:xfrm>
            <a:off x="457200" y="563563"/>
            <a:ext cx="7543800" cy="731837"/>
          </a:xfrm>
        </p:spPr>
        <p:txBody>
          <a:bodyPr/>
          <a:lstStyle/>
          <a:p>
            <a:r>
              <a:rPr lang="en-US" sz="3500"/>
              <a:t>MDS scaling methods</a:t>
            </a:r>
          </a:p>
        </p:txBody>
      </p:sp>
      <p:sp>
        <p:nvSpPr>
          <p:cNvPr id="293891" name="Rectangle 3"/>
          <p:cNvSpPr>
            <a:spLocks noGrp="1" noChangeArrowheads="1"/>
          </p:cNvSpPr>
          <p:nvPr>
            <p:ph type="body" idx="1"/>
          </p:nvPr>
        </p:nvSpPr>
        <p:spPr>
          <a:xfrm>
            <a:off x="457200" y="1524000"/>
            <a:ext cx="8229600" cy="5181600"/>
          </a:xfrm>
        </p:spPr>
        <p:txBody>
          <a:bodyPr/>
          <a:lstStyle/>
          <a:p>
            <a:r>
              <a:rPr lang="en-US" sz="2800"/>
              <a:t>Nonmetric multidimensional scaling</a:t>
            </a:r>
          </a:p>
          <a:p>
            <a:pPr lvl="1"/>
            <a:r>
              <a:rPr lang="en-US" sz="2400"/>
              <a:t>Determine the distance or similarity values between all pairs of genes/samples</a:t>
            </a:r>
          </a:p>
          <a:p>
            <a:pPr lvl="1"/>
            <a:r>
              <a:rPr lang="en-US" sz="2400"/>
              <a:t>Arrange the </a:t>
            </a:r>
            <a:r>
              <a:rPr lang="en-US" sz="2400" i="1"/>
              <a:t>N </a:t>
            </a:r>
            <a:r>
              <a:rPr lang="en-US" sz="2400"/>
              <a:t>items in low-dimensional space using only the </a:t>
            </a:r>
            <a:r>
              <a:rPr lang="en-US" sz="2400" u="sng"/>
              <a:t>rank orders</a:t>
            </a:r>
            <a:r>
              <a:rPr lang="en-US" sz="2400"/>
              <a:t> of the distances/similarities</a:t>
            </a:r>
            <a:endParaRPr lang="en-US" sz="2400" i="1"/>
          </a:p>
          <a:p>
            <a:pPr lvl="1"/>
            <a:endParaRPr lang="en-US" sz="2400"/>
          </a:p>
          <a:p>
            <a:r>
              <a:rPr lang="en-US" sz="2800"/>
              <a:t>Metric (classical) multidimensional scaling</a:t>
            </a:r>
          </a:p>
          <a:p>
            <a:pPr lvl="1"/>
            <a:r>
              <a:rPr lang="en-US" sz="2400"/>
              <a:t>Determine the distance or similarity values between all pairs of genes/samples</a:t>
            </a:r>
          </a:p>
          <a:p>
            <a:pPr lvl="1"/>
            <a:r>
              <a:rPr lang="en-US" sz="2400"/>
              <a:t>Arrange the </a:t>
            </a:r>
            <a:r>
              <a:rPr lang="en-US" sz="2400" i="1"/>
              <a:t>N </a:t>
            </a:r>
            <a:r>
              <a:rPr lang="en-US" sz="2400"/>
              <a:t>items in low-dimensional space using  the </a:t>
            </a:r>
            <a:r>
              <a:rPr lang="en-US" sz="2400" u="sng"/>
              <a:t>actual magnitudes</a:t>
            </a:r>
            <a:r>
              <a:rPr lang="en-US" sz="2400"/>
              <a:t> of the distances/similarities</a:t>
            </a:r>
          </a:p>
          <a:p>
            <a:pPr lvl="1"/>
            <a:r>
              <a:rPr lang="en-US" sz="2400"/>
              <a:t>Also known as </a:t>
            </a:r>
            <a:r>
              <a:rPr lang="en-US" sz="2400" i="1"/>
              <a:t>principal coordinate analysis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457200" y="563563"/>
            <a:ext cx="7543800" cy="731837"/>
          </a:xfrm>
        </p:spPr>
        <p:txBody>
          <a:bodyPr/>
          <a:lstStyle/>
          <a:p>
            <a:r>
              <a:rPr lang="en-US" sz="3500"/>
              <a:t>MDS stress calculation</a:t>
            </a:r>
          </a:p>
        </p:txBody>
      </p:sp>
      <p:sp>
        <p:nvSpPr>
          <p:cNvPr id="294915" name="Rectangle 3"/>
          <p:cNvSpPr>
            <a:spLocks noGrp="1" noChangeArrowheads="1"/>
          </p:cNvSpPr>
          <p:nvPr>
            <p:ph type="body" idx="1"/>
          </p:nvPr>
        </p:nvSpPr>
        <p:spPr>
          <a:xfrm>
            <a:off x="457200" y="1371600"/>
            <a:ext cx="8229600" cy="5334000"/>
          </a:xfrm>
        </p:spPr>
        <p:txBody>
          <a:bodyPr/>
          <a:lstStyle/>
          <a:p>
            <a:pPr>
              <a:lnSpc>
                <a:spcPct val="80000"/>
              </a:lnSpc>
            </a:pPr>
            <a:r>
              <a:rPr lang="en-US" sz="1800"/>
              <a:t>For </a:t>
            </a:r>
            <a:r>
              <a:rPr lang="en-US" sz="1800" i="1"/>
              <a:t>N</a:t>
            </a:r>
            <a:r>
              <a:rPr lang="en-US" sz="1800"/>
              <a:t> gene/samples, calculate the </a:t>
            </a:r>
            <a:r>
              <a:rPr lang="en-US" sz="1800" i="1"/>
              <a:t>M</a:t>
            </a:r>
            <a:r>
              <a:rPr lang="en-US" sz="1800"/>
              <a:t>=</a:t>
            </a:r>
            <a:r>
              <a:rPr lang="en-US" sz="1800" i="1"/>
              <a:t>N</a:t>
            </a:r>
            <a:r>
              <a:rPr lang="en-US" sz="1800"/>
              <a:t>(</a:t>
            </a:r>
            <a:r>
              <a:rPr lang="en-US" sz="1800" i="1"/>
              <a:t>N</a:t>
            </a:r>
            <a:r>
              <a:rPr lang="en-US" sz="1800"/>
              <a:t>-1)/2 similarities between all pairs</a:t>
            </a:r>
          </a:p>
          <a:p>
            <a:pPr>
              <a:lnSpc>
                <a:spcPct val="80000"/>
              </a:lnSpc>
            </a:pPr>
            <a:endParaRPr lang="en-US" sz="1800"/>
          </a:p>
          <a:p>
            <a:pPr>
              <a:lnSpc>
                <a:spcPct val="80000"/>
              </a:lnSpc>
            </a:pPr>
            <a:r>
              <a:rPr lang="en-US" sz="1800"/>
              <a:t>Arrange the similarity values in ascending order</a:t>
            </a:r>
          </a:p>
          <a:p>
            <a:pPr>
              <a:lnSpc>
                <a:spcPct val="80000"/>
              </a:lnSpc>
              <a:buFont typeface="Wingdings" pitchFamily="2" charset="2"/>
              <a:buNone/>
            </a:pPr>
            <a:r>
              <a:rPr lang="en-US" sz="1800" i="1"/>
              <a:t>	</a:t>
            </a:r>
            <a:r>
              <a:rPr lang="en-US" sz="1700" i="1"/>
              <a:t>s</a:t>
            </a:r>
            <a:r>
              <a:rPr lang="en-US" sz="1700" i="1" baseline="-25000"/>
              <a:t>i1k1</a:t>
            </a:r>
            <a:r>
              <a:rPr lang="en-US" sz="1700" i="1"/>
              <a:t> &lt; s</a:t>
            </a:r>
            <a:r>
              <a:rPr lang="en-US" sz="1700" i="1" baseline="-25000"/>
              <a:t>i2k2</a:t>
            </a:r>
            <a:r>
              <a:rPr lang="en-US" sz="1700" i="1"/>
              <a:t> &lt; .. s</a:t>
            </a:r>
            <a:r>
              <a:rPr lang="en-US" sz="1700" i="1" baseline="-25000"/>
              <a:t>iMkM</a:t>
            </a:r>
          </a:p>
          <a:p>
            <a:pPr>
              <a:lnSpc>
                <a:spcPct val="80000"/>
              </a:lnSpc>
            </a:pPr>
            <a:endParaRPr lang="en-US" sz="1800"/>
          </a:p>
          <a:p>
            <a:pPr>
              <a:lnSpc>
                <a:spcPct val="80000"/>
              </a:lnSpc>
            </a:pPr>
            <a:r>
              <a:rPr lang="en-US" sz="1800"/>
              <a:t>“We want to determine a q-dimensional configuration of the N items, such that the distances, d</a:t>
            </a:r>
            <a:r>
              <a:rPr lang="en-US" sz="1800" baseline="-25000"/>
              <a:t>ik</a:t>
            </a:r>
            <a:r>
              <a:rPr lang="en-US" sz="1800" baseline="30000"/>
              <a:t>(q)</a:t>
            </a:r>
            <a:r>
              <a:rPr lang="en-US" sz="1800"/>
              <a:t> match the ordering” </a:t>
            </a:r>
            <a:r>
              <a:rPr lang="en-US" sz="1800" baseline="30000"/>
              <a:t>2</a:t>
            </a:r>
            <a:endParaRPr lang="en-US" sz="1800"/>
          </a:p>
          <a:p>
            <a:pPr>
              <a:lnSpc>
                <a:spcPct val="80000"/>
              </a:lnSpc>
            </a:pPr>
            <a:endParaRPr lang="en-US" sz="1800"/>
          </a:p>
          <a:p>
            <a:pPr>
              <a:lnSpc>
                <a:spcPct val="80000"/>
              </a:lnSpc>
            </a:pPr>
            <a:r>
              <a:rPr lang="en-US" sz="1800"/>
              <a:t>To evaluate the degree of match between these, the stress is measured</a:t>
            </a:r>
          </a:p>
          <a:p>
            <a:pPr lvl="1">
              <a:lnSpc>
                <a:spcPct val="80000"/>
              </a:lnSpc>
              <a:buFont typeface="Wingdings" pitchFamily="2" charset="2"/>
              <a:buNone/>
            </a:pPr>
            <a:r>
              <a:rPr lang="en-US" sz="1700"/>
              <a:t>	stress(q) = {</a:t>
            </a:r>
            <a:r>
              <a:rPr lang="en-US" sz="1700">
                <a:cs typeface="Arial" charset="0"/>
              </a:rPr>
              <a:t>∑ ∑ [ d</a:t>
            </a:r>
            <a:r>
              <a:rPr lang="en-US" sz="1700" baseline="-25000">
                <a:cs typeface="Arial" charset="0"/>
              </a:rPr>
              <a:t>ik</a:t>
            </a:r>
            <a:r>
              <a:rPr lang="en-US" sz="1700" baseline="30000">
                <a:cs typeface="Arial" charset="0"/>
              </a:rPr>
              <a:t>(q)</a:t>
            </a:r>
            <a:r>
              <a:rPr lang="en-US" sz="1700">
                <a:cs typeface="Arial" charset="0"/>
              </a:rPr>
              <a:t> – d.hat</a:t>
            </a:r>
            <a:r>
              <a:rPr lang="en-US" sz="1700" baseline="-25000">
                <a:cs typeface="Arial" charset="0"/>
              </a:rPr>
              <a:t>ik</a:t>
            </a:r>
            <a:r>
              <a:rPr lang="en-US" sz="1700" baseline="30000">
                <a:cs typeface="Arial" charset="0"/>
              </a:rPr>
              <a:t>(q)</a:t>
            </a:r>
            <a:r>
              <a:rPr lang="en-US" sz="1700">
                <a:cs typeface="Arial" charset="0"/>
              </a:rPr>
              <a:t> ]</a:t>
            </a:r>
            <a:r>
              <a:rPr lang="en-US" sz="1700" baseline="30000">
                <a:cs typeface="Arial" charset="0"/>
              </a:rPr>
              <a:t>2</a:t>
            </a:r>
            <a:r>
              <a:rPr lang="en-US" sz="1700">
                <a:cs typeface="Arial" charset="0"/>
              </a:rPr>
              <a:t> / ∑ ∑ [d</a:t>
            </a:r>
            <a:r>
              <a:rPr lang="en-US" sz="1700" baseline="-25000">
                <a:cs typeface="Arial" charset="0"/>
              </a:rPr>
              <a:t>ik</a:t>
            </a:r>
            <a:r>
              <a:rPr lang="en-US" sz="1700" baseline="30000">
                <a:cs typeface="Arial" charset="0"/>
              </a:rPr>
              <a:t>(q)</a:t>
            </a:r>
            <a:r>
              <a:rPr lang="en-US" sz="1700">
                <a:cs typeface="Arial" charset="0"/>
              </a:rPr>
              <a:t>]</a:t>
            </a:r>
            <a:r>
              <a:rPr lang="en-US" sz="1700" baseline="30000">
                <a:cs typeface="Arial" charset="0"/>
              </a:rPr>
              <a:t>2</a:t>
            </a:r>
            <a:r>
              <a:rPr lang="en-US" sz="1700">
                <a:cs typeface="Arial" charset="0"/>
              </a:rPr>
              <a:t> }</a:t>
            </a:r>
            <a:r>
              <a:rPr lang="en-US" sz="1700" baseline="30000">
                <a:cs typeface="Arial" charset="0"/>
              </a:rPr>
              <a:t>1/2</a:t>
            </a:r>
          </a:p>
          <a:p>
            <a:pPr lvl="1">
              <a:lnSpc>
                <a:spcPct val="80000"/>
              </a:lnSpc>
              <a:buFont typeface="Wingdings" pitchFamily="2" charset="2"/>
              <a:buNone/>
            </a:pPr>
            <a:r>
              <a:rPr lang="en-US" sz="1700" baseline="30000">
                <a:cs typeface="Arial" charset="0"/>
              </a:rPr>
              <a:t>		</a:t>
            </a:r>
            <a:r>
              <a:rPr lang="en-US" sz="1700">
                <a:cs typeface="Arial" charset="0"/>
              </a:rPr>
              <a:t>where d.hat</a:t>
            </a:r>
            <a:r>
              <a:rPr lang="en-US" sz="1700" baseline="-25000">
                <a:cs typeface="Arial" charset="0"/>
              </a:rPr>
              <a:t>ik</a:t>
            </a:r>
            <a:r>
              <a:rPr lang="en-US" sz="1700" baseline="30000">
                <a:cs typeface="Arial" charset="0"/>
              </a:rPr>
              <a:t>(q)</a:t>
            </a:r>
            <a:r>
              <a:rPr lang="en-US" sz="1700">
                <a:cs typeface="Arial" charset="0"/>
              </a:rPr>
              <a:t> are numbers that match the similarity in the ordering</a:t>
            </a:r>
          </a:p>
          <a:p>
            <a:pPr>
              <a:lnSpc>
                <a:spcPct val="80000"/>
              </a:lnSpc>
            </a:pPr>
            <a:endParaRPr lang="en-US" sz="1800"/>
          </a:p>
          <a:p>
            <a:pPr>
              <a:lnSpc>
                <a:spcPct val="80000"/>
              </a:lnSpc>
            </a:pPr>
            <a:r>
              <a:rPr lang="en-US" sz="1800"/>
              <a:t>Kruskal recommends the following guidelines for stress values</a:t>
            </a:r>
            <a:r>
              <a:rPr lang="en-US" sz="1800" baseline="30000"/>
              <a:t>2</a:t>
            </a:r>
            <a:endParaRPr lang="en-US" sz="1800"/>
          </a:p>
          <a:p>
            <a:pPr lvl="1">
              <a:lnSpc>
                <a:spcPct val="80000"/>
              </a:lnSpc>
              <a:buFont typeface="Wingdings" pitchFamily="2" charset="2"/>
              <a:buNone/>
            </a:pPr>
            <a:r>
              <a:rPr lang="en-US" sz="1800" i="1" baseline="-25000"/>
              <a:t>	</a:t>
            </a:r>
            <a:r>
              <a:rPr lang="en-US" sz="1700" i="1" u="sng"/>
              <a:t>stress</a:t>
            </a:r>
            <a:r>
              <a:rPr lang="en-US" sz="1700" i="1"/>
              <a:t>	</a:t>
            </a:r>
            <a:r>
              <a:rPr lang="en-US" sz="1700" i="1" u="sng"/>
              <a:t>Goodness of fit</a:t>
            </a:r>
          </a:p>
          <a:p>
            <a:pPr lvl="1">
              <a:lnSpc>
                <a:spcPct val="80000"/>
              </a:lnSpc>
              <a:buFont typeface="Wingdings" pitchFamily="2" charset="2"/>
              <a:buNone/>
            </a:pPr>
            <a:r>
              <a:rPr lang="en-US" sz="1700" baseline="-25000"/>
              <a:t>	</a:t>
            </a:r>
            <a:r>
              <a:rPr lang="en-US" sz="1700"/>
              <a:t>20%	Poor</a:t>
            </a:r>
          </a:p>
          <a:p>
            <a:pPr lvl="1">
              <a:lnSpc>
                <a:spcPct val="80000"/>
              </a:lnSpc>
              <a:buFont typeface="Wingdings" pitchFamily="2" charset="2"/>
              <a:buNone/>
            </a:pPr>
            <a:r>
              <a:rPr lang="en-US" sz="1700" baseline="-25000"/>
              <a:t>	</a:t>
            </a:r>
            <a:r>
              <a:rPr lang="en-US" sz="1700"/>
              <a:t>10%	Fair</a:t>
            </a:r>
          </a:p>
          <a:p>
            <a:pPr lvl="1">
              <a:lnSpc>
                <a:spcPct val="80000"/>
              </a:lnSpc>
              <a:buFont typeface="Wingdings" pitchFamily="2" charset="2"/>
              <a:buNone/>
            </a:pPr>
            <a:r>
              <a:rPr lang="en-US" sz="1700" baseline="-25000"/>
              <a:t>	</a:t>
            </a:r>
            <a:r>
              <a:rPr lang="en-US" sz="1700"/>
              <a:t>5%	Good</a:t>
            </a:r>
          </a:p>
          <a:p>
            <a:pPr lvl="1">
              <a:lnSpc>
                <a:spcPct val="80000"/>
              </a:lnSpc>
              <a:buFont typeface="Wingdings" pitchFamily="2" charset="2"/>
              <a:buNone/>
            </a:pPr>
            <a:r>
              <a:rPr lang="en-US" sz="1700" baseline="-25000"/>
              <a:t>	</a:t>
            </a:r>
            <a:r>
              <a:rPr lang="en-US" sz="1700"/>
              <a:t>2.5%	Excellent</a:t>
            </a:r>
          </a:p>
          <a:p>
            <a:pPr lvl="1">
              <a:lnSpc>
                <a:spcPct val="80000"/>
              </a:lnSpc>
              <a:buFont typeface="Wingdings" pitchFamily="2" charset="2"/>
              <a:buNone/>
            </a:pPr>
            <a:r>
              <a:rPr lang="en-US" sz="1700" baseline="-25000"/>
              <a:t>	</a:t>
            </a:r>
            <a:r>
              <a:rPr lang="en-US" sz="1700"/>
              <a:t>0%	Perfect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a:xfrm>
            <a:off x="457200" y="274638"/>
            <a:ext cx="7543800" cy="715962"/>
          </a:xfrm>
        </p:spPr>
        <p:txBody>
          <a:bodyPr/>
          <a:lstStyle/>
          <a:p>
            <a:r>
              <a:rPr lang="en-US" sz="3500"/>
              <a:t>Nonmetric MDS plot</a:t>
            </a:r>
          </a:p>
        </p:txBody>
      </p:sp>
      <p:pic>
        <p:nvPicPr>
          <p:cNvPr id="295941"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219200" y="1071563"/>
            <a:ext cx="6096000" cy="5705475"/>
          </a:xfrm>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457200" y="274638"/>
            <a:ext cx="7543800" cy="715962"/>
          </a:xfrm>
        </p:spPr>
        <p:txBody>
          <a:bodyPr/>
          <a:lstStyle/>
          <a:p>
            <a:r>
              <a:rPr lang="en-US" sz="3500"/>
              <a:t>Metric MDS plot</a:t>
            </a:r>
          </a:p>
        </p:txBody>
      </p:sp>
      <p:pic>
        <p:nvPicPr>
          <p:cNvPr id="297989"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143000" y="1001713"/>
            <a:ext cx="6172200" cy="5776912"/>
          </a:xfrm>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457200" y="122238"/>
            <a:ext cx="7543800" cy="944562"/>
          </a:xfrm>
        </p:spPr>
        <p:txBody>
          <a:bodyPr/>
          <a:lstStyle/>
          <a:p>
            <a:r>
              <a:rPr lang="en-US"/>
              <a:t>Kernel PCA</a:t>
            </a:r>
          </a:p>
        </p:txBody>
      </p:sp>
      <p:sp>
        <p:nvSpPr>
          <p:cNvPr id="384003" name="Rectangle 3"/>
          <p:cNvSpPr>
            <a:spLocks noGrp="1" noChangeArrowheads="1"/>
          </p:cNvSpPr>
          <p:nvPr>
            <p:ph type="body" idx="1"/>
          </p:nvPr>
        </p:nvSpPr>
        <p:spPr>
          <a:xfrm>
            <a:off x="457200" y="1371600"/>
            <a:ext cx="8229600" cy="5181600"/>
          </a:xfrm>
        </p:spPr>
        <p:txBody>
          <a:bodyPr/>
          <a:lstStyle/>
          <a:p>
            <a:pPr>
              <a:lnSpc>
                <a:spcPct val="80000"/>
              </a:lnSpc>
              <a:spcBef>
                <a:spcPct val="0"/>
              </a:spcBef>
            </a:pPr>
            <a:r>
              <a:rPr lang="en-US" sz="1700"/>
              <a:t>Kernel PCA can be thought of a nonlinear transformation of PCA, where PCA is calculated on a feature space into which the data are mapped via a kernel function </a:t>
            </a:r>
          </a:p>
          <a:p>
            <a:pPr>
              <a:lnSpc>
                <a:spcPct val="80000"/>
              </a:lnSpc>
            </a:pPr>
            <a:endParaRPr lang="en-US" sz="1700"/>
          </a:p>
          <a:p>
            <a:pPr>
              <a:lnSpc>
                <a:spcPct val="80000"/>
              </a:lnSpc>
              <a:spcBef>
                <a:spcPct val="0"/>
              </a:spcBef>
            </a:pPr>
            <a:r>
              <a:rPr lang="en-US" sz="1700"/>
              <a:t>In traditional PCA, the data are mapped into some vector space V, whereas kernel PCA considers a new feature space φ in the form [φ</a:t>
            </a:r>
            <a:r>
              <a:rPr lang="en-US" sz="1700" baseline="-25000"/>
              <a:t>(xi)</a:t>
            </a:r>
            <a:r>
              <a:rPr lang="en-US" sz="1700"/>
              <a:t>, φ</a:t>
            </a:r>
            <a:r>
              <a:rPr lang="en-US" sz="1700" baseline="-25000"/>
              <a:t>(xj)</a:t>
            </a:r>
            <a:r>
              <a:rPr lang="en-US" sz="1700"/>
              <a:t>]</a:t>
            </a:r>
          </a:p>
          <a:p>
            <a:pPr>
              <a:lnSpc>
                <a:spcPct val="80000"/>
              </a:lnSpc>
              <a:spcBef>
                <a:spcPct val="0"/>
              </a:spcBef>
            </a:pPr>
            <a:endParaRPr lang="en-US" sz="1700"/>
          </a:p>
          <a:p>
            <a:pPr>
              <a:lnSpc>
                <a:spcPct val="80000"/>
              </a:lnSpc>
              <a:spcBef>
                <a:spcPct val="0"/>
              </a:spcBef>
            </a:pPr>
            <a:r>
              <a:rPr lang="en-US" sz="1700"/>
              <a:t>The computations of kernel PCA are equivalent to traditional PCA but with the diagonalization of the positive semi-definite kernel (restricted to {x</a:t>
            </a:r>
            <a:r>
              <a:rPr lang="en-US" sz="1700" baseline="-25000"/>
              <a:t>1</a:t>
            </a:r>
            <a:r>
              <a:rPr lang="en-US" sz="1700"/>
              <a:t>, x</a:t>
            </a:r>
            <a:r>
              <a:rPr lang="en-US" sz="1700" baseline="-25000"/>
              <a:t>2</a:t>
            </a:r>
            <a:r>
              <a:rPr lang="en-US" sz="1700"/>
              <a:t>, ….x</a:t>
            </a:r>
            <a:r>
              <a:rPr lang="en-US" sz="1700" baseline="-25000"/>
              <a:t>n</a:t>
            </a:r>
            <a:r>
              <a:rPr lang="en-US" sz="1700"/>
              <a:t>}) k(xi,xj) </a:t>
            </a:r>
          </a:p>
          <a:p>
            <a:pPr>
              <a:lnSpc>
                <a:spcPct val="80000"/>
              </a:lnSpc>
              <a:spcBef>
                <a:spcPct val="0"/>
              </a:spcBef>
            </a:pPr>
            <a:endParaRPr lang="en-US" sz="1700"/>
          </a:p>
          <a:p>
            <a:pPr>
              <a:lnSpc>
                <a:spcPct val="80000"/>
              </a:lnSpc>
              <a:spcBef>
                <a:spcPct val="0"/>
              </a:spcBef>
            </a:pPr>
            <a:r>
              <a:rPr lang="en-US" sz="1700"/>
              <a:t>This transformation from linear correlation to kernel space provides a nonlinear matrix, in which the definition of the primary direction in the data structure is modified; As a result, the definition of large distances is adjusted. </a:t>
            </a:r>
          </a:p>
          <a:p>
            <a:pPr>
              <a:lnSpc>
                <a:spcPct val="80000"/>
              </a:lnSpc>
              <a:spcBef>
                <a:spcPct val="0"/>
              </a:spcBef>
            </a:pPr>
            <a:endParaRPr lang="en-US" sz="1700"/>
          </a:p>
          <a:p>
            <a:pPr>
              <a:lnSpc>
                <a:spcPct val="80000"/>
              </a:lnSpc>
              <a:spcBef>
                <a:spcPct val="0"/>
              </a:spcBef>
            </a:pPr>
            <a:r>
              <a:rPr lang="en-US" sz="1700"/>
              <a:t>Kernels typically considered:</a:t>
            </a:r>
          </a:p>
          <a:p>
            <a:pPr lvl="1">
              <a:lnSpc>
                <a:spcPct val="80000"/>
              </a:lnSpc>
              <a:spcBef>
                <a:spcPct val="0"/>
              </a:spcBef>
            </a:pPr>
            <a:r>
              <a:rPr lang="en-US" sz="1500"/>
              <a:t>Linear: k(x,y)=&lt;x,y&gt;</a:t>
            </a:r>
          </a:p>
          <a:p>
            <a:pPr lvl="1">
              <a:lnSpc>
                <a:spcPct val="80000"/>
              </a:lnSpc>
              <a:spcBef>
                <a:spcPct val="0"/>
              </a:spcBef>
            </a:pPr>
            <a:r>
              <a:rPr lang="en-US" sz="1500"/>
              <a:t>Gaussian radial basis function: k(x,y)=e</a:t>
            </a:r>
            <a:r>
              <a:rPr lang="en-US" sz="1500" baseline="30000"/>
              <a:t>(-(||x-y|| </a:t>
            </a:r>
            <a:r>
              <a:rPr lang="en-US" sz="1500" baseline="30000">
                <a:cs typeface="Arial" charset="0"/>
              </a:rPr>
              <a:t>²</a:t>
            </a:r>
            <a:r>
              <a:rPr lang="en-US" sz="1500" baseline="30000"/>
              <a:t>)/(2</a:t>
            </a:r>
            <a:r>
              <a:rPr lang="el-GR" sz="1500" baseline="30000">
                <a:cs typeface="Arial" charset="0"/>
              </a:rPr>
              <a:t>ε</a:t>
            </a:r>
            <a:r>
              <a:rPr lang="en-US" sz="1500" baseline="30000">
                <a:cs typeface="Arial" charset="0"/>
              </a:rPr>
              <a:t>²</a:t>
            </a:r>
            <a:r>
              <a:rPr lang="en-US" sz="1500" baseline="30000"/>
              <a:t>))</a:t>
            </a:r>
          </a:p>
          <a:p>
            <a:pPr lvl="1">
              <a:lnSpc>
                <a:spcPct val="80000"/>
              </a:lnSpc>
              <a:spcBef>
                <a:spcPct val="0"/>
              </a:spcBef>
            </a:pPr>
            <a:r>
              <a:rPr lang="en-US" sz="1500"/>
              <a:t>Polynomial: k(x,y)=(&lt;x,y&gt;+ </a:t>
            </a:r>
            <a:r>
              <a:rPr lang="el-GR" sz="1500">
                <a:cs typeface="Arial" charset="0"/>
              </a:rPr>
              <a:t>ε</a:t>
            </a:r>
            <a:r>
              <a:rPr lang="en-US" sz="1500">
                <a:cs typeface="Arial" charset="0"/>
              </a:rPr>
              <a:t>1</a:t>
            </a:r>
            <a:r>
              <a:rPr lang="en-US" sz="1500"/>
              <a:t>)</a:t>
            </a:r>
            <a:r>
              <a:rPr lang="el-GR" sz="1500" baseline="30000">
                <a:cs typeface="Arial" charset="0"/>
              </a:rPr>
              <a:t>ε</a:t>
            </a:r>
            <a:r>
              <a:rPr lang="en-US" sz="1500" baseline="30000">
                <a:cs typeface="Arial" charset="0"/>
              </a:rPr>
              <a:t>2</a:t>
            </a:r>
          </a:p>
          <a:p>
            <a:pPr lvl="1">
              <a:lnSpc>
                <a:spcPct val="80000"/>
              </a:lnSpc>
              <a:spcBef>
                <a:spcPct val="0"/>
              </a:spcBef>
            </a:pPr>
            <a:r>
              <a:rPr lang="en-US" sz="1500"/>
              <a:t>Standardized polynomial: k(x,y)=(&lt;x,y&gt;/sqrt(&lt;x,x&gt;&lt;y,y&gt;)+</a:t>
            </a:r>
            <a:r>
              <a:rPr lang="el-GR" sz="1500">
                <a:cs typeface="Arial" charset="0"/>
              </a:rPr>
              <a:t>ε</a:t>
            </a:r>
            <a:r>
              <a:rPr lang="en-US" sz="1500">
                <a:cs typeface="Arial" charset="0"/>
              </a:rPr>
              <a:t>1</a:t>
            </a:r>
            <a:r>
              <a:rPr lang="en-US" sz="1500"/>
              <a:t>)</a:t>
            </a:r>
            <a:r>
              <a:rPr lang="el-GR" sz="1500" baseline="30000">
                <a:cs typeface="Arial" charset="0"/>
              </a:rPr>
              <a:t>ε</a:t>
            </a:r>
            <a:r>
              <a:rPr lang="en-US" sz="1500" baseline="30000">
                <a:cs typeface="Arial" charset="0"/>
              </a:rPr>
              <a:t>2</a:t>
            </a:r>
          </a:p>
          <a:p>
            <a:pPr lvl="1">
              <a:lnSpc>
                <a:spcPct val="80000"/>
              </a:lnSpc>
              <a:spcBef>
                <a:spcPct val="0"/>
              </a:spcBef>
            </a:pPr>
            <a:r>
              <a:rPr lang="en-US" sz="1500"/>
              <a:t>Inverse multi-quadratic: k(x,y)=1/sqrt(||x-y||</a:t>
            </a:r>
            <a:r>
              <a:rPr lang="en-US" sz="1500" baseline="30000"/>
              <a:t>2</a:t>
            </a:r>
            <a:r>
              <a:rPr lang="en-US" sz="1500"/>
              <a:t>+</a:t>
            </a:r>
            <a:r>
              <a:rPr lang="el-GR" sz="1500">
                <a:cs typeface="Arial" charset="0"/>
              </a:rPr>
              <a:t>ε</a:t>
            </a:r>
            <a:r>
              <a:rPr lang="en-US" sz="1500">
                <a:cs typeface="Arial" charset="0"/>
              </a:rPr>
              <a:t>1</a:t>
            </a:r>
            <a:r>
              <a:rPr lang="en-US" sz="1500" baseline="30000"/>
              <a:t>2</a:t>
            </a:r>
            <a:r>
              <a:rPr lang="en-US" sz="1500"/>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457200" y="122238"/>
            <a:ext cx="7543800" cy="792162"/>
          </a:xfrm>
        </p:spPr>
        <p:txBody>
          <a:bodyPr/>
          <a:lstStyle/>
          <a:p>
            <a:r>
              <a:rPr lang="en-US" sz="3500"/>
              <a:t>Kernel PCA plot</a:t>
            </a:r>
          </a:p>
        </p:txBody>
      </p:sp>
      <p:pic>
        <p:nvPicPr>
          <p:cNvPr id="38810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150938"/>
            <a:ext cx="5715000" cy="5707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Rectangle 2"/>
          <p:cNvSpPr>
            <a:spLocks noGrp="1" noChangeArrowheads="1"/>
          </p:cNvSpPr>
          <p:nvPr>
            <p:ph type="title"/>
          </p:nvPr>
        </p:nvSpPr>
        <p:spPr>
          <a:xfrm>
            <a:off x="457200" y="685800"/>
            <a:ext cx="7543800" cy="503238"/>
          </a:xfrm>
        </p:spPr>
        <p:txBody>
          <a:bodyPr/>
          <a:lstStyle/>
          <a:p>
            <a:r>
              <a:rPr lang="en-US" sz="3500"/>
              <a:t>The weighted graph Laplacian</a:t>
            </a:r>
          </a:p>
        </p:txBody>
      </p:sp>
      <p:sp>
        <p:nvSpPr>
          <p:cNvPr id="321539" name="Rectangle 3"/>
          <p:cNvSpPr>
            <a:spLocks noGrp="1" noChangeArrowheads="1"/>
          </p:cNvSpPr>
          <p:nvPr>
            <p:ph type="body" idx="1"/>
          </p:nvPr>
        </p:nvSpPr>
        <p:spPr>
          <a:xfrm>
            <a:off x="457200" y="1447800"/>
            <a:ext cx="8229600" cy="5334000"/>
          </a:xfrm>
        </p:spPr>
        <p:txBody>
          <a:bodyPr/>
          <a:lstStyle/>
          <a:p>
            <a:pPr lvl="1">
              <a:lnSpc>
                <a:spcPct val="80000"/>
              </a:lnSpc>
            </a:pPr>
            <a:r>
              <a:rPr lang="en-US" sz="2000"/>
              <a:t>First implemented as a edge detection method in image processing</a:t>
            </a:r>
          </a:p>
          <a:p>
            <a:pPr lvl="1">
              <a:lnSpc>
                <a:spcPct val="80000"/>
              </a:lnSpc>
            </a:pPr>
            <a:endParaRPr lang="en-US" sz="2000"/>
          </a:p>
          <a:p>
            <a:pPr lvl="1">
              <a:lnSpc>
                <a:spcPct val="80000"/>
              </a:lnSpc>
            </a:pPr>
            <a:r>
              <a:rPr lang="en-US" sz="2000"/>
              <a:t>The weighted graph Laplacian is an operator on a weighted graph adjacency matrix</a:t>
            </a:r>
          </a:p>
          <a:p>
            <a:pPr lvl="2">
              <a:lnSpc>
                <a:spcPct val="80000"/>
              </a:lnSpc>
            </a:pPr>
            <a:r>
              <a:rPr lang="en-US" sz="1800"/>
              <a:t>Assume a graph G = (E,V) with edge weights E and vertices V</a:t>
            </a:r>
          </a:p>
          <a:p>
            <a:pPr lvl="1">
              <a:lnSpc>
                <a:spcPct val="80000"/>
              </a:lnSpc>
            </a:pPr>
            <a:endParaRPr lang="en-US" sz="2000"/>
          </a:p>
          <a:p>
            <a:pPr lvl="1">
              <a:lnSpc>
                <a:spcPct val="80000"/>
              </a:lnSpc>
            </a:pPr>
            <a:r>
              <a:rPr lang="en-US" sz="2000"/>
              <a:t>Determines the subspace that best preserves local distances and minimizes large distances</a:t>
            </a:r>
          </a:p>
          <a:p>
            <a:pPr lvl="2">
              <a:lnSpc>
                <a:spcPct val="80000"/>
              </a:lnSpc>
            </a:pPr>
            <a:r>
              <a:rPr lang="en-US" sz="1800"/>
              <a:t>Does not calculate linear projections of the data (e.g. MDS &amp; PCA)</a:t>
            </a:r>
          </a:p>
          <a:p>
            <a:pPr lvl="2">
              <a:lnSpc>
                <a:spcPct val="80000"/>
              </a:lnSpc>
            </a:pPr>
            <a:endParaRPr lang="en-US" sz="1900"/>
          </a:p>
          <a:p>
            <a:pPr lvl="1">
              <a:lnSpc>
                <a:spcPct val="80000"/>
              </a:lnSpc>
            </a:pPr>
            <a:r>
              <a:rPr lang="en-US" sz="2000"/>
              <a:t>Distances are calculated between each pair of genes/samples</a:t>
            </a:r>
          </a:p>
          <a:p>
            <a:pPr lvl="1">
              <a:lnSpc>
                <a:spcPct val="80000"/>
              </a:lnSpc>
            </a:pPr>
            <a:endParaRPr lang="en-US" sz="2000"/>
          </a:p>
          <a:p>
            <a:pPr lvl="1">
              <a:lnSpc>
                <a:spcPct val="80000"/>
              </a:lnSpc>
            </a:pPr>
            <a:r>
              <a:rPr lang="en-US" sz="2000"/>
              <a:t>A kernel is implemented to transform the distances to a predefined function (cells in adjacency matrix)</a:t>
            </a:r>
          </a:p>
          <a:p>
            <a:pPr lvl="1">
              <a:lnSpc>
                <a:spcPct val="80000"/>
              </a:lnSpc>
            </a:pPr>
            <a:endParaRPr lang="en-US" sz="2000"/>
          </a:p>
          <a:p>
            <a:pPr lvl="1">
              <a:lnSpc>
                <a:spcPct val="80000"/>
              </a:lnSpc>
            </a:pPr>
            <a:r>
              <a:rPr lang="en-US" sz="2000"/>
              <a:t>The Laplacian decomposes the adjacency matrix</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Grp="1" noChangeArrowheads="1"/>
          </p:cNvSpPr>
          <p:nvPr>
            <p:ph type="title"/>
          </p:nvPr>
        </p:nvSpPr>
        <p:spPr/>
        <p:txBody>
          <a:bodyPr/>
          <a:lstStyle/>
          <a:p>
            <a:r>
              <a:rPr lang="en-US"/>
              <a:t>Laplacian of an image-used for edge detection</a:t>
            </a:r>
          </a:p>
        </p:txBody>
      </p:sp>
      <p:pic>
        <p:nvPicPr>
          <p:cNvPr id="326659" name="Picture 3"/>
          <p:cNvPicPr>
            <a:picLocks noChangeAspect="1" noChangeArrowheads="1"/>
          </p:cNvPicPr>
          <p:nvPr/>
        </p:nvPicPr>
        <p:blipFill>
          <a:blip r:embed="rId3">
            <a:extLst>
              <a:ext uri="{28A0092B-C50C-407E-A947-70E740481C1C}">
                <a14:useLocalDpi xmlns:a14="http://schemas.microsoft.com/office/drawing/2010/main" val="0"/>
              </a:ext>
            </a:extLst>
          </a:blip>
          <a:srcRect l="9346" t="32558" r="3738" b="36047"/>
          <a:stretch>
            <a:fillRect/>
          </a:stretch>
        </p:blipFill>
        <p:spPr bwMode="auto">
          <a:xfrm>
            <a:off x="533400" y="2895600"/>
            <a:ext cx="8153400"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6660" name="Text Box 4"/>
          <p:cNvSpPr txBox="1">
            <a:spLocks noChangeArrowheads="1"/>
          </p:cNvSpPr>
          <p:nvPr/>
        </p:nvSpPr>
        <p:spPr bwMode="auto">
          <a:xfrm>
            <a:off x="1447800" y="2133600"/>
            <a:ext cx="190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Original image</a:t>
            </a:r>
          </a:p>
        </p:txBody>
      </p:sp>
      <p:sp>
        <p:nvSpPr>
          <p:cNvPr id="326661" name="Text Box 5"/>
          <p:cNvSpPr txBox="1">
            <a:spLocks noChangeArrowheads="1"/>
          </p:cNvSpPr>
          <p:nvPr/>
        </p:nvSpPr>
        <p:spPr bwMode="auto">
          <a:xfrm>
            <a:off x="5715000" y="2133600"/>
            <a:ext cx="2667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Laplacian filtered image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a:xfrm>
            <a:off x="457200" y="609600"/>
            <a:ext cx="7543800" cy="579438"/>
          </a:xfrm>
        </p:spPr>
        <p:txBody>
          <a:bodyPr/>
          <a:lstStyle/>
          <a:p>
            <a:r>
              <a:rPr lang="en-US" sz="3500"/>
              <a:t>The Laplacian steps</a:t>
            </a:r>
            <a:endParaRPr lang="en-US" sz="3500" baseline="30000"/>
          </a:p>
        </p:txBody>
      </p:sp>
      <p:sp>
        <p:nvSpPr>
          <p:cNvPr id="322565" name="Rectangle 5"/>
          <p:cNvSpPr>
            <a:spLocks noChangeArrowheads="1"/>
          </p:cNvSpPr>
          <p:nvPr/>
        </p:nvSpPr>
        <p:spPr bwMode="auto">
          <a:xfrm>
            <a:off x="457200" y="1295400"/>
            <a:ext cx="82296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692150" lvl="1" indent="-347663">
              <a:spcBef>
                <a:spcPct val="20000"/>
              </a:spcBef>
              <a:buClr>
                <a:schemeClr val="accent2"/>
              </a:buClr>
              <a:buSzPct val="70000"/>
              <a:buFont typeface="Wingdings" pitchFamily="2" charset="2"/>
              <a:buChar char="l"/>
            </a:pPr>
            <a:r>
              <a:rPr lang="en-US"/>
              <a:t>Given a set of points X = {x1, x2, ….xn} in </a:t>
            </a:r>
            <a:r>
              <a:rPr lang="en-US" b="1">
                <a:sym typeface="Symbol" pitchFamily="18" charset="2"/>
              </a:rPr>
              <a:t></a:t>
            </a:r>
            <a:r>
              <a:rPr lang="en-US" b="1" baseline="30000"/>
              <a:t>q</a:t>
            </a:r>
            <a:r>
              <a:rPr lang="en-US" i="1"/>
              <a:t>,</a:t>
            </a:r>
            <a:r>
              <a:rPr lang="en-US"/>
              <a:t> let G = (E,V) be a graph with edge weights E and vertices V  </a:t>
            </a:r>
          </a:p>
          <a:p>
            <a:pPr marL="987425" lvl="2" indent="-293688">
              <a:spcBef>
                <a:spcPct val="20000"/>
              </a:spcBef>
              <a:buClr>
                <a:schemeClr val="accent1"/>
              </a:buClr>
              <a:buSzPct val="70000"/>
              <a:buFont typeface="Wingdings" pitchFamily="2" charset="2"/>
              <a:buChar char="l"/>
            </a:pPr>
            <a:r>
              <a:rPr lang="en-US" sz="1400"/>
              <a:t>Consistent with standard terminology from graph theory, we can construct a graph, where each pair of vertices (x</a:t>
            </a:r>
            <a:r>
              <a:rPr lang="en-US" sz="1400" baseline="-25000"/>
              <a:t>i</a:t>
            </a:r>
            <a:r>
              <a:rPr lang="en-US" sz="1400"/>
              <a:t>,x</a:t>
            </a:r>
            <a:r>
              <a:rPr lang="en-US" sz="1400" baseline="-25000"/>
              <a:t>j</a:t>
            </a:r>
            <a:r>
              <a:rPr lang="en-US" sz="1400"/>
              <a:t> </a:t>
            </a:r>
            <a:r>
              <a:rPr lang="en-US" sz="1400">
                <a:sym typeface="Symbol" pitchFamily="18" charset="2"/>
              </a:rPr>
              <a:t></a:t>
            </a:r>
            <a:r>
              <a:rPr lang="en-US" sz="1400"/>
              <a:t> V(G)) is assigned a weight specific to the distance between them.  </a:t>
            </a:r>
          </a:p>
          <a:p>
            <a:pPr marL="987425" lvl="2" indent="-293688">
              <a:spcBef>
                <a:spcPct val="20000"/>
              </a:spcBef>
              <a:buClr>
                <a:schemeClr val="accent1"/>
              </a:buClr>
              <a:buSzPct val="70000"/>
              <a:buFont typeface="Wingdings" pitchFamily="2" charset="2"/>
              <a:buChar char="l"/>
            </a:pPr>
            <a:r>
              <a:rPr lang="en-US" sz="1400"/>
              <a:t>These edge weights are represented as cells in the matrix A</a:t>
            </a:r>
          </a:p>
          <a:p>
            <a:pPr marL="692150" lvl="1" indent="-347663">
              <a:spcBef>
                <a:spcPct val="20000"/>
              </a:spcBef>
              <a:buClr>
                <a:schemeClr val="accent2"/>
              </a:buClr>
              <a:buSzPct val="70000"/>
              <a:buFont typeface="Wingdings" pitchFamily="2" charset="2"/>
              <a:buChar char="l"/>
            </a:pPr>
            <a:r>
              <a:rPr lang="en-US"/>
              <a:t>Then the adjacency matrix, K</a:t>
            </a:r>
            <a:r>
              <a:rPr lang="en-US" baseline="-25000"/>
              <a:t>1</a:t>
            </a:r>
            <a:r>
              <a:rPr lang="en-US"/>
              <a:t> is calculated from A by the kernel estimate K</a:t>
            </a:r>
            <a:r>
              <a:rPr lang="en-US" baseline="-25000"/>
              <a:t>1</a:t>
            </a:r>
            <a:r>
              <a:rPr lang="en-US"/>
              <a:t> = e </a:t>
            </a:r>
            <a:r>
              <a:rPr lang="en-US" baseline="30000"/>
              <a:t>–(||xi – xj||</a:t>
            </a:r>
            <a:r>
              <a:rPr lang="en-US" baseline="30000">
                <a:cs typeface="Arial" charset="0"/>
              </a:rPr>
              <a:t>²</a:t>
            </a:r>
            <a:r>
              <a:rPr lang="en-US" baseline="30000"/>
              <a:t> /</a:t>
            </a:r>
            <a:r>
              <a:rPr lang="el-GR" baseline="30000"/>
              <a:t>ε</a:t>
            </a:r>
            <a:r>
              <a:rPr lang="en-US" baseline="30000"/>
              <a:t>)</a:t>
            </a:r>
            <a:r>
              <a:rPr lang="en-US"/>
              <a:t>  </a:t>
            </a:r>
          </a:p>
          <a:p>
            <a:pPr marL="987425" lvl="2" indent="-293688">
              <a:spcBef>
                <a:spcPct val="20000"/>
              </a:spcBef>
              <a:buClr>
                <a:schemeClr val="accent1"/>
              </a:buClr>
              <a:buSzPct val="70000"/>
              <a:buFont typeface="Wingdings" pitchFamily="2" charset="2"/>
              <a:buChar char="l"/>
            </a:pPr>
            <a:r>
              <a:rPr lang="en-US" sz="1400"/>
              <a:t>where K</a:t>
            </a:r>
            <a:r>
              <a:rPr lang="en-US" sz="1400" baseline="-25000"/>
              <a:t>1</a:t>
            </a:r>
            <a:r>
              <a:rPr lang="en-US" sz="1400"/>
              <a:t> = K</a:t>
            </a:r>
            <a:r>
              <a:rPr lang="en-US" sz="1400" baseline="-25000"/>
              <a:t>1</a:t>
            </a:r>
            <a:r>
              <a:rPr lang="en-US" sz="1400"/>
              <a:t>(G)</a:t>
            </a:r>
          </a:p>
          <a:p>
            <a:pPr marL="692150" lvl="1" indent="-347663">
              <a:spcBef>
                <a:spcPct val="20000"/>
              </a:spcBef>
              <a:buClr>
                <a:schemeClr val="accent2"/>
              </a:buClr>
              <a:buSzPct val="70000"/>
              <a:buFont typeface="Wingdings" pitchFamily="2" charset="2"/>
              <a:buChar char="l"/>
            </a:pPr>
            <a:r>
              <a:rPr lang="en-US"/>
              <a:t>The degree matrix D is a diagonal matrix calculated from the row sums of K</a:t>
            </a:r>
            <a:r>
              <a:rPr lang="en-US" baseline="-25000"/>
              <a:t>1</a:t>
            </a:r>
            <a:r>
              <a:rPr lang="en-US"/>
              <a:t> (D</a:t>
            </a:r>
            <a:r>
              <a:rPr lang="en-US" baseline="-25000"/>
              <a:t>ii</a:t>
            </a:r>
            <a:r>
              <a:rPr lang="en-US"/>
              <a:t> = Σj K</a:t>
            </a:r>
            <a:r>
              <a:rPr lang="en-US" baseline="-25000"/>
              <a:t>1ij</a:t>
            </a:r>
            <a:r>
              <a:rPr lang="en-US"/>
              <a:t>)</a:t>
            </a:r>
          </a:p>
          <a:p>
            <a:pPr marL="692150" lvl="1" indent="-347663">
              <a:spcBef>
                <a:spcPct val="20000"/>
              </a:spcBef>
              <a:buClr>
                <a:schemeClr val="accent2"/>
              </a:buClr>
              <a:buSzPct val="70000"/>
              <a:buFont typeface="Wingdings" pitchFamily="2" charset="2"/>
              <a:buChar char="l"/>
            </a:pPr>
            <a:r>
              <a:rPr lang="en-US"/>
              <a:t>Then the normalized Laplacian is calculated as: L = D</a:t>
            </a:r>
            <a:r>
              <a:rPr lang="en-US" baseline="30000"/>
              <a:t>-1/2</a:t>
            </a:r>
            <a:r>
              <a:rPr lang="en-US"/>
              <a:t>*K</a:t>
            </a:r>
            <a:r>
              <a:rPr lang="en-US" baseline="-25000"/>
              <a:t>1</a:t>
            </a:r>
            <a:r>
              <a:rPr lang="en-US"/>
              <a:t>*D</a:t>
            </a:r>
            <a:r>
              <a:rPr lang="en-US" baseline="30000"/>
              <a:t>-1/2</a:t>
            </a:r>
          </a:p>
          <a:p>
            <a:pPr marL="692150" lvl="1" indent="-347663">
              <a:spcBef>
                <a:spcPct val="20000"/>
              </a:spcBef>
              <a:buClr>
                <a:schemeClr val="accent2"/>
              </a:buClr>
              <a:buSzPct val="70000"/>
              <a:buFont typeface="Wingdings" pitchFamily="2" charset="2"/>
              <a:buChar char="l"/>
            </a:pPr>
            <a:r>
              <a:rPr lang="en-US"/>
              <a:t>The eigenvectors are computed from the matrix L and placed as columns of matrix X.  The rows of the matrix (X) are scaled to unit length into the matrix Y</a:t>
            </a:r>
          </a:p>
          <a:p>
            <a:pPr marL="987425" lvl="2" indent="-293688">
              <a:spcBef>
                <a:spcPct val="20000"/>
              </a:spcBef>
              <a:buClr>
                <a:schemeClr val="accent1"/>
              </a:buClr>
              <a:buSzPct val="70000"/>
              <a:buFont typeface="Wingdings" pitchFamily="2" charset="2"/>
              <a:buChar char="l"/>
            </a:pPr>
            <a:r>
              <a:rPr lang="en-US" sz="1400"/>
              <a:t>Y</a:t>
            </a:r>
            <a:r>
              <a:rPr lang="en-US" sz="1400" baseline="-25000"/>
              <a:t>ij</a:t>
            </a:r>
            <a:r>
              <a:rPr lang="en-US" sz="1400"/>
              <a:t> = X</a:t>
            </a:r>
            <a:r>
              <a:rPr lang="en-US" sz="1400" baseline="-25000"/>
              <a:t>ij</a:t>
            </a:r>
            <a:r>
              <a:rPr lang="en-US" sz="1400"/>
              <a:t> / (Σ</a:t>
            </a:r>
            <a:r>
              <a:rPr lang="en-US" sz="1400" baseline="-25000"/>
              <a:t>j</a:t>
            </a:r>
            <a:r>
              <a:rPr lang="en-US" sz="1400"/>
              <a:t>X</a:t>
            </a:r>
            <a:r>
              <a:rPr lang="en-US" sz="1400" baseline="30000"/>
              <a:t>2</a:t>
            </a:r>
            <a:r>
              <a:rPr lang="en-US" sz="1400" baseline="-25000"/>
              <a:t>ij</a:t>
            </a:r>
            <a:r>
              <a:rPr lang="en-US" sz="1400"/>
              <a:t>)</a:t>
            </a:r>
            <a:r>
              <a:rPr lang="en-US" sz="1400" baseline="30000"/>
              <a:t>1/2</a:t>
            </a:r>
          </a:p>
          <a:p>
            <a:pPr marL="692150" lvl="1" indent="-347663">
              <a:spcBef>
                <a:spcPct val="20000"/>
              </a:spcBef>
              <a:buClr>
                <a:schemeClr val="accent2"/>
              </a:buClr>
              <a:buSzPct val="70000"/>
              <a:buFont typeface="Wingdings" pitchFamily="2" charset="2"/>
              <a:buChar char="l"/>
            </a:pPr>
            <a:r>
              <a:rPr lang="en-US"/>
              <a:t>Utilizing the primary </a:t>
            </a:r>
            <a:r>
              <a:rPr lang="el-GR"/>
              <a:t>Φ</a:t>
            </a:r>
            <a:r>
              <a:rPr lang="en-US"/>
              <a:t> columns of this Y matrix, the data can be embedded as points in </a:t>
            </a:r>
            <a:r>
              <a:rPr lang="en-US" b="1">
                <a:sym typeface="Symbol" pitchFamily="18" charset="2"/>
              </a:rPr>
              <a:t></a:t>
            </a:r>
            <a:r>
              <a:rPr lang="el-GR" baseline="30000"/>
              <a:t>Φ</a:t>
            </a:r>
            <a:endParaRPr lang="en-US"/>
          </a:p>
          <a:p>
            <a:pPr marL="987425" lvl="2" indent="-293688">
              <a:spcBef>
                <a:spcPct val="20000"/>
              </a:spcBef>
              <a:buClr>
                <a:schemeClr val="accent1"/>
              </a:buClr>
              <a:buSzPct val="70000"/>
              <a:buFont typeface="Wingdings" pitchFamily="2" charset="2"/>
              <a:buChar char="l"/>
            </a:pPr>
            <a:r>
              <a:rPr lang="en-US" sz="1400"/>
              <a:t>Usually use first and second columns of matrix Y (</a:t>
            </a:r>
            <a:r>
              <a:rPr lang="el-GR" sz="1400"/>
              <a:t>Φ</a:t>
            </a:r>
            <a:r>
              <a:rPr lang="en-US" sz="1400" baseline="-25000"/>
              <a:t>1</a:t>
            </a:r>
            <a:r>
              <a:rPr lang="en-US" sz="1400"/>
              <a:t> and </a:t>
            </a:r>
            <a:r>
              <a:rPr lang="el-GR" sz="1400"/>
              <a:t>Φ</a:t>
            </a:r>
            <a:r>
              <a:rPr lang="en-US" sz="1400" baseline="-25000"/>
              <a:t>2</a:t>
            </a:r>
            <a:r>
              <a:rPr lang="en-US" sz="1400"/>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a:xfrm>
            <a:off x="457200" y="122238"/>
            <a:ext cx="7543800" cy="792162"/>
          </a:xfrm>
        </p:spPr>
        <p:txBody>
          <a:bodyPr/>
          <a:lstStyle/>
          <a:p>
            <a:r>
              <a:rPr lang="en-US" sz="3000"/>
              <a:t>Weighted Graph Laplacian plot</a:t>
            </a:r>
          </a:p>
        </p:txBody>
      </p:sp>
      <p:pic>
        <p:nvPicPr>
          <p:cNvPr id="324634" name="Picture 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524000"/>
            <a:ext cx="5181600" cy="517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a:xfrm>
            <a:off x="457200" y="792163"/>
            <a:ext cx="7543800" cy="503237"/>
          </a:xfrm>
        </p:spPr>
        <p:txBody>
          <a:bodyPr/>
          <a:lstStyle/>
          <a:p>
            <a:r>
              <a:rPr lang="en-US" sz="3500"/>
              <a:t>Isometric feature mapping </a:t>
            </a:r>
            <a:r>
              <a:rPr lang="en-US" sz="2700"/>
              <a:t>(ISOMAP)</a:t>
            </a:r>
          </a:p>
        </p:txBody>
      </p:sp>
      <p:sp>
        <p:nvSpPr>
          <p:cNvPr id="299011" name="Rectangle 3"/>
          <p:cNvSpPr>
            <a:spLocks noGrp="1" noChangeArrowheads="1"/>
          </p:cNvSpPr>
          <p:nvPr>
            <p:ph type="body" idx="1"/>
          </p:nvPr>
        </p:nvSpPr>
        <p:spPr>
          <a:xfrm>
            <a:off x="457200" y="1371600"/>
            <a:ext cx="8229600" cy="5334000"/>
          </a:xfrm>
        </p:spPr>
        <p:txBody>
          <a:bodyPr/>
          <a:lstStyle/>
          <a:p>
            <a:pPr lvl="1"/>
            <a:endParaRPr lang="en-US" sz="2000"/>
          </a:p>
          <a:p>
            <a:pPr lvl="1"/>
            <a:r>
              <a:rPr lang="en-US" sz="2000"/>
              <a:t>Isomap is a nonlinear mapping of distances between points</a:t>
            </a:r>
          </a:p>
          <a:p>
            <a:pPr lvl="2"/>
            <a:r>
              <a:rPr lang="en-US" sz="1800"/>
              <a:t>Similar MDS, but assumes that data is not linear in structure</a:t>
            </a:r>
          </a:p>
          <a:p>
            <a:pPr lvl="1"/>
            <a:r>
              <a:rPr lang="en-US" sz="2000"/>
              <a:t>Determined subspace that best preserves geodesic inter-point distances between genes/samples</a:t>
            </a:r>
          </a:p>
          <a:p>
            <a:pPr lvl="2"/>
            <a:r>
              <a:rPr lang="en-US" sz="1800"/>
              <a:t>Geodesic distance: smallest distance between 2 points, where the path must use neighboring points</a:t>
            </a:r>
          </a:p>
          <a:p>
            <a:pPr lvl="1"/>
            <a:r>
              <a:rPr lang="en-US" sz="2000"/>
              <a:t>Similarities or distances are calculated between each pair of genes/samples</a:t>
            </a:r>
          </a:p>
          <a:p>
            <a:pPr lvl="1"/>
            <a:r>
              <a:rPr lang="en-US" sz="2000"/>
              <a:t>Points are connected using neighbor value (K) or radius (</a:t>
            </a:r>
            <a:r>
              <a:rPr lang="en-US" sz="2800"/>
              <a:t>ε</a:t>
            </a:r>
            <a:r>
              <a:rPr lang="en-US" sz="2000"/>
              <a:t>)</a:t>
            </a:r>
          </a:p>
          <a:p>
            <a:pPr lvl="1"/>
            <a:r>
              <a:rPr lang="en-US" sz="2000"/>
              <a:t> New distance between points is calculated, based on path through neighboring points</a:t>
            </a:r>
          </a:p>
          <a:p>
            <a:pPr lvl="1"/>
            <a:r>
              <a:rPr lang="en-US" sz="2000"/>
              <a:t>ISOMAP code is written in the kmethods package, but this is currently only available on the Linux/Unix OS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a:lstStyle/>
          <a:p>
            <a:r>
              <a:rPr lang="en-US" sz="3500"/>
              <a:t>ISOMAP steps</a:t>
            </a:r>
            <a:r>
              <a:rPr lang="en-US" sz="3500" baseline="30000"/>
              <a:t>5</a:t>
            </a:r>
          </a:p>
        </p:txBody>
      </p:sp>
      <p:pic>
        <p:nvPicPr>
          <p:cNvPr id="301061"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0768" t="25908" r="11160" b="24002"/>
          <a:stretch>
            <a:fillRect/>
          </a:stretch>
        </p:blipFill>
        <p:spPr>
          <a:xfrm>
            <a:off x="533400" y="2057400"/>
            <a:ext cx="8077200" cy="4038600"/>
          </a:xfrm>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Rectangle 2"/>
          <p:cNvSpPr>
            <a:spLocks noGrp="1" noChangeArrowheads="1"/>
          </p:cNvSpPr>
          <p:nvPr>
            <p:ph type="title"/>
          </p:nvPr>
        </p:nvSpPr>
        <p:spPr>
          <a:xfrm>
            <a:off x="457200" y="427038"/>
            <a:ext cx="7543800" cy="715962"/>
          </a:xfrm>
        </p:spPr>
        <p:txBody>
          <a:bodyPr/>
          <a:lstStyle/>
          <a:p>
            <a:r>
              <a:rPr lang="en-US" sz="3500"/>
              <a:t>Nonlinear data example</a:t>
            </a:r>
          </a:p>
        </p:txBody>
      </p:sp>
      <p:sp>
        <p:nvSpPr>
          <p:cNvPr id="300043" name="Text Box 11"/>
          <p:cNvSpPr txBox="1">
            <a:spLocks noChangeArrowheads="1"/>
          </p:cNvSpPr>
          <p:nvPr/>
        </p:nvSpPr>
        <p:spPr bwMode="auto">
          <a:xfrm>
            <a:off x="685800" y="5410200"/>
            <a:ext cx="80772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The fastest path from A to B is along the yellow line, however, if the data is best explained by the coil structure, much of the information is lost</a:t>
            </a:r>
          </a:p>
          <a:p>
            <a:pPr>
              <a:spcBef>
                <a:spcPct val="50000"/>
              </a:spcBef>
            </a:pPr>
            <a:r>
              <a:rPr lang="en-US"/>
              <a:t>Instead of linear distance, use geodesic distance</a:t>
            </a:r>
          </a:p>
        </p:txBody>
      </p:sp>
      <p:pic>
        <p:nvPicPr>
          <p:cNvPr id="300045" name="Picture 13"/>
          <p:cNvPicPr>
            <a:picLocks noChangeAspect="1" noChangeArrowheads="1"/>
          </p:cNvPicPr>
          <p:nvPr/>
        </p:nvPicPr>
        <p:blipFill>
          <a:blip r:embed="rId3">
            <a:extLst>
              <a:ext uri="{28A0092B-C50C-407E-A947-70E740481C1C}">
                <a14:useLocalDpi xmlns:a14="http://schemas.microsoft.com/office/drawing/2010/main" val="0"/>
              </a:ext>
            </a:extLst>
          </a:blip>
          <a:srcRect l="33267" t="51935" r="38126" b="24348"/>
          <a:stretch>
            <a:fillRect/>
          </a:stretch>
        </p:blipFill>
        <p:spPr bwMode="auto">
          <a:xfrm>
            <a:off x="2133600" y="1600200"/>
            <a:ext cx="5029200" cy="32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0048" name="Text Box 16"/>
          <p:cNvSpPr txBox="1">
            <a:spLocks noChangeArrowheads="1"/>
          </p:cNvSpPr>
          <p:nvPr/>
        </p:nvSpPr>
        <p:spPr bwMode="auto">
          <a:xfrm>
            <a:off x="6400800" y="35052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b="1">
                <a:solidFill>
                  <a:schemeClr val="bg1"/>
                </a:solidFill>
              </a:rPr>
              <a:t>A</a:t>
            </a:r>
          </a:p>
        </p:txBody>
      </p:sp>
      <p:sp>
        <p:nvSpPr>
          <p:cNvPr id="300049" name="Text Box 17"/>
          <p:cNvSpPr txBox="1">
            <a:spLocks noChangeArrowheads="1"/>
          </p:cNvSpPr>
          <p:nvPr/>
        </p:nvSpPr>
        <p:spPr bwMode="auto">
          <a:xfrm>
            <a:off x="2590800" y="3733800"/>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b="1">
                <a:solidFill>
                  <a:schemeClr val="bg1"/>
                </a:solidFill>
              </a:rPr>
              <a:t>B</a:t>
            </a:r>
          </a:p>
        </p:txBody>
      </p:sp>
      <p:sp>
        <p:nvSpPr>
          <p:cNvPr id="300056" name="Line 24"/>
          <p:cNvSpPr>
            <a:spLocks noChangeShapeType="1"/>
          </p:cNvSpPr>
          <p:nvPr/>
        </p:nvSpPr>
        <p:spPr bwMode="auto">
          <a:xfrm flipH="1">
            <a:off x="2895600" y="3657600"/>
            <a:ext cx="3581400" cy="228600"/>
          </a:xfrm>
          <a:prstGeom prst="line">
            <a:avLst/>
          </a:prstGeom>
          <a:noFill/>
          <a:ln w="57150">
            <a:solidFill>
              <a:srgbClr val="FFFF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457200" y="427038"/>
            <a:ext cx="7543800" cy="715962"/>
          </a:xfrm>
        </p:spPr>
        <p:txBody>
          <a:bodyPr/>
          <a:lstStyle/>
          <a:p>
            <a:r>
              <a:rPr lang="en-US" sz="3500"/>
              <a:t>Nonlinear data-Swiss roll example</a:t>
            </a:r>
          </a:p>
        </p:txBody>
      </p:sp>
      <p:pic>
        <p:nvPicPr>
          <p:cNvPr id="303112" name="Picture 8"/>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l="16153" t="31090" r="48851" b="27457"/>
          <a:stretch>
            <a:fillRect/>
          </a:stretch>
        </p:blipFill>
        <p:spPr>
          <a:xfrm>
            <a:off x="1828800" y="1219200"/>
            <a:ext cx="4953000" cy="4572000"/>
          </a:xfrm>
          <a:noFill/>
          <a:ln/>
        </p:spPr>
      </p:pic>
      <p:sp>
        <p:nvSpPr>
          <p:cNvPr id="303114" name="Text Box 10"/>
          <p:cNvSpPr txBox="1">
            <a:spLocks noChangeArrowheads="1"/>
          </p:cNvSpPr>
          <p:nvPr/>
        </p:nvSpPr>
        <p:spPr bwMode="auto">
          <a:xfrm>
            <a:off x="685800" y="5943600"/>
            <a:ext cx="8077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t>The Euclidean distance between the two points (dashed line) may not reflect the true distance inherent in the data</a:t>
            </a:r>
            <a:r>
              <a:rPr lang="en-US" baseline="30000"/>
              <a:t>5</a:t>
            </a:r>
          </a:p>
        </p:txBody>
      </p:sp>
      <p:sp>
        <p:nvSpPr>
          <p:cNvPr id="303115" name="Text Box 11"/>
          <p:cNvSpPr txBox="1">
            <a:spLocks noChangeArrowheads="1"/>
          </p:cNvSpPr>
          <p:nvPr/>
        </p:nvSpPr>
        <p:spPr bwMode="auto">
          <a:xfrm>
            <a:off x="4114800" y="3138488"/>
            <a:ext cx="381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rgbClr val="3366FF"/>
                </a:solidFill>
              </a:rPr>
              <a:t>A</a:t>
            </a:r>
          </a:p>
        </p:txBody>
      </p:sp>
      <p:sp>
        <p:nvSpPr>
          <p:cNvPr id="303116" name="Text Box 12"/>
          <p:cNvSpPr txBox="1">
            <a:spLocks noChangeArrowheads="1"/>
          </p:cNvSpPr>
          <p:nvPr/>
        </p:nvSpPr>
        <p:spPr bwMode="auto">
          <a:xfrm>
            <a:off x="60960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b="1">
                <a:solidFill>
                  <a:srgbClr val="3366FF"/>
                </a:solidFill>
              </a:rPr>
              <a:t>B</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457200" y="122238"/>
            <a:ext cx="7543800" cy="868362"/>
          </a:xfrm>
        </p:spPr>
        <p:txBody>
          <a:bodyPr/>
          <a:lstStyle/>
          <a:p>
            <a:r>
              <a:rPr lang="en-US"/>
              <a:t>Which method to use when?</a:t>
            </a:r>
          </a:p>
        </p:txBody>
      </p:sp>
      <p:sp>
        <p:nvSpPr>
          <p:cNvPr id="390147" name="Rectangle 3"/>
          <p:cNvSpPr>
            <a:spLocks noGrp="1" noChangeArrowheads="1"/>
          </p:cNvSpPr>
          <p:nvPr>
            <p:ph type="body" idx="1"/>
          </p:nvPr>
        </p:nvSpPr>
        <p:spPr>
          <a:xfrm>
            <a:off x="457200" y="1447800"/>
            <a:ext cx="8229600" cy="4683125"/>
          </a:xfrm>
        </p:spPr>
        <p:txBody>
          <a:bodyPr/>
          <a:lstStyle/>
          <a:p>
            <a:pPr>
              <a:lnSpc>
                <a:spcPct val="80000"/>
              </a:lnSpc>
            </a:pPr>
            <a:r>
              <a:rPr lang="en-US" sz="2100"/>
              <a:t>The appropriate method of dimensionality entirely depends on the data structure analyzed</a:t>
            </a:r>
          </a:p>
          <a:p>
            <a:pPr>
              <a:lnSpc>
                <a:spcPct val="80000"/>
              </a:lnSpc>
            </a:pPr>
            <a:r>
              <a:rPr lang="en-US" sz="2100"/>
              <a:t>It can be argued that nonlinear data structures are best rendered into a lower dimensional space with nonlinear methods of dimensionality reduction</a:t>
            </a:r>
          </a:p>
          <a:p>
            <a:pPr lvl="1">
              <a:lnSpc>
                <a:spcPct val="80000"/>
              </a:lnSpc>
            </a:pPr>
            <a:r>
              <a:rPr lang="en-US" sz="2000"/>
              <a:t>Curved surfaces</a:t>
            </a:r>
          </a:p>
          <a:p>
            <a:pPr lvl="1">
              <a:lnSpc>
                <a:spcPct val="80000"/>
              </a:lnSpc>
            </a:pPr>
            <a:r>
              <a:rPr lang="en-US" sz="2000"/>
              <a:t>Wave patterns</a:t>
            </a:r>
          </a:p>
          <a:p>
            <a:pPr lvl="1">
              <a:lnSpc>
                <a:spcPct val="80000"/>
              </a:lnSpc>
            </a:pPr>
            <a:r>
              <a:rPr lang="en-US" sz="2000"/>
              <a:t>A nonlinear example follows on next few slides</a:t>
            </a:r>
          </a:p>
          <a:p>
            <a:pPr>
              <a:lnSpc>
                <a:spcPct val="80000"/>
              </a:lnSpc>
            </a:pPr>
            <a:r>
              <a:rPr lang="en-US" sz="2100"/>
              <a:t>Typically, the method that explains the most variance in fewest number of dimensions is ideal</a:t>
            </a:r>
          </a:p>
          <a:p>
            <a:pPr lvl="1">
              <a:lnSpc>
                <a:spcPct val="80000"/>
              </a:lnSpc>
            </a:pPr>
            <a:r>
              <a:rPr lang="en-US" sz="2000"/>
              <a:t>Can use a scree plot to determine this</a:t>
            </a:r>
          </a:p>
          <a:p>
            <a:pPr>
              <a:lnSpc>
                <a:spcPct val="80000"/>
              </a:lnSpc>
            </a:pPr>
            <a:r>
              <a:rPr lang="en-US" sz="2100"/>
              <a:t>Or alternatively, if classification or error patterns are known, the method that best preserves the known structure can be the most appropriate</a:t>
            </a:r>
          </a:p>
          <a:p>
            <a:pPr lvl="1">
              <a:lnSpc>
                <a:spcPct val="80000"/>
              </a:lnSpc>
            </a:pPr>
            <a:r>
              <a:rPr lang="en-US" sz="2000"/>
              <a:t>Must have prior information to assess this</a:t>
            </a:r>
          </a:p>
          <a:p>
            <a:pPr lvl="1">
              <a:lnSpc>
                <a:spcPct val="80000"/>
              </a:lnSpc>
              <a:buFont typeface="Wingdings" pitchFamily="2" charset="2"/>
              <a:buNone/>
            </a:pP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457200" y="122238"/>
            <a:ext cx="7543800" cy="868362"/>
          </a:xfrm>
        </p:spPr>
        <p:txBody>
          <a:bodyPr/>
          <a:lstStyle/>
          <a:p>
            <a:r>
              <a:rPr lang="en-US"/>
              <a:t>Example problem</a:t>
            </a:r>
          </a:p>
        </p:txBody>
      </p:sp>
      <p:sp>
        <p:nvSpPr>
          <p:cNvPr id="392195" name="Rectangle 3"/>
          <p:cNvSpPr>
            <a:spLocks noGrp="1" noChangeArrowheads="1"/>
          </p:cNvSpPr>
          <p:nvPr>
            <p:ph type="body" idx="1"/>
          </p:nvPr>
        </p:nvSpPr>
        <p:spPr>
          <a:xfrm>
            <a:off x="457200" y="1219200"/>
            <a:ext cx="7620000" cy="1981200"/>
          </a:xfrm>
        </p:spPr>
        <p:txBody>
          <a:bodyPr/>
          <a:lstStyle/>
          <a:p>
            <a:pPr>
              <a:lnSpc>
                <a:spcPct val="80000"/>
              </a:lnSpc>
            </a:pPr>
            <a:r>
              <a:rPr lang="en-US" sz="1500"/>
              <a:t>The raw structure below is only represented in 2 dimensions so we can visualize the patterns</a:t>
            </a:r>
          </a:p>
          <a:p>
            <a:pPr>
              <a:lnSpc>
                <a:spcPct val="80000"/>
              </a:lnSpc>
            </a:pPr>
            <a:r>
              <a:rPr lang="en-US" sz="1500"/>
              <a:t>We want to group the 3 concentric circles into 3 groups (one for each circle)</a:t>
            </a:r>
          </a:p>
          <a:p>
            <a:pPr>
              <a:lnSpc>
                <a:spcPct val="80000"/>
              </a:lnSpc>
            </a:pPr>
            <a:r>
              <a:rPr lang="en-US" sz="1500"/>
              <a:t>We can use multiple methods of dimensionality reduction to essentially embed this into 2 dimensions and then cluster (</a:t>
            </a:r>
            <a:r>
              <a:rPr lang="en-US" sz="1500" i="1"/>
              <a:t>k</a:t>
            </a:r>
            <a:r>
              <a:rPr lang="en-US" sz="1500"/>
              <a:t>-means) on this subspace embedding</a:t>
            </a:r>
          </a:p>
          <a:p>
            <a:pPr lvl="1">
              <a:lnSpc>
                <a:spcPct val="80000"/>
              </a:lnSpc>
            </a:pPr>
            <a:r>
              <a:rPr lang="en-US" sz="1300"/>
              <a:t>Obviously we don’t gain a lot in reducing an original 2-dimensional structure into 2 dimensions, but this example helps to compare how each method will embed the data</a:t>
            </a:r>
          </a:p>
          <a:p>
            <a:pPr lvl="1">
              <a:lnSpc>
                <a:spcPct val="80000"/>
              </a:lnSpc>
            </a:pPr>
            <a:r>
              <a:rPr lang="en-US" sz="1300"/>
              <a:t>For </a:t>
            </a:r>
            <a:r>
              <a:rPr lang="en-US" sz="1300" i="1"/>
              <a:t>k</a:t>
            </a:r>
            <a:r>
              <a:rPr lang="en-US" sz="1300"/>
              <a:t>-means clustering, </a:t>
            </a:r>
            <a:r>
              <a:rPr lang="en-US" sz="1300" i="1"/>
              <a:t>k</a:t>
            </a:r>
            <a:r>
              <a:rPr lang="en-US" sz="1300"/>
              <a:t>=3; one for each circle</a:t>
            </a:r>
          </a:p>
        </p:txBody>
      </p:sp>
      <p:pic>
        <p:nvPicPr>
          <p:cNvPr id="392196" name="Picture 4"/>
          <p:cNvPicPr>
            <a:picLocks noChangeAspect="1" noChangeArrowheads="1"/>
          </p:cNvPicPr>
          <p:nvPr/>
        </p:nvPicPr>
        <p:blipFill>
          <a:blip r:embed="rId3">
            <a:extLst>
              <a:ext uri="{28A0092B-C50C-407E-A947-70E740481C1C}">
                <a14:useLocalDpi xmlns:a14="http://schemas.microsoft.com/office/drawing/2010/main" val="0"/>
              </a:ext>
            </a:extLst>
          </a:blip>
          <a:srcRect l="12187" t="6538" r="59781" b="61868"/>
          <a:stretch>
            <a:fillRect/>
          </a:stretch>
        </p:blipFill>
        <p:spPr bwMode="auto">
          <a:xfrm>
            <a:off x="2289175" y="2971800"/>
            <a:ext cx="3863975" cy="388620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457200" y="122238"/>
            <a:ext cx="7543800" cy="639762"/>
          </a:xfrm>
        </p:spPr>
        <p:txBody>
          <a:bodyPr/>
          <a:lstStyle/>
          <a:p>
            <a:r>
              <a:rPr lang="en-US" sz="3500"/>
              <a:t>Example problem-embeddings</a:t>
            </a:r>
          </a:p>
        </p:txBody>
      </p:sp>
      <p:sp>
        <p:nvSpPr>
          <p:cNvPr id="394243" name="Rectangle 3"/>
          <p:cNvSpPr>
            <a:spLocks noGrp="1" noChangeArrowheads="1"/>
          </p:cNvSpPr>
          <p:nvPr>
            <p:ph type="body" idx="1"/>
          </p:nvPr>
        </p:nvSpPr>
        <p:spPr>
          <a:xfrm>
            <a:off x="457200" y="838200"/>
            <a:ext cx="7239000" cy="990600"/>
          </a:xfrm>
        </p:spPr>
        <p:txBody>
          <a:bodyPr/>
          <a:lstStyle/>
          <a:p>
            <a:pPr>
              <a:lnSpc>
                <a:spcPct val="80000"/>
              </a:lnSpc>
            </a:pPr>
            <a:r>
              <a:rPr lang="en-US" sz="1500"/>
              <a:t>For each method, 2 plots are provided: the left plot is the raw data structure and the right plot is the embedding generated from the specific method of dimensionality reduction</a:t>
            </a:r>
          </a:p>
          <a:p>
            <a:pPr>
              <a:lnSpc>
                <a:spcPct val="80000"/>
              </a:lnSpc>
            </a:pPr>
            <a:r>
              <a:rPr lang="en-US" sz="1500"/>
              <a:t>Coloring is determined from the </a:t>
            </a:r>
            <a:r>
              <a:rPr lang="en-US" sz="1500" i="1"/>
              <a:t>k</a:t>
            </a:r>
            <a:r>
              <a:rPr lang="en-US" sz="1500"/>
              <a:t>-means classified on the embedding space</a:t>
            </a:r>
          </a:p>
        </p:txBody>
      </p:sp>
      <p:pic>
        <p:nvPicPr>
          <p:cNvPr id="394245" name="Picture 5"/>
          <p:cNvPicPr>
            <a:picLocks noChangeAspect="1" noChangeArrowheads="1"/>
          </p:cNvPicPr>
          <p:nvPr/>
        </p:nvPicPr>
        <p:blipFill>
          <a:blip r:embed="rId3">
            <a:extLst>
              <a:ext uri="{28A0092B-C50C-407E-A947-70E740481C1C}">
                <a14:useLocalDpi xmlns:a14="http://schemas.microsoft.com/office/drawing/2010/main" val="0"/>
              </a:ext>
            </a:extLst>
          </a:blip>
          <a:srcRect l="46313" t="10489" r="2499" b="63184"/>
          <a:stretch>
            <a:fillRect/>
          </a:stretch>
        </p:blipFill>
        <p:spPr bwMode="auto">
          <a:xfrm>
            <a:off x="228600" y="2255838"/>
            <a:ext cx="3200400" cy="152400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4246" name="Text Box 6"/>
          <p:cNvSpPr txBox="1">
            <a:spLocks noChangeArrowheads="1"/>
          </p:cNvSpPr>
          <p:nvPr/>
        </p:nvSpPr>
        <p:spPr bwMode="auto">
          <a:xfrm>
            <a:off x="685800" y="2027238"/>
            <a:ext cx="28956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b="1"/>
              <a:t>PCA and metric/classical MDS</a:t>
            </a:r>
          </a:p>
        </p:txBody>
      </p:sp>
      <p:sp>
        <p:nvSpPr>
          <p:cNvPr id="394247" name="Text Box 7"/>
          <p:cNvSpPr txBox="1">
            <a:spLocks noChangeArrowheads="1"/>
          </p:cNvSpPr>
          <p:nvPr/>
        </p:nvSpPr>
        <p:spPr bwMode="auto">
          <a:xfrm>
            <a:off x="457200" y="3627438"/>
            <a:ext cx="3276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a:t>Both PCA and MDS perform the same, so only one coupled plot is represented for both methods.  This linear method cannot separate the 3 circles appropriately.</a:t>
            </a:r>
          </a:p>
        </p:txBody>
      </p:sp>
      <p:pic>
        <p:nvPicPr>
          <p:cNvPr id="394248" name="Picture 8"/>
          <p:cNvPicPr>
            <a:picLocks noChangeAspect="1" noChangeArrowheads="1"/>
          </p:cNvPicPr>
          <p:nvPr/>
        </p:nvPicPr>
        <p:blipFill>
          <a:blip r:embed="rId3">
            <a:extLst>
              <a:ext uri="{28A0092B-C50C-407E-A947-70E740481C1C}">
                <a14:useLocalDpi xmlns:a14="http://schemas.microsoft.com/office/drawing/2010/main" val="0"/>
              </a:ext>
            </a:extLst>
          </a:blip>
          <a:srcRect l="48750" t="40765" r="2499" b="34224"/>
          <a:stretch>
            <a:fillRect/>
          </a:stretch>
        </p:blipFill>
        <p:spPr bwMode="auto">
          <a:xfrm>
            <a:off x="5410200" y="2286000"/>
            <a:ext cx="3048000" cy="144780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4249" name="Text Box 9"/>
          <p:cNvSpPr txBox="1">
            <a:spLocks noChangeArrowheads="1"/>
          </p:cNvSpPr>
          <p:nvPr/>
        </p:nvSpPr>
        <p:spPr bwMode="auto">
          <a:xfrm>
            <a:off x="6553200" y="1981200"/>
            <a:ext cx="1828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b="1"/>
              <a:t>ISOMAP</a:t>
            </a:r>
          </a:p>
        </p:txBody>
      </p:sp>
      <p:sp>
        <p:nvSpPr>
          <p:cNvPr id="394250" name="Text Box 10"/>
          <p:cNvSpPr txBox="1">
            <a:spLocks noChangeArrowheads="1"/>
          </p:cNvSpPr>
          <p:nvPr/>
        </p:nvSpPr>
        <p:spPr bwMode="auto">
          <a:xfrm>
            <a:off x="5638800" y="3673475"/>
            <a:ext cx="2971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a:t>ISOMAP embeds the structure into a big circle where </a:t>
            </a:r>
            <a:r>
              <a:rPr lang="en-US" sz="1000" i="1"/>
              <a:t>k</a:t>
            </a:r>
            <a:r>
              <a:rPr lang="en-US" sz="1000"/>
              <a:t>-means clustering attempts to partition the space into 3 groups.  This method is also unsuccessful.</a:t>
            </a:r>
          </a:p>
        </p:txBody>
      </p:sp>
      <p:pic>
        <p:nvPicPr>
          <p:cNvPr id="394251" name="Picture 11"/>
          <p:cNvPicPr>
            <a:picLocks noChangeAspect="1" noChangeArrowheads="1"/>
          </p:cNvPicPr>
          <p:nvPr/>
        </p:nvPicPr>
        <p:blipFill>
          <a:blip r:embed="rId3">
            <a:extLst>
              <a:ext uri="{28A0092B-C50C-407E-A947-70E740481C1C}">
                <a14:useLocalDpi xmlns:a14="http://schemas.microsoft.com/office/drawing/2010/main" val="0"/>
              </a:ext>
            </a:extLst>
          </a:blip>
          <a:srcRect l="49969" t="69333" r="2499" b="4688"/>
          <a:stretch>
            <a:fillRect/>
          </a:stretch>
        </p:blipFill>
        <p:spPr bwMode="auto">
          <a:xfrm>
            <a:off x="5486400" y="4800600"/>
            <a:ext cx="2895600" cy="146367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4252" name="Picture 12"/>
          <p:cNvPicPr>
            <a:picLocks noChangeAspect="1" noChangeArrowheads="1"/>
          </p:cNvPicPr>
          <p:nvPr/>
        </p:nvPicPr>
        <p:blipFill>
          <a:blip r:embed="rId3">
            <a:extLst>
              <a:ext uri="{28A0092B-C50C-407E-A947-70E740481C1C}">
                <a14:useLocalDpi xmlns:a14="http://schemas.microsoft.com/office/drawing/2010/main" val="0"/>
              </a:ext>
            </a:extLst>
          </a:blip>
          <a:srcRect t="68408" r="51250" b="4688"/>
          <a:stretch>
            <a:fillRect/>
          </a:stretch>
        </p:blipFill>
        <p:spPr bwMode="auto">
          <a:xfrm>
            <a:off x="381000" y="4724400"/>
            <a:ext cx="3048000" cy="155733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94253" name="Text Box 13"/>
          <p:cNvSpPr txBox="1">
            <a:spLocks noChangeArrowheads="1"/>
          </p:cNvSpPr>
          <p:nvPr/>
        </p:nvSpPr>
        <p:spPr bwMode="auto">
          <a:xfrm>
            <a:off x="914400" y="4495800"/>
            <a:ext cx="22098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b="1"/>
              <a:t>Kernel PCA (Gaussian)</a:t>
            </a:r>
          </a:p>
        </p:txBody>
      </p:sp>
      <p:sp>
        <p:nvSpPr>
          <p:cNvPr id="394254" name="Text Box 14"/>
          <p:cNvSpPr txBox="1">
            <a:spLocks noChangeArrowheads="1"/>
          </p:cNvSpPr>
          <p:nvPr/>
        </p:nvSpPr>
        <p:spPr bwMode="auto">
          <a:xfrm>
            <a:off x="457200" y="6172200"/>
            <a:ext cx="3124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a:t>Kernel PCA almost partitions all 3 circles in the embedding, but</a:t>
            </a:r>
            <a:r>
              <a:rPr lang="en-US" sz="1000" i="1"/>
              <a:t> k</a:t>
            </a:r>
            <a:r>
              <a:rPr lang="en-US" sz="1000"/>
              <a:t>-means clustering does not classify them appropriately.</a:t>
            </a:r>
          </a:p>
        </p:txBody>
      </p:sp>
      <p:sp>
        <p:nvSpPr>
          <p:cNvPr id="394255" name="Text Box 15"/>
          <p:cNvSpPr txBox="1">
            <a:spLocks noChangeArrowheads="1"/>
          </p:cNvSpPr>
          <p:nvPr/>
        </p:nvSpPr>
        <p:spPr bwMode="auto">
          <a:xfrm>
            <a:off x="6248400" y="4495800"/>
            <a:ext cx="1905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b="1"/>
              <a:t>Spectral (Laplacian)</a:t>
            </a:r>
          </a:p>
        </p:txBody>
      </p:sp>
      <p:sp>
        <p:nvSpPr>
          <p:cNvPr id="394256" name="Text Box 16"/>
          <p:cNvSpPr txBox="1">
            <a:spLocks noChangeArrowheads="1"/>
          </p:cNvSpPr>
          <p:nvPr/>
        </p:nvSpPr>
        <p:spPr bwMode="auto">
          <a:xfrm>
            <a:off x="5562600" y="6172200"/>
            <a:ext cx="3124200"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000"/>
              <a:t>The spectral method (Laplacian) embeds the circles the best allowing </a:t>
            </a:r>
            <a:r>
              <a:rPr lang="en-US" sz="1000" i="1"/>
              <a:t>k</a:t>
            </a:r>
            <a:r>
              <a:rPr lang="en-US" sz="1000"/>
              <a:t>-means clustering to classify them appropriately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0" y="76200"/>
            <a:ext cx="8153400" cy="838200"/>
          </a:xfrm>
        </p:spPr>
        <p:txBody>
          <a:bodyPr/>
          <a:lstStyle/>
          <a:p>
            <a:r>
              <a:rPr lang="en-US" sz="2200"/>
              <a:t>Comparison between embedding using different methods of dimensionality reduction (fibroblast dataset)</a:t>
            </a:r>
            <a:r>
              <a:rPr lang="en-US" sz="2200" baseline="30000"/>
              <a:t>6</a:t>
            </a:r>
          </a:p>
        </p:txBody>
      </p:sp>
      <p:pic>
        <p:nvPicPr>
          <p:cNvPr id="379908" name="Picture 4" descr="figure5"/>
          <p:cNvPicPr>
            <a:picLocks noChangeAspect="1" noChangeArrowheads="1"/>
          </p:cNvPicPr>
          <p:nvPr/>
        </p:nvPicPr>
        <p:blipFill>
          <a:blip r:embed="rId3">
            <a:extLst>
              <a:ext uri="{28A0092B-C50C-407E-A947-70E740481C1C}">
                <a14:useLocalDpi xmlns:a14="http://schemas.microsoft.com/office/drawing/2010/main" val="0"/>
              </a:ext>
            </a:extLst>
          </a:blip>
          <a:srcRect t="10464" b="9302"/>
          <a:stretch>
            <a:fillRect/>
          </a:stretch>
        </p:blipFill>
        <p:spPr bwMode="auto">
          <a:xfrm>
            <a:off x="990600" y="1974850"/>
            <a:ext cx="6096000" cy="4883150"/>
          </a:xfrm>
          <a:prstGeom prst="rect">
            <a:avLst/>
          </a:prstGeom>
          <a:noFill/>
          <a:extLst>
            <a:ext uri="{909E8E84-426E-40DD-AFC4-6F175D3DCCD1}">
              <a14:hiddenFill xmlns:a14="http://schemas.microsoft.com/office/drawing/2010/main">
                <a:solidFill>
                  <a:srgbClr val="FFFFFF"/>
                </a:solidFill>
              </a14:hiddenFill>
            </a:ext>
          </a:extLst>
        </p:spPr>
      </p:pic>
      <p:sp>
        <p:nvSpPr>
          <p:cNvPr id="379909" name="Text Box 5"/>
          <p:cNvSpPr txBox="1">
            <a:spLocks noChangeArrowheads="1"/>
          </p:cNvSpPr>
          <p:nvPr/>
        </p:nvSpPr>
        <p:spPr bwMode="auto">
          <a:xfrm>
            <a:off x="1371600" y="1981200"/>
            <a:ext cx="137160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PCA-correlation</a:t>
            </a:r>
          </a:p>
        </p:txBody>
      </p:sp>
      <p:sp>
        <p:nvSpPr>
          <p:cNvPr id="379910" name="Text Box 6"/>
          <p:cNvSpPr txBox="1">
            <a:spLocks noChangeArrowheads="1"/>
          </p:cNvSpPr>
          <p:nvPr/>
        </p:nvSpPr>
        <p:spPr bwMode="auto">
          <a:xfrm>
            <a:off x="3429000" y="1989138"/>
            <a:ext cx="1371600" cy="274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PCA-covariance</a:t>
            </a:r>
          </a:p>
        </p:txBody>
      </p:sp>
      <p:sp>
        <p:nvSpPr>
          <p:cNvPr id="379911" name="Text Box 7"/>
          <p:cNvSpPr txBox="1">
            <a:spLocks noChangeArrowheads="1"/>
          </p:cNvSpPr>
          <p:nvPr/>
        </p:nvSpPr>
        <p:spPr bwMode="auto">
          <a:xfrm>
            <a:off x="5486400" y="1989138"/>
            <a:ext cx="1371600" cy="274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Nonmetric MDS</a:t>
            </a:r>
          </a:p>
        </p:txBody>
      </p:sp>
      <p:sp>
        <p:nvSpPr>
          <p:cNvPr id="379912" name="Text Box 8"/>
          <p:cNvSpPr txBox="1">
            <a:spLocks noChangeArrowheads="1"/>
          </p:cNvSpPr>
          <p:nvPr/>
        </p:nvSpPr>
        <p:spPr bwMode="auto">
          <a:xfrm>
            <a:off x="1371600" y="4495800"/>
            <a:ext cx="137160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Kernel PCA</a:t>
            </a:r>
          </a:p>
        </p:txBody>
      </p:sp>
      <p:sp>
        <p:nvSpPr>
          <p:cNvPr id="379913" name="Text Box 9"/>
          <p:cNvSpPr txBox="1">
            <a:spLocks noChangeArrowheads="1"/>
          </p:cNvSpPr>
          <p:nvPr/>
        </p:nvSpPr>
        <p:spPr bwMode="auto">
          <a:xfrm>
            <a:off x="3352800" y="4495800"/>
            <a:ext cx="167640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Laplacian (Ng et al.)</a:t>
            </a:r>
          </a:p>
        </p:txBody>
      </p:sp>
      <p:sp>
        <p:nvSpPr>
          <p:cNvPr id="379914" name="Text Box 10"/>
          <p:cNvSpPr txBox="1">
            <a:spLocks noChangeArrowheads="1"/>
          </p:cNvSpPr>
          <p:nvPr/>
        </p:nvSpPr>
        <p:spPr bwMode="auto">
          <a:xfrm>
            <a:off x="5410200" y="4495800"/>
            <a:ext cx="167640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200"/>
              <a:t>Laplacian (Lafon)</a:t>
            </a:r>
          </a:p>
        </p:txBody>
      </p:sp>
      <p:sp>
        <p:nvSpPr>
          <p:cNvPr id="379915" name="Rectangle 11"/>
          <p:cNvSpPr>
            <a:spLocks noGrp="1" noChangeArrowheads="1"/>
          </p:cNvSpPr>
          <p:nvPr>
            <p:ph type="body" idx="1"/>
          </p:nvPr>
        </p:nvSpPr>
        <p:spPr>
          <a:xfrm>
            <a:off x="609600" y="990600"/>
            <a:ext cx="6248400" cy="762000"/>
          </a:xfrm>
          <a:noFill/>
          <a:ln/>
        </p:spPr>
        <p:txBody>
          <a:bodyPr/>
          <a:lstStyle/>
          <a:p>
            <a:pPr>
              <a:lnSpc>
                <a:spcPct val="80000"/>
              </a:lnSpc>
            </a:pPr>
            <a:r>
              <a:rPr lang="en-US" sz="1500"/>
              <a:t>Raw data structure is in ~12,000 dimensional space</a:t>
            </a:r>
          </a:p>
          <a:p>
            <a:pPr>
              <a:lnSpc>
                <a:spcPct val="80000"/>
              </a:lnSpc>
            </a:pPr>
            <a:r>
              <a:rPr lang="en-US" sz="1500"/>
              <a:t>Each symbol/color represents a separate species</a:t>
            </a:r>
          </a:p>
          <a:p>
            <a:pPr>
              <a:lnSpc>
                <a:spcPct val="80000"/>
              </a:lnSpc>
            </a:pPr>
            <a:r>
              <a:rPr lang="en-US" sz="1500"/>
              <a:t>This dataset is available in R-Bioconductor (fibroEsets)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US" sz="3400"/>
              <a:t>References</a:t>
            </a:r>
          </a:p>
        </p:txBody>
      </p:sp>
      <p:sp>
        <p:nvSpPr>
          <p:cNvPr id="90115" name="Rectangle 3"/>
          <p:cNvSpPr>
            <a:spLocks noChangeArrowheads="1"/>
          </p:cNvSpPr>
          <p:nvPr/>
        </p:nvSpPr>
        <p:spPr bwMode="auto">
          <a:xfrm>
            <a:off x="457200" y="16764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Char char="l"/>
            </a:pPr>
            <a:r>
              <a:rPr lang="en-US" baseline="30000" dirty="0"/>
              <a:t>1</a:t>
            </a:r>
            <a:r>
              <a:rPr lang="en-US" dirty="0"/>
              <a:t>Multivariate Data Analysis.  Hair, Anderson, Tatham, and Black.</a:t>
            </a:r>
          </a:p>
          <a:p>
            <a:pPr marL="342900" indent="-342900">
              <a:spcBef>
                <a:spcPct val="20000"/>
              </a:spcBef>
              <a:buClr>
                <a:schemeClr val="tx2"/>
              </a:buClr>
              <a:buSzPct val="70000"/>
              <a:buFont typeface="Wingdings" pitchFamily="2" charset="2"/>
              <a:buChar char="l"/>
            </a:pPr>
            <a:r>
              <a:rPr lang="en-US" baseline="30000" dirty="0"/>
              <a:t>2</a:t>
            </a:r>
            <a:r>
              <a:rPr lang="en-US" dirty="0"/>
              <a:t>Applied Multivariate Statistical Analysis.  Johnson and Wichern.</a:t>
            </a:r>
          </a:p>
          <a:p>
            <a:pPr marL="342900" indent="-342900">
              <a:spcBef>
                <a:spcPct val="20000"/>
              </a:spcBef>
              <a:buClr>
                <a:schemeClr val="tx2"/>
              </a:buClr>
              <a:buSzPct val="70000"/>
              <a:buFont typeface="Wingdings" pitchFamily="2" charset="2"/>
              <a:buChar char="l"/>
            </a:pPr>
            <a:r>
              <a:rPr lang="en-US" baseline="30000" dirty="0"/>
              <a:t>3</a:t>
            </a:r>
            <a:r>
              <a:rPr lang="en-US" dirty="0"/>
              <a:t>Raychaudhuri S, Stuart J, Altman R.  Principal components 	analysis to summarize microarray experiments: application to 	sporulation time series.</a:t>
            </a:r>
          </a:p>
          <a:p>
            <a:pPr marL="342900" indent="-342900">
              <a:spcBef>
                <a:spcPct val="20000"/>
              </a:spcBef>
              <a:buClr>
                <a:schemeClr val="tx2"/>
              </a:buClr>
              <a:buSzPct val="70000"/>
              <a:buFont typeface="Wingdings" pitchFamily="2" charset="2"/>
              <a:buChar char="l"/>
            </a:pPr>
            <a:r>
              <a:rPr lang="en-US" baseline="30000" dirty="0"/>
              <a:t>4</a:t>
            </a:r>
            <a:r>
              <a:rPr lang="en-US" dirty="0"/>
              <a:t>Johansson D, Lindgren P, and Berglund A.  (2003)  A multivariate 	approach to microarray data for identification of genes with cell cycle-	coupled 	transcription.  </a:t>
            </a:r>
            <a:r>
              <a:rPr lang="en-US" i="1" dirty="0"/>
              <a:t>Bioinformatics</a:t>
            </a:r>
            <a:r>
              <a:rPr lang="en-US" dirty="0"/>
              <a:t>.  </a:t>
            </a:r>
            <a:r>
              <a:rPr lang="en-US" b="1" dirty="0"/>
              <a:t>19</a:t>
            </a:r>
            <a:r>
              <a:rPr lang="en-US" dirty="0"/>
              <a:t>:467-473.</a:t>
            </a:r>
          </a:p>
          <a:p>
            <a:pPr marL="342900" indent="-342900">
              <a:spcBef>
                <a:spcPct val="20000"/>
              </a:spcBef>
              <a:buClr>
                <a:schemeClr val="tx2"/>
              </a:buClr>
              <a:buSzPct val="70000"/>
              <a:buFont typeface="Wingdings" pitchFamily="2" charset="2"/>
              <a:buChar char="l"/>
            </a:pPr>
            <a:r>
              <a:rPr lang="en-US" baseline="30000" dirty="0"/>
              <a:t>5</a:t>
            </a:r>
            <a:r>
              <a:rPr lang="en-US" dirty="0"/>
              <a:t>Tenenbaum J, Silva V, and Langford J.  (2000) A Global Geometric 	Framework for Nonlinear Dimensionality Reduction.  </a:t>
            </a:r>
            <a:r>
              <a:rPr lang="en-US" i="1" dirty="0"/>
              <a:t>Science</a:t>
            </a:r>
            <a:r>
              <a:rPr lang="en-US" dirty="0"/>
              <a:t>.  	</a:t>
            </a:r>
            <a:r>
              <a:rPr lang="en-US" b="1" dirty="0"/>
              <a:t>290</a:t>
            </a:r>
            <a:r>
              <a:rPr lang="en-US" dirty="0"/>
              <a:t>: 	2319-2323.</a:t>
            </a:r>
          </a:p>
          <a:p>
            <a:pPr marL="342900" indent="-342900">
              <a:spcBef>
                <a:spcPct val="20000"/>
              </a:spcBef>
              <a:buClr>
                <a:schemeClr val="tx2"/>
              </a:buClr>
              <a:buSzPct val="70000"/>
              <a:buFont typeface="Wingdings" pitchFamily="2" charset="2"/>
              <a:buChar char="l"/>
            </a:pPr>
            <a:r>
              <a:rPr lang="en-US" baseline="30000" dirty="0"/>
              <a:t>6</a:t>
            </a:r>
            <a:r>
              <a:rPr lang="en-US" dirty="0"/>
              <a:t>Higgs BW, Weller J, </a:t>
            </a:r>
            <a:r>
              <a:rPr lang="en-US" dirty="0" err="1"/>
              <a:t>Solka</a:t>
            </a:r>
            <a:r>
              <a:rPr lang="en-US" dirty="0"/>
              <a:t> JL. (2006) Spectral embedding finds meaningful 	(relevant) structure in image and microarray data.  </a:t>
            </a:r>
            <a:r>
              <a:rPr lang="en-US" i="1" dirty="0"/>
              <a:t>BMC 	Bioinformatics</a:t>
            </a:r>
            <a:r>
              <a:rPr lang="en-US" dirty="0"/>
              <a:t>.  </a:t>
            </a:r>
            <a:r>
              <a:rPr lang="en-US" b="1" dirty="0"/>
              <a:t>7</a:t>
            </a:r>
            <a:r>
              <a:rPr lang="en-US" dirty="0"/>
              <a:t>:74.</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a:xfrm>
            <a:off x="457200" y="381000"/>
            <a:ext cx="7543800" cy="579438"/>
          </a:xfrm>
        </p:spPr>
        <p:txBody>
          <a:bodyPr/>
          <a:lstStyle/>
          <a:p>
            <a:r>
              <a:rPr lang="en-US" sz="3400"/>
              <a:t>R Code</a:t>
            </a:r>
          </a:p>
        </p:txBody>
      </p:sp>
      <p:sp>
        <p:nvSpPr>
          <p:cNvPr id="214019" name="Rectangle 3"/>
          <p:cNvSpPr>
            <a:spLocks noChangeArrowheads="1"/>
          </p:cNvSpPr>
          <p:nvPr/>
        </p:nvSpPr>
        <p:spPr bwMode="auto">
          <a:xfrm>
            <a:off x="457200" y="16002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endParaRPr lang="en-US" sz="2200"/>
          </a:p>
        </p:txBody>
      </p:sp>
      <p:sp>
        <p:nvSpPr>
          <p:cNvPr id="214020" name="Rectangle 4"/>
          <p:cNvSpPr>
            <a:spLocks noChangeArrowheads="1"/>
          </p:cNvSpPr>
          <p:nvPr/>
        </p:nvSpPr>
        <p:spPr bwMode="auto">
          <a:xfrm>
            <a:off x="609600" y="990600"/>
            <a:ext cx="81534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r>
              <a:rPr lang="en-US" sz="900" dirty="0">
                <a:latin typeface="Courier New" pitchFamily="49" charset="0"/>
              </a:rPr>
              <a:t># scatter plot matrix with </a:t>
            </a:r>
            <a:r>
              <a:rPr lang="en-US" sz="900" dirty="0" err="1">
                <a:latin typeface="Courier New" pitchFamily="49" charset="0"/>
              </a:rPr>
              <a:t>Golub</a:t>
            </a:r>
            <a:r>
              <a:rPr lang="en-US" sz="900" dirty="0">
                <a:latin typeface="Courier New" pitchFamily="49" charset="0"/>
              </a:rPr>
              <a:t> data</a:t>
            </a:r>
          </a:p>
          <a:p>
            <a:pPr marL="342900" indent="-342900">
              <a:spcBef>
                <a:spcPct val="20000"/>
              </a:spcBef>
              <a:buClr>
                <a:schemeClr val="tx2"/>
              </a:buClr>
              <a:buSzPct val="70000"/>
              <a:buFont typeface="Wingdings" pitchFamily="2" charset="2"/>
              <a:buNone/>
            </a:pPr>
            <a:r>
              <a:rPr lang="en-US" sz="900" dirty="0">
                <a:latin typeface="Courier New" pitchFamily="49" charset="0"/>
              </a:rPr>
              <a:t>library(</a:t>
            </a:r>
            <a:r>
              <a:rPr lang="en-US" sz="900" dirty="0" err="1">
                <a:latin typeface="Courier New" pitchFamily="49" charset="0"/>
              </a:rPr>
              <a:t>multtest</a:t>
            </a:r>
            <a:r>
              <a:rPr lang="en-US" sz="900" dirty="0">
                <a:latin typeface="Courier New" pitchFamily="49" charset="0"/>
              </a:rPr>
              <a:t>)</a:t>
            </a:r>
          </a:p>
          <a:p>
            <a:pPr marL="342900" indent="-342900">
              <a:spcBef>
                <a:spcPct val="20000"/>
              </a:spcBef>
              <a:buClr>
                <a:schemeClr val="tx2"/>
              </a:buClr>
              <a:buSzPct val="70000"/>
              <a:buFont typeface="Wingdings" pitchFamily="2" charset="2"/>
              <a:buNone/>
            </a:pPr>
            <a:r>
              <a:rPr lang="en-US" sz="900" dirty="0">
                <a:latin typeface="Courier New" pitchFamily="49" charset="0"/>
              </a:rPr>
              <a:t>data(</a:t>
            </a:r>
            <a:r>
              <a:rPr lang="en-US" sz="900" dirty="0" err="1">
                <a:latin typeface="Courier New" pitchFamily="49" charset="0"/>
              </a:rPr>
              <a:t>golub</a:t>
            </a:r>
            <a:r>
              <a:rPr lang="en-US" sz="900" dirty="0">
                <a:latin typeface="Courier New" pitchFamily="49" charset="0"/>
              </a:rPr>
              <a:t>);</a:t>
            </a:r>
          </a:p>
          <a:p>
            <a:pPr marL="342900" indent="-342900">
              <a:spcBef>
                <a:spcPct val="20000"/>
              </a:spcBef>
              <a:buClr>
                <a:schemeClr val="tx2"/>
              </a:buClr>
              <a:buSzPct val="70000"/>
              <a:buFont typeface="Wingdings" pitchFamily="2" charset="2"/>
              <a:buNone/>
            </a:pPr>
            <a:r>
              <a:rPr lang="en-US" sz="900" dirty="0" err="1">
                <a:latin typeface="Courier New" pitchFamily="49" charset="0"/>
              </a:rPr>
              <a:t>dat</a:t>
            </a:r>
            <a:r>
              <a:rPr lang="en-US" sz="900" dirty="0">
                <a:latin typeface="Courier New" pitchFamily="49" charset="0"/>
              </a:rPr>
              <a:t> &lt;- </a:t>
            </a:r>
            <a:r>
              <a:rPr lang="en-US" sz="900" dirty="0" err="1">
                <a:latin typeface="Courier New" pitchFamily="49" charset="0"/>
              </a:rPr>
              <a:t>golub</a:t>
            </a:r>
            <a:r>
              <a:rPr lang="en-US" sz="900" dirty="0">
                <a:latin typeface="Courier New" pitchFamily="49" charset="0"/>
              </a:rPr>
              <a:t>[1:100,]</a:t>
            </a:r>
          </a:p>
          <a:p>
            <a:pPr marL="342900" indent="-342900">
              <a:spcBef>
                <a:spcPct val="20000"/>
              </a:spcBef>
              <a:buClr>
                <a:schemeClr val="tx2"/>
              </a:buClr>
              <a:buSzPct val="70000"/>
              <a:buFont typeface="Wingdings" pitchFamily="2" charset="2"/>
              <a:buNone/>
            </a:pPr>
            <a:r>
              <a:rPr lang="en-US" sz="900" dirty="0">
                <a:latin typeface="Courier New" pitchFamily="49" charset="0"/>
              </a:rPr>
              <a:t>ann.dat2 &lt;- golub.cl	# class labels ALL=0; AML=1</a:t>
            </a:r>
          </a:p>
          <a:p>
            <a:pPr marL="342900" indent="-342900">
              <a:spcBef>
                <a:spcPct val="20000"/>
              </a:spcBef>
              <a:buClr>
                <a:schemeClr val="tx2"/>
              </a:buClr>
              <a:buSzPct val="70000"/>
              <a:buFont typeface="Wingdings" pitchFamily="2" charset="2"/>
              <a:buNone/>
            </a:pPr>
            <a:r>
              <a:rPr lang="en-US" sz="900" dirty="0">
                <a:latin typeface="Courier New" pitchFamily="49" charset="0"/>
              </a:rPr>
              <a:t>pairs(t(</a:t>
            </a:r>
            <a:r>
              <a:rPr lang="en-US" sz="900" dirty="0" err="1">
                <a:latin typeface="Courier New" pitchFamily="49" charset="0"/>
              </a:rPr>
              <a:t>dat</a:t>
            </a:r>
            <a:r>
              <a:rPr lang="en-US" sz="900" dirty="0">
                <a:latin typeface="Courier New" pitchFamily="49" charset="0"/>
              </a:rPr>
              <a:t>[1:6,]), </a:t>
            </a:r>
            <a:r>
              <a:rPr lang="en-US" sz="900" dirty="0" err="1">
                <a:latin typeface="Courier New" pitchFamily="49" charset="0"/>
              </a:rPr>
              <a:t>pch</a:t>
            </a:r>
            <a:r>
              <a:rPr lang="en-US" sz="900" dirty="0">
                <a:latin typeface="Courier New" pitchFamily="49" charset="0"/>
              </a:rPr>
              <a:t>=21,bg = c("red", "blue")[</a:t>
            </a:r>
            <a:r>
              <a:rPr lang="en-US" sz="900" dirty="0" err="1">
                <a:latin typeface="Courier New" pitchFamily="49" charset="0"/>
              </a:rPr>
              <a:t>as.factor</a:t>
            </a:r>
            <a:r>
              <a:rPr lang="en-US" sz="900" dirty="0">
                <a:latin typeface="Courier New" pitchFamily="49" charset="0"/>
              </a:rPr>
              <a:t>(ann.dat2)],main=“</a:t>
            </a:r>
            <a:r>
              <a:rPr lang="en-US" sz="900" dirty="0" err="1">
                <a:latin typeface="Courier New" pitchFamily="49" charset="0"/>
              </a:rPr>
              <a:t>Golub</a:t>
            </a:r>
            <a:r>
              <a:rPr lang="en-US" sz="900" dirty="0">
                <a:latin typeface="Courier New" pitchFamily="49" charset="0"/>
              </a:rPr>
              <a:t> data-first 6 genes”)</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a:latin typeface="Courier New" pitchFamily="49" charset="0"/>
              </a:rPr>
              <a:t># PCA plot #1 with </a:t>
            </a:r>
            <a:r>
              <a:rPr lang="en-US" sz="900" dirty="0" err="1">
                <a:latin typeface="Courier New" pitchFamily="49" charset="0"/>
              </a:rPr>
              <a:t>Golub</a:t>
            </a:r>
            <a:r>
              <a:rPr lang="en-US" sz="900" dirty="0">
                <a:latin typeface="Courier New" pitchFamily="49" charset="0"/>
              </a:rPr>
              <a:t> data</a:t>
            </a:r>
          </a:p>
          <a:p>
            <a:pPr marL="342900" indent="-342900">
              <a:spcBef>
                <a:spcPct val="20000"/>
              </a:spcBef>
              <a:buClr>
                <a:schemeClr val="tx2"/>
              </a:buClr>
              <a:buSzPct val="70000"/>
              <a:buFont typeface="Wingdings" pitchFamily="2" charset="2"/>
              <a:buNone/>
            </a:pPr>
            <a:r>
              <a:rPr lang="en-US" sz="900" dirty="0" err="1">
                <a:latin typeface="Courier New" pitchFamily="49" charset="0"/>
              </a:rPr>
              <a:t>dat</a:t>
            </a:r>
            <a:r>
              <a:rPr lang="en-US" sz="900" dirty="0">
                <a:latin typeface="Courier New" pitchFamily="49" charset="0"/>
              </a:rPr>
              <a:t> &lt;- </a:t>
            </a:r>
            <a:r>
              <a:rPr lang="en-US" sz="900" dirty="0" err="1">
                <a:latin typeface="Courier New" pitchFamily="49" charset="0"/>
              </a:rPr>
              <a:t>golub</a:t>
            </a: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err="1">
                <a:latin typeface="Courier New" pitchFamily="49" charset="0"/>
              </a:rPr>
              <a:t>dat.pca</a:t>
            </a:r>
            <a:r>
              <a:rPr lang="en-US" sz="900" dirty="0">
                <a:latin typeface="Courier New" pitchFamily="49" charset="0"/>
              </a:rPr>
              <a:t> &lt;- </a:t>
            </a:r>
            <a:r>
              <a:rPr lang="en-US" sz="900" dirty="0" err="1">
                <a:latin typeface="Courier New" pitchFamily="49" charset="0"/>
              </a:rPr>
              <a:t>prcomp</a:t>
            </a:r>
            <a:r>
              <a:rPr lang="en-US" sz="900" dirty="0">
                <a:latin typeface="Courier New" pitchFamily="49" charset="0"/>
              </a:rPr>
              <a:t>(t(</a:t>
            </a:r>
            <a:r>
              <a:rPr lang="en-US" sz="900" dirty="0" err="1">
                <a:latin typeface="Courier New" pitchFamily="49" charset="0"/>
              </a:rPr>
              <a:t>dat</a:t>
            </a:r>
            <a:r>
              <a:rPr lang="en-US" sz="900" dirty="0">
                <a:latin typeface="Courier New" pitchFamily="49" charset="0"/>
              </a:rPr>
              <a:t>),</a:t>
            </a:r>
            <a:r>
              <a:rPr lang="en-US" sz="900" dirty="0" err="1">
                <a:latin typeface="Courier New" pitchFamily="49" charset="0"/>
              </a:rPr>
              <a:t>cor</a:t>
            </a:r>
            <a:r>
              <a:rPr lang="en-US" sz="900" dirty="0">
                <a:latin typeface="Courier New" pitchFamily="49" charset="0"/>
              </a:rPr>
              <a:t>=F)</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a:latin typeface="Courier New" pitchFamily="49" charset="0"/>
              </a:rPr>
              <a:t># plot all 3 components in 3 plots</a:t>
            </a:r>
          </a:p>
          <a:p>
            <a:pPr marL="342900" indent="-342900">
              <a:spcBef>
                <a:spcPct val="20000"/>
              </a:spcBef>
              <a:buClr>
                <a:schemeClr val="tx2"/>
              </a:buClr>
              <a:buSzPct val="70000"/>
              <a:buFont typeface="Wingdings" pitchFamily="2" charset="2"/>
              <a:buNone/>
            </a:pPr>
            <a:r>
              <a:rPr lang="en-US" sz="900" dirty="0" err="1">
                <a:latin typeface="Courier New" pitchFamily="49" charset="0"/>
              </a:rPr>
              <a:t>dat.loadings</a:t>
            </a:r>
            <a:r>
              <a:rPr lang="en-US" sz="900" dirty="0">
                <a:latin typeface="Courier New" pitchFamily="49" charset="0"/>
              </a:rPr>
              <a:t> &lt;- </a:t>
            </a:r>
            <a:r>
              <a:rPr lang="en-US" sz="900" dirty="0" err="1">
                <a:latin typeface="Courier New" pitchFamily="49" charset="0"/>
              </a:rPr>
              <a:t>dat.pca$x</a:t>
            </a:r>
            <a:r>
              <a:rPr lang="en-US" sz="900" dirty="0">
                <a:latin typeface="Courier New" pitchFamily="49" charset="0"/>
              </a:rPr>
              <a:t>[,1:3]</a:t>
            </a:r>
          </a:p>
          <a:p>
            <a:pPr marL="342900" indent="-342900">
              <a:spcBef>
                <a:spcPct val="20000"/>
              </a:spcBef>
              <a:buClr>
                <a:schemeClr val="tx2"/>
              </a:buClr>
              <a:buSzPct val="70000"/>
              <a:buFont typeface="Wingdings" pitchFamily="2" charset="2"/>
              <a:buNone/>
            </a:pPr>
            <a:r>
              <a:rPr lang="en-US" sz="900" dirty="0">
                <a:latin typeface="Courier New" pitchFamily="49" charset="0"/>
              </a:rPr>
              <a:t>par(</a:t>
            </a:r>
            <a:r>
              <a:rPr lang="en-US" sz="900" dirty="0" err="1">
                <a:latin typeface="Courier New" pitchFamily="49" charset="0"/>
              </a:rPr>
              <a:t>mfrow</a:t>
            </a:r>
            <a:r>
              <a:rPr lang="en-US" sz="900" dirty="0">
                <a:latin typeface="Courier New" pitchFamily="49" charset="0"/>
              </a:rPr>
              <a:t>=c(2,2))</a:t>
            </a:r>
          </a:p>
          <a:p>
            <a:pPr marL="342900" indent="-342900">
              <a:spcBef>
                <a:spcPct val="20000"/>
              </a:spcBef>
              <a:buClr>
                <a:schemeClr val="tx2"/>
              </a:buClr>
              <a:buSzPct val="70000"/>
              <a:buFont typeface="Wingdings" pitchFamily="2" charset="2"/>
              <a:buNone/>
            </a:pPr>
            <a:r>
              <a:rPr lang="en-US" sz="900" dirty="0">
                <a:latin typeface="Courier New" pitchFamily="49" charset="0"/>
              </a:rPr>
              <a:t>plot(range(</a:t>
            </a:r>
            <a:r>
              <a:rPr lang="en-US" sz="900" dirty="0" err="1">
                <a:latin typeface="Courier New" pitchFamily="49" charset="0"/>
              </a:rPr>
              <a:t>dat.loadings</a:t>
            </a:r>
            <a:r>
              <a:rPr lang="en-US" sz="900" dirty="0">
                <a:latin typeface="Courier New" pitchFamily="49" charset="0"/>
              </a:rPr>
              <a:t>[,1]),range(</a:t>
            </a:r>
            <a:r>
              <a:rPr lang="en-US" sz="900" dirty="0" err="1">
                <a:latin typeface="Courier New" pitchFamily="49" charset="0"/>
              </a:rPr>
              <a:t>dat.loadings</a:t>
            </a:r>
            <a:r>
              <a:rPr lang="en-US" sz="900" dirty="0">
                <a:latin typeface="Courier New" pitchFamily="49" charset="0"/>
              </a:rPr>
              <a:t>[,2]),type="n",</a:t>
            </a:r>
            <a:r>
              <a:rPr lang="en-US" sz="900" dirty="0" err="1">
                <a:latin typeface="Courier New" pitchFamily="49" charset="0"/>
              </a:rPr>
              <a:t>xlab</a:t>
            </a:r>
            <a:r>
              <a:rPr lang="en-US" sz="900" dirty="0">
                <a:latin typeface="Courier New" pitchFamily="49" charset="0"/>
              </a:rPr>
              <a:t>='p1',ylab='p2',main='PCA plot of </a:t>
            </a:r>
            <a:r>
              <a:rPr lang="en-US" sz="900" dirty="0" err="1">
                <a:latin typeface="Courier New" pitchFamily="49" charset="0"/>
              </a:rPr>
              <a:t>Golub</a:t>
            </a:r>
            <a:r>
              <a:rPr lang="en-US" sz="900" dirty="0">
                <a:latin typeface="Courier New" pitchFamily="49" charset="0"/>
              </a:rPr>
              <a:t> Data\np2 vs. p1')</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[,1][ann.dat2==1], </a:t>
            </a:r>
            <a:r>
              <a:rPr lang="en-US" sz="900" dirty="0" err="1">
                <a:latin typeface="Courier New" pitchFamily="49" charset="0"/>
              </a:rPr>
              <a:t>dat.loadings</a:t>
            </a:r>
            <a:r>
              <a:rPr lang="en-US" sz="900" dirty="0">
                <a:latin typeface="Courier New" pitchFamily="49" charset="0"/>
              </a:rPr>
              <a:t>[,2][ann.dat2==1],col=1,bg='red',</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[,1][ann.dat2==0], </a:t>
            </a:r>
            <a:r>
              <a:rPr lang="en-US" sz="900" dirty="0" err="1">
                <a:latin typeface="Courier New" pitchFamily="49" charset="0"/>
              </a:rPr>
              <a:t>dat.loadings</a:t>
            </a:r>
            <a:r>
              <a:rPr lang="en-US" sz="900" dirty="0">
                <a:latin typeface="Courier New" pitchFamily="49" charset="0"/>
              </a:rPr>
              <a:t>[,2][ann.dat2==0],col=1,bg='blue',</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a:latin typeface="Courier New" pitchFamily="49" charset="0"/>
              </a:rPr>
              <a:t>plot(range(</a:t>
            </a:r>
            <a:r>
              <a:rPr lang="en-US" sz="900" dirty="0" err="1">
                <a:latin typeface="Courier New" pitchFamily="49" charset="0"/>
              </a:rPr>
              <a:t>dat.loadings</a:t>
            </a:r>
            <a:r>
              <a:rPr lang="en-US" sz="900" dirty="0">
                <a:latin typeface="Courier New" pitchFamily="49" charset="0"/>
              </a:rPr>
              <a:t>[,1]),range(</a:t>
            </a:r>
            <a:r>
              <a:rPr lang="en-US" sz="900" dirty="0" err="1">
                <a:latin typeface="Courier New" pitchFamily="49" charset="0"/>
              </a:rPr>
              <a:t>dat.loadings</a:t>
            </a:r>
            <a:r>
              <a:rPr lang="en-US" sz="900" dirty="0">
                <a:latin typeface="Courier New" pitchFamily="49" charset="0"/>
              </a:rPr>
              <a:t>[,3]),type="n",</a:t>
            </a:r>
            <a:r>
              <a:rPr lang="en-US" sz="900" dirty="0" err="1">
                <a:latin typeface="Courier New" pitchFamily="49" charset="0"/>
              </a:rPr>
              <a:t>xlab</a:t>
            </a:r>
            <a:r>
              <a:rPr lang="en-US" sz="900" dirty="0">
                <a:latin typeface="Courier New" pitchFamily="49" charset="0"/>
              </a:rPr>
              <a:t>='p1',ylab='p3',main='PCA plot of </a:t>
            </a:r>
            <a:r>
              <a:rPr lang="en-US" sz="900" dirty="0" err="1">
                <a:latin typeface="Courier New" pitchFamily="49" charset="0"/>
              </a:rPr>
              <a:t>Golub</a:t>
            </a:r>
            <a:r>
              <a:rPr lang="en-US" sz="900" dirty="0">
                <a:latin typeface="Courier New" pitchFamily="49" charset="0"/>
              </a:rPr>
              <a:t> Data\np3 vs. p1')</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[,1][ann.dat2==1],</a:t>
            </a:r>
            <a:r>
              <a:rPr lang="en-US" sz="900" dirty="0" err="1">
                <a:latin typeface="Courier New" pitchFamily="49" charset="0"/>
              </a:rPr>
              <a:t>dat.loadings</a:t>
            </a:r>
            <a:r>
              <a:rPr lang="en-US" sz="900" dirty="0">
                <a:latin typeface="Courier New" pitchFamily="49" charset="0"/>
              </a:rPr>
              <a:t>[,3][ann.dat2==1],col=1,bg='red',</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[,1][ann.dat2==0], </a:t>
            </a:r>
            <a:r>
              <a:rPr lang="en-US" sz="900" dirty="0" err="1">
                <a:latin typeface="Courier New" pitchFamily="49" charset="0"/>
              </a:rPr>
              <a:t>dat.loadings</a:t>
            </a:r>
            <a:r>
              <a:rPr lang="en-US" sz="900" dirty="0">
                <a:latin typeface="Courier New" pitchFamily="49" charset="0"/>
              </a:rPr>
              <a:t>[,3][ann.dat2==0],col=1,bg='blue',</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a:latin typeface="Courier New" pitchFamily="49" charset="0"/>
              </a:rPr>
              <a:t>plot(range(</a:t>
            </a:r>
            <a:r>
              <a:rPr lang="en-US" sz="900" dirty="0" err="1">
                <a:latin typeface="Courier New" pitchFamily="49" charset="0"/>
              </a:rPr>
              <a:t>dat.loadings</a:t>
            </a:r>
            <a:r>
              <a:rPr lang="en-US" sz="900" dirty="0">
                <a:latin typeface="Courier New" pitchFamily="49" charset="0"/>
              </a:rPr>
              <a:t>[,2]),range(</a:t>
            </a:r>
            <a:r>
              <a:rPr lang="en-US" sz="900" dirty="0" err="1">
                <a:latin typeface="Courier New" pitchFamily="49" charset="0"/>
              </a:rPr>
              <a:t>dat.loadings</a:t>
            </a:r>
            <a:r>
              <a:rPr lang="en-US" sz="900" dirty="0">
                <a:latin typeface="Courier New" pitchFamily="49" charset="0"/>
              </a:rPr>
              <a:t>[,3]),</a:t>
            </a:r>
            <a:r>
              <a:rPr lang="en-US" sz="900" dirty="0" err="1">
                <a:latin typeface="Courier New" pitchFamily="49" charset="0"/>
              </a:rPr>
              <a:t>xlab</a:t>
            </a:r>
            <a:r>
              <a:rPr lang="en-US" sz="900" dirty="0">
                <a:latin typeface="Courier New" pitchFamily="49" charset="0"/>
              </a:rPr>
              <a:t>='p2',type="n",</a:t>
            </a:r>
            <a:r>
              <a:rPr lang="en-US" sz="900" dirty="0" err="1">
                <a:latin typeface="Courier New" pitchFamily="49" charset="0"/>
              </a:rPr>
              <a:t>ylab</a:t>
            </a:r>
            <a:r>
              <a:rPr lang="en-US" sz="900" dirty="0">
                <a:latin typeface="Courier New" pitchFamily="49" charset="0"/>
              </a:rPr>
              <a:t>='p3',main='PCA plot of </a:t>
            </a:r>
            <a:r>
              <a:rPr lang="en-US" sz="900" dirty="0" err="1">
                <a:latin typeface="Courier New" pitchFamily="49" charset="0"/>
              </a:rPr>
              <a:t>Golub</a:t>
            </a:r>
            <a:r>
              <a:rPr lang="en-US" sz="900" dirty="0">
                <a:latin typeface="Courier New" pitchFamily="49" charset="0"/>
              </a:rPr>
              <a:t> Data\np3 vs. p2')</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[,2][ann.dat2==1],</a:t>
            </a:r>
            <a:r>
              <a:rPr lang="en-US" sz="900" dirty="0" err="1">
                <a:latin typeface="Courier New" pitchFamily="49" charset="0"/>
              </a:rPr>
              <a:t>dat.loadings</a:t>
            </a:r>
            <a:r>
              <a:rPr lang="en-US" sz="900" dirty="0">
                <a:latin typeface="Courier New" pitchFamily="49" charset="0"/>
              </a:rPr>
              <a:t>[,3][ann.dat2==1],col=1,bg='red',</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r>
              <a:rPr lang="en-US" sz="900" dirty="0">
                <a:latin typeface="Courier New" pitchFamily="49" charset="0"/>
              </a:rPr>
              <a:t>points(</a:t>
            </a:r>
            <a:r>
              <a:rPr lang="en-US" sz="900" dirty="0" err="1">
                <a:latin typeface="Courier New" pitchFamily="49" charset="0"/>
              </a:rPr>
              <a:t>dat.loadings</a:t>
            </a:r>
            <a:r>
              <a:rPr lang="en-US" sz="900" dirty="0">
                <a:latin typeface="Courier New" pitchFamily="49" charset="0"/>
              </a:rPr>
              <a:t>[,2][ann.dat2==0], </a:t>
            </a:r>
            <a:r>
              <a:rPr lang="en-US" sz="900" dirty="0" err="1">
                <a:latin typeface="Courier New" pitchFamily="49" charset="0"/>
              </a:rPr>
              <a:t>dat.loadings</a:t>
            </a:r>
            <a:r>
              <a:rPr lang="en-US" sz="900" dirty="0">
                <a:latin typeface="Courier New" pitchFamily="49" charset="0"/>
              </a:rPr>
              <a:t>[,3][ann.dat2==0],col=1,bg='blue',</a:t>
            </a:r>
            <a:r>
              <a:rPr lang="en-US" sz="900" dirty="0" err="1">
                <a:latin typeface="Courier New" pitchFamily="49" charset="0"/>
              </a:rPr>
              <a:t>pch</a:t>
            </a:r>
            <a:r>
              <a:rPr lang="en-US" sz="900" dirty="0">
                <a:latin typeface="Courier New" pitchFamily="49" charset="0"/>
              </a:rPr>
              <a:t>=21,cex=1.5)</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a:p>
            <a:pPr marL="342900" indent="-342900">
              <a:spcBef>
                <a:spcPct val="20000"/>
              </a:spcBef>
              <a:buClr>
                <a:schemeClr val="tx2"/>
              </a:buClr>
              <a:buSzPct val="70000"/>
              <a:buFont typeface="Wingdings" pitchFamily="2" charset="2"/>
              <a:buNone/>
            </a:pPr>
            <a:r>
              <a:rPr lang="en-US" sz="900" dirty="0">
                <a:latin typeface="Courier New" pitchFamily="49" charset="0"/>
              </a:rPr>
              <a:t># Scree plot of </a:t>
            </a:r>
            <a:r>
              <a:rPr lang="en-US" sz="900" dirty="0" err="1">
                <a:latin typeface="Courier New" pitchFamily="49" charset="0"/>
              </a:rPr>
              <a:t>Golub</a:t>
            </a:r>
            <a:r>
              <a:rPr lang="en-US" sz="900" dirty="0">
                <a:latin typeface="Courier New" pitchFamily="49" charset="0"/>
              </a:rPr>
              <a:t> data</a:t>
            </a:r>
          </a:p>
          <a:p>
            <a:pPr marL="342900" indent="-342900">
              <a:spcBef>
                <a:spcPct val="20000"/>
              </a:spcBef>
              <a:buClr>
                <a:schemeClr val="tx2"/>
              </a:buClr>
              <a:buSzPct val="70000"/>
              <a:buFont typeface="Wingdings" pitchFamily="2" charset="2"/>
              <a:buNone/>
            </a:pPr>
            <a:r>
              <a:rPr lang="en-US" sz="900" dirty="0" err="1">
                <a:latin typeface="Courier New" pitchFamily="49" charset="0"/>
              </a:rPr>
              <a:t>dat.pca.var</a:t>
            </a:r>
            <a:r>
              <a:rPr lang="en-US" sz="900" dirty="0">
                <a:latin typeface="Courier New" pitchFamily="49" charset="0"/>
              </a:rPr>
              <a:t> &lt;- round(dat.pca$sdev^2 / sum(dat.pca$sdev^2)*100,2)</a:t>
            </a:r>
          </a:p>
          <a:p>
            <a:pPr marL="342900" indent="-342900">
              <a:spcBef>
                <a:spcPct val="20000"/>
              </a:spcBef>
              <a:buClr>
                <a:schemeClr val="tx2"/>
              </a:buClr>
              <a:buSzPct val="70000"/>
              <a:buFont typeface="Wingdings" pitchFamily="2" charset="2"/>
              <a:buNone/>
            </a:pPr>
            <a:r>
              <a:rPr lang="en-US" sz="900" dirty="0">
                <a:latin typeface="Courier New" pitchFamily="49" charset="0"/>
              </a:rPr>
              <a:t>plot(c(1:length(</a:t>
            </a:r>
            <a:r>
              <a:rPr lang="en-US" sz="900" dirty="0" err="1">
                <a:latin typeface="Courier New" pitchFamily="49" charset="0"/>
              </a:rPr>
              <a:t>dat.pca.var</a:t>
            </a:r>
            <a:r>
              <a:rPr lang="en-US" sz="900" dirty="0">
                <a:latin typeface="Courier New" pitchFamily="49" charset="0"/>
              </a:rPr>
              <a:t>)),</a:t>
            </a:r>
            <a:r>
              <a:rPr lang="en-US" sz="900" dirty="0" err="1">
                <a:latin typeface="Courier New" pitchFamily="49" charset="0"/>
              </a:rPr>
              <a:t>dat.pca.var,type</a:t>
            </a:r>
            <a:r>
              <a:rPr lang="en-US" sz="900" dirty="0">
                <a:latin typeface="Courier New" pitchFamily="49" charset="0"/>
              </a:rPr>
              <a:t>="b",</a:t>
            </a:r>
            <a:r>
              <a:rPr lang="en-US" sz="900" dirty="0" err="1">
                <a:latin typeface="Courier New" pitchFamily="49" charset="0"/>
              </a:rPr>
              <a:t>xlab</a:t>
            </a:r>
            <a:r>
              <a:rPr lang="en-US" sz="900" dirty="0">
                <a:latin typeface="Courier New" pitchFamily="49" charset="0"/>
              </a:rPr>
              <a:t>="# components",</a:t>
            </a:r>
            <a:r>
              <a:rPr lang="en-US" sz="900" dirty="0" err="1">
                <a:latin typeface="Courier New" pitchFamily="49" charset="0"/>
              </a:rPr>
              <a:t>ylab</a:t>
            </a:r>
            <a:r>
              <a:rPr lang="en-US" sz="900" dirty="0">
                <a:latin typeface="Courier New" pitchFamily="49" charset="0"/>
              </a:rPr>
              <a:t>="% variance",</a:t>
            </a:r>
            <a:r>
              <a:rPr lang="en-US" sz="900" dirty="0" err="1">
                <a:latin typeface="Courier New" pitchFamily="49" charset="0"/>
              </a:rPr>
              <a:t>pch</a:t>
            </a:r>
            <a:r>
              <a:rPr lang="en-US" sz="900" dirty="0">
                <a:latin typeface="Courier New" pitchFamily="49" charset="0"/>
              </a:rPr>
              <a:t>=21,col=1,bg=3,cex=1.5)</a:t>
            </a:r>
          </a:p>
          <a:p>
            <a:pPr marL="342900" indent="-342900">
              <a:spcBef>
                <a:spcPct val="20000"/>
              </a:spcBef>
              <a:buClr>
                <a:schemeClr val="tx2"/>
              </a:buClr>
              <a:buSzPct val="70000"/>
              <a:buFont typeface="Wingdings" pitchFamily="2" charset="2"/>
              <a:buNone/>
            </a:pPr>
            <a:r>
              <a:rPr lang="en-US" sz="900" dirty="0">
                <a:latin typeface="Courier New" pitchFamily="49" charset="0"/>
              </a:rPr>
              <a:t>title("Scree plot showing % variability explained by each eigenvalue\</a:t>
            </a:r>
            <a:r>
              <a:rPr lang="en-US" sz="900" dirty="0" err="1">
                <a:latin typeface="Courier New" pitchFamily="49" charset="0"/>
              </a:rPr>
              <a:t>nAML</a:t>
            </a:r>
            <a:r>
              <a:rPr lang="en-US" sz="900" dirty="0">
                <a:latin typeface="Courier New" pitchFamily="49" charset="0"/>
              </a:rPr>
              <a:t>/ALL dataset")</a:t>
            </a:r>
          </a:p>
          <a:p>
            <a:pPr marL="342900" indent="-342900">
              <a:spcBef>
                <a:spcPct val="20000"/>
              </a:spcBef>
              <a:buClr>
                <a:schemeClr val="tx2"/>
              </a:buClr>
              <a:buSzPct val="70000"/>
              <a:buFont typeface="Wingdings" pitchFamily="2" charset="2"/>
              <a:buNone/>
            </a:pPr>
            <a:endParaRPr lang="en-US" sz="900" dirty="0">
              <a:latin typeface="Courier New"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457200" y="381000"/>
            <a:ext cx="7543800" cy="579438"/>
          </a:xfrm>
        </p:spPr>
        <p:txBody>
          <a:bodyPr/>
          <a:lstStyle/>
          <a:p>
            <a:r>
              <a:rPr lang="en-US" sz="3400"/>
              <a:t>R Code</a:t>
            </a:r>
          </a:p>
        </p:txBody>
      </p:sp>
      <p:sp>
        <p:nvSpPr>
          <p:cNvPr id="277507" name="Rectangle 3"/>
          <p:cNvSpPr>
            <a:spLocks noChangeArrowheads="1"/>
          </p:cNvSpPr>
          <p:nvPr/>
        </p:nvSpPr>
        <p:spPr bwMode="auto">
          <a:xfrm>
            <a:off x="457200" y="16002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endParaRPr lang="en-US" sz="2200"/>
          </a:p>
        </p:txBody>
      </p:sp>
      <p:sp>
        <p:nvSpPr>
          <p:cNvPr id="277508" name="Rectangle 4"/>
          <p:cNvSpPr>
            <a:spLocks noChangeArrowheads="1"/>
          </p:cNvSpPr>
          <p:nvPr/>
        </p:nvSpPr>
        <p:spPr bwMode="auto">
          <a:xfrm>
            <a:off x="609600" y="914400"/>
            <a:ext cx="8153400"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r>
              <a:rPr lang="en-US" sz="1000" dirty="0">
                <a:latin typeface="Courier New" pitchFamily="49" charset="0"/>
              </a:rPr>
              <a:t># only retain 2 components</a:t>
            </a:r>
          </a:p>
          <a:p>
            <a:pPr marL="342900" indent="-342900">
              <a:spcBef>
                <a:spcPct val="20000"/>
              </a:spcBef>
              <a:buClr>
                <a:schemeClr val="tx2"/>
              </a:buClr>
              <a:buSzPct val="70000"/>
              <a:buFont typeface="Wingdings" pitchFamily="2" charset="2"/>
              <a:buNone/>
            </a:pPr>
            <a:r>
              <a:rPr lang="en-US" sz="1000" dirty="0">
                <a:latin typeface="Courier New" pitchFamily="49" charset="0"/>
              </a:rPr>
              <a:t>plot(range(</a:t>
            </a:r>
            <a:r>
              <a:rPr lang="en-US" sz="1000" dirty="0" err="1">
                <a:latin typeface="Courier New" pitchFamily="49" charset="0"/>
              </a:rPr>
              <a:t>dat.loadings</a:t>
            </a:r>
            <a:r>
              <a:rPr lang="en-US" sz="1000" dirty="0">
                <a:latin typeface="Courier New" pitchFamily="49" charset="0"/>
              </a:rPr>
              <a:t>[,1]),range(</a:t>
            </a:r>
            <a:r>
              <a:rPr lang="en-US" sz="1000" dirty="0" err="1">
                <a:latin typeface="Courier New" pitchFamily="49" charset="0"/>
              </a:rPr>
              <a:t>dat.loadings</a:t>
            </a:r>
            <a:r>
              <a:rPr lang="en-US" sz="1000" dirty="0">
                <a:latin typeface="Courier New" pitchFamily="49" charset="0"/>
              </a:rPr>
              <a:t>[,2]),type="n",</a:t>
            </a:r>
            <a:r>
              <a:rPr lang="en-US" sz="1000" dirty="0" err="1">
                <a:latin typeface="Courier New" pitchFamily="49" charset="0"/>
              </a:rPr>
              <a:t>xlab</a:t>
            </a:r>
            <a:r>
              <a:rPr lang="en-US" sz="1000" dirty="0">
                <a:latin typeface="Courier New" pitchFamily="49" charset="0"/>
              </a:rPr>
              <a:t>='p1',ylab='p2',main='PCA plot of </a:t>
            </a:r>
            <a:r>
              <a:rPr lang="en-US" sz="1000" dirty="0" err="1">
                <a:latin typeface="Courier New" pitchFamily="49" charset="0"/>
              </a:rPr>
              <a:t>Golub</a:t>
            </a:r>
            <a:r>
              <a:rPr lang="en-US" sz="1000" dirty="0">
                <a:latin typeface="Courier New" pitchFamily="49" charset="0"/>
              </a:rPr>
              <a:t> Data\np2 vs. p1')</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dat.loadings</a:t>
            </a:r>
            <a:r>
              <a:rPr lang="en-US" sz="1000" dirty="0">
                <a:latin typeface="Courier New" pitchFamily="49" charset="0"/>
              </a:rPr>
              <a:t>[,1][ann.dat2==1], </a:t>
            </a:r>
            <a:r>
              <a:rPr lang="en-US" sz="1000" dirty="0" err="1">
                <a:latin typeface="Courier New" pitchFamily="49" charset="0"/>
              </a:rPr>
              <a:t>dat.loadings</a:t>
            </a:r>
            <a:r>
              <a:rPr lang="en-US" sz="1000" dirty="0">
                <a:latin typeface="Courier New" pitchFamily="49" charset="0"/>
              </a:rPr>
              <a:t>[,2][ann.dat2==1],col=1,bg='red',</a:t>
            </a:r>
            <a:r>
              <a:rPr lang="en-US" sz="1000" dirty="0" err="1">
                <a:latin typeface="Courier New" pitchFamily="49" charset="0"/>
              </a:rPr>
              <a:t>pch</a:t>
            </a:r>
            <a:r>
              <a:rPr lang="en-US" sz="1000" dirty="0">
                <a:latin typeface="Courier New" pitchFamily="49" charset="0"/>
              </a:rPr>
              <a:t>=21,cex=1.5)</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dat.loadings</a:t>
            </a:r>
            <a:r>
              <a:rPr lang="en-US" sz="1000" dirty="0">
                <a:latin typeface="Courier New" pitchFamily="49" charset="0"/>
              </a:rPr>
              <a:t>[,1][ann.dat2==0], </a:t>
            </a:r>
            <a:r>
              <a:rPr lang="en-US" sz="1000" dirty="0" err="1">
                <a:latin typeface="Courier New" pitchFamily="49" charset="0"/>
              </a:rPr>
              <a:t>dat.loadings</a:t>
            </a:r>
            <a:r>
              <a:rPr lang="en-US" sz="1000" dirty="0">
                <a:latin typeface="Courier New" pitchFamily="49" charset="0"/>
              </a:rPr>
              <a:t>[,2][ann.dat2==0],col=1,bg='blue',</a:t>
            </a:r>
            <a:r>
              <a:rPr lang="en-US" sz="1000" dirty="0" err="1">
                <a:latin typeface="Courier New" pitchFamily="49" charset="0"/>
              </a:rPr>
              <a:t>pch</a:t>
            </a:r>
            <a:r>
              <a:rPr lang="en-US" sz="1000" dirty="0">
                <a:latin typeface="Courier New" pitchFamily="49" charset="0"/>
              </a:rPr>
              <a:t>=21,cex=1.5)</a:t>
            </a:r>
          </a:p>
          <a:p>
            <a:pPr marL="342900" indent="-342900">
              <a:spcBef>
                <a:spcPct val="20000"/>
              </a:spcBef>
              <a:buClr>
                <a:schemeClr val="tx2"/>
              </a:buClr>
              <a:buSzPct val="70000"/>
              <a:buFont typeface="Wingdings" pitchFamily="2" charset="2"/>
              <a:buNone/>
            </a:pPr>
            <a:r>
              <a:rPr lang="en-US" sz="1000" dirty="0">
                <a:latin typeface="Courier New" pitchFamily="49" charset="0"/>
              </a:rPr>
              <a:t>legend(20,20,c("AML","ALL"),col=c("</a:t>
            </a:r>
            <a:r>
              <a:rPr lang="en-US" sz="1000" dirty="0" err="1">
                <a:latin typeface="Courier New" pitchFamily="49" charset="0"/>
              </a:rPr>
              <a:t>red","blue</a:t>
            </a:r>
            <a:r>
              <a:rPr lang="en-US" sz="1000" dirty="0">
                <a:latin typeface="Courier New" pitchFamily="49" charset="0"/>
              </a:rPr>
              <a:t>"),</a:t>
            </a:r>
            <a:r>
              <a:rPr lang="en-US" sz="1000" dirty="0" err="1">
                <a:latin typeface="Courier New" pitchFamily="49" charset="0"/>
              </a:rPr>
              <a:t>pch</a:t>
            </a:r>
            <a:r>
              <a:rPr lang="en-US" sz="1000" dirty="0">
                <a:latin typeface="Courier New" pitchFamily="49" charset="0"/>
              </a:rPr>
              <a:t>=15,cex=.9,horiz=F)</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plot(range(</a:t>
            </a:r>
            <a:r>
              <a:rPr lang="en-US" sz="1000" dirty="0" err="1">
                <a:latin typeface="Courier New" pitchFamily="49" charset="0"/>
              </a:rPr>
              <a:t>dat.loadings</a:t>
            </a:r>
            <a:r>
              <a:rPr lang="en-US" sz="1000" dirty="0">
                <a:latin typeface="Courier New" pitchFamily="49" charset="0"/>
              </a:rPr>
              <a:t>[,1]),range(</a:t>
            </a:r>
            <a:r>
              <a:rPr lang="en-US" sz="1000" dirty="0" err="1">
                <a:latin typeface="Courier New" pitchFamily="49" charset="0"/>
              </a:rPr>
              <a:t>dat.loadings</a:t>
            </a:r>
            <a:r>
              <a:rPr lang="en-US" sz="1000" dirty="0">
                <a:latin typeface="Courier New" pitchFamily="49" charset="0"/>
              </a:rPr>
              <a:t>[,2]),type="n",</a:t>
            </a:r>
            <a:r>
              <a:rPr lang="en-US" sz="1000" dirty="0" err="1">
                <a:latin typeface="Courier New" pitchFamily="49" charset="0"/>
              </a:rPr>
              <a:t>xlab</a:t>
            </a:r>
            <a:r>
              <a:rPr lang="en-US" sz="1000" dirty="0">
                <a:latin typeface="Courier New" pitchFamily="49" charset="0"/>
              </a:rPr>
              <a:t>='p1',ylab='p2',main='PCA plot of </a:t>
            </a:r>
            <a:r>
              <a:rPr lang="en-US" sz="1000" dirty="0" err="1">
                <a:latin typeface="Courier New" pitchFamily="49" charset="0"/>
              </a:rPr>
              <a:t>Golub</a:t>
            </a:r>
            <a:r>
              <a:rPr lang="en-US" sz="1000" dirty="0">
                <a:latin typeface="Courier New" pitchFamily="49" charset="0"/>
              </a:rPr>
              <a:t> Data\np2 vs. p1')</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dat.loadings</a:t>
            </a:r>
            <a:r>
              <a:rPr lang="en-US" sz="1000" dirty="0">
                <a:latin typeface="Courier New" pitchFamily="49" charset="0"/>
              </a:rPr>
              <a:t>[,1][</a:t>
            </a:r>
            <a:r>
              <a:rPr lang="en-US" sz="1000" dirty="0" err="1">
                <a:latin typeface="Courier New" pitchFamily="49" charset="0"/>
              </a:rPr>
              <a:t>dat.loadings</a:t>
            </a:r>
            <a:r>
              <a:rPr lang="en-US" sz="1000" dirty="0">
                <a:latin typeface="Courier New" pitchFamily="49" charset="0"/>
              </a:rPr>
              <a:t>[,2]&gt;5], </a:t>
            </a:r>
            <a:r>
              <a:rPr lang="en-US" sz="1000" dirty="0" err="1">
                <a:latin typeface="Courier New" pitchFamily="49" charset="0"/>
              </a:rPr>
              <a:t>dat.loadings</a:t>
            </a:r>
            <a:r>
              <a:rPr lang="en-US" sz="1000" dirty="0">
                <a:latin typeface="Courier New" pitchFamily="49" charset="0"/>
              </a:rPr>
              <a:t>[,2][</a:t>
            </a:r>
            <a:r>
              <a:rPr lang="en-US" sz="1000" dirty="0" err="1">
                <a:latin typeface="Courier New" pitchFamily="49" charset="0"/>
              </a:rPr>
              <a:t>dat.loadings</a:t>
            </a:r>
            <a:r>
              <a:rPr lang="en-US" sz="1000" dirty="0">
                <a:latin typeface="Courier New" pitchFamily="49" charset="0"/>
              </a:rPr>
              <a:t>[,2]&gt;5],col=1,bg='purple',</a:t>
            </a:r>
            <a:r>
              <a:rPr lang="en-US" sz="1000" dirty="0" err="1">
                <a:latin typeface="Courier New" pitchFamily="49" charset="0"/>
              </a:rPr>
              <a:t>pch</a:t>
            </a:r>
            <a:r>
              <a:rPr lang="en-US" sz="1000" dirty="0">
                <a:latin typeface="Courier New" pitchFamily="49" charset="0"/>
              </a:rPr>
              <a:t>=21,cex=1.5)</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dat.loadings</a:t>
            </a:r>
            <a:r>
              <a:rPr lang="en-US" sz="1000" dirty="0">
                <a:latin typeface="Courier New" pitchFamily="49" charset="0"/>
              </a:rPr>
              <a:t>[,1][</a:t>
            </a:r>
            <a:r>
              <a:rPr lang="en-US" sz="1000" dirty="0" err="1">
                <a:latin typeface="Courier New" pitchFamily="49" charset="0"/>
              </a:rPr>
              <a:t>dat.loadings</a:t>
            </a:r>
            <a:r>
              <a:rPr lang="en-US" sz="1000" dirty="0">
                <a:latin typeface="Courier New" pitchFamily="49" charset="0"/>
              </a:rPr>
              <a:t>[,2]&lt;=5], </a:t>
            </a:r>
            <a:r>
              <a:rPr lang="en-US" sz="1000" dirty="0" err="1">
                <a:latin typeface="Courier New" pitchFamily="49" charset="0"/>
              </a:rPr>
              <a:t>dat.loadings</a:t>
            </a:r>
            <a:r>
              <a:rPr lang="en-US" sz="1000" dirty="0">
                <a:latin typeface="Courier New" pitchFamily="49" charset="0"/>
              </a:rPr>
              <a:t>[,2][</a:t>
            </a:r>
            <a:r>
              <a:rPr lang="en-US" sz="1000" dirty="0" err="1">
                <a:latin typeface="Courier New" pitchFamily="49" charset="0"/>
              </a:rPr>
              <a:t>dat.loadings</a:t>
            </a:r>
            <a:r>
              <a:rPr lang="en-US" sz="1000" dirty="0">
                <a:latin typeface="Courier New" pitchFamily="49" charset="0"/>
              </a:rPr>
              <a:t>[,2]&lt;=5],col=1,bg='orange',</a:t>
            </a:r>
            <a:r>
              <a:rPr lang="en-US" sz="1000" dirty="0" err="1">
                <a:latin typeface="Courier New" pitchFamily="49" charset="0"/>
              </a:rPr>
              <a:t>pch</a:t>
            </a:r>
            <a:r>
              <a:rPr lang="en-US" sz="1000" dirty="0">
                <a:latin typeface="Courier New" pitchFamily="49" charset="0"/>
              </a:rPr>
              <a:t>=21,cex=1.5)</a:t>
            </a:r>
          </a:p>
          <a:p>
            <a:pPr marL="342900" indent="-342900">
              <a:spcBef>
                <a:spcPct val="20000"/>
              </a:spcBef>
              <a:buClr>
                <a:schemeClr val="tx2"/>
              </a:buClr>
              <a:buSzPct val="70000"/>
              <a:buFont typeface="Wingdings" pitchFamily="2" charset="2"/>
              <a:buNone/>
            </a:pPr>
            <a:r>
              <a:rPr lang="en-US" sz="1000" dirty="0">
                <a:latin typeface="Courier New" pitchFamily="49" charset="0"/>
              </a:rPr>
              <a:t>legend(16,20,c("</a:t>
            </a:r>
            <a:r>
              <a:rPr lang="en-US" sz="1000" dirty="0" err="1">
                <a:latin typeface="Courier New" pitchFamily="49" charset="0"/>
              </a:rPr>
              <a:t>Daunorubicin</a:t>
            </a:r>
            <a:r>
              <a:rPr lang="en-US" sz="1000" dirty="0">
                <a:latin typeface="Courier New" pitchFamily="49" charset="0"/>
              </a:rPr>
              <a:t> </a:t>
            </a:r>
            <a:r>
              <a:rPr lang="en-US" sz="1000" dirty="0" err="1">
                <a:latin typeface="Courier New" pitchFamily="49" charset="0"/>
              </a:rPr>
              <a:t>tx</a:t>
            </a:r>
            <a:r>
              <a:rPr lang="en-US" sz="1000" dirty="0">
                <a:latin typeface="Courier New" pitchFamily="49" charset="0"/>
              </a:rPr>
              <a:t>","No </a:t>
            </a:r>
            <a:r>
              <a:rPr lang="en-US" sz="1000" dirty="0" err="1">
                <a:latin typeface="Courier New" pitchFamily="49" charset="0"/>
              </a:rPr>
              <a:t>tx</a:t>
            </a:r>
            <a:r>
              <a:rPr lang="en-US" sz="1000" dirty="0">
                <a:latin typeface="Courier New" pitchFamily="49" charset="0"/>
              </a:rPr>
              <a:t>"),col=c("</a:t>
            </a:r>
            <a:r>
              <a:rPr lang="en-US" sz="1000" dirty="0" err="1">
                <a:latin typeface="Courier New" pitchFamily="49" charset="0"/>
              </a:rPr>
              <a:t>orange","purple</a:t>
            </a:r>
            <a:r>
              <a:rPr lang="en-US" sz="1000" dirty="0">
                <a:latin typeface="Courier New" pitchFamily="49" charset="0"/>
              </a:rPr>
              <a:t>"),</a:t>
            </a:r>
            <a:r>
              <a:rPr lang="en-US" sz="1000" dirty="0" err="1">
                <a:latin typeface="Courier New" pitchFamily="49" charset="0"/>
              </a:rPr>
              <a:t>pch</a:t>
            </a:r>
            <a:r>
              <a:rPr lang="en-US" sz="1000" dirty="0">
                <a:latin typeface="Courier New" pitchFamily="49" charset="0"/>
              </a:rPr>
              <a:t>=15,cex=.9,horiz=F)</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 PLS classifier code</a:t>
            </a:r>
          </a:p>
          <a:p>
            <a:pPr marL="342900" indent="-342900">
              <a:spcBef>
                <a:spcPct val="20000"/>
              </a:spcBef>
              <a:buClr>
                <a:schemeClr val="tx2"/>
              </a:buClr>
              <a:buSzPct val="70000"/>
              <a:buFont typeface="Wingdings" pitchFamily="2" charset="2"/>
              <a:buNone/>
            </a:pPr>
            <a:r>
              <a:rPr lang="en-US" sz="1000" dirty="0">
                <a:latin typeface="Courier New" pitchFamily="49" charset="0"/>
              </a:rPr>
              <a:t>library(</a:t>
            </a:r>
            <a:r>
              <a:rPr lang="en-US" sz="1000" dirty="0" err="1">
                <a:latin typeface="Courier New" pitchFamily="49" charset="0"/>
              </a:rPr>
              <a:t>gpls</a:t>
            </a:r>
            <a:r>
              <a:rPr lang="en-US" sz="1000" dirty="0">
                <a:latin typeface="Courier New" pitchFamily="49" charset="0"/>
              </a:rPr>
              <a:t>);	</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x &lt;- matrix(</a:t>
            </a:r>
            <a:r>
              <a:rPr lang="en-US" sz="1000" dirty="0" err="1">
                <a:latin typeface="Courier New" pitchFamily="49" charset="0"/>
              </a:rPr>
              <a:t>rnorm</a:t>
            </a:r>
            <a:r>
              <a:rPr lang="en-US" sz="1000" dirty="0">
                <a:latin typeface="Courier New" pitchFamily="49" charset="0"/>
              </a:rPr>
              <a:t>(20),</a:t>
            </a:r>
            <a:r>
              <a:rPr lang="en-US" sz="1000" dirty="0" err="1">
                <a:latin typeface="Courier New" pitchFamily="49" charset="0"/>
              </a:rPr>
              <a:t>ncol</a:t>
            </a:r>
            <a:r>
              <a:rPr lang="en-US" sz="1000" dirty="0">
                <a:latin typeface="Courier New" pitchFamily="49" charset="0"/>
              </a:rPr>
              <a:t>=2)</a:t>
            </a:r>
          </a:p>
          <a:p>
            <a:pPr marL="342900" indent="-342900">
              <a:spcBef>
                <a:spcPct val="20000"/>
              </a:spcBef>
              <a:buClr>
                <a:schemeClr val="tx2"/>
              </a:buClr>
              <a:buSzPct val="70000"/>
              <a:buFont typeface="Wingdings" pitchFamily="2" charset="2"/>
              <a:buNone/>
            </a:pPr>
            <a:r>
              <a:rPr lang="en-US" sz="1000" dirty="0">
                <a:latin typeface="Courier New" pitchFamily="49" charset="0"/>
              </a:rPr>
              <a:t>y &lt;- sample(0:1,10,TRUE)</a:t>
            </a:r>
          </a:p>
          <a:p>
            <a:pPr marL="342900" indent="-342900">
              <a:spcBef>
                <a:spcPct val="20000"/>
              </a:spcBef>
              <a:buClr>
                <a:schemeClr val="tx2"/>
              </a:buClr>
              <a:buSzPct val="70000"/>
              <a:buFont typeface="Wingdings" pitchFamily="2" charset="2"/>
              <a:buNone/>
            </a:pPr>
            <a:r>
              <a:rPr lang="en-US" sz="1000" dirty="0">
                <a:latin typeface="Courier New" pitchFamily="49" charset="0"/>
              </a:rPr>
              <a:t>x1 &lt;- matrix(</a:t>
            </a:r>
            <a:r>
              <a:rPr lang="en-US" sz="1000" dirty="0" err="1">
                <a:latin typeface="Courier New" pitchFamily="49" charset="0"/>
              </a:rPr>
              <a:t>rnorm</a:t>
            </a:r>
            <a:r>
              <a:rPr lang="en-US" sz="1000" dirty="0">
                <a:latin typeface="Courier New" pitchFamily="49" charset="0"/>
              </a:rPr>
              <a:t>(10),</a:t>
            </a:r>
            <a:r>
              <a:rPr lang="en-US" sz="1000" dirty="0" err="1">
                <a:latin typeface="Courier New" pitchFamily="49" charset="0"/>
              </a:rPr>
              <a:t>ncol</a:t>
            </a:r>
            <a:r>
              <a:rPr lang="en-US" sz="1000" dirty="0">
                <a:latin typeface="Courier New" pitchFamily="49" charset="0"/>
              </a:rPr>
              <a:t>=2)</a:t>
            </a:r>
          </a:p>
          <a:p>
            <a:pPr marL="342900" indent="-342900">
              <a:spcBef>
                <a:spcPct val="20000"/>
              </a:spcBef>
              <a:buClr>
                <a:schemeClr val="tx2"/>
              </a:buClr>
              <a:buSzPct val="70000"/>
              <a:buFont typeface="Wingdings" pitchFamily="2" charset="2"/>
              <a:buNone/>
            </a:pPr>
            <a:r>
              <a:rPr lang="en-US" sz="1000" dirty="0">
                <a:latin typeface="Courier New" pitchFamily="49" charset="0"/>
              </a:rPr>
              <a:t>y1 &lt;- sample(0:1,5,TRUE)</a:t>
            </a:r>
          </a:p>
          <a:p>
            <a:pPr marL="342900" indent="-342900">
              <a:spcBef>
                <a:spcPct val="20000"/>
              </a:spcBef>
              <a:buClr>
                <a:schemeClr val="tx2"/>
              </a:buClr>
              <a:buSzPct val="70000"/>
              <a:buFont typeface="Wingdings" pitchFamily="2" charset="2"/>
              <a:buChar char="l"/>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 no bias reduction</a:t>
            </a:r>
          </a:p>
          <a:p>
            <a:pPr marL="342900" indent="-342900">
              <a:spcBef>
                <a:spcPct val="20000"/>
              </a:spcBef>
              <a:buClr>
                <a:schemeClr val="tx2"/>
              </a:buClr>
              <a:buSzPct val="70000"/>
              <a:buFont typeface="Wingdings" pitchFamily="2" charset="2"/>
              <a:buNone/>
            </a:pPr>
            <a:r>
              <a:rPr lang="en-US" sz="1000" dirty="0">
                <a:latin typeface="Courier New" pitchFamily="49" charset="0"/>
              </a:rPr>
              <a:t>glpls1a.train.test.error(x,y,x1,y1,br=FALSE)</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 weights for each gene is contribution to the response</a:t>
            </a:r>
          </a:p>
          <a:p>
            <a:pPr marL="342900" indent="-342900">
              <a:spcBef>
                <a:spcPct val="20000"/>
              </a:spcBef>
              <a:buClr>
                <a:schemeClr val="tx2"/>
              </a:buClr>
              <a:buSzPct val="70000"/>
              <a:buFont typeface="Wingdings" pitchFamily="2" charset="2"/>
              <a:buNone/>
            </a:pPr>
            <a:r>
              <a:rPr lang="en-US" sz="1000" dirty="0">
                <a:latin typeface="Courier New" pitchFamily="49" charset="0"/>
              </a:rPr>
              <a:t>glpls1a(</a:t>
            </a:r>
            <a:r>
              <a:rPr lang="en-US" sz="1000" dirty="0" err="1">
                <a:latin typeface="Courier New" pitchFamily="49" charset="0"/>
              </a:rPr>
              <a:t>x,y,br</a:t>
            </a:r>
            <a:r>
              <a:rPr lang="en-US" sz="1000" dirty="0">
                <a:latin typeface="Courier New" pitchFamily="49" charset="0"/>
              </a:rPr>
              <a:t>=TRUE)$coefficients[-1]</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p:cNvSpPr>
            <a:spLocks noGrp="1" noChangeArrowheads="1"/>
          </p:cNvSpPr>
          <p:nvPr>
            <p:ph type="title"/>
          </p:nvPr>
        </p:nvSpPr>
        <p:spPr>
          <a:xfrm>
            <a:off x="457200" y="381000"/>
            <a:ext cx="7543800" cy="579438"/>
          </a:xfrm>
        </p:spPr>
        <p:txBody>
          <a:bodyPr/>
          <a:lstStyle/>
          <a:p>
            <a:r>
              <a:rPr lang="en-US" sz="3400"/>
              <a:t>R Code</a:t>
            </a:r>
          </a:p>
        </p:txBody>
      </p:sp>
      <p:sp>
        <p:nvSpPr>
          <p:cNvPr id="288771" name="Rectangle 3"/>
          <p:cNvSpPr>
            <a:spLocks noChangeArrowheads="1"/>
          </p:cNvSpPr>
          <p:nvPr/>
        </p:nvSpPr>
        <p:spPr bwMode="auto">
          <a:xfrm>
            <a:off x="457200" y="16002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endParaRPr lang="en-US" sz="2200"/>
          </a:p>
        </p:txBody>
      </p:sp>
      <p:sp>
        <p:nvSpPr>
          <p:cNvPr id="288772" name="Rectangle 4"/>
          <p:cNvSpPr>
            <a:spLocks noChangeArrowheads="1"/>
          </p:cNvSpPr>
          <p:nvPr/>
        </p:nvSpPr>
        <p:spPr bwMode="auto">
          <a:xfrm>
            <a:off x="609600" y="914400"/>
            <a:ext cx="8153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r>
              <a:rPr lang="en-US" sz="1000" dirty="0">
                <a:latin typeface="Courier New" pitchFamily="49" charset="0"/>
              </a:rPr>
              <a:t># </a:t>
            </a:r>
            <a:r>
              <a:rPr lang="en-US" sz="1000" dirty="0" err="1">
                <a:latin typeface="Courier New" pitchFamily="49" charset="0"/>
              </a:rPr>
              <a:t>Kruskal’s</a:t>
            </a:r>
            <a:r>
              <a:rPr lang="en-US" sz="1000" dirty="0">
                <a:latin typeface="Courier New" pitchFamily="49" charset="0"/>
              </a:rPr>
              <a:t> non-metric MDS on samples</a:t>
            </a:r>
          </a:p>
          <a:p>
            <a:pPr marL="342900" indent="-342900">
              <a:spcBef>
                <a:spcPct val="20000"/>
              </a:spcBef>
              <a:buClr>
                <a:schemeClr val="tx2"/>
              </a:buClr>
              <a:buSzPct val="70000"/>
              <a:buFont typeface="Wingdings" pitchFamily="2" charset="2"/>
              <a:buNone/>
            </a:pPr>
            <a:r>
              <a:rPr lang="en-US" sz="1000" dirty="0">
                <a:latin typeface="Courier New" pitchFamily="49" charset="0"/>
              </a:rPr>
              <a:t>library(MASS);	library(</a:t>
            </a:r>
            <a:r>
              <a:rPr lang="en-US" sz="1000" dirty="0" err="1">
                <a:latin typeface="Courier New" pitchFamily="49" charset="0"/>
              </a:rPr>
              <a:t>multtest</a:t>
            </a:r>
            <a:r>
              <a:rPr lang="en-US" sz="1000" dirty="0">
                <a:latin typeface="Courier New" pitchFamily="49" charset="0"/>
              </a:rPr>
              <a:t>);</a:t>
            </a:r>
          </a:p>
          <a:p>
            <a:pPr marL="342900" indent="-342900">
              <a:spcBef>
                <a:spcPct val="20000"/>
              </a:spcBef>
              <a:buClr>
                <a:schemeClr val="tx2"/>
              </a:buClr>
              <a:buSzPct val="70000"/>
              <a:buFont typeface="Wingdings" pitchFamily="2" charset="2"/>
              <a:buNone/>
            </a:pPr>
            <a:r>
              <a:rPr lang="en-US" sz="1000" dirty="0">
                <a:latin typeface="Courier New" pitchFamily="49" charset="0"/>
              </a:rPr>
              <a:t>data(</a:t>
            </a:r>
            <a:r>
              <a:rPr lang="en-US" sz="1000" dirty="0" err="1">
                <a:latin typeface="Courier New" pitchFamily="49" charset="0"/>
              </a:rPr>
              <a:t>golub</a:t>
            </a:r>
            <a:r>
              <a:rPr lang="en-US" sz="1000" dirty="0">
                <a:latin typeface="Courier New" pitchFamily="49" charset="0"/>
              </a:rPr>
              <a:t>);</a:t>
            </a:r>
          </a:p>
          <a:p>
            <a:pPr marL="342900" indent="-342900">
              <a:spcBef>
                <a:spcPct val="20000"/>
              </a:spcBef>
              <a:buClr>
                <a:schemeClr val="tx2"/>
              </a:buClr>
              <a:buSzPct val="70000"/>
              <a:buFont typeface="Wingdings" pitchFamily="2" charset="2"/>
              <a:buNone/>
            </a:pPr>
            <a:r>
              <a:rPr lang="en-US" sz="1000" dirty="0">
                <a:latin typeface="Courier New" pitchFamily="49" charset="0"/>
              </a:rPr>
              <a:t>ann.dat2 &lt;- golub.cl	# class labels ALL=0; AML=1</a:t>
            </a:r>
          </a:p>
          <a:p>
            <a:pPr marL="342900" indent="-342900">
              <a:spcBef>
                <a:spcPct val="20000"/>
              </a:spcBef>
              <a:buClr>
                <a:schemeClr val="tx2"/>
              </a:buClr>
              <a:buSzPct val="70000"/>
              <a:buFont typeface="Wingdings" pitchFamily="2" charset="2"/>
              <a:buNone/>
            </a:pPr>
            <a:r>
              <a:rPr lang="en-US" sz="1000" dirty="0" err="1">
                <a:latin typeface="Courier New" pitchFamily="49" charset="0"/>
              </a:rPr>
              <a:t>dat</a:t>
            </a:r>
            <a:r>
              <a:rPr lang="en-US" sz="1000" dirty="0">
                <a:latin typeface="Courier New" pitchFamily="49" charset="0"/>
              </a:rPr>
              <a:t> &lt;- </a:t>
            </a:r>
            <a:r>
              <a:rPr lang="en-US" sz="1000" dirty="0" err="1">
                <a:latin typeface="Courier New" pitchFamily="49" charset="0"/>
              </a:rPr>
              <a:t>golub</a:t>
            </a: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err="1">
                <a:latin typeface="Courier New" pitchFamily="49" charset="0"/>
              </a:rPr>
              <a:t>dat.dist</a:t>
            </a:r>
            <a:r>
              <a:rPr lang="en-US" sz="1000" dirty="0">
                <a:latin typeface="Courier New" pitchFamily="49" charset="0"/>
              </a:rPr>
              <a:t> &lt;- </a:t>
            </a:r>
            <a:r>
              <a:rPr lang="en-US" sz="1000" dirty="0" err="1">
                <a:latin typeface="Courier New" pitchFamily="49" charset="0"/>
              </a:rPr>
              <a:t>dist</a:t>
            </a:r>
            <a:r>
              <a:rPr lang="en-US" sz="1000" dirty="0">
                <a:latin typeface="Courier New" pitchFamily="49" charset="0"/>
              </a:rPr>
              <a:t>(t(</a:t>
            </a:r>
            <a:r>
              <a:rPr lang="en-US" sz="1000" dirty="0" err="1">
                <a:latin typeface="Courier New" pitchFamily="49" charset="0"/>
              </a:rPr>
              <a:t>dat</a:t>
            </a:r>
            <a:r>
              <a:rPr lang="en-US" sz="1000" dirty="0">
                <a:latin typeface="Courier New" pitchFamily="49" charset="0"/>
              </a:rPr>
              <a:t>))</a:t>
            </a:r>
          </a:p>
          <a:p>
            <a:pPr marL="342900" indent="-342900">
              <a:spcBef>
                <a:spcPct val="20000"/>
              </a:spcBef>
              <a:buClr>
                <a:schemeClr val="tx2"/>
              </a:buClr>
              <a:buSzPct val="70000"/>
              <a:buFont typeface="Wingdings" pitchFamily="2" charset="2"/>
              <a:buNone/>
            </a:pPr>
            <a:r>
              <a:rPr lang="en-US" sz="1000" dirty="0" err="1">
                <a:latin typeface="Courier New" pitchFamily="49" charset="0"/>
              </a:rPr>
              <a:t>dat.mds</a:t>
            </a:r>
            <a:r>
              <a:rPr lang="en-US" sz="1000" dirty="0">
                <a:latin typeface="Courier New" pitchFamily="49" charset="0"/>
              </a:rPr>
              <a:t> &lt;- </a:t>
            </a:r>
            <a:r>
              <a:rPr lang="en-US" sz="1000" dirty="0" err="1">
                <a:latin typeface="Courier New" pitchFamily="49" charset="0"/>
              </a:rPr>
              <a:t>isoMDS</a:t>
            </a:r>
            <a:r>
              <a:rPr lang="en-US" sz="1000" dirty="0">
                <a:latin typeface="Courier New" pitchFamily="49" charset="0"/>
              </a:rPr>
              <a:t>(</a:t>
            </a:r>
            <a:r>
              <a:rPr lang="en-US" sz="1000" dirty="0" err="1">
                <a:latin typeface="Courier New" pitchFamily="49" charset="0"/>
              </a:rPr>
              <a:t>dat.dist</a:t>
            </a:r>
            <a:r>
              <a:rPr lang="en-US" sz="1000" dirty="0">
                <a:latin typeface="Courier New" pitchFamily="49" charset="0"/>
              </a:rPr>
              <a:t>)</a:t>
            </a:r>
          </a:p>
          <a:p>
            <a:pPr marL="342900" indent="-342900">
              <a:spcBef>
                <a:spcPct val="20000"/>
              </a:spcBef>
              <a:buClr>
                <a:schemeClr val="tx2"/>
              </a:buClr>
              <a:buSzPct val="70000"/>
              <a:buFont typeface="Wingdings" pitchFamily="2" charset="2"/>
              <a:buNone/>
            </a:pPr>
            <a:r>
              <a:rPr lang="en-US" sz="1000" dirty="0">
                <a:latin typeface="Courier New" pitchFamily="49" charset="0"/>
              </a:rPr>
              <a:t>plot(</a:t>
            </a:r>
            <a:r>
              <a:rPr lang="en-US" sz="1000" dirty="0" err="1">
                <a:latin typeface="Courier New" pitchFamily="49" charset="0"/>
              </a:rPr>
              <a:t>dat.mds$points</a:t>
            </a:r>
            <a:r>
              <a:rPr lang="en-US" sz="1000" dirty="0">
                <a:latin typeface="Courier New" pitchFamily="49" charset="0"/>
              </a:rPr>
              <a:t>, type = "n")</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dat.mds$points</a:t>
            </a:r>
            <a:r>
              <a:rPr lang="en-US" sz="1000" dirty="0">
                <a:latin typeface="Courier New" pitchFamily="49" charset="0"/>
              </a:rPr>
              <a:t>[,1][ann.dat2==1], </a:t>
            </a:r>
            <a:r>
              <a:rPr lang="en-US" sz="1000" dirty="0" err="1">
                <a:latin typeface="Courier New" pitchFamily="49" charset="0"/>
              </a:rPr>
              <a:t>dat.mds$points</a:t>
            </a:r>
            <a:r>
              <a:rPr lang="en-US" sz="1000" dirty="0">
                <a:latin typeface="Courier New" pitchFamily="49" charset="0"/>
              </a:rPr>
              <a:t>[,2][ann.dat2==1],col=‘red’,</a:t>
            </a:r>
            <a:r>
              <a:rPr lang="en-US" sz="1000" dirty="0" err="1">
                <a:latin typeface="Courier New" pitchFamily="49" charset="0"/>
              </a:rPr>
              <a:t>pch</a:t>
            </a:r>
            <a:r>
              <a:rPr lang="en-US" sz="1000" dirty="0">
                <a:latin typeface="Courier New" pitchFamily="49" charset="0"/>
              </a:rPr>
              <a:t>=16,cex=1.5)</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dat.mds$points</a:t>
            </a:r>
            <a:r>
              <a:rPr lang="en-US" sz="1000" dirty="0">
                <a:latin typeface="Courier New" pitchFamily="49" charset="0"/>
              </a:rPr>
              <a:t>[,1][ann.dat2==0], </a:t>
            </a:r>
            <a:r>
              <a:rPr lang="en-US" sz="1000" dirty="0" err="1">
                <a:latin typeface="Courier New" pitchFamily="49" charset="0"/>
              </a:rPr>
              <a:t>dat.mds$points</a:t>
            </a:r>
            <a:r>
              <a:rPr lang="en-US" sz="1000" dirty="0">
                <a:latin typeface="Courier New" pitchFamily="49" charset="0"/>
              </a:rPr>
              <a:t>[,2][ann.dat2==0],col=‘blue’,</a:t>
            </a:r>
            <a:r>
              <a:rPr lang="en-US" sz="1000" dirty="0" err="1">
                <a:latin typeface="Courier New" pitchFamily="49" charset="0"/>
              </a:rPr>
              <a:t>pch</a:t>
            </a:r>
            <a:r>
              <a:rPr lang="en-US" sz="1000" dirty="0">
                <a:latin typeface="Courier New" pitchFamily="49" charset="0"/>
              </a:rPr>
              <a:t>=16,cex=1.5)</a:t>
            </a:r>
          </a:p>
          <a:p>
            <a:pPr marL="342900" indent="-342900">
              <a:spcBef>
                <a:spcPct val="20000"/>
              </a:spcBef>
              <a:buClr>
                <a:schemeClr val="tx2"/>
              </a:buClr>
              <a:buSzPct val="70000"/>
              <a:buFont typeface="Wingdings" pitchFamily="2" charset="2"/>
              <a:buNone/>
            </a:pPr>
            <a:r>
              <a:rPr lang="en-US" sz="1000" dirty="0">
                <a:latin typeface="Courier New" pitchFamily="49" charset="0"/>
              </a:rPr>
              <a:t>title(main=“MDS plot of </a:t>
            </a:r>
            <a:r>
              <a:rPr lang="en-US" sz="1000" dirty="0" err="1">
                <a:latin typeface="Courier New" pitchFamily="49" charset="0"/>
              </a:rPr>
              <a:t>Golub</a:t>
            </a:r>
            <a:r>
              <a:rPr lang="en-US" sz="1000" dirty="0">
                <a:latin typeface="Courier New" pitchFamily="49" charset="0"/>
              </a:rPr>
              <a:t> data-stress=20%”)</a:t>
            </a:r>
          </a:p>
          <a:p>
            <a:pPr marL="342900" indent="-342900">
              <a:spcBef>
                <a:spcPct val="20000"/>
              </a:spcBef>
              <a:buClr>
                <a:schemeClr val="tx2"/>
              </a:buClr>
              <a:buSzPct val="70000"/>
              <a:buFont typeface="Wingdings" pitchFamily="2" charset="2"/>
              <a:buNone/>
            </a:pPr>
            <a:r>
              <a:rPr lang="en-US" sz="1000" dirty="0">
                <a:latin typeface="Courier New" pitchFamily="49" charset="0"/>
              </a:rPr>
              <a:t>legend(30,15,c(“AML”,”ALL”),col=c(‘</a:t>
            </a:r>
            <a:r>
              <a:rPr lang="en-US" sz="1000" dirty="0" err="1">
                <a:latin typeface="Courier New" pitchFamily="49" charset="0"/>
              </a:rPr>
              <a:t>red’,’blue</a:t>
            </a:r>
            <a:r>
              <a:rPr lang="en-US" sz="1000" dirty="0">
                <a:latin typeface="Courier New" pitchFamily="49" charset="0"/>
              </a:rPr>
              <a:t>’),</a:t>
            </a:r>
            <a:r>
              <a:rPr lang="en-US" sz="1000" dirty="0" err="1">
                <a:latin typeface="Courier New" pitchFamily="49" charset="0"/>
              </a:rPr>
              <a:t>pch</a:t>
            </a:r>
            <a:r>
              <a:rPr lang="en-US" sz="1000" dirty="0">
                <a:latin typeface="Courier New" pitchFamily="49" charset="0"/>
              </a:rPr>
              <a:t>=15,cex=.7,horiz=F)</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a:p>
            <a:pPr marL="342900" indent="-342900">
              <a:spcBef>
                <a:spcPct val="20000"/>
              </a:spcBef>
              <a:buClr>
                <a:schemeClr val="tx2"/>
              </a:buClr>
              <a:buSzPct val="70000"/>
              <a:buFont typeface="Wingdings" pitchFamily="2" charset="2"/>
              <a:buNone/>
            </a:pPr>
            <a:r>
              <a:rPr lang="en-US" sz="1000" dirty="0">
                <a:latin typeface="Courier New" pitchFamily="49" charset="0"/>
              </a:rPr>
              <a:t># classical metric MDS on samples (no stress value provided)</a:t>
            </a:r>
          </a:p>
          <a:p>
            <a:pPr marL="342900" indent="-342900">
              <a:spcBef>
                <a:spcPct val="20000"/>
              </a:spcBef>
              <a:buClr>
                <a:schemeClr val="tx2"/>
              </a:buClr>
              <a:buSzPct val="70000"/>
              <a:buFont typeface="Wingdings" pitchFamily="2" charset="2"/>
              <a:buNone/>
            </a:pPr>
            <a:r>
              <a:rPr lang="en-US" sz="1000" dirty="0" err="1">
                <a:latin typeface="Courier New" pitchFamily="49" charset="0"/>
              </a:rPr>
              <a:t>dat.loc</a:t>
            </a:r>
            <a:r>
              <a:rPr lang="en-US" sz="1000" dirty="0">
                <a:latin typeface="Courier New" pitchFamily="49" charset="0"/>
              </a:rPr>
              <a:t> &lt;- </a:t>
            </a:r>
            <a:r>
              <a:rPr lang="en-US" sz="1000" dirty="0" err="1">
                <a:latin typeface="Courier New" pitchFamily="49" charset="0"/>
              </a:rPr>
              <a:t>cmdscale</a:t>
            </a:r>
            <a:r>
              <a:rPr lang="en-US" sz="1000" dirty="0">
                <a:latin typeface="Courier New" pitchFamily="49" charset="0"/>
              </a:rPr>
              <a:t>(</a:t>
            </a:r>
            <a:r>
              <a:rPr lang="en-US" sz="1000" dirty="0" err="1">
                <a:latin typeface="Courier New" pitchFamily="49" charset="0"/>
              </a:rPr>
              <a:t>dat.dist</a:t>
            </a:r>
            <a:r>
              <a:rPr lang="en-US" sz="1000" dirty="0">
                <a:latin typeface="Courier New" pitchFamily="49" charset="0"/>
              </a:rPr>
              <a:t>)</a:t>
            </a:r>
          </a:p>
          <a:p>
            <a:pPr marL="342900" indent="-342900">
              <a:spcBef>
                <a:spcPct val="20000"/>
              </a:spcBef>
              <a:buClr>
                <a:schemeClr val="tx2"/>
              </a:buClr>
              <a:buSzPct val="70000"/>
              <a:buFont typeface="Wingdings" pitchFamily="2" charset="2"/>
              <a:buNone/>
            </a:pPr>
            <a:r>
              <a:rPr lang="en-US" sz="1000" dirty="0">
                <a:latin typeface="Courier New" pitchFamily="49" charset="0"/>
              </a:rPr>
              <a:t>plot(</a:t>
            </a:r>
            <a:r>
              <a:rPr lang="en-US" sz="1000" dirty="0" err="1">
                <a:latin typeface="Courier New" pitchFamily="49" charset="0"/>
              </a:rPr>
              <a:t>dat.loc</a:t>
            </a:r>
            <a:r>
              <a:rPr lang="en-US" sz="1000" dirty="0">
                <a:latin typeface="Courier New" pitchFamily="49" charset="0"/>
              </a:rPr>
              <a:t>, type = "n")</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dat.loc</a:t>
            </a:r>
            <a:r>
              <a:rPr lang="en-US" sz="1000" dirty="0">
                <a:latin typeface="Courier New" pitchFamily="49" charset="0"/>
              </a:rPr>
              <a:t>[,1][ann.dat2==1], </a:t>
            </a:r>
            <a:r>
              <a:rPr lang="en-US" sz="1000" dirty="0" err="1">
                <a:latin typeface="Courier New" pitchFamily="49" charset="0"/>
              </a:rPr>
              <a:t>dat.loc</a:t>
            </a:r>
            <a:r>
              <a:rPr lang="en-US" sz="1000" dirty="0">
                <a:latin typeface="Courier New" pitchFamily="49" charset="0"/>
              </a:rPr>
              <a:t>[,2][ann.dat2==1],col=‘red’,</a:t>
            </a:r>
            <a:r>
              <a:rPr lang="en-US" sz="1000" dirty="0" err="1">
                <a:latin typeface="Courier New" pitchFamily="49" charset="0"/>
              </a:rPr>
              <a:t>pch</a:t>
            </a:r>
            <a:r>
              <a:rPr lang="en-US" sz="1000" dirty="0">
                <a:latin typeface="Courier New" pitchFamily="49" charset="0"/>
              </a:rPr>
              <a:t>=16,cex=1.5)</a:t>
            </a:r>
          </a:p>
          <a:p>
            <a:pPr marL="342900" indent="-342900">
              <a:spcBef>
                <a:spcPct val="20000"/>
              </a:spcBef>
              <a:buClr>
                <a:schemeClr val="tx2"/>
              </a:buClr>
              <a:buSzPct val="70000"/>
              <a:buFont typeface="Wingdings" pitchFamily="2" charset="2"/>
              <a:buNone/>
            </a:pPr>
            <a:r>
              <a:rPr lang="en-US" sz="1000" dirty="0">
                <a:latin typeface="Courier New" pitchFamily="49" charset="0"/>
              </a:rPr>
              <a:t>points(</a:t>
            </a:r>
            <a:r>
              <a:rPr lang="en-US" sz="1000" dirty="0" err="1">
                <a:latin typeface="Courier New" pitchFamily="49" charset="0"/>
              </a:rPr>
              <a:t>dat.loc</a:t>
            </a:r>
            <a:r>
              <a:rPr lang="en-US" sz="1000" dirty="0">
                <a:latin typeface="Courier New" pitchFamily="49" charset="0"/>
              </a:rPr>
              <a:t>[,1][ann.dat2==0], </a:t>
            </a:r>
            <a:r>
              <a:rPr lang="en-US" sz="1000" dirty="0" err="1">
                <a:latin typeface="Courier New" pitchFamily="49" charset="0"/>
              </a:rPr>
              <a:t>dat.loc</a:t>
            </a:r>
            <a:r>
              <a:rPr lang="en-US" sz="1000" dirty="0">
                <a:latin typeface="Courier New" pitchFamily="49" charset="0"/>
              </a:rPr>
              <a:t>[,2][ann.dat2==0],col=‘blue’,</a:t>
            </a:r>
            <a:r>
              <a:rPr lang="en-US" sz="1000" dirty="0" err="1">
                <a:latin typeface="Courier New" pitchFamily="49" charset="0"/>
              </a:rPr>
              <a:t>pch</a:t>
            </a:r>
            <a:r>
              <a:rPr lang="en-US" sz="1000" dirty="0">
                <a:latin typeface="Courier New" pitchFamily="49" charset="0"/>
              </a:rPr>
              <a:t>=16,cex=1.5)</a:t>
            </a:r>
          </a:p>
          <a:p>
            <a:pPr marL="342900" indent="-342900">
              <a:spcBef>
                <a:spcPct val="20000"/>
              </a:spcBef>
              <a:buClr>
                <a:schemeClr val="tx2"/>
              </a:buClr>
              <a:buSzPct val="70000"/>
              <a:buFont typeface="Wingdings" pitchFamily="2" charset="2"/>
              <a:buNone/>
            </a:pPr>
            <a:r>
              <a:rPr lang="en-US" sz="1000" dirty="0">
                <a:latin typeface="Courier New" pitchFamily="49" charset="0"/>
              </a:rPr>
              <a:t>title(main=“MDS plot of </a:t>
            </a:r>
            <a:r>
              <a:rPr lang="en-US" sz="1000" dirty="0" err="1">
                <a:latin typeface="Courier New" pitchFamily="49" charset="0"/>
              </a:rPr>
              <a:t>Golub</a:t>
            </a:r>
            <a:r>
              <a:rPr lang="en-US" sz="1000" dirty="0">
                <a:latin typeface="Courier New" pitchFamily="49" charset="0"/>
              </a:rPr>
              <a:t> data”)</a:t>
            </a:r>
          </a:p>
          <a:p>
            <a:pPr marL="342900" indent="-342900">
              <a:spcBef>
                <a:spcPct val="20000"/>
              </a:spcBef>
              <a:buClr>
                <a:schemeClr val="tx2"/>
              </a:buClr>
              <a:buSzPct val="70000"/>
              <a:buFont typeface="Wingdings" pitchFamily="2" charset="2"/>
              <a:buNone/>
            </a:pPr>
            <a:r>
              <a:rPr lang="en-US" sz="1000" dirty="0">
                <a:latin typeface="Courier New" pitchFamily="49" charset="0"/>
              </a:rPr>
              <a:t>legend(15,20,c(“AML”,”ALL”),col=c(‘</a:t>
            </a:r>
            <a:r>
              <a:rPr lang="en-US" sz="1000" dirty="0" err="1">
                <a:latin typeface="Courier New" pitchFamily="49" charset="0"/>
              </a:rPr>
              <a:t>red’,’blue</a:t>
            </a:r>
            <a:r>
              <a:rPr lang="en-US" sz="1000" dirty="0">
                <a:latin typeface="Courier New" pitchFamily="49" charset="0"/>
              </a:rPr>
              <a:t>’),</a:t>
            </a:r>
            <a:r>
              <a:rPr lang="en-US" sz="1000" dirty="0" err="1">
                <a:latin typeface="Courier New" pitchFamily="49" charset="0"/>
              </a:rPr>
              <a:t>pch</a:t>
            </a:r>
            <a:r>
              <a:rPr lang="en-US" sz="1000" dirty="0">
                <a:latin typeface="Courier New" pitchFamily="49" charset="0"/>
              </a:rPr>
              <a:t>=15,cex=.7,horiz=F)</a:t>
            </a:r>
          </a:p>
          <a:p>
            <a:pPr marL="342900" indent="-342900">
              <a:spcBef>
                <a:spcPct val="20000"/>
              </a:spcBef>
              <a:buClr>
                <a:schemeClr val="tx2"/>
              </a:buClr>
              <a:buSzPct val="70000"/>
              <a:buFont typeface="Wingdings" pitchFamily="2" charset="2"/>
              <a:buNone/>
            </a:pPr>
            <a:endParaRPr lang="en-US" sz="1000" dirty="0">
              <a:latin typeface="Courier New"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Rectangle 2"/>
          <p:cNvSpPr>
            <a:spLocks noGrp="1" noChangeArrowheads="1"/>
          </p:cNvSpPr>
          <p:nvPr>
            <p:ph type="title"/>
          </p:nvPr>
        </p:nvSpPr>
        <p:spPr>
          <a:xfrm>
            <a:off x="457200" y="381000"/>
            <a:ext cx="7543800" cy="579438"/>
          </a:xfrm>
        </p:spPr>
        <p:txBody>
          <a:bodyPr/>
          <a:lstStyle/>
          <a:p>
            <a:r>
              <a:rPr lang="en-US" sz="3400"/>
              <a:t>R Code</a:t>
            </a:r>
          </a:p>
        </p:txBody>
      </p:sp>
      <p:sp>
        <p:nvSpPr>
          <p:cNvPr id="323587" name="Rectangle 3"/>
          <p:cNvSpPr>
            <a:spLocks noChangeArrowheads="1"/>
          </p:cNvSpPr>
          <p:nvPr/>
        </p:nvSpPr>
        <p:spPr bwMode="auto">
          <a:xfrm>
            <a:off x="457200" y="1600200"/>
            <a:ext cx="8229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endParaRPr lang="en-US" sz="2200"/>
          </a:p>
        </p:txBody>
      </p:sp>
      <p:sp>
        <p:nvSpPr>
          <p:cNvPr id="323588" name="Rectangle 4"/>
          <p:cNvSpPr>
            <a:spLocks noChangeArrowheads="1"/>
          </p:cNvSpPr>
          <p:nvPr/>
        </p:nvSpPr>
        <p:spPr bwMode="auto">
          <a:xfrm>
            <a:off x="609600" y="914400"/>
            <a:ext cx="8153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Clr>
                <a:schemeClr val="tx2"/>
              </a:buClr>
              <a:buSzPct val="70000"/>
              <a:buFont typeface="Wingdings" pitchFamily="2" charset="2"/>
              <a:buNone/>
            </a:pPr>
            <a:r>
              <a:rPr lang="en-US" sz="1000">
                <a:latin typeface="Courier New" pitchFamily="49" charset="0"/>
              </a:rPr>
              <a:t># The weighted graph Laplacian</a:t>
            </a:r>
          </a:p>
          <a:p>
            <a:pPr marL="342900" indent="-342900">
              <a:spcBef>
                <a:spcPct val="20000"/>
              </a:spcBef>
              <a:buClr>
                <a:schemeClr val="tx2"/>
              </a:buClr>
              <a:buSzPct val="70000"/>
              <a:buFont typeface="Wingdings" pitchFamily="2" charset="2"/>
              <a:buNone/>
            </a:pPr>
            <a:r>
              <a:rPr lang="en-US" sz="1000">
                <a:latin typeface="Courier New" pitchFamily="49" charset="0"/>
              </a:rPr>
              <a:t>k.speClust2 &lt;- function (X, qnt=NULL) {</a:t>
            </a:r>
          </a:p>
          <a:p>
            <a:pPr marL="342900" indent="-342900">
              <a:spcBef>
                <a:spcPct val="20000"/>
              </a:spcBef>
              <a:buClr>
                <a:schemeClr val="tx2"/>
              </a:buClr>
              <a:buSzPct val="70000"/>
              <a:buFont typeface="Wingdings" pitchFamily="2" charset="2"/>
              <a:buNone/>
            </a:pPr>
            <a:r>
              <a:rPr lang="en-US" sz="1000">
                <a:latin typeface="Courier New" pitchFamily="49" charset="0"/>
              </a:rPr>
              <a:t>	dist2full &lt;- function(dis) {</a:t>
            </a:r>
          </a:p>
          <a:p>
            <a:pPr marL="342900" indent="-342900">
              <a:spcBef>
                <a:spcPct val="20000"/>
              </a:spcBef>
              <a:buClr>
                <a:schemeClr val="tx2"/>
              </a:buClr>
              <a:buSzPct val="70000"/>
              <a:buFont typeface="Wingdings" pitchFamily="2" charset="2"/>
              <a:buNone/>
            </a:pPr>
            <a:r>
              <a:rPr lang="en-US" sz="1000">
                <a:latin typeface="Courier New" pitchFamily="49" charset="0"/>
              </a:rPr>
              <a:t>		n &lt;- attr(dis, "Size")</a:t>
            </a:r>
          </a:p>
          <a:p>
            <a:pPr marL="342900" indent="-342900">
              <a:spcBef>
                <a:spcPct val="20000"/>
              </a:spcBef>
              <a:buClr>
                <a:schemeClr val="tx2"/>
              </a:buClr>
              <a:buSzPct val="70000"/>
              <a:buFont typeface="Wingdings" pitchFamily="2" charset="2"/>
              <a:buNone/>
            </a:pPr>
            <a:r>
              <a:rPr lang="en-US" sz="1000">
                <a:latin typeface="Courier New" pitchFamily="49" charset="0"/>
              </a:rPr>
              <a:t>	        full &lt;- matrix(0, n, n)</a:t>
            </a:r>
          </a:p>
          <a:p>
            <a:pPr marL="342900" indent="-342900">
              <a:spcBef>
                <a:spcPct val="20000"/>
              </a:spcBef>
              <a:buClr>
                <a:schemeClr val="tx2"/>
              </a:buClr>
              <a:buSzPct val="70000"/>
              <a:buFont typeface="Wingdings" pitchFamily="2" charset="2"/>
              <a:buNone/>
            </a:pPr>
            <a:r>
              <a:rPr lang="en-US" sz="1000">
                <a:latin typeface="Courier New" pitchFamily="49" charset="0"/>
              </a:rPr>
              <a:t>	        full[lower.tri(full)] &lt;- dis</a:t>
            </a:r>
          </a:p>
          <a:p>
            <a:pPr marL="342900" indent="-342900">
              <a:spcBef>
                <a:spcPct val="20000"/>
              </a:spcBef>
              <a:buClr>
                <a:schemeClr val="tx2"/>
              </a:buClr>
              <a:buSzPct val="70000"/>
              <a:buFont typeface="Wingdings" pitchFamily="2" charset="2"/>
              <a:buNone/>
            </a:pPr>
            <a:r>
              <a:rPr lang="en-US" sz="1000">
                <a:latin typeface="Courier New" pitchFamily="49" charset="0"/>
              </a:rPr>
              <a:t>	        full + t(full)</a:t>
            </a:r>
          </a:p>
          <a:p>
            <a:pPr marL="342900" indent="-342900">
              <a:spcBef>
                <a:spcPct val="20000"/>
              </a:spcBef>
              <a:buClr>
                <a:schemeClr val="tx2"/>
              </a:buClr>
              <a:buSzPct val="70000"/>
              <a:buFont typeface="Wingdings" pitchFamily="2" charset="2"/>
              <a:buNone/>
            </a:pPr>
            <a:r>
              <a:rPr lang="en-US" sz="1000">
                <a:latin typeface="Courier New" pitchFamily="49" charset="0"/>
              </a:rPr>
              <a:t>	}</a:t>
            </a:r>
          </a:p>
          <a:p>
            <a:pPr marL="342900" indent="-342900">
              <a:spcBef>
                <a:spcPct val="20000"/>
              </a:spcBef>
              <a:buClr>
                <a:schemeClr val="tx2"/>
              </a:buClr>
              <a:buSzPct val="70000"/>
              <a:buFont typeface="Wingdings" pitchFamily="2" charset="2"/>
              <a:buNone/>
            </a:pPr>
            <a:r>
              <a:rPr lang="en-US" sz="1000">
                <a:latin typeface="Courier New" pitchFamily="49" charset="0"/>
              </a:rPr>
              <a:t>	dat.dis &lt;- dist(t(X),"euc")^2</a:t>
            </a:r>
          </a:p>
          <a:p>
            <a:pPr marL="342900" indent="-342900">
              <a:spcBef>
                <a:spcPct val="20000"/>
              </a:spcBef>
              <a:buClr>
                <a:schemeClr val="tx2"/>
              </a:buClr>
              <a:buSzPct val="70000"/>
              <a:buFont typeface="Wingdings" pitchFamily="2" charset="2"/>
              <a:buNone/>
            </a:pPr>
            <a:r>
              <a:rPr lang="en-US" sz="1000">
                <a:latin typeface="Courier New" pitchFamily="49" charset="0"/>
              </a:rPr>
              <a:t>	if(!is.null(qnt)) {eps &lt;- as.numeric(quantile(dat.dis,qnt))}</a:t>
            </a:r>
          </a:p>
          <a:p>
            <a:pPr marL="342900" indent="-342900">
              <a:spcBef>
                <a:spcPct val="20000"/>
              </a:spcBef>
              <a:buClr>
                <a:schemeClr val="tx2"/>
              </a:buClr>
              <a:buSzPct val="70000"/>
              <a:buFont typeface="Wingdings" pitchFamily="2" charset="2"/>
              <a:buNone/>
            </a:pPr>
            <a:r>
              <a:rPr lang="en-US" sz="1000">
                <a:latin typeface="Courier New" pitchFamily="49" charset="0"/>
              </a:rPr>
              <a:t>	if(is.null(qnt)) {eps &lt;- min(dat.dis[dat.dis!=0])}</a:t>
            </a:r>
          </a:p>
          <a:p>
            <a:pPr marL="342900" indent="-342900">
              <a:spcBef>
                <a:spcPct val="20000"/>
              </a:spcBef>
              <a:buClr>
                <a:schemeClr val="tx2"/>
              </a:buClr>
              <a:buSzPct val="70000"/>
              <a:buFont typeface="Wingdings" pitchFamily="2" charset="2"/>
              <a:buNone/>
            </a:pPr>
            <a:r>
              <a:rPr lang="en-US" sz="1000">
                <a:latin typeface="Courier New" pitchFamily="49" charset="0"/>
              </a:rPr>
              <a:t>	kernal &lt;- exp(-1 * dat.dis/(eps))</a:t>
            </a:r>
          </a:p>
          <a:p>
            <a:pPr marL="342900" indent="-342900">
              <a:spcBef>
                <a:spcPct val="20000"/>
              </a:spcBef>
              <a:buClr>
                <a:schemeClr val="tx2"/>
              </a:buClr>
              <a:buSzPct val="70000"/>
              <a:buFont typeface="Wingdings" pitchFamily="2" charset="2"/>
              <a:buNone/>
            </a:pPr>
            <a:r>
              <a:rPr lang="en-US" sz="1000">
                <a:latin typeface="Courier New" pitchFamily="49" charset="0"/>
              </a:rPr>
              <a:t>	K1 &lt;- dist2full(kernal)</a:t>
            </a:r>
          </a:p>
          <a:p>
            <a:pPr marL="342900" indent="-342900">
              <a:spcBef>
                <a:spcPct val="20000"/>
              </a:spcBef>
              <a:buClr>
                <a:schemeClr val="tx2"/>
              </a:buClr>
              <a:buSzPct val="70000"/>
              <a:buFont typeface="Wingdings" pitchFamily="2" charset="2"/>
              <a:buNone/>
            </a:pPr>
            <a:r>
              <a:rPr lang="en-US" sz="1000">
                <a:latin typeface="Courier New" pitchFamily="49" charset="0"/>
              </a:rPr>
              <a:t>	diag(K1) &lt;- 0</a:t>
            </a:r>
          </a:p>
          <a:p>
            <a:pPr marL="342900" indent="-342900">
              <a:spcBef>
                <a:spcPct val="20000"/>
              </a:spcBef>
              <a:buClr>
                <a:schemeClr val="tx2"/>
              </a:buClr>
              <a:buSzPct val="70000"/>
              <a:buFont typeface="Wingdings" pitchFamily="2" charset="2"/>
              <a:buNone/>
            </a:pPr>
            <a:r>
              <a:rPr lang="en-US" sz="1000">
                <a:latin typeface="Courier New" pitchFamily="49" charset="0"/>
              </a:rPr>
              <a:t>	D = matrix(0,ncol=ncol(K1),nrow=ncol(K1))</a:t>
            </a:r>
          </a:p>
          <a:p>
            <a:pPr marL="342900" indent="-342900">
              <a:spcBef>
                <a:spcPct val="20000"/>
              </a:spcBef>
              <a:buClr>
                <a:schemeClr val="tx2"/>
              </a:buClr>
              <a:buSzPct val="70000"/>
              <a:buFont typeface="Wingdings" pitchFamily="2" charset="2"/>
              <a:buNone/>
            </a:pPr>
            <a:r>
              <a:rPr lang="en-US" sz="1000">
                <a:latin typeface="Courier New" pitchFamily="49" charset="0"/>
              </a:rPr>
              <a:t>	tmpe &lt;- apply(K1,1,sum)</a:t>
            </a:r>
          </a:p>
          <a:p>
            <a:pPr marL="342900" indent="-342900">
              <a:spcBef>
                <a:spcPct val="20000"/>
              </a:spcBef>
              <a:buClr>
                <a:schemeClr val="tx2"/>
              </a:buClr>
              <a:buSzPct val="70000"/>
              <a:buFont typeface="Wingdings" pitchFamily="2" charset="2"/>
              <a:buNone/>
            </a:pPr>
            <a:r>
              <a:rPr lang="en-US" sz="1000">
                <a:latin typeface="Courier New" pitchFamily="49" charset="0"/>
              </a:rPr>
              <a:t>	tmpe[tmpe&gt;0] &lt;- 1/sqrt(tmpe[tmpe&gt;0])</a:t>
            </a:r>
          </a:p>
          <a:p>
            <a:pPr marL="342900" indent="-342900">
              <a:spcBef>
                <a:spcPct val="20000"/>
              </a:spcBef>
              <a:buClr>
                <a:schemeClr val="tx2"/>
              </a:buClr>
              <a:buSzPct val="70000"/>
              <a:buFont typeface="Wingdings" pitchFamily="2" charset="2"/>
              <a:buNone/>
            </a:pPr>
            <a:r>
              <a:rPr lang="en-US" sz="1000">
                <a:latin typeface="Courier New" pitchFamily="49" charset="0"/>
              </a:rPr>
              <a:t>	</a:t>
            </a:r>
            <a:r>
              <a:rPr lang="da-DK" sz="1000">
                <a:latin typeface="Courier New" pitchFamily="49" charset="0"/>
              </a:rPr>
              <a:t>tmpe[tmpe&lt;0] &lt;- 0</a:t>
            </a:r>
          </a:p>
          <a:p>
            <a:pPr marL="342900" indent="-342900">
              <a:spcBef>
                <a:spcPct val="20000"/>
              </a:spcBef>
              <a:buClr>
                <a:schemeClr val="tx2"/>
              </a:buClr>
              <a:buSzPct val="70000"/>
              <a:buFont typeface="Wingdings" pitchFamily="2" charset="2"/>
              <a:buNone/>
            </a:pPr>
            <a:r>
              <a:rPr lang="da-DK" sz="1000">
                <a:latin typeface="Courier New" pitchFamily="49" charset="0"/>
              </a:rPr>
              <a:t>	diag(D) &lt;- tmpe</a:t>
            </a:r>
          </a:p>
          <a:p>
            <a:pPr marL="342900" indent="-342900">
              <a:spcBef>
                <a:spcPct val="20000"/>
              </a:spcBef>
              <a:buClr>
                <a:schemeClr val="tx2"/>
              </a:buClr>
              <a:buSzPct val="70000"/>
              <a:buFont typeface="Wingdings" pitchFamily="2" charset="2"/>
              <a:buNone/>
            </a:pPr>
            <a:r>
              <a:rPr lang="da-DK" sz="1000">
                <a:latin typeface="Courier New" pitchFamily="49" charset="0"/>
              </a:rPr>
              <a:t>	L &lt;- D%*% K1 %*% D</a:t>
            </a:r>
          </a:p>
          <a:p>
            <a:pPr marL="342900" indent="-342900">
              <a:spcBef>
                <a:spcPct val="20000"/>
              </a:spcBef>
              <a:buClr>
                <a:schemeClr val="tx2"/>
              </a:buClr>
              <a:buSzPct val="70000"/>
              <a:buFont typeface="Wingdings" pitchFamily="2" charset="2"/>
              <a:buNone/>
            </a:pPr>
            <a:r>
              <a:rPr lang="da-DK" sz="1000">
                <a:latin typeface="Courier New" pitchFamily="49" charset="0"/>
              </a:rPr>
              <a:t>	</a:t>
            </a:r>
            <a:r>
              <a:rPr lang="en-US" sz="1000">
                <a:latin typeface="Courier New" pitchFamily="49" charset="0"/>
              </a:rPr>
              <a:t>X &lt;- svd(L)$u</a:t>
            </a:r>
          </a:p>
          <a:p>
            <a:pPr marL="342900" indent="-342900">
              <a:spcBef>
                <a:spcPct val="20000"/>
              </a:spcBef>
              <a:buClr>
                <a:schemeClr val="tx2"/>
              </a:buClr>
              <a:buSzPct val="70000"/>
              <a:buFont typeface="Wingdings" pitchFamily="2" charset="2"/>
              <a:buNone/>
            </a:pPr>
            <a:r>
              <a:rPr lang="en-US" sz="1000">
                <a:latin typeface="Courier New" pitchFamily="49" charset="0"/>
              </a:rPr>
              <a:t>	Y &lt;- X / sqrt(apply(X^2,1,sum))</a:t>
            </a:r>
          </a:p>
          <a:p>
            <a:pPr marL="342900" indent="-342900">
              <a:spcBef>
                <a:spcPct val="20000"/>
              </a:spcBef>
              <a:buClr>
                <a:schemeClr val="tx2"/>
              </a:buClr>
              <a:buSzPct val="70000"/>
              <a:buFont typeface="Wingdings" pitchFamily="2" charset="2"/>
              <a:buNone/>
            </a:pPr>
            <a:r>
              <a:rPr lang="en-US" sz="1000">
                <a:latin typeface="Courier New" pitchFamily="49" charset="0"/>
              </a:rPr>
              <a:t>}</a:t>
            </a:r>
          </a:p>
          <a:p>
            <a:pPr marL="342900" indent="-342900">
              <a:spcBef>
                <a:spcPct val="20000"/>
              </a:spcBef>
              <a:buClr>
                <a:schemeClr val="tx2"/>
              </a:buClr>
              <a:buSzPct val="70000"/>
              <a:buFont typeface="Wingdings" pitchFamily="2" charset="2"/>
              <a:buNone/>
            </a:pPr>
            <a:r>
              <a:rPr lang="en-US" sz="1000">
                <a:latin typeface="Courier New" pitchFamily="49" charset="0"/>
              </a:rPr>
              <a:t>phi &lt;- k.speClust2(dat,qnt=0.005)</a:t>
            </a:r>
          </a:p>
          <a:p>
            <a:pPr marL="342900" indent="-342900">
              <a:spcBef>
                <a:spcPct val="20000"/>
              </a:spcBef>
              <a:buClr>
                <a:schemeClr val="tx2"/>
              </a:buClr>
              <a:buSzPct val="70000"/>
              <a:buFont typeface="Wingdings" pitchFamily="2" charset="2"/>
              <a:buNone/>
            </a:pPr>
            <a:r>
              <a:rPr lang="en-US" sz="1000">
                <a:latin typeface="Courier New" pitchFamily="49" charset="0"/>
              </a:rPr>
              <a:t>plot(range(phi[,1]),range(phi[,2]),xlab="phi1",ylab="phi2",main="Weighted Graph Laplacian plot of Golub Data\nepsilon=0.005")</a:t>
            </a:r>
          </a:p>
          <a:p>
            <a:pPr marL="342900" indent="-342900">
              <a:spcBef>
                <a:spcPct val="20000"/>
              </a:spcBef>
              <a:buClr>
                <a:schemeClr val="tx2"/>
              </a:buClr>
              <a:buSzPct val="70000"/>
              <a:buFont typeface="Wingdings" pitchFamily="2" charset="2"/>
              <a:buNone/>
            </a:pPr>
            <a:r>
              <a:rPr lang="en-US" sz="1000">
                <a:latin typeface="Courier New" pitchFamily="49" charset="0"/>
              </a:rPr>
              <a:t>points(phi[,1][ann.dat2==1],phi[,2][ann.dat2==1],col="red",pch=16,cex=1.5)</a:t>
            </a:r>
          </a:p>
          <a:p>
            <a:pPr marL="342900" indent="-342900">
              <a:spcBef>
                <a:spcPct val="20000"/>
              </a:spcBef>
              <a:buClr>
                <a:schemeClr val="tx2"/>
              </a:buClr>
              <a:buSzPct val="70000"/>
              <a:buFont typeface="Wingdings" pitchFamily="2" charset="2"/>
              <a:buNone/>
            </a:pPr>
            <a:r>
              <a:rPr lang="en-US" sz="1000">
                <a:latin typeface="Courier New" pitchFamily="49" charset="0"/>
              </a:rPr>
              <a:t>points(phi[,1][ann.dat2==0],phi[,2][ann.dat2==0],col="blue",pch=16,cex=1.5)</a:t>
            </a:r>
          </a:p>
          <a:p>
            <a:pPr marL="342900" indent="-342900">
              <a:spcBef>
                <a:spcPct val="20000"/>
              </a:spcBef>
              <a:buClr>
                <a:schemeClr val="tx2"/>
              </a:buClr>
              <a:buSzPct val="70000"/>
              <a:buFont typeface="Wingdings" pitchFamily="2" charset="2"/>
              <a:buNone/>
            </a:pPr>
            <a:r>
              <a:rPr lang="en-US" sz="1000">
                <a:latin typeface="Courier New" pitchFamily="49" charset="0"/>
              </a:rPr>
              <a:t>legend(-.11,.2,c("AML", "ALL"),col=c("red", "blue"),pch=15,cex=.7,horiz=F)</a:t>
            </a:r>
          </a:p>
          <a:p>
            <a:pPr marL="342900" indent="-342900">
              <a:spcBef>
                <a:spcPct val="20000"/>
              </a:spcBef>
              <a:buClr>
                <a:schemeClr val="tx2"/>
              </a:buClr>
              <a:buSzPct val="70000"/>
              <a:buFont typeface="Wingdings" pitchFamily="2" charset="2"/>
              <a:buNone/>
            </a:pPr>
            <a:endParaRPr lang="en-US" sz="1000">
              <a:latin typeface="Courier New" pitchFamily="49" charset="0"/>
            </a:endParaRPr>
          </a:p>
          <a:p>
            <a:pPr marL="342900" indent="-342900">
              <a:spcBef>
                <a:spcPct val="20000"/>
              </a:spcBef>
              <a:buClr>
                <a:schemeClr val="tx2"/>
              </a:buClr>
              <a:buSzPct val="70000"/>
              <a:buFont typeface="Wingdings" pitchFamily="2" charset="2"/>
              <a:buNone/>
            </a:pPr>
            <a:endParaRPr lang="en-US" sz="1000">
              <a:latin typeface="Courier New" pitchFamily="49" charset="0"/>
            </a:endParaRPr>
          </a:p>
          <a:p>
            <a:pPr marL="342900" indent="-342900">
              <a:spcBef>
                <a:spcPct val="20000"/>
              </a:spcBef>
              <a:buClr>
                <a:schemeClr val="tx2"/>
              </a:buClr>
              <a:buSzPct val="70000"/>
              <a:buFont typeface="Wingdings" pitchFamily="2" charset="2"/>
              <a:buNone/>
            </a:pPr>
            <a:endParaRPr lang="en-US" sz="1000">
              <a:latin typeface="Courier New" pitchFamily="49"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457200" y="122238"/>
            <a:ext cx="7543800" cy="868362"/>
          </a:xfrm>
        </p:spPr>
        <p:txBody>
          <a:bodyPr/>
          <a:lstStyle/>
          <a:p>
            <a:r>
              <a:rPr lang="en-US"/>
              <a:t>R Code</a:t>
            </a:r>
          </a:p>
        </p:txBody>
      </p:sp>
      <p:sp>
        <p:nvSpPr>
          <p:cNvPr id="386051" name="Rectangle 3"/>
          <p:cNvSpPr>
            <a:spLocks noGrp="1" noChangeArrowheads="1"/>
          </p:cNvSpPr>
          <p:nvPr>
            <p:ph type="body" idx="1"/>
          </p:nvPr>
        </p:nvSpPr>
        <p:spPr>
          <a:xfrm>
            <a:off x="457200" y="1219200"/>
            <a:ext cx="8229600" cy="4911725"/>
          </a:xfrm>
        </p:spPr>
        <p:txBody>
          <a:bodyPr/>
          <a:lstStyle/>
          <a:p>
            <a:pPr>
              <a:lnSpc>
                <a:spcPct val="90000"/>
              </a:lnSpc>
              <a:buFont typeface="Wingdings" pitchFamily="2" charset="2"/>
              <a:buNone/>
            </a:pPr>
            <a:r>
              <a:rPr lang="en-US" sz="1000">
                <a:latin typeface="Courier New" pitchFamily="49" charset="0"/>
              </a:rPr>
              <a:t># Kernel PCA</a:t>
            </a:r>
          </a:p>
          <a:p>
            <a:pPr>
              <a:lnSpc>
                <a:spcPct val="90000"/>
              </a:lnSpc>
              <a:buFont typeface="Wingdings" pitchFamily="2" charset="2"/>
              <a:buNone/>
            </a:pPr>
            <a:r>
              <a:rPr lang="en-US" sz="1000">
                <a:latin typeface="Courier New" pitchFamily="49" charset="0"/>
              </a:rPr>
              <a:t>library(kernlab)</a:t>
            </a:r>
          </a:p>
          <a:p>
            <a:pPr>
              <a:lnSpc>
                <a:spcPct val="90000"/>
              </a:lnSpc>
              <a:buFont typeface="Wingdings" pitchFamily="2" charset="2"/>
              <a:buNone/>
            </a:pPr>
            <a:r>
              <a:rPr lang="en-US" sz="1000">
                <a:latin typeface="Courier New" pitchFamily="49" charset="0"/>
              </a:rPr>
              <a:t># calculate PCA for first 2 PCs</a:t>
            </a:r>
          </a:p>
          <a:p>
            <a:pPr>
              <a:lnSpc>
                <a:spcPct val="90000"/>
              </a:lnSpc>
              <a:buFont typeface="Wingdings" pitchFamily="2" charset="2"/>
              <a:buNone/>
            </a:pPr>
            <a:r>
              <a:rPr lang="en-US" sz="1000">
                <a:latin typeface="Courier New" pitchFamily="49" charset="0"/>
              </a:rPr>
              <a:t>dat.kpca &lt;- kpca(t(dat),kernel="rbfdot", kpar=list(sigma=0.002),features=2)</a:t>
            </a:r>
          </a:p>
          <a:p>
            <a:pPr>
              <a:lnSpc>
                <a:spcPct val="90000"/>
              </a:lnSpc>
              <a:buFont typeface="Wingdings" pitchFamily="2" charset="2"/>
              <a:buNone/>
            </a:pPr>
            <a:endParaRPr lang="en-US" sz="1000">
              <a:latin typeface="Courier New" pitchFamily="49" charset="0"/>
            </a:endParaRPr>
          </a:p>
          <a:p>
            <a:pPr>
              <a:lnSpc>
                <a:spcPct val="90000"/>
              </a:lnSpc>
              <a:buFont typeface="Wingdings" pitchFamily="2" charset="2"/>
              <a:buNone/>
            </a:pPr>
            <a:r>
              <a:rPr lang="en-US" sz="1000">
                <a:latin typeface="Courier New" pitchFamily="49" charset="0"/>
              </a:rPr>
              <a:t># PCA plot</a:t>
            </a:r>
          </a:p>
          <a:p>
            <a:pPr>
              <a:lnSpc>
                <a:spcPct val="90000"/>
              </a:lnSpc>
              <a:buFont typeface="Wingdings" pitchFamily="2" charset="2"/>
              <a:buNone/>
            </a:pPr>
            <a:r>
              <a:rPr lang="en-US" sz="1000">
                <a:latin typeface="Courier New" pitchFamily="49" charset="0"/>
              </a:rPr>
              <a:t>ann.dat2[ann.dat2==0] &lt;- "blue"</a:t>
            </a:r>
          </a:p>
          <a:p>
            <a:pPr>
              <a:lnSpc>
                <a:spcPct val="90000"/>
              </a:lnSpc>
              <a:buFont typeface="Wingdings" pitchFamily="2" charset="2"/>
              <a:buNone/>
            </a:pPr>
            <a:r>
              <a:rPr lang="en-US" sz="1000">
                <a:latin typeface="Courier New" pitchFamily="49" charset="0"/>
              </a:rPr>
              <a:t>ann.dat2[ann.dat2==1] &lt;- "red"</a:t>
            </a:r>
          </a:p>
          <a:p>
            <a:pPr>
              <a:lnSpc>
                <a:spcPct val="90000"/>
              </a:lnSpc>
              <a:buFont typeface="Wingdings" pitchFamily="2" charset="2"/>
              <a:buNone/>
            </a:pPr>
            <a:endParaRPr lang="en-US" sz="1000">
              <a:latin typeface="Courier New" pitchFamily="49" charset="0"/>
            </a:endParaRPr>
          </a:p>
          <a:p>
            <a:pPr>
              <a:lnSpc>
                <a:spcPct val="90000"/>
              </a:lnSpc>
              <a:buFont typeface="Wingdings" pitchFamily="2" charset="2"/>
              <a:buNone/>
            </a:pPr>
            <a:r>
              <a:rPr lang="en-US" sz="1000">
                <a:latin typeface="Courier New" pitchFamily="49" charset="0"/>
              </a:rPr>
              <a:t>plot(rotated(dat.kpca),col=ann.dat2,xlab="p1",ylab="p2",pch=16,cex=1.5,main="Kernel PCA of Golub data\nsigma=0.002")</a:t>
            </a:r>
          </a:p>
          <a:p>
            <a:pPr>
              <a:lnSpc>
                <a:spcPct val="90000"/>
              </a:lnSpc>
              <a:buFont typeface="Wingdings" pitchFamily="2" charset="2"/>
              <a:buNone/>
            </a:pPr>
            <a:r>
              <a:rPr lang="en-US" sz="1000">
                <a:latin typeface="Courier New" pitchFamily="49" charset="0"/>
              </a:rPr>
              <a:t>legend(1.5,1.5,c("AML", "ALL"),col=c("red", "blue"),pch=15,cex=.7,horiz=F)</a:t>
            </a:r>
          </a:p>
          <a:p>
            <a:pPr>
              <a:lnSpc>
                <a:spcPct val="90000"/>
              </a:lnSpc>
              <a:buFont typeface="Wingdings" pitchFamily="2" charset="2"/>
              <a:buNone/>
            </a:pPr>
            <a:endParaRPr lang="en-US" sz="1000">
              <a:latin typeface="Courier New" pitchFamily="49" charset="0"/>
            </a:endParaRPr>
          </a:p>
        </p:txBody>
      </p:sp>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3385</TotalTime>
  <Words>4800</Words>
  <Application>Microsoft Office PowerPoint</Application>
  <PresentationFormat>On-screen Show (4:3)</PresentationFormat>
  <Paragraphs>431</Paragraphs>
  <Slides>42</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Arial</vt:lpstr>
      <vt:lpstr>Arial Unicode MS</vt:lpstr>
      <vt:lpstr>Courier New</vt:lpstr>
      <vt:lpstr>Wingdings</vt:lpstr>
      <vt:lpstr>Network</vt:lpstr>
      <vt:lpstr>Lecture #8</vt:lpstr>
      <vt:lpstr>Outline</vt:lpstr>
      <vt:lpstr>Dimensionality in transcriptomic data</vt:lpstr>
      <vt:lpstr>Only top 6 genes</vt:lpstr>
      <vt:lpstr>First 2 components in PCA space</vt:lpstr>
      <vt:lpstr>Principal components analysis (PCA)</vt:lpstr>
      <vt:lpstr>PCA general methodology</vt:lpstr>
      <vt:lpstr>PCA loadings plot interpretation</vt:lpstr>
      <vt:lpstr>PCA variance explained</vt:lpstr>
      <vt:lpstr>PCA example with AML/ALL data – number of components to retain</vt:lpstr>
      <vt:lpstr>PCA example with AML/ALL data – loadings plot (first 3 components)</vt:lpstr>
      <vt:lpstr>PCA example with AML/ALL data – loadings plot (first 2 components)</vt:lpstr>
      <vt:lpstr>PCA example with AML/ALL data – loadings plot (first 2 components)</vt:lpstr>
      <vt:lpstr>Partial least squares regression (PLS)</vt:lpstr>
      <vt:lpstr>PLS general methodology</vt:lpstr>
      <vt:lpstr>PLS (cont.)</vt:lpstr>
      <vt:lpstr>Multidimensional scaling (MDS)</vt:lpstr>
      <vt:lpstr>How to map distances from a 3D sphere to a 2D map?</vt:lpstr>
      <vt:lpstr>MDS scaling methods</vt:lpstr>
      <vt:lpstr>MDS stress calculation</vt:lpstr>
      <vt:lpstr>Nonmetric MDS plot</vt:lpstr>
      <vt:lpstr>Metric MDS plot</vt:lpstr>
      <vt:lpstr>Kernel PCA</vt:lpstr>
      <vt:lpstr>Kernel PCA plot</vt:lpstr>
      <vt:lpstr>The weighted graph Laplacian</vt:lpstr>
      <vt:lpstr>Laplacian of an image-used for edge detection</vt:lpstr>
      <vt:lpstr>The Laplacian steps</vt:lpstr>
      <vt:lpstr>Weighted Graph Laplacian plot</vt:lpstr>
      <vt:lpstr>Isometric feature mapping (ISOMAP)</vt:lpstr>
      <vt:lpstr>ISOMAP steps5</vt:lpstr>
      <vt:lpstr>Nonlinear data example</vt:lpstr>
      <vt:lpstr>Nonlinear data-Swiss roll example</vt:lpstr>
      <vt:lpstr>Which method to use when?</vt:lpstr>
      <vt:lpstr>Example problem</vt:lpstr>
      <vt:lpstr>Example problem-embeddings</vt:lpstr>
      <vt:lpstr>Comparison between embedding using different methods of dimensionality reduction (fibroblast dataset)6</vt:lpstr>
      <vt:lpstr>References</vt:lpstr>
      <vt:lpstr>R Code</vt:lpstr>
      <vt:lpstr>R Code</vt:lpstr>
      <vt:lpstr>R Code</vt:lpstr>
      <vt:lpstr>R Code</vt:lpstr>
      <vt:lpstr>R Code</vt:lpstr>
    </vt:vector>
  </TitlesOfParts>
  <Company>Gene Logic,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bhiggs</dc:creator>
  <cp:lastModifiedBy>Brandon Higgs (NJ)</cp:lastModifiedBy>
  <cp:revision>823</cp:revision>
  <dcterms:created xsi:type="dcterms:W3CDTF">2004-02-02T19:40:01Z</dcterms:created>
  <dcterms:modified xsi:type="dcterms:W3CDTF">2020-08-12T19:15:13Z</dcterms:modified>
</cp:coreProperties>
</file>