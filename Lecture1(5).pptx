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54"/>
  </p:notesMasterIdLst>
  <p:sldIdLst>
    <p:sldId id="256" r:id="rId2"/>
    <p:sldId id="299" r:id="rId3"/>
    <p:sldId id="258" r:id="rId4"/>
    <p:sldId id="279" r:id="rId5"/>
    <p:sldId id="280" r:id="rId6"/>
    <p:sldId id="259" r:id="rId7"/>
    <p:sldId id="281" r:id="rId8"/>
    <p:sldId id="282" r:id="rId9"/>
    <p:sldId id="294" r:id="rId10"/>
    <p:sldId id="297" r:id="rId11"/>
    <p:sldId id="295" r:id="rId12"/>
    <p:sldId id="296" r:id="rId13"/>
    <p:sldId id="283" r:id="rId14"/>
    <p:sldId id="284" r:id="rId15"/>
    <p:sldId id="261" r:id="rId16"/>
    <p:sldId id="262" r:id="rId17"/>
    <p:sldId id="263" r:id="rId18"/>
    <p:sldId id="264" r:id="rId19"/>
    <p:sldId id="265" r:id="rId20"/>
    <p:sldId id="292" r:id="rId21"/>
    <p:sldId id="293" r:id="rId22"/>
    <p:sldId id="260" r:id="rId23"/>
    <p:sldId id="285" r:id="rId24"/>
    <p:sldId id="266" r:id="rId25"/>
    <p:sldId id="267" r:id="rId26"/>
    <p:sldId id="268" r:id="rId27"/>
    <p:sldId id="286" r:id="rId28"/>
    <p:sldId id="270" r:id="rId29"/>
    <p:sldId id="298" r:id="rId30"/>
    <p:sldId id="275" r:id="rId31"/>
    <p:sldId id="2134959205" r:id="rId32"/>
    <p:sldId id="2134959209" r:id="rId33"/>
    <p:sldId id="288" r:id="rId34"/>
    <p:sldId id="276" r:id="rId35"/>
    <p:sldId id="277" r:id="rId36"/>
    <p:sldId id="290" r:id="rId37"/>
    <p:sldId id="278" r:id="rId38"/>
    <p:sldId id="274" r:id="rId39"/>
    <p:sldId id="272" r:id="rId40"/>
    <p:sldId id="300" r:id="rId41"/>
    <p:sldId id="309" r:id="rId42"/>
    <p:sldId id="307" r:id="rId43"/>
    <p:sldId id="310" r:id="rId44"/>
    <p:sldId id="311" r:id="rId45"/>
    <p:sldId id="312" r:id="rId46"/>
    <p:sldId id="308" r:id="rId47"/>
    <p:sldId id="302" r:id="rId48"/>
    <p:sldId id="303" r:id="rId49"/>
    <p:sldId id="304" r:id="rId50"/>
    <p:sldId id="305" r:id="rId51"/>
    <p:sldId id="306" r:id="rId52"/>
    <p:sldId id="291" r:id="rId53"/>
  </p:sldIdLst>
  <p:sldSz cx="6400800" cy="48006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2">
          <p15:clr>
            <a:srgbClr val="A4A3A4"/>
          </p15:clr>
        </p15:guide>
        <p15:guide id="2" pos="20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5" autoAdjust="0"/>
    <p:restoredTop sz="94660"/>
  </p:normalViewPr>
  <p:slideViewPr>
    <p:cSldViewPr>
      <p:cViewPr varScale="1">
        <p:scale>
          <a:sx n="221" d="100"/>
          <a:sy n="221" d="100"/>
        </p:scale>
        <p:origin x="2188" y="108"/>
      </p:cViewPr>
      <p:guideLst>
        <p:guide orient="horz" pos="1512"/>
        <p:guide pos="20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B480CF-6065-45FC-95AA-0509EB4A61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380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23463E-3AC5-45DF-B476-C998A55A89DC}" type="slidenum">
              <a:rPr lang="en-US"/>
              <a:pPr/>
              <a:t>1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58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D3DE5C-CBDC-4119-96F0-8765E1A6DC30}" type="slidenum">
              <a:rPr lang="en-US"/>
              <a:pPr/>
              <a:t>3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2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85693-7B0E-48BE-9278-6AE4957FDD48}" type="slidenum">
              <a:rPr lang="en-US"/>
              <a:pPr/>
              <a:t>6</a:t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63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4F540F-DCB9-475A-81FD-874B163949DF}" type="slidenum">
              <a:rPr lang="en-US"/>
              <a:pPr/>
              <a:t>15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76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485A71-F345-4CCB-9B07-2F0068B6B0E6}" type="slidenum">
              <a:rPr lang="en-US"/>
              <a:pPr/>
              <a:t>16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34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C9AD30-96D4-471D-B9E8-39332F488DC4}" type="slidenum">
              <a:rPr lang="en-US"/>
              <a:pPr/>
              <a:t>17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56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943EE9-4406-4600-9A58-8899943D0E1E}" type="slidenum">
              <a:rPr lang="en-US"/>
              <a:pPr/>
              <a:t>18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61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1238B5-A1A8-4788-8DAE-B5A4A3F55CE0}" type="slidenum">
              <a:rPr lang="en-US"/>
              <a:pPr/>
              <a:t>19</a:t>
            </a:fld>
            <a:endParaRPr 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52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201EBC-03A5-4E5E-B61A-3B2E68A01F6A}" type="slidenum">
              <a:rPr lang="en-US"/>
              <a:pPr/>
              <a:t>22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46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192BD6-A9D9-47EA-B57E-0896C3792083}" type="slidenum">
              <a:rPr lang="en-US"/>
              <a:pPr/>
              <a:t>24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14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746111-3824-4876-B3D1-AA61DD24A3CE}" type="slidenum">
              <a:rPr lang="en-US"/>
              <a:pPr/>
              <a:t>25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27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6AF7E3-90AD-441C-890D-4DACC9669E0B}" type="slidenum">
              <a:rPr lang="en-US"/>
              <a:pPr/>
              <a:t>26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19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8FF4A7-40C1-4823-B4C3-62041F5507A7}" type="slidenum">
              <a:rPr lang="en-US"/>
              <a:pPr/>
              <a:t>27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93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BF378E-8137-438B-9A09-C13A0D0FE473}" type="slidenum">
              <a:rPr lang="en-US"/>
              <a:pPr/>
              <a:t>28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96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891828-2D36-4D79-826A-C7D7D2970596}" type="slidenum">
              <a:rPr lang="en-US"/>
              <a:pPr/>
              <a:t>30</a:t>
            </a:fld>
            <a:endParaRPr 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05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3602A6-96D4-40DA-9FAD-12FA57C96C63}" type="slidenum">
              <a:rPr lang="en-US"/>
              <a:pPr/>
              <a:t>33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37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DF8DD5-5C4F-4CFF-9BF4-23595BC11E3C}" type="slidenum">
              <a:rPr lang="en-US"/>
              <a:pPr/>
              <a:t>34</a:t>
            </a:fld>
            <a:endParaRPr lang="en-US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16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4CAA4F-752A-4C16-ACEA-28E1126DED9E}" type="slidenum">
              <a:rPr lang="en-US"/>
              <a:pPr/>
              <a:t>35</a:t>
            </a:fld>
            <a:endParaRPr lang="en-US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93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C6BBF3-49BC-4F00-B635-5CC1EF8ACA56}" type="slidenum">
              <a:rPr lang="en-US"/>
              <a:pPr/>
              <a:t>36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75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1E298E-F234-4003-98E3-830AD8EFF56D}" type="slidenum">
              <a:rPr lang="en-US"/>
              <a:pPr/>
              <a:t>37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14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43E47B-E8B8-4F68-814B-A765FCD4A267}" type="slidenum">
              <a:rPr lang="en-US"/>
              <a:pPr/>
              <a:t>38</a:t>
            </a:fld>
            <a:endParaRPr 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47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07BCF0-614A-4888-8B48-65672CFF8552}" type="slidenum">
              <a:rPr lang="en-US"/>
              <a:pPr/>
              <a:t>39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93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80CF-6065-45FC-95AA-0509EB4A6170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0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2"/>
          <p:cNvSpPr>
            <a:spLocks noChangeShapeType="1"/>
          </p:cNvSpPr>
          <p:nvPr/>
        </p:nvSpPr>
        <p:spPr bwMode="auto">
          <a:xfrm>
            <a:off x="5121275" y="746125"/>
            <a:ext cx="0" cy="3148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20663" y="327025"/>
            <a:ext cx="4748212" cy="1493838"/>
          </a:xfrm>
        </p:spPr>
        <p:txBody>
          <a:bodyPr/>
          <a:lstStyle>
            <a:lvl1pPr algn="r">
              <a:defRPr sz="3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95313" y="2135188"/>
            <a:ext cx="4373562" cy="1652587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64BAFF5-63AB-4BA1-AA0A-98D7AC78143E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62472" name="Group 8"/>
          <p:cNvGrpSpPr>
            <a:grpSpLocks/>
          </p:cNvGrpSpPr>
          <p:nvPr/>
        </p:nvGrpSpPr>
        <p:grpSpPr bwMode="auto">
          <a:xfrm>
            <a:off x="5245100" y="2093913"/>
            <a:ext cx="936625" cy="1533525"/>
            <a:chOff x="4704" y="1885"/>
            <a:chExt cx="843" cy="1379"/>
          </a:xfrm>
        </p:grpSpPr>
        <p:sp>
          <p:nvSpPr>
            <p:cNvPr id="6247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504" name="Line 40"/>
          <p:cNvSpPr>
            <a:spLocks noChangeShapeType="1"/>
          </p:cNvSpPr>
          <p:nvPr/>
        </p:nvSpPr>
        <p:spPr bwMode="auto">
          <a:xfrm>
            <a:off x="212725" y="1973263"/>
            <a:ext cx="576103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1D3D0-E6ED-471D-AB32-E1A61E5C1C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47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13" y="3084513"/>
            <a:ext cx="5440362" cy="95408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413" y="2035175"/>
            <a:ext cx="5440362" cy="10493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445C74-840F-40E3-AD09-339DC99D48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171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675" y="1203325"/>
            <a:ext cx="2803525" cy="3087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203325"/>
            <a:ext cx="2803525" cy="3087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E334C-8CEC-4CCC-BB10-5E9F13342A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72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192088"/>
            <a:ext cx="5759450" cy="8001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675" y="1074738"/>
            <a:ext cx="2827338" cy="447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675" y="1522413"/>
            <a:ext cx="2827338" cy="27654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51200" y="1074738"/>
            <a:ext cx="2828925" cy="447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51200" y="1522413"/>
            <a:ext cx="2828925" cy="27654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45410-6D31-4EEA-979C-A0FA3F6517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9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237D80-F5D6-41EA-9F1C-43304B784E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03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679804-D0AC-4E7C-A117-4B64F89FDE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85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190500"/>
            <a:ext cx="2105025" cy="81438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1900" y="190500"/>
            <a:ext cx="3578225" cy="40973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675" y="1004888"/>
            <a:ext cx="2105025" cy="32829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D9C11A-6FA4-4315-905A-C80698DC16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41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125" y="3360738"/>
            <a:ext cx="3841750" cy="3968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54125" y="428625"/>
            <a:ext cx="3841750" cy="28813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4125" y="3757613"/>
            <a:ext cx="3841750" cy="5635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0E06B-B84C-4385-B629-29CDEC8334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99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9A974-69AB-46BE-81BD-190D4EEF0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91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40263" y="85725"/>
            <a:ext cx="1439862" cy="4205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675" y="85725"/>
            <a:ext cx="4167188" cy="4205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7FABB-088B-49B5-A334-A8D63E08F6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63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16720" y="549360"/>
            <a:ext cx="5891760" cy="35784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add Secondary 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16720" y="1232280"/>
            <a:ext cx="4694760" cy="3097080"/>
          </a:xfrm>
        </p:spPr>
        <p:txBody>
          <a:bodyPr/>
          <a:lstStyle>
            <a:lvl1pPr marL="0" indent="0">
              <a:buNone/>
              <a:defRPr sz="17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Author | 00 Month Year</a:t>
            </a:r>
            <a:endParaRPr lang="sv-S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748D8EB-9301-403A-889B-E8DDB32CFF4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Set area descriptor | Sub level 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47253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: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15504E-74B4-A046-A7D1-D794D17365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038" y="1280160"/>
            <a:ext cx="5800725" cy="28803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CD0B4DA-F5E5-4F4D-B824-0688E82A4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038" y="346363"/>
            <a:ext cx="5800725" cy="3648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70" b="1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70" b="0">
                <a:solidFill>
                  <a:schemeClr val="accent5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D6041DB-A091-514B-BB83-2EEDC1F935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711200"/>
            <a:ext cx="5800725" cy="370047"/>
          </a:xfrm>
        </p:spPr>
        <p:txBody>
          <a:bodyPr>
            <a:noAutofit/>
          </a:bodyPr>
          <a:lstStyle>
            <a:lvl1pPr>
              <a:buNone/>
              <a:defRPr sz="1470"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4A8C9-8496-7847-80D2-BA1602F54CE6}"/>
              </a:ext>
            </a:extLst>
          </p:cNvPr>
          <p:cNvSpPr txBox="1"/>
          <p:nvPr userDrawn="1"/>
        </p:nvSpPr>
        <p:spPr>
          <a:xfrm>
            <a:off x="5010745" y="4478233"/>
            <a:ext cx="730525" cy="807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80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25" dirty="0">
                <a:solidFill>
                  <a:schemeClr val="bg1">
                    <a:lumMod val="50000"/>
                  </a:schemeClr>
                </a:solidFill>
              </a:rPr>
              <a:t>© Genmab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6BCAA2-CEFC-A043-9D2C-988D85988503}"/>
              </a:ext>
            </a:extLst>
          </p:cNvPr>
          <p:cNvSpPr txBox="1"/>
          <p:nvPr userDrawn="1"/>
        </p:nvSpPr>
        <p:spPr>
          <a:xfrm>
            <a:off x="5741270" y="4478233"/>
            <a:ext cx="359492" cy="807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80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4F64A6-A54B-2C4C-B7C0-3E76E2F3F27B}" type="slidenum">
              <a:rPr lang="en-US" sz="525" smtClean="0">
                <a:solidFill>
                  <a:schemeClr val="bg1">
                    <a:lumMod val="50000"/>
                  </a:schemeClr>
                </a:solidFill>
              </a:rPr>
              <a:pPr marL="0" marR="0" lvl="0" indent="0" algn="r" defTabSz="480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525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19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Line 2"/>
          <p:cNvSpPr>
            <a:spLocks noChangeShapeType="1"/>
          </p:cNvSpPr>
          <p:nvPr/>
        </p:nvSpPr>
        <p:spPr bwMode="auto">
          <a:xfrm>
            <a:off x="5573713" y="106363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0675" y="85725"/>
            <a:ext cx="5280025" cy="90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0675" y="1203325"/>
            <a:ext cx="5759450" cy="308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0675" y="4373563"/>
            <a:ext cx="14922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defTabSz="639763">
              <a:defRPr sz="700"/>
            </a:lvl1pPr>
          </a:lstStyle>
          <a:p>
            <a:endParaRPr lang="en-US" altLang="en-US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87575" y="4373563"/>
            <a:ext cx="20256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algn="ctr" defTabSz="639763">
              <a:defRPr sz="700"/>
            </a:lvl1pPr>
          </a:lstStyle>
          <a:p>
            <a:endParaRPr lang="en-US" altLang="en-US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75" y="4373563"/>
            <a:ext cx="14922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algn="r" defTabSz="639763">
              <a:defRPr sz="700"/>
            </a:lvl1pPr>
          </a:lstStyle>
          <a:p>
            <a:fld id="{C7A9B824-9379-4FBC-9B05-9B698838E5A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61448" name="Group 8"/>
          <p:cNvGrpSpPr>
            <a:grpSpLocks/>
          </p:cNvGrpSpPr>
          <p:nvPr/>
        </p:nvGrpSpPr>
        <p:grpSpPr bwMode="auto">
          <a:xfrm>
            <a:off x="5707063" y="106363"/>
            <a:ext cx="555625" cy="906462"/>
            <a:chOff x="5136" y="960"/>
            <a:chExt cx="528" cy="864"/>
          </a:xfrm>
        </p:grpSpPr>
        <p:sp>
          <p:nvSpPr>
            <p:cNvPr id="6144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</p:sldLayoutIdLst>
  <p:txStyles>
    <p:titleStyle>
      <a:lvl1pPr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4572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6pPr>
      <a:lvl7pPr marL="9144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7pPr>
      <a:lvl8pPr marL="13716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8pPr>
      <a:lvl9pPr marL="18288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9pPr>
    </p:titleStyle>
    <p:bodyStyle>
      <a:lvl1pPr marL="239713" indent="-239713" algn="l" defTabSz="639763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484188" indent="-242888" algn="l" defTabSz="639763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2pPr>
      <a:lvl3pPr marL="690563" indent="-204788" algn="l" defTabSz="639763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896938" indent="-204788" algn="l" defTabSz="639763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1191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5pPr>
      <a:lvl6pPr marL="15763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0335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24907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29479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bio.davidson.edu/courses/genomics/chip/chip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bioinformatics.picr.man.ac.uk/mbcf/overview_ma.j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#1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Introduction to gene expression technologies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95E90-D00C-4D91-8EF4-FA4DDED2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Microarrays</a:t>
            </a:r>
          </a:p>
        </p:txBody>
      </p:sp>
    </p:spTree>
    <p:extLst>
      <p:ext uri="{BB962C8B-B14F-4D97-AF65-F5344CB8AC3E}">
        <p14:creationId xmlns:p14="http://schemas.microsoft.com/office/powerpoint/2010/main" val="58677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microarrays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/>
              <a:t>Understand the processes and associations within and between genes (functional genomics)</a:t>
            </a:r>
          </a:p>
          <a:p>
            <a:pPr lvl="1">
              <a:lnSpc>
                <a:spcPct val="80000"/>
              </a:lnSpc>
            </a:pPr>
            <a:r>
              <a:rPr lang="en-US" sz="1100" dirty="0"/>
              <a:t>Biological mechanism</a:t>
            </a:r>
          </a:p>
          <a:p>
            <a:pPr lvl="1">
              <a:lnSpc>
                <a:spcPct val="80000"/>
              </a:lnSpc>
            </a:pPr>
            <a:r>
              <a:rPr lang="en-US" sz="1100" dirty="0"/>
              <a:t>Pathogen detection</a:t>
            </a:r>
          </a:p>
          <a:p>
            <a:pPr lvl="1">
              <a:lnSpc>
                <a:spcPct val="80000"/>
              </a:lnSpc>
            </a:pPr>
            <a:r>
              <a:rPr lang="en-US" sz="1100" dirty="0"/>
              <a:t>Biomarkers</a:t>
            </a:r>
          </a:p>
          <a:p>
            <a:pPr lvl="2">
              <a:lnSpc>
                <a:spcPct val="80000"/>
              </a:lnSpc>
            </a:pPr>
            <a:r>
              <a:rPr lang="en-US" sz="900" dirty="0"/>
              <a:t>Prognostic</a:t>
            </a:r>
          </a:p>
          <a:p>
            <a:pPr lvl="2">
              <a:lnSpc>
                <a:spcPct val="80000"/>
              </a:lnSpc>
            </a:pPr>
            <a:r>
              <a:rPr lang="en-US" sz="900" dirty="0"/>
              <a:t>Diagnostic</a:t>
            </a:r>
          </a:p>
          <a:p>
            <a:pPr lvl="2">
              <a:lnSpc>
                <a:spcPct val="80000"/>
              </a:lnSpc>
            </a:pPr>
            <a:r>
              <a:rPr lang="en-US" sz="900" dirty="0"/>
              <a:t>Surrogate endpoint</a:t>
            </a:r>
          </a:p>
          <a:p>
            <a:pPr lvl="2">
              <a:lnSpc>
                <a:spcPct val="80000"/>
              </a:lnSpc>
            </a:pPr>
            <a:r>
              <a:rPr lang="en-US" sz="900" dirty="0" err="1"/>
              <a:t>Pharmacodynamic</a:t>
            </a:r>
            <a:endParaRPr lang="en-US" sz="900" dirty="0"/>
          </a:p>
          <a:p>
            <a:pPr lvl="2">
              <a:lnSpc>
                <a:spcPct val="80000"/>
              </a:lnSpc>
            </a:pPr>
            <a:r>
              <a:rPr lang="en-US" sz="900" dirty="0"/>
              <a:t>Patient selection</a:t>
            </a:r>
          </a:p>
          <a:p>
            <a:pPr lvl="1">
              <a:lnSpc>
                <a:spcPct val="80000"/>
              </a:lnSpc>
            </a:pPr>
            <a:endParaRPr lang="en-US" sz="1300" dirty="0"/>
          </a:p>
          <a:p>
            <a:pPr>
              <a:lnSpc>
                <a:spcPct val="80000"/>
              </a:lnSpc>
            </a:pPr>
            <a:r>
              <a:rPr lang="en-US" sz="1600" dirty="0"/>
              <a:t>Gene interactions are complex in nature, such that it is necessary to assay many simultaneously to understand dependencies in expression patterns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Requires high-throughput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5280025" cy="906463"/>
          </a:xfrm>
        </p:spPr>
        <p:txBody>
          <a:bodyPr/>
          <a:lstStyle/>
          <a:p>
            <a:r>
              <a:rPr lang="en-US" sz="3000"/>
              <a:t>Some definitions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120775"/>
            <a:ext cx="5759450" cy="35194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300" u="sng"/>
              <a:t>Microarray</a:t>
            </a:r>
            <a:r>
              <a:rPr lang="en-US" sz="1300"/>
              <a:t>: chip, genechip, array 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Transcript</a:t>
            </a:r>
            <a:r>
              <a:rPr lang="en-US" sz="1300"/>
              <a:t>: message, mRNA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Gene expression</a:t>
            </a:r>
            <a:r>
              <a:rPr lang="en-US" sz="1300"/>
              <a:t>: number of mRNA molecules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Signal intensity</a:t>
            </a:r>
            <a:r>
              <a:rPr lang="en-US" sz="1300"/>
              <a:t>: measure of the number of mRNAs present in a sample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Probe</a:t>
            </a:r>
            <a:r>
              <a:rPr lang="en-US" sz="1300"/>
              <a:t>: DNA sequence (usually) that is fixed to the microarray and used to measure the target; also known as ‘reporter’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Target</a:t>
            </a:r>
            <a:r>
              <a:rPr lang="en-US" sz="1300"/>
              <a:t>: sequence from sample that is labeled with some dye method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Sample</a:t>
            </a:r>
            <a:r>
              <a:rPr lang="en-US" sz="1300"/>
              <a:t>: patient/subject, animal, cell, array</a:t>
            </a:r>
          </a:p>
          <a:p>
            <a:pPr>
              <a:lnSpc>
                <a:spcPct val="80000"/>
              </a:lnSpc>
            </a:pPr>
            <a:endParaRPr lang="en-US" sz="1300" u="sng"/>
          </a:p>
          <a:p>
            <a:pPr>
              <a:lnSpc>
                <a:spcPct val="80000"/>
              </a:lnSpc>
            </a:pPr>
            <a:r>
              <a:rPr lang="en-US" sz="1300" u="sng"/>
              <a:t>Feature</a:t>
            </a:r>
            <a:r>
              <a:rPr lang="en-US" sz="1300"/>
              <a:t>: the (x,y) location of probes on an array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14375"/>
          </a:xfrm>
        </p:spPr>
        <p:txBody>
          <a:bodyPr/>
          <a:lstStyle/>
          <a:p>
            <a:r>
              <a:rPr lang="en-US" sz="3000"/>
              <a:t>What is a microarray?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203325"/>
            <a:ext cx="5759450" cy="16637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700"/>
              <a:t>At the most general level, a microarray is a flat surface on which one molecule interacts with another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Location and signal produced provide characteristics about the interacting partners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Probe: relatively short sequence of DNA fixed to the surface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Target: the sequence entity that we are measuring (typically labeled)</a:t>
            </a:r>
          </a:p>
          <a:p>
            <a:pPr lvl="1"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1280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1" t="63104" r="22900" b="4071"/>
          <a:stretch>
            <a:fillRect/>
          </a:stretch>
        </p:blipFill>
        <p:spPr bwMode="auto">
          <a:xfrm>
            <a:off x="800100" y="2879725"/>
            <a:ext cx="4267200" cy="172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14375"/>
          </a:xfrm>
        </p:spPr>
        <p:txBody>
          <a:bodyPr/>
          <a:lstStyle/>
          <a:p>
            <a:r>
              <a:rPr lang="en-US"/>
              <a:t>Microarray concept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44475" y="1485900"/>
            <a:ext cx="3032125" cy="25146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Quantitative measure of mRNA</a:t>
            </a:r>
          </a:p>
          <a:p>
            <a:pPr lvl="1">
              <a:lnSpc>
                <a:spcPct val="80000"/>
              </a:lnSpc>
            </a:pPr>
            <a:r>
              <a:rPr lang="en-US" sz="1400"/>
              <a:t>Since most changes in cell states are associated with mRNA</a:t>
            </a:r>
          </a:p>
          <a:p>
            <a:pPr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1800"/>
              <a:t>Similar to a Blot</a:t>
            </a:r>
          </a:p>
          <a:p>
            <a:pPr lvl="1">
              <a:lnSpc>
                <a:spcPct val="80000"/>
              </a:lnSpc>
            </a:pPr>
            <a:r>
              <a:rPr lang="en-US" sz="1400"/>
              <a:t>Intensity-based measurement generated from some label is used to represent amount of material present within a sample</a:t>
            </a: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4587875" y="3946525"/>
            <a:ext cx="174307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/>
          <a:p>
            <a:pPr defTabSz="639763"/>
            <a:r>
              <a:rPr lang="en-US" sz="700" i="1"/>
              <a:t>http://genomebiology.com/content/figures</a:t>
            </a:r>
          </a:p>
        </p:txBody>
      </p:sp>
      <p:pic>
        <p:nvPicPr>
          <p:cNvPr id="65542" name="Picture 6" descr="gb-2005-6-12-r99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1493838"/>
            <a:ext cx="2825750" cy="24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 sz="2500"/>
              <a:t>Basic experimental process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52500"/>
            <a:ext cx="5759450" cy="30416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1) Select or design an appropriate microarray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3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2) Collect sample, extract and purify the target (DNA or RNA)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3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3) Label the target with some dye and fragment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3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4) Hybridize the target to the array; target sequences specific to the probes hybridize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3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5) Remove non-hybridized material using some wash condition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3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6) Laser is applied to labeled target (in a duplex with the probe) which fluoresces at a specific wavelength (dependent upon the dye used), proving a quantitative intensity value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3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/>
              <a:t>7) Collect the signal, process, normalize, and proceed to analysis</a:t>
            </a:r>
          </a:p>
        </p:txBody>
      </p:sp>
      <p:sp>
        <p:nvSpPr>
          <p:cNvPr id="130052" name="Text Box 4">
            <a:hlinkClick r:id="rId2"/>
          </p:cNvPr>
          <p:cNvSpPr txBox="1">
            <a:spLocks noChangeArrowheads="1"/>
          </p:cNvSpPr>
          <p:nvPr/>
        </p:nvSpPr>
        <p:spPr bwMode="auto">
          <a:xfrm>
            <a:off x="1333500" y="4106863"/>
            <a:ext cx="4213225" cy="498475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i="1">
                <a:solidFill>
                  <a:schemeClr val="bg1"/>
                </a:solidFill>
              </a:rPr>
              <a:t>The signal intensity is assumed to correlate with the amount of mRNA in the sample</a:t>
            </a:r>
          </a:p>
        </p:txBody>
      </p:sp>
      <p:pic>
        <p:nvPicPr>
          <p:cNvPr id="130054" name="Picture 6" descr="ist2_1438132_science_experim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38" y="854075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055" name="Rectangle 7"/>
          <p:cNvSpPr>
            <a:spLocks noChangeArrowheads="1"/>
          </p:cNvSpPr>
          <p:nvPr/>
        </p:nvSpPr>
        <p:spPr bwMode="auto">
          <a:xfrm>
            <a:off x="5410200" y="1920875"/>
            <a:ext cx="990600" cy="13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/>
            <a:r>
              <a:rPr lang="en-US" sz="500" i="1"/>
              <a:t>http://www1.istockphoto.com/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561975"/>
          </a:xfrm>
        </p:spPr>
        <p:txBody>
          <a:bodyPr/>
          <a:lstStyle/>
          <a:p>
            <a:r>
              <a:rPr lang="en-US" sz="2500"/>
              <a:t>Where are microarrays used?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12825"/>
            <a:ext cx="5759450" cy="35210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700" dirty="0"/>
              <a:t>Anywhere to better understand the associations both within and between genes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Disease mechanism: identify genes that are differentially regulated in a disease state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 lvl="1">
              <a:lnSpc>
                <a:spcPct val="80000"/>
              </a:lnSpc>
            </a:pPr>
            <a:r>
              <a:rPr lang="en-US" sz="1400" dirty="0"/>
              <a:t>Pathogen detection: one of multiple methods currently used by DHS (and other agencies) to detect the presence of certain pathogens (‘</a:t>
            </a:r>
            <a:r>
              <a:rPr lang="en-US" sz="1400" dirty="0" err="1"/>
              <a:t>Biosensing</a:t>
            </a:r>
            <a:r>
              <a:rPr lang="en-US" sz="1400" dirty="0"/>
              <a:t>’)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 lvl="1">
              <a:lnSpc>
                <a:spcPct val="80000"/>
              </a:lnSpc>
            </a:pPr>
            <a:r>
              <a:rPr lang="en-US" sz="1400" dirty="0"/>
              <a:t>Biomarker discovery: identify genes that are 1) regulated in response to drug treatment, 2) predictive of a patient’s prognosis, 3) diagnostic for a patient’s condition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 lvl="1">
              <a:lnSpc>
                <a:spcPct val="80000"/>
              </a:lnSpc>
            </a:pPr>
            <a:r>
              <a:rPr lang="en-US" sz="1400" dirty="0"/>
              <a:t>Genetics: identify chromosomal structural deletions or amplifications (i.e. copy number variations)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 lvl="1">
              <a:lnSpc>
                <a:spcPct val="80000"/>
              </a:lnSpc>
            </a:pPr>
            <a:r>
              <a:rPr lang="en-US" sz="1400" dirty="0"/>
              <a:t>Many more purposes…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75" y="114300"/>
            <a:ext cx="5622925" cy="561975"/>
          </a:xfrm>
        </p:spPr>
        <p:txBody>
          <a:bodyPr>
            <a:normAutofit fontScale="90000"/>
          </a:bodyPr>
          <a:lstStyle/>
          <a:p>
            <a:r>
              <a:rPr lang="en-US" sz="2500" dirty="0"/>
              <a:t>Examples in practice: </a:t>
            </a:r>
            <a:r>
              <a:rPr lang="en-US" sz="2500" dirty="0" err="1"/>
              <a:t>Mammaprint</a:t>
            </a:r>
            <a:r>
              <a:rPr lang="en-US" sz="2800" dirty="0"/>
              <a:t>®</a:t>
            </a:r>
            <a:endParaRPr lang="en-US" sz="2500" dirty="0"/>
          </a:p>
        </p:txBody>
      </p:sp>
      <p:pic>
        <p:nvPicPr>
          <p:cNvPr id="148482" name="Picture 2" descr="http://www.agendia.com/filebin/images/charts/gene_selection_l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927655"/>
            <a:ext cx="2765868" cy="206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484" name="Picture 4" descr="http://www.agendia.com/filebin/images/metastatic_risk_l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956" y="2971284"/>
            <a:ext cx="2052096" cy="153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800" y="1089025"/>
            <a:ext cx="2438400" cy="352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marL="239713" indent="-23971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4188" indent="-2428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2pPr>
            <a:lvl3pPr marL="690563" indent="-2047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</a:defRPr>
            </a:lvl3pPr>
            <a:lvl4pPr marL="896938" indent="-2047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4pPr>
            <a:lvl5pPr marL="11191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5pPr>
            <a:lvl6pPr marL="15763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0335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24907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29479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 err="1"/>
              <a:t>Mammaprint</a:t>
            </a:r>
            <a:r>
              <a:rPr lang="en-US" sz="1400" dirty="0"/>
              <a:t>®: an IVDMIA 70-Gene Profile of Breast Cancer for Metastatic Risk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Identifies high or low outcome risk for distant metastases in patients with invasive breast cancer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FDA cleared test for breast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4020" y="4618936"/>
            <a:ext cx="3200400" cy="1846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600" dirty="0"/>
              <a:t>http://www.agendia.com/filebin/AGE594_US_Mamma_over61_highV2_UPDATED.pdf</a:t>
            </a:r>
          </a:p>
        </p:txBody>
      </p:sp>
      <p:pic>
        <p:nvPicPr>
          <p:cNvPr id="148486" name="Picture 6" descr="http://www.agendia.com/filebin/images/charts/70gene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44468"/>
            <a:ext cx="1538655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76600" y="4517510"/>
            <a:ext cx="3200400" cy="1846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600" dirty="0"/>
              <a:t>http://www.agendia.com/pages/70_genes_cover_the_metastatic_cascade/44.php</a:t>
            </a:r>
          </a:p>
        </p:txBody>
      </p:sp>
    </p:spTree>
    <p:extLst>
      <p:ext uri="{BB962C8B-B14F-4D97-AF65-F5344CB8AC3E}">
        <p14:creationId xmlns:p14="http://schemas.microsoft.com/office/powerpoint/2010/main" val="1310488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114300"/>
            <a:ext cx="5280025" cy="561975"/>
          </a:xfrm>
        </p:spPr>
        <p:txBody>
          <a:bodyPr/>
          <a:lstStyle/>
          <a:p>
            <a:r>
              <a:rPr lang="en-US" sz="2200" dirty="0"/>
              <a:t>Examples in practice: </a:t>
            </a:r>
            <a:r>
              <a:rPr lang="en-US" sz="2200" dirty="0" err="1"/>
              <a:t>AclarusDx</a:t>
            </a:r>
            <a:r>
              <a:rPr lang="en-US" sz="2200" dirty="0"/>
              <a:t>®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800" y="1089025"/>
            <a:ext cx="2438400" cy="352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marL="239713" indent="-23971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4188" indent="-2428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2pPr>
            <a:lvl3pPr marL="690563" indent="-2047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</a:defRPr>
            </a:lvl3pPr>
            <a:lvl4pPr marL="896938" indent="-2047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4pPr>
            <a:lvl5pPr marL="11191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5pPr>
            <a:lvl6pPr marL="15763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0335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24907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29479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 err="1"/>
              <a:t>AclarusDx</a:t>
            </a:r>
            <a:r>
              <a:rPr lang="en-US" sz="1400" dirty="0"/>
              <a:t>®: A blood-based test using an exon array for early diagnosis of Alzheimer’s disease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Has obtained CE marking</a:t>
            </a:r>
          </a:p>
        </p:txBody>
      </p:sp>
      <p:pic>
        <p:nvPicPr>
          <p:cNvPr id="151554" name="Picture 2" descr="http://www.exonhit.com/sites/default/files/Pipeline_Diagnostic_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257300"/>
            <a:ext cx="3352800" cy="133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86200" y="4610100"/>
            <a:ext cx="251460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/>
              <a:t>http://www.exonhit.com/diagnostics/pipeline#Internal_Development</a:t>
            </a:r>
          </a:p>
        </p:txBody>
      </p:sp>
      <p:pic>
        <p:nvPicPr>
          <p:cNvPr id="15155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9" t="9613" r="23940" b="20794"/>
          <a:stretch/>
        </p:blipFill>
        <p:spPr bwMode="auto">
          <a:xfrm>
            <a:off x="4267200" y="2457450"/>
            <a:ext cx="19812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1556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t="23260" r="47260" b="21762"/>
          <a:stretch/>
        </p:blipFill>
        <p:spPr bwMode="auto">
          <a:xfrm>
            <a:off x="533400" y="2656332"/>
            <a:ext cx="22733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452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314325"/>
            <a:ext cx="5280025" cy="561975"/>
          </a:xfrm>
        </p:spPr>
        <p:txBody>
          <a:bodyPr/>
          <a:lstStyle/>
          <a:p>
            <a:r>
              <a:rPr lang="en-US" sz="2200" dirty="0"/>
              <a:t>Examples in practice: </a:t>
            </a:r>
            <a:r>
              <a:rPr lang="en-US" sz="2200" dirty="0">
                <a:solidFill>
                  <a:schemeClr val="tx2"/>
                </a:solidFill>
              </a:rPr>
              <a:t>PAM50 Breast Cancer Intrinsic Classifier™</a:t>
            </a:r>
            <a:endParaRPr lang="en-US" sz="22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800" y="1089025"/>
            <a:ext cx="2438400" cy="352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marL="239713" indent="-23971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4188" indent="-2428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2pPr>
            <a:lvl3pPr marL="690563" indent="-2047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</a:defRPr>
            </a:lvl3pPr>
            <a:lvl4pPr marL="896938" indent="-204788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4pPr>
            <a:lvl5pPr marL="11191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5pPr>
            <a:lvl6pPr marL="15763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0335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24907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2947988" indent="-220663" algn="l" defTabSz="639763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/>
              <a:t>Developed using microarrays, but actual test is an RT-</a:t>
            </a:r>
            <a:r>
              <a:rPr lang="en-US" sz="1400" dirty="0" err="1"/>
              <a:t>qPCR</a:t>
            </a:r>
            <a:r>
              <a:rPr lang="en-US" sz="1400" dirty="0"/>
              <a:t> assay that measures the expression of 50 genes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Identifies the intrinsic breast cancer subtypes known as Luminal A, Luminal B, HER2-enriched and Basal-like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Still a laboratory developed test (LDT)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6600" y="4485501"/>
            <a:ext cx="32004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600" dirty="0"/>
              <a:t>http://www.news-medical.net/news/20110118/PAM50-test-is-now-available-to-classify-breast-cancer-subtypes.aspx</a:t>
            </a:r>
          </a:p>
        </p:txBody>
      </p:sp>
      <p:pic>
        <p:nvPicPr>
          <p:cNvPr id="149506" name="Picture 2" descr="Fig. 1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181100"/>
            <a:ext cx="2595715" cy="278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76600" y="4349234"/>
            <a:ext cx="243840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/>
              <a:t>http://clincancerres.aacrjournals.org/content/16/21/5222.long</a:t>
            </a:r>
          </a:p>
        </p:txBody>
      </p:sp>
    </p:spTree>
    <p:extLst>
      <p:ext uri="{BB962C8B-B14F-4D97-AF65-F5344CB8AC3E}">
        <p14:creationId xmlns:p14="http://schemas.microsoft.com/office/powerpoint/2010/main" val="884160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1" y="266700"/>
            <a:ext cx="5714999" cy="561975"/>
          </a:xfrm>
        </p:spPr>
        <p:txBody>
          <a:bodyPr/>
          <a:lstStyle/>
          <a:p>
            <a:r>
              <a:rPr lang="en-US" sz="2200" dirty="0"/>
              <a:t>Other examples that utilized microarrays to develop a gene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0" y="4610100"/>
            <a:ext cx="220980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/>
              <a:t>http://www.cardiodx.com/for-patients/corus-cad-overview</a:t>
            </a:r>
          </a:p>
        </p:txBody>
      </p:sp>
      <p:pic>
        <p:nvPicPr>
          <p:cNvPr id="150533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0" t="11244" r="21499" b="3529"/>
          <a:stretch/>
        </p:blipFill>
        <p:spPr bwMode="auto">
          <a:xfrm>
            <a:off x="3124200" y="1333500"/>
            <a:ext cx="2395639" cy="289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0530" name="Picture 2" descr="Sample Patient Repo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2850"/>
            <a:ext cx="2438950" cy="301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00400" y="4501634"/>
            <a:ext cx="3200400" cy="1846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600" dirty="0"/>
              <a:t>http://www.allomap.com/documents/XDx_LabServicesGuideFINAL3electronicversion.pdf</a:t>
            </a:r>
          </a:p>
        </p:txBody>
      </p:sp>
    </p:spTree>
    <p:extLst>
      <p:ext uri="{BB962C8B-B14F-4D97-AF65-F5344CB8AC3E}">
        <p14:creationId xmlns:p14="http://schemas.microsoft.com/office/powerpoint/2010/main" val="386264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 sz="2500"/>
              <a:t>Probe selection for array design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120775"/>
            <a:ext cx="5759450" cy="3413125"/>
          </a:xfrm>
        </p:spPr>
        <p:txBody>
          <a:bodyPr/>
          <a:lstStyle/>
          <a:p>
            <a:r>
              <a:rPr lang="en-US" sz="1900"/>
              <a:t>I will not go into too many details here, but probes are selected based on numerous characteristics</a:t>
            </a:r>
          </a:p>
          <a:p>
            <a:pPr lvl="1"/>
            <a:r>
              <a:rPr lang="en-US" sz="1600"/>
              <a:t>Specificity to target sequence</a:t>
            </a:r>
          </a:p>
          <a:p>
            <a:pPr lvl="1"/>
            <a:r>
              <a:rPr lang="en-US" sz="1600"/>
              <a:t>Melting temperature (T</a:t>
            </a:r>
            <a:r>
              <a:rPr lang="en-US" sz="1600" baseline="-25000"/>
              <a:t>m</a:t>
            </a:r>
            <a:r>
              <a:rPr lang="en-US" sz="1600"/>
              <a:t>)</a:t>
            </a:r>
          </a:p>
          <a:p>
            <a:pPr lvl="1"/>
            <a:r>
              <a:rPr lang="en-US" sz="1600"/>
              <a:t>Propensity to not form secondary structure (free energy of folding)</a:t>
            </a:r>
          </a:p>
          <a:p>
            <a:pPr lvl="1"/>
            <a:r>
              <a:rPr lang="en-US" sz="1600"/>
              <a:t>3’ bias for complement to target sequence (tends to be more unique)</a:t>
            </a:r>
          </a:p>
          <a:p>
            <a:pPr lvl="1"/>
            <a:r>
              <a:rPr lang="en-US" sz="1600"/>
              <a:t>Length and uniqueness</a:t>
            </a:r>
          </a:p>
          <a:p>
            <a:pPr lvl="1"/>
            <a:r>
              <a:rPr lang="en-US" sz="1600"/>
              <a:t>Minimal homology to other targets in a gene family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 sz="2500"/>
              <a:t>Two primary microarray designs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81100"/>
            <a:ext cx="3116262" cy="3413125"/>
          </a:xfrm>
        </p:spPr>
        <p:txBody>
          <a:bodyPr/>
          <a:lstStyle/>
          <a:p>
            <a:r>
              <a:rPr lang="en-US" sz="1600"/>
              <a:t>cDNA/two channel arrays</a:t>
            </a:r>
          </a:p>
          <a:p>
            <a:pPr lvl="1"/>
            <a:r>
              <a:rPr lang="en-US" sz="1400"/>
              <a:t>50-70 bp probes</a:t>
            </a:r>
          </a:p>
          <a:p>
            <a:pPr lvl="1"/>
            <a:r>
              <a:rPr lang="en-US" sz="1400"/>
              <a:t>Two-color hybridization used for each probe</a:t>
            </a:r>
          </a:p>
          <a:p>
            <a:pPr lvl="1"/>
            <a:r>
              <a:rPr lang="en-US" sz="1400"/>
              <a:t>Poor specificity due to mismatch tolerance</a:t>
            </a:r>
          </a:p>
          <a:p>
            <a:pPr lvl="1"/>
            <a:endParaRPr lang="en-US" sz="900"/>
          </a:p>
          <a:p>
            <a:r>
              <a:rPr lang="en-US" sz="1600"/>
              <a:t>Oligonucleotide arrays</a:t>
            </a:r>
          </a:p>
          <a:p>
            <a:pPr lvl="1"/>
            <a:r>
              <a:rPr lang="en-US" sz="1400"/>
              <a:t>8-60 bp probes</a:t>
            </a:r>
          </a:p>
          <a:p>
            <a:pPr lvl="1"/>
            <a:r>
              <a:rPr lang="en-US" sz="1400"/>
              <a:t>Single color hybridization used for each probe</a:t>
            </a:r>
          </a:p>
          <a:p>
            <a:pPr lvl="1"/>
            <a:r>
              <a:rPr lang="en-US" sz="1400"/>
              <a:t>Good specificity but poor sensitivity</a:t>
            </a:r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6" t="17969" r="32001" b="13281"/>
          <a:stretch>
            <a:fillRect/>
          </a:stretch>
        </p:blipFill>
        <p:spPr bwMode="auto">
          <a:xfrm>
            <a:off x="3521075" y="1227138"/>
            <a:ext cx="2846388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/>
              <a:t>cDNA/Two channel arrays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03325"/>
            <a:ext cx="3352800" cy="3330575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500"/>
              <a:t>cDNA/two channel arrays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Less expensive technology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Complete sequence is attached to chip (probe)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Two-color hybridization used for each probe</a:t>
            </a:r>
          </a:p>
          <a:p>
            <a:pPr lvl="2">
              <a:lnSpc>
                <a:spcPct val="80000"/>
              </a:lnSpc>
            </a:pPr>
            <a:r>
              <a:rPr lang="en-US" sz="1000"/>
              <a:t>Internal control</a:t>
            </a:r>
          </a:p>
          <a:p>
            <a:pPr lvl="2">
              <a:lnSpc>
                <a:spcPct val="80000"/>
              </a:lnSpc>
            </a:pPr>
            <a:r>
              <a:rPr lang="en-US" sz="1000"/>
              <a:t>cDNA is PCR’d with random 6mer primers and dCTP-dye conjugates</a:t>
            </a:r>
          </a:p>
          <a:p>
            <a:pPr lvl="3">
              <a:lnSpc>
                <a:spcPct val="80000"/>
              </a:lnSpc>
            </a:pPr>
            <a:r>
              <a:rPr lang="en-US" sz="900" b="1">
                <a:solidFill>
                  <a:srgbClr val="FF5050"/>
                </a:solidFill>
              </a:rPr>
              <a:t>Cy5 </a:t>
            </a:r>
            <a:r>
              <a:rPr lang="en-US" sz="900"/>
              <a:t>abs=650 nm; emm=667 nm</a:t>
            </a:r>
          </a:p>
          <a:p>
            <a:pPr lvl="3">
              <a:lnSpc>
                <a:spcPct val="80000"/>
              </a:lnSpc>
            </a:pPr>
            <a:r>
              <a:rPr lang="en-US" sz="900" b="1">
                <a:solidFill>
                  <a:srgbClr val="00FF00"/>
                </a:solidFill>
              </a:rPr>
              <a:t>Cy3 </a:t>
            </a:r>
            <a:r>
              <a:rPr lang="en-US" sz="900"/>
              <a:t>abs=552 nm; emm=568 nm</a:t>
            </a:r>
          </a:p>
          <a:p>
            <a:pPr>
              <a:lnSpc>
                <a:spcPct val="80000"/>
              </a:lnSpc>
            </a:pPr>
            <a:r>
              <a:rPr lang="en-US" sz="1500"/>
              <a:t>cDNA/two channel array probe spotting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Utilizes spotting technology to attach probes to chip (printer robots)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A solution is picked up with a pin and this touches the array surface, depositing the probe solution</a:t>
            </a:r>
          </a:p>
        </p:txBody>
      </p:sp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85" t="39844" r="22382" b="25781"/>
          <a:stretch>
            <a:fillRect/>
          </a:stretch>
        </p:blipFill>
        <p:spPr bwMode="auto">
          <a:xfrm>
            <a:off x="3886200" y="1638300"/>
            <a:ext cx="2209800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cDNA array technology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301625" y="1014413"/>
            <a:ext cx="5761038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50000"/>
              </a:lnSpc>
            </a:pPr>
            <a:endParaRPr lang="en-US" sz="1000" b="1"/>
          </a:p>
          <a:p>
            <a:r>
              <a:rPr lang="en-US" sz="1000"/>
              <a:t>A glass slide, membrane, or polymer that has been spotted with </a:t>
            </a:r>
          </a:p>
          <a:p>
            <a:r>
              <a:rPr lang="en-US" sz="1000"/>
              <a:t>non-labeled DNA probes designed to hybridize specific complementary </a:t>
            </a:r>
          </a:p>
          <a:p>
            <a:r>
              <a:rPr lang="en-US" sz="1000"/>
              <a:t>DNA’s of interest (cDNA).</a:t>
            </a:r>
          </a:p>
        </p:txBody>
      </p:sp>
      <p:pic>
        <p:nvPicPr>
          <p:cNvPr id="68620" name="Picture 12" descr="printhead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4310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621" name="Rectangle 13"/>
          <p:cNvSpPr>
            <a:spLocks noChangeArrowheads="1"/>
          </p:cNvSpPr>
          <p:nvPr/>
        </p:nvSpPr>
        <p:spPr bwMode="auto">
          <a:xfrm>
            <a:off x="4267200" y="4533900"/>
            <a:ext cx="19050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sz="600" dirty="0"/>
              <a:t>http://array.mc.vanderbilt.edu/services/custom.fgsr </a:t>
            </a:r>
          </a:p>
        </p:txBody>
      </p:sp>
      <p:pic>
        <p:nvPicPr>
          <p:cNvPr id="68623" name="Picture 15" descr="a_microarray_printing_stealth_technology_600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324100"/>
            <a:ext cx="2628900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1676400" y="4616450"/>
            <a:ext cx="4876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sz="600" dirty="0"/>
              <a:t>http://www.arrayit.com/Products/Microarray_Printing/Microarray_Pins_Stealth_Techno/microarray_pins_stealth_technology.html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cDNA array technology (cont.)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479425" y="1236663"/>
            <a:ext cx="5600700" cy="110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</a:pPr>
            <a:endParaRPr lang="en-US" sz="1700" b="1"/>
          </a:p>
          <a:p>
            <a:r>
              <a:rPr lang="en-US" sz="1400"/>
              <a:t>Samples are prepared from both an </a:t>
            </a:r>
            <a:r>
              <a:rPr lang="en-US" sz="1400">
                <a:solidFill>
                  <a:srgbClr val="FF0000"/>
                </a:solidFill>
              </a:rPr>
              <a:t>experimental sample</a:t>
            </a:r>
            <a:r>
              <a:rPr lang="en-US" sz="1400"/>
              <a:t>, (e.g., malignant tumor) and a </a:t>
            </a:r>
            <a:r>
              <a:rPr lang="en-US" sz="1400">
                <a:solidFill>
                  <a:srgbClr val="33CC33"/>
                </a:solidFill>
              </a:rPr>
              <a:t>control sample</a:t>
            </a:r>
            <a:r>
              <a:rPr lang="en-US" sz="1400"/>
              <a:t>, (e.g., normal tissue) and are then overlaid on the array and allowed to hybridize to </a:t>
            </a:r>
          </a:p>
          <a:p>
            <a:r>
              <a:rPr lang="en-US" sz="1400"/>
              <a:t>each spotted probe:</a:t>
            </a:r>
            <a:endParaRPr lang="en-US" sz="1400" b="1"/>
          </a:p>
        </p:txBody>
      </p:sp>
      <p:grpSp>
        <p:nvGrpSpPr>
          <p:cNvPr id="69639" name="Group 7"/>
          <p:cNvGrpSpPr>
            <a:grpSpLocks/>
          </p:cNvGrpSpPr>
          <p:nvPr/>
        </p:nvGrpSpPr>
        <p:grpSpPr bwMode="auto">
          <a:xfrm>
            <a:off x="693738" y="2493963"/>
            <a:ext cx="4800600" cy="2252662"/>
            <a:chOff x="384" y="1872"/>
            <a:chExt cx="4032" cy="2028"/>
          </a:xfrm>
        </p:grpSpPr>
        <p:sp>
          <p:nvSpPr>
            <p:cNvPr id="69640" name="Arc 8"/>
            <p:cNvSpPr>
              <a:spLocks/>
            </p:cNvSpPr>
            <p:nvPr/>
          </p:nvSpPr>
          <p:spPr bwMode="auto">
            <a:xfrm>
              <a:off x="912" y="2281"/>
              <a:ext cx="476" cy="48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1" name="Arc 9"/>
            <p:cNvSpPr>
              <a:spLocks/>
            </p:cNvSpPr>
            <p:nvPr/>
          </p:nvSpPr>
          <p:spPr bwMode="auto">
            <a:xfrm>
              <a:off x="991" y="2694"/>
              <a:ext cx="476" cy="48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2" name="Arc 10"/>
            <p:cNvSpPr>
              <a:spLocks/>
            </p:cNvSpPr>
            <p:nvPr/>
          </p:nvSpPr>
          <p:spPr bwMode="auto">
            <a:xfrm>
              <a:off x="1070" y="3158"/>
              <a:ext cx="477" cy="48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3" name="Arc 11"/>
            <p:cNvSpPr>
              <a:spLocks/>
            </p:cNvSpPr>
            <p:nvPr/>
          </p:nvSpPr>
          <p:spPr bwMode="auto">
            <a:xfrm>
              <a:off x="384" y="2290"/>
              <a:ext cx="476" cy="4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4" name="Arc 12"/>
            <p:cNvSpPr>
              <a:spLocks/>
            </p:cNvSpPr>
            <p:nvPr/>
          </p:nvSpPr>
          <p:spPr bwMode="auto">
            <a:xfrm>
              <a:off x="463" y="2702"/>
              <a:ext cx="476" cy="48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5" name="Arc 13"/>
            <p:cNvSpPr>
              <a:spLocks/>
            </p:cNvSpPr>
            <p:nvPr/>
          </p:nvSpPr>
          <p:spPr bwMode="auto">
            <a:xfrm>
              <a:off x="543" y="3115"/>
              <a:ext cx="476" cy="48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6" name="AutoShape 14"/>
            <p:cNvSpPr>
              <a:spLocks noChangeArrowheads="1"/>
            </p:cNvSpPr>
            <p:nvPr/>
          </p:nvSpPr>
          <p:spPr bwMode="auto">
            <a:xfrm>
              <a:off x="1584" y="2778"/>
              <a:ext cx="310" cy="280"/>
            </a:xfrm>
            <a:prstGeom prst="rightArrow">
              <a:avLst>
                <a:gd name="adj1" fmla="val 50000"/>
                <a:gd name="adj2" fmla="val 2767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9647" name="Group 15"/>
            <p:cNvGrpSpPr>
              <a:grpSpLocks/>
            </p:cNvGrpSpPr>
            <p:nvPr/>
          </p:nvGrpSpPr>
          <p:grpSpPr bwMode="auto">
            <a:xfrm>
              <a:off x="1883" y="1872"/>
              <a:ext cx="816" cy="2028"/>
              <a:chOff x="2256" y="1920"/>
              <a:chExt cx="336" cy="2028"/>
            </a:xfrm>
          </p:grpSpPr>
          <p:graphicFrame>
            <p:nvGraphicFramePr>
              <p:cNvPr id="69648" name="Object 16"/>
              <p:cNvGraphicFramePr>
                <a:graphicFrameLocks noChangeAspect="1"/>
              </p:cNvGraphicFramePr>
              <p:nvPr/>
            </p:nvGraphicFramePr>
            <p:xfrm>
              <a:off x="2256" y="1920"/>
              <a:ext cx="336" cy="20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3" imgW="7725853" imgH="4629796" progId="Paint.Picture">
                      <p:embed/>
                    </p:oleObj>
                  </mc:Choice>
                  <mc:Fallback>
                    <p:oleObj name="Bitmap Image" r:id="rId3" imgW="7725853" imgH="4629796" progId="Paint.Picture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r="84727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6" y="1920"/>
                            <a:ext cx="336" cy="20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649" name="Line 17"/>
              <p:cNvSpPr>
                <a:spLocks noChangeShapeType="1"/>
              </p:cNvSpPr>
              <p:nvPr/>
            </p:nvSpPr>
            <p:spPr bwMode="auto">
              <a:xfrm>
                <a:off x="2592" y="2112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9650" name="Line 18"/>
            <p:cNvSpPr>
              <a:spLocks noChangeShapeType="1"/>
            </p:cNvSpPr>
            <p:nvPr/>
          </p:nvSpPr>
          <p:spPr bwMode="auto">
            <a:xfrm flipV="1">
              <a:off x="2603" y="2220"/>
              <a:ext cx="518" cy="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1" name="Oval 19"/>
            <p:cNvSpPr>
              <a:spLocks noChangeArrowheads="1"/>
            </p:cNvSpPr>
            <p:nvPr/>
          </p:nvSpPr>
          <p:spPr bwMode="auto">
            <a:xfrm>
              <a:off x="3158" y="1984"/>
              <a:ext cx="1258" cy="40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2" name="Line 20"/>
            <p:cNvSpPr>
              <a:spLocks noChangeShapeType="1"/>
            </p:cNvSpPr>
            <p:nvPr/>
          </p:nvSpPr>
          <p:spPr bwMode="auto">
            <a:xfrm flipV="1">
              <a:off x="2603" y="2590"/>
              <a:ext cx="518" cy="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3" name="Oval 21"/>
            <p:cNvSpPr>
              <a:spLocks noChangeArrowheads="1"/>
            </p:cNvSpPr>
            <p:nvPr/>
          </p:nvSpPr>
          <p:spPr bwMode="auto">
            <a:xfrm>
              <a:off x="3158" y="2422"/>
              <a:ext cx="1258" cy="40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4" name="Line 22"/>
            <p:cNvSpPr>
              <a:spLocks noChangeShapeType="1"/>
            </p:cNvSpPr>
            <p:nvPr/>
          </p:nvSpPr>
          <p:spPr bwMode="auto">
            <a:xfrm>
              <a:off x="2603" y="3489"/>
              <a:ext cx="518" cy="1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5" name="Oval 23"/>
            <p:cNvSpPr>
              <a:spLocks noChangeArrowheads="1"/>
            </p:cNvSpPr>
            <p:nvPr/>
          </p:nvSpPr>
          <p:spPr bwMode="auto">
            <a:xfrm>
              <a:off x="3158" y="3388"/>
              <a:ext cx="1258" cy="40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6" name="Arc 24"/>
            <p:cNvSpPr>
              <a:spLocks/>
            </p:cNvSpPr>
            <p:nvPr/>
          </p:nvSpPr>
          <p:spPr bwMode="auto">
            <a:xfrm rot="7426810">
              <a:off x="3326" y="2088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7" name="Arc 25"/>
            <p:cNvSpPr>
              <a:spLocks/>
            </p:cNvSpPr>
            <p:nvPr/>
          </p:nvSpPr>
          <p:spPr bwMode="auto">
            <a:xfrm rot="7426810">
              <a:off x="3348" y="2013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8" name="Arc 26"/>
            <p:cNvSpPr>
              <a:spLocks/>
            </p:cNvSpPr>
            <p:nvPr/>
          </p:nvSpPr>
          <p:spPr bwMode="auto">
            <a:xfrm rot="7426810">
              <a:off x="3369" y="1938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9" name="Arc 27"/>
            <p:cNvSpPr>
              <a:spLocks/>
            </p:cNvSpPr>
            <p:nvPr/>
          </p:nvSpPr>
          <p:spPr bwMode="auto">
            <a:xfrm rot="7426810">
              <a:off x="3618" y="2129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0" name="Arc 28"/>
            <p:cNvSpPr>
              <a:spLocks/>
            </p:cNvSpPr>
            <p:nvPr/>
          </p:nvSpPr>
          <p:spPr bwMode="auto">
            <a:xfrm rot="7426810">
              <a:off x="3639" y="2054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1" name="Arc 29"/>
            <p:cNvSpPr>
              <a:spLocks/>
            </p:cNvSpPr>
            <p:nvPr/>
          </p:nvSpPr>
          <p:spPr bwMode="auto">
            <a:xfrm rot="7426810">
              <a:off x="3661" y="1979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2" name="Arc 30"/>
            <p:cNvSpPr>
              <a:spLocks/>
            </p:cNvSpPr>
            <p:nvPr/>
          </p:nvSpPr>
          <p:spPr bwMode="auto">
            <a:xfrm rot="7426810">
              <a:off x="3939" y="2096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3" name="Arc 31"/>
            <p:cNvSpPr>
              <a:spLocks/>
            </p:cNvSpPr>
            <p:nvPr/>
          </p:nvSpPr>
          <p:spPr bwMode="auto">
            <a:xfrm rot="7426810">
              <a:off x="3961" y="2021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4" name="Arc 32"/>
            <p:cNvSpPr>
              <a:spLocks/>
            </p:cNvSpPr>
            <p:nvPr/>
          </p:nvSpPr>
          <p:spPr bwMode="auto">
            <a:xfrm rot="7426810">
              <a:off x="3983" y="194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5" name="Arc 33"/>
            <p:cNvSpPr>
              <a:spLocks/>
            </p:cNvSpPr>
            <p:nvPr/>
          </p:nvSpPr>
          <p:spPr bwMode="auto">
            <a:xfrm rot="7426810">
              <a:off x="3348" y="2514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6" name="Arc 34"/>
            <p:cNvSpPr>
              <a:spLocks/>
            </p:cNvSpPr>
            <p:nvPr/>
          </p:nvSpPr>
          <p:spPr bwMode="auto">
            <a:xfrm rot="7426810">
              <a:off x="3370" y="2439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7" name="Arc 35"/>
            <p:cNvSpPr>
              <a:spLocks/>
            </p:cNvSpPr>
            <p:nvPr/>
          </p:nvSpPr>
          <p:spPr bwMode="auto">
            <a:xfrm rot="7426810">
              <a:off x="3390" y="2364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8" name="Arc 36"/>
            <p:cNvSpPr>
              <a:spLocks/>
            </p:cNvSpPr>
            <p:nvPr/>
          </p:nvSpPr>
          <p:spPr bwMode="auto">
            <a:xfrm rot="7426810">
              <a:off x="3639" y="255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69" name="Arc 37"/>
            <p:cNvSpPr>
              <a:spLocks/>
            </p:cNvSpPr>
            <p:nvPr/>
          </p:nvSpPr>
          <p:spPr bwMode="auto">
            <a:xfrm rot="7426810">
              <a:off x="3661" y="2480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0" name="Arc 38"/>
            <p:cNvSpPr>
              <a:spLocks/>
            </p:cNvSpPr>
            <p:nvPr/>
          </p:nvSpPr>
          <p:spPr bwMode="auto">
            <a:xfrm rot="7426810">
              <a:off x="3683" y="240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1" name="Arc 39"/>
            <p:cNvSpPr>
              <a:spLocks/>
            </p:cNvSpPr>
            <p:nvPr/>
          </p:nvSpPr>
          <p:spPr bwMode="auto">
            <a:xfrm rot="7426810">
              <a:off x="3961" y="2522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2" name="Arc 40"/>
            <p:cNvSpPr>
              <a:spLocks/>
            </p:cNvSpPr>
            <p:nvPr/>
          </p:nvSpPr>
          <p:spPr bwMode="auto">
            <a:xfrm rot="7426810">
              <a:off x="3982" y="2447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3" name="Arc 41"/>
            <p:cNvSpPr>
              <a:spLocks/>
            </p:cNvSpPr>
            <p:nvPr/>
          </p:nvSpPr>
          <p:spPr bwMode="auto">
            <a:xfrm rot="7426810">
              <a:off x="4005" y="2371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4" name="Arc 42"/>
            <p:cNvSpPr>
              <a:spLocks/>
            </p:cNvSpPr>
            <p:nvPr/>
          </p:nvSpPr>
          <p:spPr bwMode="auto">
            <a:xfrm rot="7426810">
              <a:off x="3370" y="3480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5" name="Arc 43"/>
            <p:cNvSpPr>
              <a:spLocks/>
            </p:cNvSpPr>
            <p:nvPr/>
          </p:nvSpPr>
          <p:spPr bwMode="auto">
            <a:xfrm rot="7426810">
              <a:off x="3391" y="340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6" name="Arc 44"/>
            <p:cNvSpPr>
              <a:spLocks/>
            </p:cNvSpPr>
            <p:nvPr/>
          </p:nvSpPr>
          <p:spPr bwMode="auto">
            <a:xfrm rot="7426810">
              <a:off x="3412" y="3330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7" name="Arc 45"/>
            <p:cNvSpPr>
              <a:spLocks/>
            </p:cNvSpPr>
            <p:nvPr/>
          </p:nvSpPr>
          <p:spPr bwMode="auto">
            <a:xfrm rot="7426810">
              <a:off x="3661" y="3521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8" name="Arc 46"/>
            <p:cNvSpPr>
              <a:spLocks/>
            </p:cNvSpPr>
            <p:nvPr/>
          </p:nvSpPr>
          <p:spPr bwMode="auto">
            <a:xfrm rot="7426810">
              <a:off x="3683" y="3446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79" name="Arc 47"/>
            <p:cNvSpPr>
              <a:spLocks/>
            </p:cNvSpPr>
            <p:nvPr/>
          </p:nvSpPr>
          <p:spPr bwMode="auto">
            <a:xfrm rot="7426810">
              <a:off x="3704" y="3371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0" name="Arc 48"/>
            <p:cNvSpPr>
              <a:spLocks/>
            </p:cNvSpPr>
            <p:nvPr/>
          </p:nvSpPr>
          <p:spPr bwMode="auto">
            <a:xfrm rot="7426810">
              <a:off x="3982" y="3488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1" name="Arc 49"/>
            <p:cNvSpPr>
              <a:spLocks/>
            </p:cNvSpPr>
            <p:nvPr/>
          </p:nvSpPr>
          <p:spPr bwMode="auto">
            <a:xfrm rot="7426810">
              <a:off x="4004" y="3413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2" name="Arc 50"/>
            <p:cNvSpPr>
              <a:spLocks/>
            </p:cNvSpPr>
            <p:nvPr/>
          </p:nvSpPr>
          <p:spPr bwMode="auto">
            <a:xfrm rot="7426810">
              <a:off x="4026" y="3337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3" name="Arc 51"/>
            <p:cNvSpPr>
              <a:spLocks/>
            </p:cNvSpPr>
            <p:nvPr/>
          </p:nvSpPr>
          <p:spPr bwMode="auto">
            <a:xfrm rot="7426810">
              <a:off x="3385" y="191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4" name="Arc 52"/>
            <p:cNvSpPr>
              <a:spLocks/>
            </p:cNvSpPr>
            <p:nvPr/>
          </p:nvSpPr>
          <p:spPr bwMode="auto">
            <a:xfrm rot="7426810">
              <a:off x="3328" y="2080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5" name="Arc 53"/>
            <p:cNvSpPr>
              <a:spLocks/>
            </p:cNvSpPr>
            <p:nvPr/>
          </p:nvSpPr>
          <p:spPr bwMode="auto">
            <a:xfrm rot="7426810">
              <a:off x="3661" y="2050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6" name="Arc 54"/>
            <p:cNvSpPr>
              <a:spLocks/>
            </p:cNvSpPr>
            <p:nvPr/>
          </p:nvSpPr>
          <p:spPr bwMode="auto">
            <a:xfrm rot="7426810">
              <a:off x="3994" y="191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7" name="Arc 55"/>
            <p:cNvSpPr>
              <a:spLocks/>
            </p:cNvSpPr>
            <p:nvPr/>
          </p:nvSpPr>
          <p:spPr bwMode="auto">
            <a:xfrm rot="7426810">
              <a:off x="3977" y="2013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8" name="Arc 56"/>
            <p:cNvSpPr>
              <a:spLocks/>
            </p:cNvSpPr>
            <p:nvPr/>
          </p:nvSpPr>
          <p:spPr bwMode="auto">
            <a:xfrm rot="7426810">
              <a:off x="3994" y="2417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9" name="Arc 57"/>
            <p:cNvSpPr>
              <a:spLocks/>
            </p:cNvSpPr>
            <p:nvPr/>
          </p:nvSpPr>
          <p:spPr bwMode="auto">
            <a:xfrm rot="7426810">
              <a:off x="3643" y="2451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0" name="Arc 58"/>
            <p:cNvSpPr>
              <a:spLocks/>
            </p:cNvSpPr>
            <p:nvPr/>
          </p:nvSpPr>
          <p:spPr bwMode="auto">
            <a:xfrm rot="7426810">
              <a:off x="3328" y="2488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1" name="Arc 59"/>
            <p:cNvSpPr>
              <a:spLocks/>
            </p:cNvSpPr>
            <p:nvPr/>
          </p:nvSpPr>
          <p:spPr bwMode="auto">
            <a:xfrm rot="7426810">
              <a:off x="3957" y="2488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2" name="Arc 60"/>
            <p:cNvSpPr>
              <a:spLocks/>
            </p:cNvSpPr>
            <p:nvPr/>
          </p:nvSpPr>
          <p:spPr bwMode="auto">
            <a:xfrm rot="7426810">
              <a:off x="3385" y="3450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3" name="Arc 61"/>
            <p:cNvSpPr>
              <a:spLocks/>
            </p:cNvSpPr>
            <p:nvPr/>
          </p:nvSpPr>
          <p:spPr bwMode="auto">
            <a:xfrm rot="7426810">
              <a:off x="4030" y="3387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4" name="Arc 62"/>
            <p:cNvSpPr>
              <a:spLocks/>
            </p:cNvSpPr>
            <p:nvPr/>
          </p:nvSpPr>
          <p:spPr bwMode="auto">
            <a:xfrm rot="7426810">
              <a:off x="3718" y="3353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5" name="Arc 63"/>
            <p:cNvSpPr>
              <a:spLocks/>
            </p:cNvSpPr>
            <p:nvPr/>
          </p:nvSpPr>
          <p:spPr bwMode="auto">
            <a:xfrm rot="7426810">
              <a:off x="3660" y="3488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6" name="Line 64"/>
            <p:cNvSpPr>
              <a:spLocks noChangeShapeType="1"/>
            </p:cNvSpPr>
            <p:nvPr/>
          </p:nvSpPr>
          <p:spPr bwMode="auto">
            <a:xfrm>
              <a:off x="2592" y="3009"/>
              <a:ext cx="518" cy="1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7" name="Oval 65"/>
            <p:cNvSpPr>
              <a:spLocks noChangeArrowheads="1"/>
            </p:cNvSpPr>
            <p:nvPr/>
          </p:nvSpPr>
          <p:spPr bwMode="auto">
            <a:xfrm>
              <a:off x="3147" y="2908"/>
              <a:ext cx="1258" cy="40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8" name="Arc 66"/>
            <p:cNvSpPr>
              <a:spLocks/>
            </p:cNvSpPr>
            <p:nvPr/>
          </p:nvSpPr>
          <p:spPr bwMode="auto">
            <a:xfrm rot="7426810">
              <a:off x="3359" y="3000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9" name="Arc 67"/>
            <p:cNvSpPr>
              <a:spLocks/>
            </p:cNvSpPr>
            <p:nvPr/>
          </p:nvSpPr>
          <p:spPr bwMode="auto">
            <a:xfrm rot="7426810">
              <a:off x="3380" y="2925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0" name="Arc 68"/>
            <p:cNvSpPr>
              <a:spLocks/>
            </p:cNvSpPr>
            <p:nvPr/>
          </p:nvSpPr>
          <p:spPr bwMode="auto">
            <a:xfrm rot="7426810">
              <a:off x="3401" y="2850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1" name="Arc 69"/>
            <p:cNvSpPr>
              <a:spLocks/>
            </p:cNvSpPr>
            <p:nvPr/>
          </p:nvSpPr>
          <p:spPr bwMode="auto">
            <a:xfrm rot="7426810">
              <a:off x="3650" y="3041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2" name="Arc 70"/>
            <p:cNvSpPr>
              <a:spLocks/>
            </p:cNvSpPr>
            <p:nvPr/>
          </p:nvSpPr>
          <p:spPr bwMode="auto">
            <a:xfrm rot="7426810">
              <a:off x="3672" y="2966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3" name="Arc 71"/>
            <p:cNvSpPr>
              <a:spLocks/>
            </p:cNvSpPr>
            <p:nvPr/>
          </p:nvSpPr>
          <p:spPr bwMode="auto">
            <a:xfrm rot="7426810">
              <a:off x="3693" y="2891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4" name="Arc 72"/>
            <p:cNvSpPr>
              <a:spLocks/>
            </p:cNvSpPr>
            <p:nvPr/>
          </p:nvSpPr>
          <p:spPr bwMode="auto">
            <a:xfrm rot="7426810">
              <a:off x="3971" y="3008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5" name="Arc 73"/>
            <p:cNvSpPr>
              <a:spLocks/>
            </p:cNvSpPr>
            <p:nvPr/>
          </p:nvSpPr>
          <p:spPr bwMode="auto">
            <a:xfrm rot="7426810">
              <a:off x="3993" y="2933"/>
              <a:ext cx="233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6" name="Arc 74"/>
            <p:cNvSpPr>
              <a:spLocks/>
            </p:cNvSpPr>
            <p:nvPr/>
          </p:nvSpPr>
          <p:spPr bwMode="auto">
            <a:xfrm rot="7426810">
              <a:off x="4015" y="2857"/>
              <a:ext cx="232" cy="242"/>
            </a:xfrm>
            <a:custGeom>
              <a:avLst/>
              <a:gdLst>
                <a:gd name="G0" fmla="+- 0 0 0"/>
                <a:gd name="G1" fmla="+- 19906 0 0"/>
                <a:gd name="G2" fmla="+- 21600 0 0"/>
                <a:gd name="T0" fmla="*/ 8386 w 21600"/>
                <a:gd name="T1" fmla="*/ 0 h 19906"/>
                <a:gd name="T2" fmla="*/ 21600 w 21600"/>
                <a:gd name="T3" fmla="*/ 19906 h 19906"/>
                <a:gd name="T4" fmla="*/ 0 w 21600"/>
                <a:gd name="T5" fmla="*/ 19906 h 19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06" fill="none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</a:path>
                <a:path w="21600" h="19906" stroke="0" extrusionOk="0">
                  <a:moveTo>
                    <a:pt x="8385" y="0"/>
                  </a:moveTo>
                  <a:cubicBezTo>
                    <a:pt x="16393" y="3373"/>
                    <a:pt x="21600" y="11216"/>
                    <a:pt x="21600" y="19906"/>
                  </a:cubicBezTo>
                  <a:lnTo>
                    <a:pt x="0" y="1990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cDNA array technology (cont.)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693738" y="1120775"/>
            <a:ext cx="5119687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/>
            <a:r>
              <a:rPr lang="en-US" b="1"/>
              <a:t>Following hybridization, the array is scanned and the </a:t>
            </a:r>
          </a:p>
          <a:p>
            <a:pPr defTabSz="639763"/>
            <a:r>
              <a:rPr lang="en-US" b="1"/>
              <a:t>resulting gene expression information for each spotted </a:t>
            </a:r>
          </a:p>
          <a:p>
            <a:pPr defTabSz="639763"/>
            <a:r>
              <a:rPr lang="en-US" b="1"/>
              <a:t>probe on the array is reported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587375" y="4000500"/>
            <a:ext cx="5386388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/>
            <a:r>
              <a:rPr lang="en-US" b="1"/>
              <a:t>A green intensity = control Only expressed gene</a:t>
            </a:r>
          </a:p>
          <a:p>
            <a:pPr defTabSz="639763"/>
            <a:r>
              <a:rPr lang="en-US" b="1"/>
              <a:t>A red intensity = experiment Only expressed gene</a:t>
            </a:r>
          </a:p>
          <a:p>
            <a:pPr defTabSz="639763"/>
            <a:r>
              <a:rPr lang="en-US" b="1"/>
              <a:t>A mixed color = gene expressed in both control &amp; experiment</a:t>
            </a:r>
          </a:p>
        </p:txBody>
      </p:sp>
      <p:pic>
        <p:nvPicPr>
          <p:cNvPr id="70670" name="Picture 14" descr="agilent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095500"/>
            <a:ext cx="2552700" cy="168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72" name="Picture 16" descr="Axon 4000b Scann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66900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74" name="Picture 18" descr="microarra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324100"/>
            <a:ext cx="1276350" cy="1065213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cDNA array technology (cont.)</a:t>
            </a:r>
          </a:p>
        </p:txBody>
      </p:sp>
      <p:sp>
        <p:nvSpPr>
          <p:cNvPr id="71712" name="Text Box 32"/>
          <p:cNvSpPr txBox="1">
            <a:spLocks noChangeArrowheads="1"/>
          </p:cNvSpPr>
          <p:nvPr/>
        </p:nvSpPr>
        <p:spPr bwMode="auto">
          <a:xfrm>
            <a:off x="160338" y="1109663"/>
            <a:ext cx="6134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b="1"/>
              <a:t>The gene expression information that is actually </a:t>
            </a:r>
          </a:p>
          <a:p>
            <a:r>
              <a:rPr lang="en-US" sz="1400" b="1"/>
              <a:t>reported are ratios of the amount of </a:t>
            </a:r>
            <a:r>
              <a:rPr lang="en-US" sz="1400" b="1">
                <a:solidFill>
                  <a:srgbClr val="FF0000"/>
                </a:solidFill>
              </a:rPr>
              <a:t>experiment sample</a:t>
            </a:r>
            <a:r>
              <a:rPr lang="en-US" sz="1400" b="1"/>
              <a:t> to</a:t>
            </a:r>
          </a:p>
          <a:p>
            <a:r>
              <a:rPr lang="en-US" sz="1400" b="1">
                <a:solidFill>
                  <a:srgbClr val="33CC33"/>
                </a:solidFill>
              </a:rPr>
              <a:t>control sample</a:t>
            </a:r>
            <a:r>
              <a:rPr lang="en-US" sz="1400" b="1"/>
              <a:t> that has hybridized to each spotted probe </a:t>
            </a:r>
          </a:p>
          <a:p>
            <a:r>
              <a:rPr lang="en-US" sz="1400" b="1"/>
              <a:t>on the array</a:t>
            </a:r>
          </a:p>
        </p:txBody>
      </p:sp>
      <p:sp>
        <p:nvSpPr>
          <p:cNvPr id="71713" name="Rectangle 33"/>
          <p:cNvSpPr>
            <a:spLocks noChangeArrowheads="1"/>
          </p:cNvSpPr>
          <p:nvPr/>
        </p:nvSpPr>
        <p:spPr bwMode="auto">
          <a:xfrm>
            <a:off x="1066800" y="2185988"/>
            <a:ext cx="27876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algn="ctr" defTabSz="639763"/>
            <a:r>
              <a:rPr lang="en-US" sz="1000" b="1">
                <a:solidFill>
                  <a:srgbClr val="FF0000"/>
                </a:solidFill>
              </a:rPr>
              <a:t>Amount of experiment sample hybridized</a:t>
            </a:r>
          </a:p>
          <a:p>
            <a:pPr algn="ctr" defTabSz="639763"/>
            <a:endParaRPr lang="en-US" sz="1000" b="1">
              <a:solidFill>
                <a:srgbClr val="FF0000"/>
              </a:solidFill>
            </a:endParaRPr>
          </a:p>
          <a:p>
            <a:pPr algn="ctr" defTabSz="639763"/>
            <a:r>
              <a:rPr lang="en-US" sz="1000" b="1">
                <a:solidFill>
                  <a:srgbClr val="33CC33"/>
                </a:solidFill>
              </a:rPr>
              <a:t>Amount of control sample hybridized</a:t>
            </a:r>
          </a:p>
        </p:txBody>
      </p:sp>
      <p:sp>
        <p:nvSpPr>
          <p:cNvPr id="71714" name="Line 34"/>
          <p:cNvSpPr>
            <a:spLocks noChangeShapeType="1"/>
          </p:cNvSpPr>
          <p:nvPr/>
        </p:nvSpPr>
        <p:spPr bwMode="auto">
          <a:xfrm>
            <a:off x="1211263" y="2454275"/>
            <a:ext cx="25765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5" name="Text Box 35"/>
          <p:cNvSpPr txBox="1">
            <a:spLocks noChangeArrowheads="1"/>
          </p:cNvSpPr>
          <p:nvPr/>
        </p:nvSpPr>
        <p:spPr bwMode="auto">
          <a:xfrm>
            <a:off x="3963988" y="2311400"/>
            <a:ext cx="2366962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/>
              <a:t>=   Probe 1 Expression Ratio</a:t>
            </a:r>
          </a:p>
        </p:txBody>
      </p:sp>
      <p:sp>
        <p:nvSpPr>
          <p:cNvPr id="71716" name="AutoShape 36"/>
          <p:cNvSpPr>
            <a:spLocks/>
          </p:cNvSpPr>
          <p:nvPr/>
        </p:nvSpPr>
        <p:spPr bwMode="auto">
          <a:xfrm>
            <a:off x="1066800" y="2133600"/>
            <a:ext cx="127000" cy="587375"/>
          </a:xfrm>
          <a:prstGeom prst="leftBracket">
            <a:avLst>
              <a:gd name="adj" fmla="val 38542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7" name="AutoShape 37"/>
          <p:cNvSpPr>
            <a:spLocks/>
          </p:cNvSpPr>
          <p:nvPr/>
        </p:nvSpPr>
        <p:spPr bwMode="auto">
          <a:xfrm flipH="1">
            <a:off x="3787775" y="2133600"/>
            <a:ext cx="125413" cy="587375"/>
          </a:xfrm>
          <a:prstGeom prst="leftBracket">
            <a:avLst>
              <a:gd name="adj" fmla="val 390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8" name="Text Box 38"/>
          <p:cNvSpPr txBox="1">
            <a:spLocks noChangeArrowheads="1"/>
          </p:cNvSpPr>
          <p:nvPr/>
        </p:nvSpPr>
        <p:spPr bwMode="auto">
          <a:xfrm>
            <a:off x="361950" y="2319338"/>
            <a:ext cx="733425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/>
              <a:t>Probe 1</a:t>
            </a:r>
          </a:p>
        </p:txBody>
      </p:sp>
      <p:sp>
        <p:nvSpPr>
          <p:cNvPr id="71719" name="Rectangle 39"/>
          <p:cNvSpPr>
            <a:spLocks noChangeArrowheads="1"/>
          </p:cNvSpPr>
          <p:nvPr/>
        </p:nvSpPr>
        <p:spPr bwMode="auto">
          <a:xfrm>
            <a:off x="1077913" y="2932113"/>
            <a:ext cx="27876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algn="ctr" defTabSz="639763"/>
            <a:r>
              <a:rPr lang="en-US" sz="1000" b="1">
                <a:solidFill>
                  <a:srgbClr val="FF0000"/>
                </a:solidFill>
              </a:rPr>
              <a:t>Amount of experiment sample hybridized</a:t>
            </a:r>
          </a:p>
          <a:p>
            <a:pPr algn="ctr" defTabSz="639763"/>
            <a:endParaRPr lang="en-US" sz="1000" b="1">
              <a:solidFill>
                <a:srgbClr val="FF0000"/>
              </a:solidFill>
            </a:endParaRPr>
          </a:p>
          <a:p>
            <a:pPr algn="ctr" defTabSz="639763"/>
            <a:r>
              <a:rPr lang="en-US" sz="1000" b="1">
                <a:solidFill>
                  <a:srgbClr val="33CC33"/>
                </a:solidFill>
              </a:rPr>
              <a:t>Amount of control sample hybridized</a:t>
            </a:r>
          </a:p>
        </p:txBody>
      </p:sp>
      <p:sp>
        <p:nvSpPr>
          <p:cNvPr id="71720" name="Line 40"/>
          <p:cNvSpPr>
            <a:spLocks noChangeShapeType="1"/>
          </p:cNvSpPr>
          <p:nvPr/>
        </p:nvSpPr>
        <p:spPr bwMode="auto">
          <a:xfrm>
            <a:off x="1222375" y="3200400"/>
            <a:ext cx="2576513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1" name="Text Box 41"/>
          <p:cNvSpPr txBox="1">
            <a:spLocks noChangeArrowheads="1"/>
          </p:cNvSpPr>
          <p:nvPr/>
        </p:nvSpPr>
        <p:spPr bwMode="auto">
          <a:xfrm>
            <a:off x="3975100" y="3057525"/>
            <a:ext cx="236696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/>
              <a:t>=   Probe 2 Expression Ratio</a:t>
            </a:r>
          </a:p>
        </p:txBody>
      </p:sp>
      <p:sp>
        <p:nvSpPr>
          <p:cNvPr id="71722" name="AutoShape 42"/>
          <p:cNvSpPr>
            <a:spLocks/>
          </p:cNvSpPr>
          <p:nvPr/>
        </p:nvSpPr>
        <p:spPr bwMode="auto">
          <a:xfrm>
            <a:off x="1077913" y="2879725"/>
            <a:ext cx="127000" cy="587375"/>
          </a:xfrm>
          <a:prstGeom prst="leftBracket">
            <a:avLst>
              <a:gd name="adj" fmla="val 38542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23" name="AutoShape 43"/>
          <p:cNvSpPr>
            <a:spLocks/>
          </p:cNvSpPr>
          <p:nvPr/>
        </p:nvSpPr>
        <p:spPr bwMode="auto">
          <a:xfrm flipH="1">
            <a:off x="3798888" y="2879725"/>
            <a:ext cx="125412" cy="587375"/>
          </a:xfrm>
          <a:prstGeom prst="leftBracket">
            <a:avLst>
              <a:gd name="adj" fmla="val 3903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24" name="Text Box 44"/>
          <p:cNvSpPr txBox="1">
            <a:spLocks noChangeArrowheads="1"/>
          </p:cNvSpPr>
          <p:nvPr/>
        </p:nvSpPr>
        <p:spPr bwMode="auto">
          <a:xfrm>
            <a:off x="373063" y="3065463"/>
            <a:ext cx="733425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/>
              <a:t>Probe 2</a:t>
            </a:r>
          </a:p>
        </p:txBody>
      </p:sp>
      <p:sp>
        <p:nvSpPr>
          <p:cNvPr id="71725" name="Rectangle 45"/>
          <p:cNvSpPr>
            <a:spLocks noChangeArrowheads="1"/>
          </p:cNvSpPr>
          <p:nvPr/>
        </p:nvSpPr>
        <p:spPr bwMode="auto">
          <a:xfrm>
            <a:off x="1089025" y="4159250"/>
            <a:ext cx="27876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algn="ctr" defTabSz="639763"/>
            <a:r>
              <a:rPr lang="en-US" sz="1000" b="1">
                <a:solidFill>
                  <a:srgbClr val="FF0000"/>
                </a:solidFill>
              </a:rPr>
              <a:t>Amount of experiment sample hybridized</a:t>
            </a:r>
          </a:p>
          <a:p>
            <a:pPr algn="ctr" defTabSz="639763"/>
            <a:endParaRPr lang="en-US" sz="1000" b="1">
              <a:solidFill>
                <a:srgbClr val="FF0000"/>
              </a:solidFill>
            </a:endParaRPr>
          </a:p>
          <a:p>
            <a:pPr algn="ctr" defTabSz="639763"/>
            <a:r>
              <a:rPr lang="en-US" sz="1000" b="1">
                <a:solidFill>
                  <a:srgbClr val="33CC33"/>
                </a:solidFill>
              </a:rPr>
              <a:t>Amount of control sample hybridized</a:t>
            </a:r>
          </a:p>
        </p:txBody>
      </p:sp>
      <p:sp>
        <p:nvSpPr>
          <p:cNvPr id="71726" name="Line 46"/>
          <p:cNvSpPr>
            <a:spLocks noChangeShapeType="1"/>
          </p:cNvSpPr>
          <p:nvPr/>
        </p:nvSpPr>
        <p:spPr bwMode="auto">
          <a:xfrm>
            <a:off x="1233488" y="4427538"/>
            <a:ext cx="25765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7" name="Text Box 47"/>
          <p:cNvSpPr txBox="1">
            <a:spLocks noChangeArrowheads="1"/>
          </p:cNvSpPr>
          <p:nvPr/>
        </p:nvSpPr>
        <p:spPr bwMode="auto">
          <a:xfrm>
            <a:off x="3981450" y="4284663"/>
            <a:ext cx="2376488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/>
              <a:t>=   Probe n Expression Ratio</a:t>
            </a:r>
          </a:p>
        </p:txBody>
      </p:sp>
      <p:sp>
        <p:nvSpPr>
          <p:cNvPr id="71728" name="AutoShape 48"/>
          <p:cNvSpPr>
            <a:spLocks/>
          </p:cNvSpPr>
          <p:nvPr/>
        </p:nvSpPr>
        <p:spPr bwMode="auto">
          <a:xfrm>
            <a:off x="1089025" y="4106863"/>
            <a:ext cx="127000" cy="587375"/>
          </a:xfrm>
          <a:prstGeom prst="leftBracket">
            <a:avLst>
              <a:gd name="adj" fmla="val 38542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29" name="AutoShape 49"/>
          <p:cNvSpPr>
            <a:spLocks/>
          </p:cNvSpPr>
          <p:nvPr/>
        </p:nvSpPr>
        <p:spPr bwMode="auto">
          <a:xfrm flipH="1">
            <a:off x="3810000" y="4106863"/>
            <a:ext cx="125413" cy="587375"/>
          </a:xfrm>
          <a:prstGeom prst="leftBracket">
            <a:avLst>
              <a:gd name="adj" fmla="val 390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0" name="Text Box 50"/>
          <p:cNvSpPr txBox="1">
            <a:spLocks noChangeArrowheads="1"/>
          </p:cNvSpPr>
          <p:nvPr/>
        </p:nvSpPr>
        <p:spPr bwMode="auto">
          <a:xfrm>
            <a:off x="384175" y="4292600"/>
            <a:ext cx="7429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defTabSz="639763">
              <a:defRPr>
                <a:solidFill>
                  <a:schemeClr val="tx1"/>
                </a:solidFill>
                <a:latin typeface="Arial" charset="0"/>
              </a:defRPr>
            </a:lvl1pPr>
            <a:lvl2pPr marL="320675" defTabSz="639763">
              <a:defRPr>
                <a:solidFill>
                  <a:schemeClr val="tx1"/>
                </a:solidFill>
                <a:latin typeface="Arial" charset="0"/>
              </a:defRPr>
            </a:lvl2pPr>
            <a:lvl3pPr marL="639763" defTabSz="639763">
              <a:defRPr>
                <a:solidFill>
                  <a:schemeClr val="tx1"/>
                </a:solidFill>
                <a:latin typeface="Arial" charset="0"/>
              </a:defRPr>
            </a:lvl3pPr>
            <a:lvl4pPr marL="960438" defTabSz="639763">
              <a:defRPr>
                <a:solidFill>
                  <a:schemeClr val="tx1"/>
                </a:solidFill>
                <a:latin typeface="Arial" charset="0"/>
              </a:defRPr>
            </a:lvl4pPr>
            <a:lvl5pPr marL="1279525" defTabSz="639763">
              <a:defRPr>
                <a:solidFill>
                  <a:schemeClr val="tx1"/>
                </a:solidFill>
                <a:latin typeface="Arial" charset="0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/>
              <a:t>Probe n</a:t>
            </a:r>
          </a:p>
        </p:txBody>
      </p:sp>
      <p:sp>
        <p:nvSpPr>
          <p:cNvPr id="71731" name="Oval 51"/>
          <p:cNvSpPr>
            <a:spLocks noChangeArrowheads="1"/>
          </p:cNvSpPr>
          <p:nvPr/>
        </p:nvSpPr>
        <p:spPr bwMode="auto">
          <a:xfrm>
            <a:off x="2400300" y="3627438"/>
            <a:ext cx="53975" cy="523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2" name="Oval 52"/>
          <p:cNvSpPr>
            <a:spLocks noChangeArrowheads="1"/>
          </p:cNvSpPr>
          <p:nvPr/>
        </p:nvSpPr>
        <p:spPr bwMode="auto">
          <a:xfrm>
            <a:off x="2400300" y="3733800"/>
            <a:ext cx="53975" cy="539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3" name="Oval 53"/>
          <p:cNvSpPr>
            <a:spLocks noChangeArrowheads="1"/>
          </p:cNvSpPr>
          <p:nvPr/>
        </p:nvSpPr>
        <p:spPr bwMode="auto">
          <a:xfrm>
            <a:off x="2400300" y="3840163"/>
            <a:ext cx="53975" cy="539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4" name="Oval 54"/>
          <p:cNvSpPr>
            <a:spLocks noChangeArrowheads="1"/>
          </p:cNvSpPr>
          <p:nvPr/>
        </p:nvSpPr>
        <p:spPr bwMode="auto">
          <a:xfrm>
            <a:off x="693738" y="3627438"/>
            <a:ext cx="52387" cy="523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5" name="Oval 55"/>
          <p:cNvSpPr>
            <a:spLocks noChangeArrowheads="1"/>
          </p:cNvSpPr>
          <p:nvPr/>
        </p:nvSpPr>
        <p:spPr bwMode="auto">
          <a:xfrm>
            <a:off x="693738" y="3733800"/>
            <a:ext cx="52387" cy="539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6" name="Oval 56"/>
          <p:cNvSpPr>
            <a:spLocks noChangeArrowheads="1"/>
          </p:cNvSpPr>
          <p:nvPr/>
        </p:nvSpPr>
        <p:spPr bwMode="auto">
          <a:xfrm>
            <a:off x="693738" y="3840163"/>
            <a:ext cx="52387" cy="539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7" name="Oval 57"/>
          <p:cNvSpPr>
            <a:spLocks noChangeArrowheads="1"/>
          </p:cNvSpPr>
          <p:nvPr/>
        </p:nvSpPr>
        <p:spPr bwMode="auto">
          <a:xfrm>
            <a:off x="5227638" y="3627438"/>
            <a:ext cx="52387" cy="523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8" name="Oval 58"/>
          <p:cNvSpPr>
            <a:spLocks noChangeArrowheads="1"/>
          </p:cNvSpPr>
          <p:nvPr/>
        </p:nvSpPr>
        <p:spPr bwMode="auto">
          <a:xfrm>
            <a:off x="5227638" y="3733800"/>
            <a:ext cx="52387" cy="539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9" name="Oval 59"/>
          <p:cNvSpPr>
            <a:spLocks noChangeArrowheads="1"/>
          </p:cNvSpPr>
          <p:nvPr/>
        </p:nvSpPr>
        <p:spPr bwMode="auto">
          <a:xfrm>
            <a:off x="5227638" y="3840163"/>
            <a:ext cx="52387" cy="539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 sz="2300"/>
              <a:t>cDNA microarray: from array to data</a:t>
            </a:r>
          </a:p>
        </p:txBody>
      </p:sp>
      <p:pic>
        <p:nvPicPr>
          <p:cNvPr id="146437" name="Picture 5" descr="00-0511-F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41"/>
          <a:stretch>
            <a:fillRect/>
          </a:stretch>
        </p:blipFill>
        <p:spPr bwMode="auto">
          <a:xfrm>
            <a:off x="228600" y="1181100"/>
            <a:ext cx="3311525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4419600" y="4601111"/>
            <a:ext cx="19812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600" dirty="0"/>
              <a:t>http://wwwnc.cdc.gov/eid/article/6/5/00-0511-f1.htm </a:t>
            </a:r>
          </a:p>
        </p:txBody>
      </p:sp>
      <p:pic>
        <p:nvPicPr>
          <p:cNvPr id="146439" name="Picture 7" descr="00-0511-F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5" t="69159"/>
          <a:stretch>
            <a:fillRect/>
          </a:stretch>
        </p:blipFill>
        <p:spPr bwMode="auto">
          <a:xfrm>
            <a:off x="3470275" y="2095500"/>
            <a:ext cx="2930525" cy="144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/>
              <a:t>Web-based custom array design by Agilent</a:t>
            </a:r>
          </a:p>
        </p:txBody>
      </p:sp>
      <p:pic>
        <p:nvPicPr>
          <p:cNvPr id="147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33500"/>
            <a:ext cx="5257800" cy="326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1905000" y="4616450"/>
            <a:ext cx="4495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600" dirty="0"/>
              <a:t>http://www.genomics.agilent.com/CollectionSubpage.aspx?PageType=Product&amp;SubPageType=ProductDetail&amp;PageID=1455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90575"/>
          </a:xfrm>
        </p:spPr>
        <p:txBody>
          <a:bodyPr/>
          <a:lstStyle/>
          <a:p>
            <a:r>
              <a:rPr lang="en-US"/>
              <a:t>Oligonucleotide Arrays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03325"/>
            <a:ext cx="3184525" cy="3224213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Oligonucleotide array – e.g. Affymetrix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More expensive technology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Small (11-25 mers) or large (50-70 mers) sequence is attached to chip (probe)</a:t>
            </a:r>
            <a:r>
              <a:rPr lang="en-US" sz="1200" baseline="30000"/>
              <a:t>2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Allows for non-repetitive or unique probe design for a particular gene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Multiple probes represent same gene/EST with overlap method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Each probe has a mismatch complement with single bp mutation</a:t>
            </a:r>
          </a:p>
          <a:p>
            <a:pPr lvl="2">
              <a:lnSpc>
                <a:spcPct val="80000"/>
              </a:lnSpc>
            </a:pPr>
            <a:r>
              <a:rPr lang="en-US" sz="1000"/>
              <a:t>Cross-hybridization</a:t>
            </a:r>
          </a:p>
          <a:p>
            <a:pPr lvl="2">
              <a:lnSpc>
                <a:spcPct val="80000"/>
              </a:lnSpc>
            </a:pPr>
            <a:r>
              <a:rPr lang="en-US" sz="1000"/>
              <a:t>Background correction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Utilizes photolithography technology to attach probes to chip</a:t>
            </a:r>
            <a:endParaRPr lang="en-US" sz="1100"/>
          </a:p>
          <a:p>
            <a:pPr>
              <a:lnSpc>
                <a:spcPct val="80000"/>
              </a:lnSpc>
            </a:pPr>
            <a:endParaRPr lang="en-US" sz="1600"/>
          </a:p>
        </p:txBody>
      </p:sp>
      <p:pic>
        <p:nvPicPr>
          <p:cNvPr id="66564" name="Picture 4" descr="Affymetrixar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295400"/>
            <a:ext cx="270827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14375"/>
          </a:xfrm>
        </p:spPr>
        <p:txBody>
          <a:bodyPr/>
          <a:lstStyle/>
          <a:p>
            <a:r>
              <a:rPr lang="en-US" sz="2500"/>
              <a:t>Oligonucleotide array design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57300"/>
            <a:ext cx="3254375" cy="3413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900"/>
              <a:t>In situ synthesis is used to build probes bp-by-bp using synthetic organic chemistry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Mask is designed for each array type (e.g. species) once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Affymetrix example shown on the right and described in next few slides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Photolithography technology (attachment using light)</a:t>
            </a:r>
          </a:p>
          <a:p>
            <a:pPr lvl="1">
              <a:lnSpc>
                <a:spcPct val="90000"/>
              </a:lnSpc>
            </a:pPr>
            <a:endParaRPr lang="en-US" sz="1600"/>
          </a:p>
        </p:txBody>
      </p:sp>
      <p:sp>
        <p:nvSpPr>
          <p:cNvPr id="135172" name="Rectangle 4"/>
          <p:cNvSpPr>
            <a:spLocks noChangeArrowheads="1"/>
          </p:cNvSpPr>
          <p:nvPr/>
        </p:nvSpPr>
        <p:spPr bwMode="auto">
          <a:xfrm>
            <a:off x="4021138" y="4597400"/>
            <a:ext cx="2267672" cy="15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/>
          <a:p>
            <a:pPr defTabSz="639763"/>
            <a:r>
              <a:rPr lang="en-US" sz="600" dirty="0"/>
              <a:t>http://www.affymetrix.com/technology/manufacturing/index.affx</a:t>
            </a:r>
          </a:p>
        </p:txBody>
      </p:sp>
      <p:pic>
        <p:nvPicPr>
          <p:cNvPr id="135173" name="Picture 5" descr="photolithograp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25" y="2720975"/>
            <a:ext cx="2674938" cy="190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174" name="Rectangle 6"/>
          <p:cNvSpPr>
            <a:spLocks noChangeArrowheads="1"/>
          </p:cNvSpPr>
          <p:nvPr/>
        </p:nvSpPr>
        <p:spPr bwMode="auto">
          <a:xfrm>
            <a:off x="3794125" y="2408238"/>
            <a:ext cx="23463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/>
            <a:r>
              <a:rPr lang="en-US" sz="600" i="1"/>
              <a:t>http://www.affymetrix.com/corporate/media/image_library/low_res/photolitography.jpg</a:t>
            </a:r>
          </a:p>
        </p:txBody>
      </p:sp>
      <p:pic>
        <p:nvPicPr>
          <p:cNvPr id="135175" name="Picture 7" descr="untitl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181100"/>
            <a:ext cx="2500313" cy="118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14375"/>
          </a:xfrm>
        </p:spPr>
        <p:txBody>
          <a:bodyPr/>
          <a:lstStyle/>
          <a:p>
            <a:r>
              <a:rPr lang="en-US"/>
              <a:t>Oligonucleotide technology</a:t>
            </a:r>
          </a:p>
        </p:txBody>
      </p:sp>
      <p:pic>
        <p:nvPicPr>
          <p:cNvPr id="72728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00" t="34770" r="18124" b="23547"/>
          <a:stretch>
            <a:fillRect/>
          </a:stretch>
        </p:blipFill>
        <p:spPr bwMode="auto">
          <a:xfrm>
            <a:off x="2933700" y="1387475"/>
            <a:ext cx="3146425" cy="277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729" name="Rectangle 25"/>
          <p:cNvSpPr>
            <a:spLocks noChangeArrowheads="1"/>
          </p:cNvSpPr>
          <p:nvPr/>
        </p:nvSpPr>
        <p:spPr bwMode="auto">
          <a:xfrm>
            <a:off x="228600" y="1257300"/>
            <a:ext cx="25908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200"/>
              <a:t>Every microarray has up to 500,000 individual probe-cells, each 18µm across and containing millions of identical DNA molecules.</a:t>
            </a:r>
            <a:r>
              <a:rPr lang="en-US" sz="1200" baseline="30000"/>
              <a:t>2 </a:t>
            </a:r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2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200"/>
              <a:t>The human U133A array, for example contains over 260,000 different probes that together measure the expression of 22,283 different transcripts at once. </a:t>
            </a:r>
            <a:r>
              <a:rPr lang="en-US" sz="1200" baseline="30000"/>
              <a:t>2 </a:t>
            </a:r>
            <a:endParaRPr lang="en-US" sz="12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2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200"/>
              <a:t>Chips exist for a variety of organisms including human, mouse, yeast, arabidopsis, and rat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37" name="Picture 1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773" r="26852" b="20218"/>
          <a:stretch>
            <a:fillRect/>
          </a:stretch>
        </p:blipFill>
        <p:spPr>
          <a:xfrm>
            <a:off x="3306763" y="854075"/>
            <a:ext cx="2325687" cy="3625850"/>
          </a:xfrm>
        </p:spPr>
      </p:pic>
      <p:sp>
        <p:nvSpPr>
          <p:cNvPr id="77839" name="Rectangle 15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14375"/>
          </a:xfrm>
          <a:noFill/>
          <a:ln/>
        </p:spPr>
        <p:txBody>
          <a:bodyPr/>
          <a:lstStyle/>
          <a:p>
            <a:r>
              <a:rPr lang="en-US"/>
              <a:t>Oligonucleotide technology</a:t>
            </a:r>
          </a:p>
        </p:txBody>
      </p:sp>
      <p:sp>
        <p:nvSpPr>
          <p:cNvPr id="77840" name="Rectangle 16"/>
          <p:cNvSpPr>
            <a:spLocks noChangeArrowheads="1"/>
          </p:cNvSpPr>
          <p:nvPr/>
        </p:nvSpPr>
        <p:spPr bwMode="auto">
          <a:xfrm>
            <a:off x="381000" y="1181100"/>
            <a:ext cx="26670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Fragmented RNA is labeled with a fluorescent tag and run over the chip</a:t>
            </a:r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0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Wherever there is a complementary probe sequence on the chip, the RNA can hybridize to it. </a:t>
            </a:r>
            <a:r>
              <a:rPr lang="en-US" sz="1000" baseline="30000"/>
              <a:t>2 </a:t>
            </a:r>
            <a:r>
              <a:rPr lang="en-US" sz="1000"/>
              <a:t> </a:t>
            </a:r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0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Since there are millions of oligos for each probe-sequence, the amount of labeled RNA that sticks corresponds to the amount in solution. </a:t>
            </a:r>
            <a:r>
              <a:rPr lang="en-US" sz="1000" baseline="30000"/>
              <a:t>2 </a:t>
            </a:r>
            <a:endParaRPr lang="en-US" sz="10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0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When the chip is scanned by a laser, the tagged fragments fluoresce, producing spots with a brightness proportional to the amount of RNA that has hybridized. </a:t>
            </a:r>
            <a:r>
              <a:rPr lang="en-US" sz="1000" baseline="30000"/>
              <a:t>2 </a:t>
            </a:r>
            <a:endParaRPr lang="en-US" sz="10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000"/>
          </a:p>
          <a:p>
            <a:pPr marL="239713" indent="-239713" defTabSz="639763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This is recorded by a camera and the array image processed by computer to produce expression levels for the different genes. </a:t>
            </a:r>
            <a:r>
              <a:rPr lang="en-US" sz="1000" baseline="30000"/>
              <a:t>2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53975" y="1279525"/>
            <a:ext cx="2879725" cy="304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/>
            <a:r>
              <a:rPr lang="en-US"/>
              <a:t>The chips are designed so that every transcript is represented by between 11 to 20 probes that match different parts of the 3' end of the mRNA sequence.</a:t>
            </a:r>
            <a:r>
              <a:rPr lang="en-US" baseline="30000"/>
              <a:t>2</a:t>
            </a:r>
            <a:r>
              <a:rPr lang="en-US"/>
              <a:t> </a:t>
            </a:r>
          </a:p>
          <a:p>
            <a:pPr defTabSz="639763"/>
            <a:endParaRPr lang="en-US"/>
          </a:p>
          <a:p>
            <a:pPr defTabSz="639763"/>
            <a:r>
              <a:rPr lang="en-US"/>
              <a:t>Every chip probe consists of a pair 25 base oligos, one a perfect match (PM) to the transcript, the other a mismatch (MM) in which the middle residue has been changed.</a:t>
            </a:r>
            <a:r>
              <a:rPr lang="en-US" baseline="30000"/>
              <a:t>2</a:t>
            </a:r>
          </a:p>
          <a:p>
            <a:pPr defTabSz="639763"/>
            <a:endParaRPr lang="en-US"/>
          </a:p>
          <a:p>
            <a:pPr defTabSz="639763"/>
            <a:r>
              <a:rPr lang="en-US"/>
              <a:t>This probe-pairing strategy helps minimize the effects of non-specific hybridization and background signal.</a:t>
            </a:r>
            <a:r>
              <a:rPr lang="en-US" baseline="30000"/>
              <a:t>2</a:t>
            </a:r>
            <a:r>
              <a:rPr lang="en-US"/>
              <a:t> </a:t>
            </a:r>
          </a:p>
        </p:txBody>
      </p:sp>
      <p:graphicFrame>
        <p:nvGraphicFramePr>
          <p:cNvPr id="79887" name="Object 15"/>
          <p:cNvGraphicFramePr>
            <a:graphicFrameLocks noGrp="1" noChangeAspect="1"/>
          </p:cNvGraphicFramePr>
          <p:nvPr>
            <p:ph idx="1"/>
          </p:nvPr>
        </p:nvGraphicFramePr>
        <p:xfrm>
          <a:off x="3040063" y="1458913"/>
          <a:ext cx="3294062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009524" imgH="4200000" progId="Paint.Picture">
                  <p:embed/>
                </p:oleObj>
              </mc:Choice>
              <mc:Fallback>
                <p:oleObj name="Bitmap Image" r:id="rId3" imgW="5009524" imgH="4200000" progId="Paint.Picture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1458913"/>
                        <a:ext cx="3294062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0" name="Rectangle 18"/>
          <p:cNvSpPr>
            <a:spLocks noGrp="1" noChangeArrowheads="1"/>
          </p:cNvSpPr>
          <p:nvPr>
            <p:ph type="title"/>
          </p:nvPr>
        </p:nvSpPr>
        <p:spPr>
          <a:xfrm>
            <a:off x="320675" y="38100"/>
            <a:ext cx="5280025" cy="790575"/>
          </a:xfrm>
          <a:noFill/>
          <a:ln/>
        </p:spPr>
        <p:txBody>
          <a:bodyPr/>
          <a:lstStyle/>
          <a:p>
            <a:r>
              <a:rPr lang="en-US"/>
              <a:t>Oligonucleotide technology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2263" y="238125"/>
            <a:ext cx="5276850" cy="561975"/>
          </a:xfrm>
        </p:spPr>
        <p:txBody>
          <a:bodyPr/>
          <a:lstStyle/>
          <a:p>
            <a:r>
              <a:rPr lang="en-US" sz="2500"/>
              <a:t>Oligonucleotide array</a:t>
            </a: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266700" y="1279525"/>
            <a:ext cx="2536825" cy="297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5" tIns="32003" rIns="64005" bIns="32003">
            <a:spAutoFit/>
          </a:bodyPr>
          <a:lstStyle/>
          <a:p>
            <a:pPr defTabSz="639763"/>
            <a:r>
              <a:rPr lang="en-US" sz="1100"/>
              <a:t>Once the probe has hybridized, chips are scanned to generate an image (dat file).</a:t>
            </a:r>
            <a:r>
              <a:rPr lang="en-US" sz="1100" baseline="30000"/>
              <a:t>2</a:t>
            </a:r>
          </a:p>
          <a:p>
            <a:pPr defTabSz="639763"/>
            <a:endParaRPr lang="en-US" sz="1100"/>
          </a:p>
          <a:p>
            <a:pPr defTabSz="639763"/>
            <a:r>
              <a:rPr lang="en-US" sz="1100"/>
              <a:t>Each spot, or feature, is ~ 20µm square and is scanned at a resolution of 3µm - giving an average of 49 pixels per spot.</a:t>
            </a:r>
            <a:r>
              <a:rPr lang="en-US" sz="1100" baseline="30000"/>
              <a:t>2</a:t>
            </a:r>
            <a:r>
              <a:rPr lang="en-US" sz="1100"/>
              <a:t> </a:t>
            </a:r>
          </a:p>
          <a:p>
            <a:pPr defTabSz="639763"/>
            <a:endParaRPr lang="en-US" sz="1100"/>
          </a:p>
          <a:p>
            <a:pPr defTabSz="639763"/>
            <a:r>
              <a:rPr lang="en-US" sz="1100"/>
              <a:t>The array analysis software identifies individual features and overlays a grid separating each spot from its neighbors. </a:t>
            </a:r>
            <a:r>
              <a:rPr lang="en-US" sz="1100" baseline="30000"/>
              <a:t>2</a:t>
            </a:r>
          </a:p>
          <a:p>
            <a:pPr defTabSz="639763"/>
            <a:endParaRPr lang="en-US" sz="1100"/>
          </a:p>
          <a:p>
            <a:pPr defTabSz="639763"/>
            <a:r>
              <a:rPr lang="en-US" sz="1100"/>
              <a:t>The expression level for a gene is calculated by subtracting the MM from the PM probes.</a:t>
            </a:r>
            <a:r>
              <a:rPr lang="en-US" sz="1100" baseline="30000"/>
              <a:t>2</a:t>
            </a:r>
          </a:p>
        </p:txBody>
      </p:sp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t="14729" r="79375" b="59619"/>
          <a:stretch>
            <a:fillRect/>
          </a:stretch>
        </p:blipFill>
        <p:spPr bwMode="auto">
          <a:xfrm>
            <a:off x="3306763" y="1227138"/>
            <a:ext cx="2027237" cy="202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6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" t="15231" r="90625" b="75150"/>
          <a:stretch>
            <a:fillRect/>
          </a:stretch>
        </p:blipFill>
        <p:spPr bwMode="auto">
          <a:xfrm>
            <a:off x="5280025" y="960438"/>
            <a:ext cx="709613" cy="6524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6198" name="Line 6"/>
          <p:cNvSpPr>
            <a:spLocks noChangeShapeType="1"/>
          </p:cNvSpPr>
          <p:nvPr/>
        </p:nvSpPr>
        <p:spPr bwMode="auto">
          <a:xfrm flipV="1">
            <a:off x="4267200" y="1012825"/>
            <a:ext cx="976313" cy="14938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199" name="Line 7"/>
          <p:cNvSpPr>
            <a:spLocks noChangeShapeType="1"/>
          </p:cNvSpPr>
          <p:nvPr/>
        </p:nvSpPr>
        <p:spPr bwMode="auto">
          <a:xfrm flipV="1">
            <a:off x="4251325" y="1654175"/>
            <a:ext cx="976313" cy="906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6200" name="Picture 8" descr="microarray_image_lar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360738"/>
            <a:ext cx="1646238" cy="132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25475"/>
          </a:xfrm>
        </p:spPr>
        <p:txBody>
          <a:bodyPr/>
          <a:lstStyle/>
          <a:p>
            <a:r>
              <a:rPr lang="en-US" dirty="0"/>
              <a:t>Oligo technology instruments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212725" y="1493838"/>
            <a:ext cx="2614613" cy="24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/>
            <a:r>
              <a:rPr lang="en-US"/>
              <a:t>Fluidics machine, scanner, and software</a:t>
            </a:r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endParaRPr lang="en-US"/>
          </a:p>
          <a:p>
            <a:pPr defTabSz="639763"/>
            <a:r>
              <a:rPr lang="en-US"/>
              <a:t>An Affymetrix chip</a:t>
            </a:r>
          </a:p>
          <a:p>
            <a:pPr defTabSz="639763"/>
            <a:endParaRPr lang="en-US"/>
          </a:p>
        </p:txBody>
      </p:sp>
      <p:pic>
        <p:nvPicPr>
          <p:cNvPr id="85015" name="Picture 23" descr="header_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333500"/>
            <a:ext cx="36195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016" name="Rectangle 24"/>
          <p:cNvSpPr>
            <a:spLocks noChangeArrowheads="1"/>
          </p:cNvSpPr>
          <p:nvPr/>
        </p:nvSpPr>
        <p:spPr bwMode="auto">
          <a:xfrm>
            <a:off x="4876800" y="4616450"/>
            <a:ext cx="15240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sz="600" dirty="0"/>
              <a:t>http://www.mpibpc.mpg.de/microarray </a:t>
            </a:r>
          </a:p>
        </p:txBody>
      </p:sp>
      <p:pic>
        <p:nvPicPr>
          <p:cNvPr id="85018" name="Picture 26" descr="Affymetrix_GeneChi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162300"/>
            <a:ext cx="165735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019" name="Rectangle 27"/>
          <p:cNvSpPr>
            <a:spLocks noChangeArrowheads="1"/>
          </p:cNvSpPr>
          <p:nvPr/>
        </p:nvSpPr>
        <p:spPr bwMode="auto">
          <a:xfrm>
            <a:off x="3962400" y="4502150"/>
            <a:ext cx="23622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sz="600" dirty="0"/>
              <a:t>http://commons.wikimedia.org/wiki/File:Affymetrix_GeneChip.jpg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190500"/>
            <a:ext cx="5280025" cy="333375"/>
          </a:xfrm>
        </p:spPr>
        <p:txBody>
          <a:bodyPr/>
          <a:lstStyle/>
          <a:p>
            <a:r>
              <a:rPr lang="en-US" dirty="0" err="1"/>
              <a:t>Nanostring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04800" y="647700"/>
            <a:ext cx="4709160" cy="35784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mRNA hybridization to a capture probe and a reporter  probe that are photo captured and then counted (no RNA amplification)</a:t>
            </a: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831" y="3008940"/>
            <a:ext cx="2980599" cy="1457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82713" y="1104900"/>
            <a:ext cx="2874968" cy="357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6136" y="1562100"/>
            <a:ext cx="2505577" cy="85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5882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390525"/>
            <a:ext cx="5280025" cy="409575"/>
          </a:xfrm>
        </p:spPr>
        <p:txBody>
          <a:bodyPr/>
          <a:lstStyle/>
          <a:p>
            <a:r>
              <a:rPr lang="en-US" sz="3000" dirty="0"/>
              <a:t>Exons and splice variants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28700"/>
            <a:ext cx="5257800" cy="198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We know from molecular biology, that RNA undergoes processing prior to determining a final form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Intragenic regions can be spliced out, while exon regions are combined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These recombined transcripts are known as splice variants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1187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15530" r="68750" b="72446"/>
          <a:stretch>
            <a:fillRect/>
          </a:stretch>
        </p:blipFill>
        <p:spPr bwMode="auto">
          <a:xfrm>
            <a:off x="1587500" y="3200400"/>
            <a:ext cx="411480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C5D0C-76A8-47A2-BF36-AF88A6D61D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039" y="346363"/>
            <a:ext cx="5186362" cy="364837"/>
          </a:xfrm>
        </p:spPr>
        <p:txBody>
          <a:bodyPr/>
          <a:lstStyle/>
          <a:p>
            <a:r>
              <a:rPr lang="en-US" sz="2200" dirty="0">
                <a:solidFill>
                  <a:schemeClr val="tx2"/>
                </a:solidFill>
              </a:rPr>
              <a:t>HTG </a:t>
            </a:r>
            <a:r>
              <a:rPr lang="en-US" sz="2200" dirty="0" err="1">
                <a:solidFill>
                  <a:schemeClr val="tx2"/>
                </a:solidFill>
              </a:rPr>
              <a:t>EdgeSeq</a:t>
            </a:r>
            <a:r>
              <a:rPr lang="en-US" sz="2200" dirty="0">
                <a:solidFill>
                  <a:schemeClr val="tx2"/>
                </a:solidFill>
              </a:rPr>
              <a:t> for rapid RNA analysis of FFPE slides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47C7B0-86A0-4F18-8912-D2694FC35B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00038" y="1133475"/>
            <a:ext cx="5800725" cy="157886"/>
          </a:xfrm>
        </p:spPr>
        <p:txBody>
          <a:bodyPr/>
          <a:lstStyle/>
          <a:p>
            <a:r>
              <a:rPr lang="en-US" sz="945"/>
              <a:t>Commercialized in 2013 but based on well established nuclease protection assay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29D9F6-F27A-4F25-A759-A5526D44618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35" y="1638864"/>
            <a:ext cx="6143978" cy="1404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85F279-83CD-4AF9-9030-2F3324A122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064" y="3463957"/>
            <a:ext cx="2110336" cy="525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0D5681-407A-4DA3-A221-35A9C5B548E6}"/>
              </a:ext>
            </a:extLst>
          </p:cNvPr>
          <p:cNvSpPr txBox="1"/>
          <p:nvPr/>
        </p:nvSpPr>
        <p:spPr>
          <a:xfrm>
            <a:off x="1683410" y="3315557"/>
            <a:ext cx="860908" cy="175546"/>
          </a:xfrm>
          <a:prstGeom prst="rect">
            <a:avLst/>
          </a:prstGeom>
          <a:noFill/>
        </p:spPr>
        <p:txBody>
          <a:bodyPr wrap="none" lIns="0" tIns="0" rIns="0" bIns="0" rtlCol="0">
            <a:normAutofit/>
          </a:bodyPr>
          <a:lstStyle/>
          <a:p>
            <a:pPr defTabSz="48006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45">
                <a:solidFill>
                  <a:srgbClr val="000000"/>
                </a:solidFill>
                <a:latin typeface="Arial" panose="020B0604020202020204"/>
              </a:rPr>
              <a:t>Sample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FC3416-2A39-4AA1-BEFE-AECD790C339F}"/>
              </a:ext>
            </a:extLst>
          </p:cNvPr>
          <p:cNvSpPr txBox="1"/>
          <p:nvPr/>
        </p:nvSpPr>
        <p:spPr>
          <a:xfrm>
            <a:off x="457200" y="4457700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 of Omar Jabado</a:t>
            </a:r>
          </a:p>
        </p:txBody>
      </p:sp>
    </p:spTree>
    <p:extLst>
      <p:ext uri="{BB962C8B-B14F-4D97-AF65-F5344CB8AC3E}">
        <p14:creationId xmlns:p14="http://schemas.microsoft.com/office/powerpoint/2010/main" val="3573163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29BFA-72DC-4C7B-8C6D-6998BBDAA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039" y="346363"/>
            <a:ext cx="5110162" cy="364837"/>
          </a:xfrm>
        </p:spPr>
        <p:txBody>
          <a:bodyPr/>
          <a:lstStyle/>
          <a:p>
            <a:r>
              <a:rPr lang="en-US" sz="2200" dirty="0">
                <a:solidFill>
                  <a:schemeClr val="tx2"/>
                </a:solidFill>
              </a:rPr>
              <a:t>Tradeoff for Speed and Sensitivity is Lower Data Complexity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A6655-9BC2-49DE-BB5F-8E65E66579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850" y="1524991"/>
            <a:ext cx="2502713" cy="630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3B497-4D07-48D6-BBBB-F1B0384DE50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1627" y="1694612"/>
            <a:ext cx="2531516" cy="393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F3B5E8-7905-49CF-A9D4-93EAE9113AEA}"/>
              </a:ext>
            </a:extLst>
          </p:cNvPr>
          <p:cNvSpPr txBox="1"/>
          <p:nvPr/>
        </p:nvSpPr>
        <p:spPr>
          <a:xfrm>
            <a:off x="1283360" y="1315474"/>
            <a:ext cx="860908" cy="17554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48006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60" b="1" err="1">
                <a:solidFill>
                  <a:srgbClr val="000000"/>
                </a:solidFill>
                <a:latin typeface="Arial" panose="020B0604020202020204"/>
              </a:rPr>
              <a:t>RNASeq</a:t>
            </a:r>
            <a:endParaRPr lang="en-US" sz="126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0853-DDAC-4153-90CB-E67A5C1E4350}"/>
              </a:ext>
            </a:extLst>
          </p:cNvPr>
          <p:cNvSpPr txBox="1"/>
          <p:nvPr/>
        </p:nvSpPr>
        <p:spPr>
          <a:xfrm>
            <a:off x="4246931" y="1349445"/>
            <a:ext cx="860908" cy="175546"/>
          </a:xfrm>
          <a:prstGeom prst="rect">
            <a:avLst/>
          </a:prstGeom>
          <a:noFill/>
        </p:spPr>
        <p:txBody>
          <a:bodyPr wrap="none" lIns="0" tIns="0" rIns="0" bIns="0" rtlCol="0">
            <a:normAutofit lnSpcReduction="10000"/>
          </a:bodyPr>
          <a:lstStyle/>
          <a:p>
            <a:pPr algn="ctr" defTabSz="48006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60" b="1" err="1">
                <a:solidFill>
                  <a:srgbClr val="000000"/>
                </a:solidFill>
                <a:latin typeface="Arial" panose="020B0604020202020204"/>
              </a:rPr>
              <a:t>EdgeSeq</a:t>
            </a:r>
            <a:endParaRPr lang="en-US" sz="126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37CEF-63A8-442D-9698-F09EE4D13D39}"/>
              </a:ext>
            </a:extLst>
          </p:cNvPr>
          <p:cNvSpPr txBox="1"/>
          <p:nvPr/>
        </p:nvSpPr>
        <p:spPr>
          <a:xfrm>
            <a:off x="396850" y="2322288"/>
            <a:ext cx="2451506" cy="872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Unbiased sequencing of all parts of a gene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Rich dataset for analyzing splicing and mutations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~40M reads needed per sample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945" dirty="0">
              <a:solidFill>
                <a:srgbClr val="000000"/>
              </a:solidFill>
              <a:latin typeface="Arial" panose="020B0604020202020204"/>
            </a:endParaRP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945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3D9DA-5C3A-4992-A8B2-D0B43BA621DC}"/>
              </a:ext>
            </a:extLst>
          </p:cNvPr>
          <p:cNvSpPr txBox="1"/>
          <p:nvPr/>
        </p:nvSpPr>
        <p:spPr>
          <a:xfrm>
            <a:off x="3456432" y="2336144"/>
            <a:ext cx="2486711" cy="11633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A “liquid microarray”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One probe per gene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RNA is not sequenced, it’s the DNA probe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Sensitive to PCR artifacts, alternative splicing and SNPs</a:t>
            </a:r>
          </a:p>
          <a:p>
            <a:pPr marL="150019" indent="-150019" defTabSz="4800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~1.5M reads needed per sample with 3,000 gene panel (3.75% of </a:t>
            </a:r>
            <a:r>
              <a:rPr lang="en-US" sz="945" dirty="0" err="1">
                <a:solidFill>
                  <a:srgbClr val="000000"/>
                </a:solidFill>
                <a:latin typeface="Arial" panose="020B0604020202020204"/>
              </a:rPr>
              <a:t>RNAseq</a:t>
            </a:r>
            <a:r>
              <a:rPr lang="en-US" sz="945" dirty="0">
                <a:solidFill>
                  <a:srgbClr val="000000"/>
                </a:solidFill>
                <a:latin typeface="Arial" panose="020B0604020202020204"/>
              </a:rPr>
              <a:t>)</a:t>
            </a:r>
          </a:p>
          <a:p>
            <a:pPr defTabSz="4800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45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C76A3-85F6-4AFC-A387-8AE42FD7DD3F}"/>
              </a:ext>
            </a:extLst>
          </p:cNvPr>
          <p:cNvSpPr txBox="1"/>
          <p:nvPr/>
        </p:nvSpPr>
        <p:spPr>
          <a:xfrm>
            <a:off x="457200" y="4457700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 of Omar Jabado</a:t>
            </a:r>
          </a:p>
        </p:txBody>
      </p:sp>
    </p:spTree>
    <p:extLst>
      <p:ext uri="{BB962C8B-B14F-4D97-AF65-F5344CB8AC3E}">
        <p14:creationId xmlns:p14="http://schemas.microsoft.com/office/powerpoint/2010/main" val="1703427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466725"/>
            <a:ext cx="5280025" cy="409575"/>
          </a:xfrm>
        </p:spPr>
        <p:txBody>
          <a:bodyPr/>
          <a:lstStyle/>
          <a:p>
            <a:r>
              <a:rPr lang="en-US" sz="3000"/>
              <a:t>Exons and splice variants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52500"/>
            <a:ext cx="5394325" cy="2590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800"/>
          </a:p>
          <a:p>
            <a:pPr>
              <a:lnSpc>
                <a:spcPct val="90000"/>
              </a:lnSpc>
            </a:pPr>
            <a:r>
              <a:rPr lang="en-US" sz="1800"/>
              <a:t>Why bother with looking for expression patterns in splice variants?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Many genes are products of splice variants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They can be strong indicators of certain diseases as well as specific drug response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Within a population, a specific gene may show high differential expression due to a disease condition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However, within a small subpopulation, those members that have an alternatively spliced version of the gene show not differential expression from the disease condition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390525"/>
            <a:ext cx="5280025" cy="485775"/>
          </a:xfrm>
        </p:spPr>
        <p:txBody>
          <a:bodyPr/>
          <a:lstStyle/>
          <a:p>
            <a:r>
              <a:rPr lang="en-US" sz="3000"/>
              <a:t>Exon arrays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181100"/>
            <a:ext cx="5622925" cy="2743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/>
              <a:t>Typical microarrays are designed with probes to target the 3’ end of the gene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This type of design only measures the abundance of mRNA molecules that hybridize to the probe at the terminal region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Such design does not take into account splice variants that can result from alternative splicing patterns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Requires probes that are complementary to multiple regions along the gene to measure possible splice variants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Requires information about known splice variant sequences to design probes for possible combinations of splice events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238125"/>
            <a:ext cx="5280025" cy="638175"/>
          </a:xfrm>
        </p:spPr>
        <p:txBody>
          <a:bodyPr/>
          <a:lstStyle/>
          <a:p>
            <a:r>
              <a:rPr lang="en-US" sz="2600"/>
              <a:t>Differences in array platforms</a:t>
            </a:r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320675" y="1104900"/>
            <a:ext cx="575945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/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2000" dirty="0"/>
              <a:t>Consistent comparisons across different array platforms have been difficult to make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 sz="1600" dirty="0"/>
              <a:t>Differences in vendors (e.g. Affymetrix and Agilent)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 sz="1600" dirty="0"/>
              <a:t>Differences between versions of an array from the same vendor (Affymetrix u95 vs u133 series arrays) </a:t>
            </a:r>
          </a:p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endParaRPr lang="en-US" sz="1600" dirty="0"/>
          </a:p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2000" dirty="0"/>
              <a:t>Results have been shown to vary when comparing different array platforms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600" dirty="0"/>
              <a:t>Different sensitivities in array technologies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600" dirty="0"/>
              <a:t>Different probe selection designs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600" dirty="0"/>
              <a:t>Different signal intensity normalization methods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161925"/>
            <a:ext cx="5280025" cy="638175"/>
          </a:xfrm>
        </p:spPr>
        <p:txBody>
          <a:bodyPr/>
          <a:lstStyle/>
          <a:p>
            <a:r>
              <a:rPr lang="en-US"/>
              <a:t>Differences in array platforms</a:t>
            </a:r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320675" y="1028700"/>
            <a:ext cx="57594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/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800"/>
              <a:t>The MicroArray Quality Control I (MAQC)</a:t>
            </a:r>
            <a:r>
              <a:rPr lang="en-US" sz="1800" baseline="30000"/>
              <a:t>3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 sz="1400"/>
              <a:t>A community led by the FDA to understand the use of microarray technology in clinical and regulatory settings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 sz="1400"/>
              <a:t>Published a series of studies to compare array platforms both to each other and quantitative results (RT-PCR)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 sz="1400"/>
              <a:t>Provide some guidance on methods that perform most consistently across platforms and identify those factors that do not tend to vary</a:t>
            </a:r>
          </a:p>
        </p:txBody>
      </p:sp>
      <p:pic>
        <p:nvPicPr>
          <p:cNvPr id="14336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" t="26563" r="27142" b="28906"/>
          <a:stretch>
            <a:fillRect/>
          </a:stretch>
        </p:blipFill>
        <p:spPr bwMode="auto">
          <a:xfrm>
            <a:off x="1143000" y="3009900"/>
            <a:ext cx="3886200" cy="174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190500"/>
            <a:ext cx="5280025" cy="638175"/>
          </a:xfrm>
        </p:spPr>
        <p:txBody>
          <a:bodyPr/>
          <a:lstStyle/>
          <a:p>
            <a:r>
              <a:rPr lang="en-US"/>
              <a:t>Differences in array platforms</a:t>
            </a: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152400" y="1181100"/>
            <a:ext cx="3733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/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800"/>
              <a:t>Studies published by </a:t>
            </a:r>
            <a:r>
              <a:rPr lang="en-US" sz="1600"/>
              <a:t>MAQC sought to assess: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Comparison of microarray data to quantitative gene expression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Comparison of normalization methods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Use of external controls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One channel vs. two channel microarrays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100"/>
              <a:t>One channel platforms: Affymetrix, Applied Biosystems, Eppendorf, GE Healthcare, Illumina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100"/>
              <a:t>Two channel platforms: Agilent, TeleChem, CapitalBio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Intraplatform reproducibility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Analytical consistency across platforms</a:t>
            </a:r>
            <a:endParaRPr lang="en-US" sz="1500"/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" t="25781" r="41144" b="18750"/>
          <a:stretch>
            <a:fillRect/>
          </a:stretch>
        </p:blipFill>
        <p:spPr bwMode="auto">
          <a:xfrm>
            <a:off x="4038600" y="1273175"/>
            <a:ext cx="2209800" cy="153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493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" t="28125" r="41144" b="4688"/>
          <a:stretch>
            <a:fillRect/>
          </a:stretch>
        </p:blipFill>
        <p:spPr bwMode="auto">
          <a:xfrm>
            <a:off x="4114800" y="2933700"/>
            <a:ext cx="20574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198438"/>
            <a:ext cx="5280025" cy="906462"/>
          </a:xfrm>
        </p:spPr>
        <p:txBody>
          <a:bodyPr/>
          <a:lstStyle/>
          <a:p>
            <a:r>
              <a:rPr lang="en-US"/>
              <a:t>Standards in the microarray community</a:t>
            </a: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320675" y="1203325"/>
            <a:ext cx="5759450" cy="333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/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500"/>
              <a:t>Minimal Information About a Microarray Experiment (MIAME)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Organization set up to provide standards in microarray experiments and analysis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Provide guidelines on the minimal necessary information for interpretable results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Encourage depositing data into public standard repositories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Journals and funding agencies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000"/>
              <a:t>Most journals now require depositing data prior to publication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endParaRPr lang="en-US" sz="1000"/>
          </a:p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500"/>
              <a:t>Guideline examples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Experimental design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Array design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Samples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Hybridization parameters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Normalization methods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114300"/>
            <a:ext cx="5280025" cy="619125"/>
          </a:xfrm>
        </p:spPr>
        <p:txBody>
          <a:bodyPr/>
          <a:lstStyle/>
          <a:p>
            <a:r>
              <a:rPr lang="en-US" sz="2400"/>
              <a:t>Interpreting the biology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73063" y="852488"/>
            <a:ext cx="5707062" cy="368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/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500"/>
              <a:t>Hybridization kinetics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Ideally, the probe that minimizes hybridization free energy is the optimal one to represent a gene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100"/>
              <a:t>However, we cannot currently compute the free energy from the sequence alone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The hybridization free energy for a gene depends on the concentration of that gene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100"/>
              <a:t>The less expressed gene with higher free energy can give a greater signal than the more expressed gene, if it is given in greater concentration</a:t>
            </a:r>
          </a:p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500"/>
              <a:t>mRNA expression vs. protein expression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Gene interactions sometimes do, but can also have minimal similarity to protein interactions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100"/>
              <a:t>Kinases, Receptor-ligand binding, Protein docking, etc.</a:t>
            </a:r>
          </a:p>
          <a:p>
            <a:pPr marL="690563" lvl="2" indent="-20478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en-US" sz="1100"/>
              <a:t>Half-lives of mRNA and its protein are not always proportional</a:t>
            </a:r>
            <a:endParaRPr lang="en-US"/>
          </a:p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500"/>
              <a:t>All gene expression events do not result in mRNA transcripts</a:t>
            </a:r>
          </a:p>
          <a:p>
            <a:pPr marL="484188" lvl="1" indent="-242888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en-US"/>
              <a:t>tRNA, rRNAm snRNA</a:t>
            </a:r>
          </a:p>
          <a:p>
            <a: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500"/>
              <a:t>Splice variants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2B20-C2AB-4879-A5C3-75B112FF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 sequencing</a:t>
            </a:r>
          </a:p>
        </p:txBody>
      </p:sp>
    </p:spTree>
    <p:extLst>
      <p:ext uri="{BB962C8B-B14F-4D97-AF65-F5344CB8AC3E}">
        <p14:creationId xmlns:p14="http://schemas.microsoft.com/office/powerpoint/2010/main" val="2989926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1706-D12A-4897-8A43-1CFCB3D0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85725"/>
            <a:ext cx="5280025" cy="714375"/>
          </a:xfrm>
        </p:spPr>
        <p:txBody>
          <a:bodyPr/>
          <a:lstStyle/>
          <a:p>
            <a:r>
              <a:rPr lang="en-US" dirty="0"/>
              <a:t>RNA sequencing evolution</a:t>
            </a:r>
          </a:p>
        </p:txBody>
      </p:sp>
      <p:pic>
        <p:nvPicPr>
          <p:cNvPr id="81922" name="Picture 2" descr="Fig. 1">
            <a:extLst>
              <a:ext uri="{FF2B5EF4-FFF2-40B4-BE49-F238E27FC236}">
                <a16:creationId xmlns:a16="http://schemas.microsoft.com/office/drawing/2014/main" id="{A8D9D4A4-0165-4DE4-A21D-BC8AF572D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85900"/>
            <a:ext cx="4953000" cy="306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B79632-9737-40BB-A591-CA4309A90C03}"/>
              </a:ext>
            </a:extLst>
          </p:cNvPr>
          <p:cNvSpPr txBox="1"/>
          <p:nvPr/>
        </p:nvSpPr>
        <p:spPr>
          <a:xfrm>
            <a:off x="762000" y="461010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Hong et al, 2020</a:t>
            </a:r>
          </a:p>
        </p:txBody>
      </p:sp>
    </p:spTree>
    <p:extLst>
      <p:ext uri="{BB962C8B-B14F-4D97-AF65-F5344CB8AC3E}">
        <p14:creationId xmlns:p14="http://schemas.microsoft.com/office/powerpoint/2010/main" val="4184124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8F54F3-0479-4075-8E32-39D69DD7C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 sequencing process flow</a:t>
            </a:r>
          </a:p>
        </p:txBody>
      </p:sp>
      <p:pic>
        <p:nvPicPr>
          <p:cNvPr id="80900" name="Picture 4" descr="Part 1 of RNA-seq for DE analysis: Defining the goal">
            <a:extLst>
              <a:ext uri="{FF2B5EF4-FFF2-40B4-BE49-F238E27FC236}">
                <a16:creationId xmlns:a16="http://schemas.microsoft.com/office/drawing/2014/main" id="{9488E589-B5F8-4FE1-8D0C-9BBDD8B947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92"/>
          <a:stretch/>
        </p:blipFill>
        <p:spPr bwMode="auto">
          <a:xfrm>
            <a:off x="647700" y="1485900"/>
            <a:ext cx="5105400" cy="307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647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8C72-AC57-4C7E-8BE6-81669CF7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"/>
            <a:ext cx="5280025" cy="906463"/>
          </a:xfrm>
        </p:spPr>
        <p:txBody>
          <a:bodyPr/>
          <a:lstStyle/>
          <a:p>
            <a:r>
              <a:rPr lang="en-US" sz="2200" dirty="0"/>
              <a:t>RNA extraction and template preparation</a:t>
            </a:r>
          </a:p>
        </p:txBody>
      </p:sp>
      <p:pic>
        <p:nvPicPr>
          <p:cNvPr id="82946" name="Picture 2" descr="Fig. 2">
            <a:extLst>
              <a:ext uri="{FF2B5EF4-FFF2-40B4-BE49-F238E27FC236}">
                <a16:creationId xmlns:a16="http://schemas.microsoft.com/office/drawing/2014/main" id="{485934A5-F175-4112-ADA3-3D23BB0BA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90700"/>
            <a:ext cx="5105400" cy="261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D76D7B-F501-4146-ABC1-C400B8C6BBA2}"/>
              </a:ext>
            </a:extLst>
          </p:cNvPr>
          <p:cNvSpPr txBox="1"/>
          <p:nvPr/>
        </p:nvSpPr>
        <p:spPr>
          <a:xfrm>
            <a:off x="762000" y="461010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Hong et al, 2020</a:t>
            </a:r>
          </a:p>
        </p:txBody>
      </p:sp>
    </p:spTree>
    <p:extLst>
      <p:ext uri="{BB962C8B-B14F-4D97-AF65-F5344CB8AC3E}">
        <p14:creationId xmlns:p14="http://schemas.microsoft.com/office/powerpoint/2010/main" val="2735327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8C72-AC57-4C7E-8BE6-81669CF7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Three types of sequencing approaches</a:t>
            </a:r>
          </a:p>
        </p:txBody>
      </p:sp>
      <p:pic>
        <p:nvPicPr>
          <p:cNvPr id="83970" name="Picture 2" descr="Fig. 3">
            <a:extLst>
              <a:ext uri="{FF2B5EF4-FFF2-40B4-BE49-F238E27FC236}">
                <a16:creationId xmlns:a16="http://schemas.microsoft.com/office/drawing/2014/main" id="{9174E97A-BA7C-482A-801F-0535B5876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09700"/>
            <a:ext cx="5415579" cy="306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C0C711-6B23-4FB9-9310-057E835C6159}"/>
              </a:ext>
            </a:extLst>
          </p:cNvPr>
          <p:cNvSpPr txBox="1"/>
          <p:nvPr/>
        </p:nvSpPr>
        <p:spPr>
          <a:xfrm>
            <a:off x="762000" y="461010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Hong et al, 2020</a:t>
            </a:r>
          </a:p>
        </p:txBody>
      </p:sp>
    </p:spTree>
    <p:extLst>
      <p:ext uri="{BB962C8B-B14F-4D97-AF65-F5344CB8AC3E}">
        <p14:creationId xmlns:p14="http://schemas.microsoft.com/office/powerpoint/2010/main" val="2805719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E0DD-5950-4B1D-8AAC-25723D41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Comparison of different RNA sequencing platforms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C6B19-AE04-4725-B928-18574D7F8B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10" t="28423" r="7143" b="11825"/>
          <a:stretch/>
        </p:blipFill>
        <p:spPr>
          <a:xfrm>
            <a:off x="609600" y="1368025"/>
            <a:ext cx="5181600" cy="32161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619E47-102F-46C4-AED5-81654B86A972}"/>
              </a:ext>
            </a:extLst>
          </p:cNvPr>
          <p:cNvSpPr txBox="1"/>
          <p:nvPr/>
        </p:nvSpPr>
        <p:spPr>
          <a:xfrm>
            <a:off x="762000" y="461010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Hong et al, 2020</a:t>
            </a:r>
          </a:p>
        </p:txBody>
      </p:sp>
    </p:spTree>
    <p:extLst>
      <p:ext uri="{BB962C8B-B14F-4D97-AF65-F5344CB8AC3E}">
        <p14:creationId xmlns:p14="http://schemas.microsoft.com/office/powerpoint/2010/main" val="632046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8B46-65C8-41C9-AD74-B149B641D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 dirty="0"/>
              <a:t>RNA sequencing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18AA-B5F0-4F17-805E-F91BBBD5A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75" y="876300"/>
            <a:ext cx="5759450" cy="3087688"/>
          </a:xfrm>
        </p:spPr>
        <p:txBody>
          <a:bodyPr/>
          <a:lstStyle/>
          <a:p>
            <a:r>
              <a:rPr lang="en-US" sz="1800" dirty="0"/>
              <a:t>Improved sensitivity to array platforms</a:t>
            </a:r>
          </a:p>
          <a:p>
            <a:endParaRPr lang="en-US" sz="1800" dirty="0"/>
          </a:p>
          <a:p>
            <a:r>
              <a:rPr lang="en-US" sz="1800" dirty="0"/>
              <a:t>No prior knowledge of transcripts required</a:t>
            </a:r>
          </a:p>
          <a:p>
            <a:endParaRPr lang="en-US" sz="1800" dirty="0"/>
          </a:p>
          <a:p>
            <a:r>
              <a:rPr lang="en-US" sz="1800" dirty="0"/>
              <a:t>Can detect novel transcripts</a:t>
            </a:r>
          </a:p>
          <a:p>
            <a:endParaRPr lang="en-US" sz="1800" dirty="0"/>
          </a:p>
          <a:p>
            <a:r>
              <a:rPr lang="en-US" sz="1800" dirty="0"/>
              <a:t>No prior knowledge of species content (if reference transcriptome not available)</a:t>
            </a:r>
          </a:p>
          <a:p>
            <a:endParaRPr lang="en-US" sz="1800" dirty="0"/>
          </a:p>
          <a:p>
            <a:r>
              <a:rPr lang="en-US" sz="1800" dirty="0"/>
              <a:t>Has become more cost effective than array platforms in many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782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2B20-C2AB-4879-A5C3-75B112FF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cell RNA sequencing</a:t>
            </a:r>
          </a:p>
        </p:txBody>
      </p:sp>
    </p:spTree>
    <p:extLst>
      <p:ext uri="{BB962C8B-B14F-4D97-AF65-F5344CB8AC3E}">
        <p14:creationId xmlns:p14="http://schemas.microsoft.com/office/powerpoint/2010/main" val="3179194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98A9-711C-4985-826C-927CF5B4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r>
              <a:rPr lang="en-US" dirty="0"/>
              <a:t>General process flow</a:t>
            </a:r>
          </a:p>
        </p:txBody>
      </p:sp>
      <p:pic>
        <p:nvPicPr>
          <p:cNvPr id="80898" name="Picture 2">
            <a:extLst>
              <a:ext uri="{FF2B5EF4-FFF2-40B4-BE49-F238E27FC236}">
                <a16:creationId xmlns:a16="http://schemas.microsoft.com/office/drawing/2014/main" id="{7DA8ADA9-A7A2-49DD-953A-B508DC136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76300"/>
            <a:ext cx="5047734" cy="37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79D6E6-A11A-4833-97A6-E516F29D1F18}"/>
              </a:ext>
            </a:extLst>
          </p:cNvPr>
          <p:cNvSpPr/>
          <p:nvPr/>
        </p:nvSpPr>
        <p:spPr>
          <a:xfrm>
            <a:off x="2590800" y="4554379"/>
            <a:ext cx="32004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https://learn.gencore.bio.nyu.edu/single-cell-rnaseq/</a:t>
            </a:r>
          </a:p>
        </p:txBody>
      </p:sp>
    </p:spTree>
    <p:extLst>
      <p:ext uri="{BB962C8B-B14F-4D97-AF65-F5344CB8AC3E}">
        <p14:creationId xmlns:p14="http://schemas.microsoft.com/office/powerpoint/2010/main" val="798201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E1B9-98E7-468B-8C95-F689529F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versus single cell RNA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C536E-CA22-4791-BE29-8740F2768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675" y="1203325"/>
            <a:ext cx="5470525" cy="3087688"/>
          </a:xfrm>
        </p:spPr>
        <p:txBody>
          <a:bodyPr/>
          <a:lstStyle/>
          <a:p>
            <a:r>
              <a:rPr lang="en-US" sz="2000" dirty="0"/>
              <a:t>Bulk RNA sequencing measures the average expression levels of transcripts from multiple cells within a specimen</a:t>
            </a:r>
          </a:p>
          <a:p>
            <a:endParaRPr lang="en-US" sz="2000" dirty="0"/>
          </a:p>
          <a:p>
            <a:r>
              <a:rPr lang="en-US" sz="2000" dirty="0"/>
              <a:t>Single cell RNA sequencing measures the expression levels of transcripts at a single cell level</a:t>
            </a:r>
          </a:p>
          <a:p>
            <a:pPr lvl="1"/>
            <a:r>
              <a:rPr lang="en-US" sz="1600" dirty="0"/>
              <a:t>Addresses expression differences due to cell heterogeneity within a specimen</a:t>
            </a:r>
          </a:p>
          <a:p>
            <a:pPr lvl="1"/>
            <a:r>
              <a:rPr lang="en-US" sz="1600" dirty="0"/>
              <a:t>Allows identification of new cell populations</a:t>
            </a:r>
          </a:p>
        </p:txBody>
      </p:sp>
    </p:spTree>
    <p:extLst>
      <p:ext uri="{BB962C8B-B14F-4D97-AF65-F5344CB8AC3E}">
        <p14:creationId xmlns:p14="http://schemas.microsoft.com/office/powerpoint/2010/main" val="1943845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E1B9-98E7-468B-8C95-F689529F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85725"/>
            <a:ext cx="5280025" cy="561975"/>
          </a:xfrm>
        </p:spPr>
        <p:txBody>
          <a:bodyPr/>
          <a:lstStyle/>
          <a:p>
            <a:r>
              <a:rPr lang="en-US" dirty="0" err="1"/>
              <a:t>scRNAseq</a:t>
            </a:r>
            <a:r>
              <a:rPr lang="en-US" dirty="0"/>
              <a:t> general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C536E-CA22-4791-BE29-8740F2768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675" y="952500"/>
            <a:ext cx="5470525" cy="3338513"/>
          </a:xfrm>
        </p:spPr>
        <p:txBody>
          <a:bodyPr/>
          <a:lstStyle/>
          <a:p>
            <a:r>
              <a:rPr lang="en-US" sz="1600" dirty="0"/>
              <a:t>Isolation of single cell specimens</a:t>
            </a:r>
          </a:p>
          <a:p>
            <a:pPr lvl="1"/>
            <a:r>
              <a:rPr lang="en-US" sz="1600" dirty="0"/>
              <a:t>Digestion of tissue</a:t>
            </a:r>
          </a:p>
          <a:p>
            <a:r>
              <a:rPr lang="en-US" sz="1600" dirty="0"/>
              <a:t>Library construction</a:t>
            </a:r>
          </a:p>
          <a:p>
            <a:pPr lvl="1"/>
            <a:r>
              <a:rPr lang="en-US" sz="1600" dirty="0"/>
              <a:t>Intracellular mRNA is captured</a:t>
            </a:r>
          </a:p>
          <a:p>
            <a:pPr lvl="1"/>
            <a:r>
              <a:rPr lang="en-US" sz="1600" dirty="0"/>
              <a:t>RT to cDNA, amplification</a:t>
            </a:r>
          </a:p>
          <a:p>
            <a:pPr lvl="1"/>
            <a:r>
              <a:rPr lang="en-US" sz="1600" dirty="0"/>
              <a:t>Incorporation of unique molecular identifiers (UMIs) or barcodes (depending on protocol)</a:t>
            </a:r>
          </a:p>
          <a:p>
            <a:r>
              <a:rPr lang="en-US" sz="1600" dirty="0"/>
              <a:t>Libraries are pooled for sequencing</a:t>
            </a:r>
          </a:p>
          <a:p>
            <a:pPr lvl="1"/>
            <a:r>
              <a:rPr lang="en-US" sz="1600" dirty="0"/>
              <a:t>Reads are created</a:t>
            </a:r>
          </a:p>
          <a:p>
            <a:r>
              <a:rPr lang="en-US" sz="1600" dirty="0"/>
              <a:t>Demultiplexing of reads, QC, and downstream analysis</a:t>
            </a:r>
          </a:p>
          <a:p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0A9BF-E3E1-426B-8559-6029C5D05E69}"/>
              </a:ext>
            </a:extLst>
          </p:cNvPr>
          <p:cNvSpPr/>
          <p:nvPr/>
        </p:nvSpPr>
        <p:spPr>
          <a:xfrm>
            <a:off x="2960687" y="4533900"/>
            <a:ext cx="32004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https://www.embopress.org/doi/full/10.15252/msb.20188746</a:t>
            </a:r>
          </a:p>
        </p:txBody>
      </p:sp>
    </p:spTree>
    <p:extLst>
      <p:ext uri="{BB962C8B-B14F-4D97-AF65-F5344CB8AC3E}">
        <p14:creationId xmlns:p14="http://schemas.microsoft.com/office/powerpoint/2010/main" val="10270208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FF3882-A9B7-444A-9C40-C1D3ABBC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266700"/>
            <a:ext cx="5280025" cy="48577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scRNAseq</a:t>
            </a:r>
            <a:r>
              <a:rPr lang="en-US" dirty="0"/>
              <a:t> downstream analysis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3502E5-ECDD-4DFD-833B-2E89DCA34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104900"/>
            <a:ext cx="5775325" cy="838200"/>
          </a:xfrm>
        </p:spPr>
        <p:txBody>
          <a:bodyPr/>
          <a:lstStyle/>
          <a:p>
            <a:r>
              <a:rPr lang="en-US" sz="1200" dirty="0"/>
              <a:t>Data are </a:t>
            </a:r>
            <a:r>
              <a:rPr lang="en-US" sz="1200" dirty="0" err="1"/>
              <a:t>QC’d</a:t>
            </a:r>
            <a:r>
              <a:rPr lang="en-US" sz="1200" dirty="0"/>
              <a:t>, normalized, and analyzed for cell-specific patterns</a:t>
            </a:r>
          </a:p>
          <a:p>
            <a:r>
              <a:rPr lang="en-US" sz="1200" dirty="0"/>
              <a:t>Clustering and dimensionality reduction are often performed to visualize cell-specific expression</a:t>
            </a:r>
          </a:p>
          <a:p>
            <a:r>
              <a:rPr lang="en-US" sz="1200" dirty="0"/>
              <a:t>Cell-specific genes are used to associate clusters with cell identities, when known</a:t>
            </a:r>
          </a:p>
          <a:p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B2E9CE-C835-469C-BC69-F58EFA18E4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28" t="38321" r="3572" b="14964"/>
          <a:stretch/>
        </p:blipFill>
        <p:spPr>
          <a:xfrm>
            <a:off x="609600" y="2352675"/>
            <a:ext cx="4800600" cy="2133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A8D3709-8A6D-4C3F-B727-D221997A4EDF}"/>
              </a:ext>
            </a:extLst>
          </p:cNvPr>
          <p:cNvSpPr/>
          <p:nvPr/>
        </p:nvSpPr>
        <p:spPr>
          <a:xfrm>
            <a:off x="685800" y="4610100"/>
            <a:ext cx="577532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https://www.bioconductor.org/help/course-materials/2017/BioC2017/Day2/InvitedSpeakers/Biscuit_Azizi.pdf</a:t>
            </a:r>
          </a:p>
        </p:txBody>
      </p:sp>
    </p:spTree>
    <p:extLst>
      <p:ext uri="{BB962C8B-B14F-4D97-AF65-F5344CB8AC3E}">
        <p14:creationId xmlns:p14="http://schemas.microsoft.com/office/powerpoint/2010/main" val="988292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714375"/>
          </a:xfrm>
        </p:spPr>
        <p:txBody>
          <a:bodyPr/>
          <a:lstStyle/>
          <a:p>
            <a:r>
              <a:rPr lang="en-US" sz="3000"/>
              <a:t>References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1) Li Fugen, Stormo D Gary,. (2001) Selection of optimal DNA oligos for gene expression arrays.  </a:t>
            </a:r>
            <a:r>
              <a:rPr lang="en-US" sz="900" i="1"/>
              <a:t>Bioinformatics.  </a:t>
            </a:r>
            <a:r>
              <a:rPr lang="en-US" sz="900" b="1"/>
              <a:t>17</a:t>
            </a:r>
            <a:r>
              <a:rPr lang="en-US" sz="900"/>
              <a:t>,1067-1076.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2) The Paterson Institute: Onco-Informatics group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900">
                <a:solidFill>
                  <a:schemeClr val="hlink"/>
                </a:solidFill>
              </a:rPr>
              <a:t>	</a:t>
            </a:r>
            <a:r>
              <a:rPr lang="en-US" sz="900" i="1">
                <a:solidFill>
                  <a:schemeClr val="hlink"/>
                </a:solidFill>
                <a:hlinkClick r:id="rId2"/>
              </a:rPr>
              <a:t>http://bioinformatics.picr.man.ac.uk/mbcf/overview_ma.jsp</a:t>
            </a:r>
            <a:endParaRPr lang="en-US" sz="900" i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3) Shi et al., (2006) The MicroArray Quality Control (MAQC) project shows inter- and intraplatform reproducibility of gene expression measurements. </a:t>
            </a:r>
            <a:r>
              <a:rPr lang="en-US" sz="900" i="1"/>
              <a:t>Nature Biotech</a:t>
            </a:r>
            <a:r>
              <a:rPr lang="en-US" sz="900"/>
              <a:t>. </a:t>
            </a:r>
            <a:r>
              <a:rPr lang="en-US" sz="900" b="1"/>
              <a:t>24</a:t>
            </a:r>
            <a:r>
              <a:rPr lang="en-US" sz="900"/>
              <a:t>:1151-1161.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4) Yang Y, Dudoit S, Luu P, and Speed T.  Normalization for cDNA Microarray Data.  (2000</a:t>
            </a:r>
            <a:r>
              <a:rPr lang="en-US" sz="900" i="1"/>
              <a:t>) UC Berkeley Tech Report.</a:t>
            </a:r>
            <a:r>
              <a:rPr lang="en-US" sz="90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5) Irizarry R, Bolstad B, Collin F, Cope L, Hobbs B, and Speed T. (2003)  Summaries of Affymetrix GeneChip probe level data. </a:t>
            </a:r>
            <a:r>
              <a:rPr lang="en-US" sz="900" i="1"/>
              <a:t>Nucleic Acid Research</a:t>
            </a:r>
            <a:r>
              <a:rPr lang="en-US" sz="900"/>
              <a:t>.  </a:t>
            </a:r>
            <a:r>
              <a:rPr lang="en-US" sz="900" b="1"/>
              <a:t>31</a:t>
            </a:r>
            <a:r>
              <a:rPr lang="en-US" sz="900"/>
              <a:t>.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6) Dudoit, S., Gentleman, R., Irizarry, R., and Yang, Y. (2002)  Pre-processing in DNA microarray experiments. </a:t>
            </a:r>
            <a:r>
              <a:rPr lang="en-US" sz="900" i="1"/>
              <a:t>Bioconductor short course.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900"/>
              <a:t>7) Bolstad BM, Irizarry RA, Astrand M, and Speed T.  A comparison of normalization methods for high density oligonucleotide array based on variance bias.  </a:t>
            </a:r>
            <a:r>
              <a:rPr lang="en-US" sz="900" i="1"/>
              <a:t>Technical Report</a:t>
            </a:r>
            <a:r>
              <a:rPr lang="en-US" sz="900"/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39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39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536</TotalTime>
  <Words>3105</Words>
  <Application>Microsoft Office PowerPoint</Application>
  <PresentationFormat>Custom</PresentationFormat>
  <Paragraphs>393</Paragraphs>
  <Slides>52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Wingdings</vt:lpstr>
      <vt:lpstr>Network</vt:lpstr>
      <vt:lpstr>Bitmap Image</vt:lpstr>
      <vt:lpstr>Lecture #1</vt:lpstr>
      <vt:lpstr>Microarrays</vt:lpstr>
      <vt:lpstr>Purpose of microarrays</vt:lpstr>
      <vt:lpstr>Some definitions</vt:lpstr>
      <vt:lpstr>What is a microarray?</vt:lpstr>
      <vt:lpstr>Microarray concept</vt:lpstr>
      <vt:lpstr>Basic experimental process</vt:lpstr>
      <vt:lpstr>Where are microarrays used?</vt:lpstr>
      <vt:lpstr>Examples in practice: Mammaprint®</vt:lpstr>
      <vt:lpstr>Examples in practice: AclarusDx®</vt:lpstr>
      <vt:lpstr>Examples in practice: PAM50 Breast Cancer Intrinsic Classifier™</vt:lpstr>
      <vt:lpstr>Other examples that utilized microarrays to develop a gene signature</vt:lpstr>
      <vt:lpstr>Probe selection for array design</vt:lpstr>
      <vt:lpstr>Two primary microarray designs</vt:lpstr>
      <vt:lpstr>cDNA/Two channel arrays</vt:lpstr>
      <vt:lpstr>cDNA array technology</vt:lpstr>
      <vt:lpstr>cDNA array technology (cont.)</vt:lpstr>
      <vt:lpstr>cDNA array technology (cont.)</vt:lpstr>
      <vt:lpstr>cDNA array technology (cont.)</vt:lpstr>
      <vt:lpstr>cDNA microarray: from array to data</vt:lpstr>
      <vt:lpstr>Web-based custom array design by Agilent</vt:lpstr>
      <vt:lpstr>Oligonucleotide Arrays</vt:lpstr>
      <vt:lpstr>Oligonucleotide array design</vt:lpstr>
      <vt:lpstr>Oligonucleotide technology</vt:lpstr>
      <vt:lpstr>Oligonucleotide technology</vt:lpstr>
      <vt:lpstr>Oligonucleotide technology</vt:lpstr>
      <vt:lpstr>Oligonucleotide array</vt:lpstr>
      <vt:lpstr>Oligo technology instruments</vt:lpstr>
      <vt:lpstr>Nanostring</vt:lpstr>
      <vt:lpstr>Exons and splice variants</vt:lpstr>
      <vt:lpstr>PowerPoint Presentation</vt:lpstr>
      <vt:lpstr>PowerPoint Presentation</vt:lpstr>
      <vt:lpstr>Exons and splice variants</vt:lpstr>
      <vt:lpstr>Exon arrays</vt:lpstr>
      <vt:lpstr>Differences in array platforms</vt:lpstr>
      <vt:lpstr>Differences in array platforms</vt:lpstr>
      <vt:lpstr>Differences in array platforms</vt:lpstr>
      <vt:lpstr>Standards in the microarray community</vt:lpstr>
      <vt:lpstr>Interpreting the biology</vt:lpstr>
      <vt:lpstr>RNA sequencing</vt:lpstr>
      <vt:lpstr>RNA sequencing evolution</vt:lpstr>
      <vt:lpstr>RNA sequencing process flow</vt:lpstr>
      <vt:lpstr>RNA extraction and template preparation</vt:lpstr>
      <vt:lpstr>Three types of sequencing approaches</vt:lpstr>
      <vt:lpstr>Comparison of different RNA sequencing platforms</vt:lpstr>
      <vt:lpstr>RNA sequencing advantages</vt:lpstr>
      <vt:lpstr>Single cell RNA sequencing</vt:lpstr>
      <vt:lpstr>General process flow</vt:lpstr>
      <vt:lpstr>Bulk versus single cell RNA sequencing</vt:lpstr>
      <vt:lpstr>scRNAseq general steps</vt:lpstr>
      <vt:lpstr>scRNAseq downstream analysis</vt:lpstr>
      <vt:lpstr>References</vt:lpstr>
    </vt:vector>
  </TitlesOfParts>
  <Company>Gene Logic,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bhiggs</dc:creator>
  <cp:lastModifiedBy>Brandon Higgs (NJ)</cp:lastModifiedBy>
  <cp:revision>203</cp:revision>
  <dcterms:created xsi:type="dcterms:W3CDTF">2004-02-02T19:40:01Z</dcterms:created>
  <dcterms:modified xsi:type="dcterms:W3CDTF">2021-08-24T16:56:26Z</dcterms:modified>
</cp:coreProperties>
</file>