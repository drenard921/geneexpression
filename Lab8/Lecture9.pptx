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701" r:id="rId1"/>
  </p:sldMasterIdLst>
  <p:sldIdLst>
    <p:sldId id="256" r:id="rId2"/>
    <p:sldId id="314" r:id="rId3"/>
    <p:sldId id="315" r:id="rId4"/>
    <p:sldId id="316" r:id="rId5"/>
    <p:sldId id="335" r:id="rId6"/>
    <p:sldId id="318" r:id="rId7"/>
    <p:sldId id="319" r:id="rId8"/>
    <p:sldId id="320" r:id="rId9"/>
    <p:sldId id="321" r:id="rId10"/>
    <p:sldId id="363" r:id="rId11"/>
    <p:sldId id="364" r:id="rId12"/>
    <p:sldId id="365" r:id="rId13"/>
    <p:sldId id="366" r:id="rId14"/>
    <p:sldId id="367" r:id="rId15"/>
    <p:sldId id="368" r:id="rId16"/>
    <p:sldId id="369" r:id="rId17"/>
    <p:sldId id="370" r:id="rId18"/>
    <p:sldId id="324" r:id="rId19"/>
    <p:sldId id="325" r:id="rId20"/>
    <p:sldId id="326" r:id="rId21"/>
    <p:sldId id="327" r:id="rId22"/>
    <p:sldId id="328" r:id="rId23"/>
    <p:sldId id="329" r:id="rId24"/>
    <p:sldId id="330" r:id="rId25"/>
    <p:sldId id="331" r:id="rId26"/>
    <p:sldId id="332" r:id="rId27"/>
    <p:sldId id="333" r:id="rId28"/>
    <p:sldId id="334" r:id="rId29"/>
    <p:sldId id="336" r:id="rId30"/>
    <p:sldId id="337" r:id="rId31"/>
    <p:sldId id="339" r:id="rId32"/>
    <p:sldId id="343" r:id="rId33"/>
    <p:sldId id="342" r:id="rId34"/>
    <p:sldId id="341" r:id="rId35"/>
    <p:sldId id="340" r:id="rId36"/>
    <p:sldId id="344" r:id="rId37"/>
    <p:sldId id="345" r:id="rId38"/>
    <p:sldId id="346" r:id="rId39"/>
    <p:sldId id="347" r:id="rId40"/>
    <p:sldId id="348" r:id="rId41"/>
    <p:sldId id="351" r:id="rId42"/>
    <p:sldId id="352" r:id="rId43"/>
    <p:sldId id="353" r:id="rId44"/>
    <p:sldId id="354" r:id="rId45"/>
    <p:sldId id="355" r:id="rId46"/>
    <p:sldId id="356" r:id="rId47"/>
    <p:sldId id="357" r:id="rId48"/>
    <p:sldId id="358" r:id="rId49"/>
    <p:sldId id="359" r:id="rId50"/>
    <p:sldId id="360" r:id="rId51"/>
    <p:sldId id="361" r:id="rId52"/>
    <p:sldId id="362" r:id="rId53"/>
    <p:sldId id="273" r:id="rId54"/>
    <p:sldId id="313" r:id="rId55"/>
    <p:sldId id="350" r:id="rId56"/>
  </p:sldIdLst>
  <p:sldSz cx="6400800" cy="4800600"/>
  <p:notesSz cx="6858000" cy="9144000"/>
  <p:defaultTextStyle>
    <a:defPPr>
      <a:defRPr lang="en-US"/>
    </a:defPPr>
    <a:lvl1pPr algn="l" rtl="0" eaLnBrk="0" fontAlgn="base" hangingPunct="0">
      <a:spcBef>
        <a:spcPct val="0"/>
      </a:spcBef>
      <a:spcAft>
        <a:spcPct val="0"/>
      </a:spcAft>
      <a:defRPr sz="13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3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3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3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300" kern="1200">
        <a:solidFill>
          <a:schemeClr val="tx1"/>
        </a:solidFill>
        <a:latin typeface="Arial" panose="020B0604020202020204" pitchFamily="34" charset="0"/>
        <a:ea typeface="+mn-ea"/>
        <a:cs typeface="+mn-cs"/>
      </a:defRPr>
    </a:lvl5pPr>
    <a:lvl6pPr marL="2286000" algn="l" defTabSz="914400" rtl="0" eaLnBrk="1" latinLnBrk="0" hangingPunct="1">
      <a:defRPr sz="1300" kern="1200">
        <a:solidFill>
          <a:schemeClr val="tx1"/>
        </a:solidFill>
        <a:latin typeface="Arial" panose="020B0604020202020204" pitchFamily="34" charset="0"/>
        <a:ea typeface="+mn-ea"/>
        <a:cs typeface="+mn-cs"/>
      </a:defRPr>
    </a:lvl6pPr>
    <a:lvl7pPr marL="2743200" algn="l" defTabSz="914400" rtl="0" eaLnBrk="1" latinLnBrk="0" hangingPunct="1">
      <a:defRPr sz="1300" kern="1200">
        <a:solidFill>
          <a:schemeClr val="tx1"/>
        </a:solidFill>
        <a:latin typeface="Arial" panose="020B0604020202020204" pitchFamily="34" charset="0"/>
        <a:ea typeface="+mn-ea"/>
        <a:cs typeface="+mn-cs"/>
      </a:defRPr>
    </a:lvl7pPr>
    <a:lvl8pPr marL="3200400" algn="l" defTabSz="914400" rtl="0" eaLnBrk="1" latinLnBrk="0" hangingPunct="1">
      <a:defRPr sz="1300" kern="1200">
        <a:solidFill>
          <a:schemeClr val="tx1"/>
        </a:solidFill>
        <a:latin typeface="Arial" panose="020B0604020202020204" pitchFamily="34" charset="0"/>
        <a:ea typeface="+mn-ea"/>
        <a:cs typeface="+mn-cs"/>
      </a:defRPr>
    </a:lvl8pPr>
    <a:lvl9pPr marL="3657600" algn="l" defTabSz="914400" rtl="0" eaLnBrk="1" latinLnBrk="0" hangingPunct="1">
      <a:defRPr sz="13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512">
          <p15:clr>
            <a:srgbClr val="A4A3A4"/>
          </p15:clr>
        </p15:guide>
        <p15:guide id="2" pos="20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50" autoAdjust="0"/>
    <p:restoredTop sz="94717" autoAdjust="0"/>
  </p:normalViewPr>
  <p:slideViewPr>
    <p:cSldViewPr>
      <p:cViewPr varScale="1">
        <p:scale>
          <a:sx n="152" d="100"/>
          <a:sy n="152" d="100"/>
        </p:scale>
        <p:origin x="1664" y="184"/>
      </p:cViewPr>
      <p:guideLst>
        <p:guide orient="horz" pos="1512"/>
        <p:guide pos="201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396BE195-8940-4CCD-1EAE-91F7E48E860D}"/>
              </a:ext>
            </a:extLst>
          </p:cNvPr>
          <p:cNvSpPr>
            <a:spLocks noChangeShapeType="1"/>
          </p:cNvSpPr>
          <p:nvPr/>
        </p:nvSpPr>
        <p:spPr bwMode="auto">
          <a:xfrm>
            <a:off x="5121275" y="746125"/>
            <a:ext cx="0" cy="314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3" name="Group 8">
            <a:extLst>
              <a:ext uri="{FF2B5EF4-FFF2-40B4-BE49-F238E27FC236}">
                <a16:creationId xmlns:a16="http://schemas.microsoft.com/office/drawing/2014/main" id="{9F09BBED-3CB3-ECEC-14AC-D398FEC4B876}"/>
              </a:ext>
            </a:extLst>
          </p:cNvPr>
          <p:cNvGrpSpPr>
            <a:grpSpLocks/>
          </p:cNvGrpSpPr>
          <p:nvPr/>
        </p:nvGrpSpPr>
        <p:grpSpPr bwMode="auto">
          <a:xfrm>
            <a:off x="5245100" y="2093913"/>
            <a:ext cx="936625" cy="1533525"/>
            <a:chOff x="4704" y="1885"/>
            <a:chExt cx="843" cy="1379"/>
          </a:xfrm>
        </p:grpSpPr>
        <p:sp>
          <p:nvSpPr>
            <p:cNvPr id="4" name="Oval 9">
              <a:extLst>
                <a:ext uri="{FF2B5EF4-FFF2-40B4-BE49-F238E27FC236}">
                  <a16:creationId xmlns:a16="http://schemas.microsoft.com/office/drawing/2014/main" id="{E580356D-D767-4D24-802B-8FECAD6B0711}"/>
                </a:ext>
              </a:extLst>
            </p:cNvPr>
            <p:cNvSpPr>
              <a:spLocks noChangeArrowheads="1"/>
            </p:cNvSpPr>
            <p:nvPr/>
          </p:nvSpPr>
          <p:spPr bwMode="auto">
            <a:xfrm>
              <a:off x="4704" y="1885"/>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5" name="Oval 10">
              <a:extLst>
                <a:ext uri="{FF2B5EF4-FFF2-40B4-BE49-F238E27FC236}">
                  <a16:creationId xmlns:a16="http://schemas.microsoft.com/office/drawing/2014/main" id="{43474E63-9356-DDC2-C613-D706F67EDDDD}"/>
                </a:ext>
              </a:extLst>
            </p:cNvPr>
            <p:cNvSpPr>
              <a:spLocks noChangeArrowheads="1"/>
            </p:cNvSpPr>
            <p:nvPr/>
          </p:nvSpPr>
          <p:spPr bwMode="auto">
            <a:xfrm>
              <a:off x="4883" y="1885"/>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6" name="Oval 11">
              <a:extLst>
                <a:ext uri="{FF2B5EF4-FFF2-40B4-BE49-F238E27FC236}">
                  <a16:creationId xmlns:a16="http://schemas.microsoft.com/office/drawing/2014/main" id="{71636CE6-5F06-4D13-8E0A-8151F8907D70}"/>
                </a:ext>
              </a:extLst>
            </p:cNvPr>
            <p:cNvSpPr>
              <a:spLocks noChangeArrowheads="1"/>
            </p:cNvSpPr>
            <p:nvPr/>
          </p:nvSpPr>
          <p:spPr bwMode="auto">
            <a:xfrm>
              <a:off x="5063" y="1885"/>
              <a:ext cx="126"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7" name="Oval 12">
              <a:extLst>
                <a:ext uri="{FF2B5EF4-FFF2-40B4-BE49-F238E27FC236}">
                  <a16:creationId xmlns:a16="http://schemas.microsoft.com/office/drawing/2014/main" id="{C30D57EA-A584-DCED-0071-7217806D2342}"/>
                </a:ext>
              </a:extLst>
            </p:cNvPr>
            <p:cNvSpPr>
              <a:spLocks noChangeArrowheads="1"/>
            </p:cNvSpPr>
            <p:nvPr/>
          </p:nvSpPr>
          <p:spPr bwMode="auto">
            <a:xfrm>
              <a:off x="4704" y="2063"/>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8" name="Oval 13">
              <a:extLst>
                <a:ext uri="{FF2B5EF4-FFF2-40B4-BE49-F238E27FC236}">
                  <a16:creationId xmlns:a16="http://schemas.microsoft.com/office/drawing/2014/main" id="{B56851A6-6573-4811-705F-F8E16056CECE}"/>
                </a:ext>
              </a:extLst>
            </p:cNvPr>
            <p:cNvSpPr>
              <a:spLocks noChangeArrowheads="1"/>
            </p:cNvSpPr>
            <p:nvPr/>
          </p:nvSpPr>
          <p:spPr bwMode="auto">
            <a:xfrm>
              <a:off x="4883" y="2063"/>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9" name="Oval 14">
              <a:extLst>
                <a:ext uri="{FF2B5EF4-FFF2-40B4-BE49-F238E27FC236}">
                  <a16:creationId xmlns:a16="http://schemas.microsoft.com/office/drawing/2014/main" id="{27FE8A0F-6A55-858C-C0AD-923823A405F9}"/>
                </a:ext>
              </a:extLst>
            </p:cNvPr>
            <p:cNvSpPr>
              <a:spLocks noChangeArrowheads="1"/>
            </p:cNvSpPr>
            <p:nvPr/>
          </p:nvSpPr>
          <p:spPr bwMode="auto">
            <a:xfrm>
              <a:off x="5063" y="2063"/>
              <a:ext cx="126"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 name="Oval 15">
              <a:extLst>
                <a:ext uri="{FF2B5EF4-FFF2-40B4-BE49-F238E27FC236}">
                  <a16:creationId xmlns:a16="http://schemas.microsoft.com/office/drawing/2014/main" id="{4D6E829B-B4BA-4130-18EB-BC3D6F257F8E}"/>
                </a:ext>
              </a:extLst>
            </p:cNvPr>
            <p:cNvSpPr>
              <a:spLocks noChangeArrowheads="1"/>
            </p:cNvSpPr>
            <p:nvPr/>
          </p:nvSpPr>
          <p:spPr bwMode="auto">
            <a:xfrm>
              <a:off x="5241" y="2063"/>
              <a:ext cx="127" cy="127"/>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1" name="Oval 16">
              <a:extLst>
                <a:ext uri="{FF2B5EF4-FFF2-40B4-BE49-F238E27FC236}">
                  <a16:creationId xmlns:a16="http://schemas.microsoft.com/office/drawing/2014/main" id="{D72C8CE5-939C-72AB-912C-8F387FF2DF6B}"/>
                </a:ext>
              </a:extLst>
            </p:cNvPr>
            <p:cNvSpPr>
              <a:spLocks noChangeArrowheads="1"/>
            </p:cNvSpPr>
            <p:nvPr/>
          </p:nvSpPr>
          <p:spPr bwMode="auto">
            <a:xfrm>
              <a:off x="4704" y="2243"/>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2" name="Oval 17">
              <a:extLst>
                <a:ext uri="{FF2B5EF4-FFF2-40B4-BE49-F238E27FC236}">
                  <a16:creationId xmlns:a16="http://schemas.microsoft.com/office/drawing/2014/main" id="{12248367-3794-539A-D0DD-55861E319958}"/>
                </a:ext>
              </a:extLst>
            </p:cNvPr>
            <p:cNvSpPr>
              <a:spLocks noChangeArrowheads="1"/>
            </p:cNvSpPr>
            <p:nvPr/>
          </p:nvSpPr>
          <p:spPr bwMode="auto">
            <a:xfrm>
              <a:off x="4883" y="2243"/>
              <a:ext cx="127" cy="127"/>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3" name="Oval 18">
              <a:extLst>
                <a:ext uri="{FF2B5EF4-FFF2-40B4-BE49-F238E27FC236}">
                  <a16:creationId xmlns:a16="http://schemas.microsoft.com/office/drawing/2014/main" id="{21B627D2-1A18-ACE7-29E8-0FF70859C2EF}"/>
                </a:ext>
              </a:extLst>
            </p:cNvPr>
            <p:cNvSpPr>
              <a:spLocks noChangeArrowheads="1"/>
            </p:cNvSpPr>
            <p:nvPr/>
          </p:nvSpPr>
          <p:spPr bwMode="auto">
            <a:xfrm>
              <a:off x="5063" y="2243"/>
              <a:ext cx="126" cy="127"/>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4" name="Oval 19">
              <a:extLst>
                <a:ext uri="{FF2B5EF4-FFF2-40B4-BE49-F238E27FC236}">
                  <a16:creationId xmlns:a16="http://schemas.microsoft.com/office/drawing/2014/main" id="{D413B3F0-CD06-B3AF-AE30-741599C1710D}"/>
                </a:ext>
              </a:extLst>
            </p:cNvPr>
            <p:cNvSpPr>
              <a:spLocks noChangeArrowheads="1"/>
            </p:cNvSpPr>
            <p:nvPr/>
          </p:nvSpPr>
          <p:spPr bwMode="auto">
            <a:xfrm>
              <a:off x="5241" y="2243"/>
              <a:ext cx="127" cy="127"/>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5" name="Oval 20">
              <a:extLst>
                <a:ext uri="{FF2B5EF4-FFF2-40B4-BE49-F238E27FC236}">
                  <a16:creationId xmlns:a16="http://schemas.microsoft.com/office/drawing/2014/main" id="{3F5726AC-757E-1705-F753-5F3C0C6C9D4A}"/>
                </a:ext>
              </a:extLst>
            </p:cNvPr>
            <p:cNvSpPr>
              <a:spLocks noChangeArrowheads="1"/>
            </p:cNvSpPr>
            <p:nvPr/>
          </p:nvSpPr>
          <p:spPr bwMode="auto">
            <a:xfrm>
              <a:off x="5420" y="2243"/>
              <a:ext cx="127" cy="127"/>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6" name="Oval 21">
              <a:extLst>
                <a:ext uri="{FF2B5EF4-FFF2-40B4-BE49-F238E27FC236}">
                  <a16:creationId xmlns:a16="http://schemas.microsoft.com/office/drawing/2014/main" id="{B175572F-1C47-29A1-CFC6-AE87897E134C}"/>
                </a:ext>
              </a:extLst>
            </p:cNvPr>
            <p:cNvSpPr>
              <a:spLocks noChangeArrowheads="1"/>
            </p:cNvSpPr>
            <p:nvPr/>
          </p:nvSpPr>
          <p:spPr bwMode="auto">
            <a:xfrm>
              <a:off x="4704" y="2420"/>
              <a:ext cx="127" cy="128"/>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7" name="Oval 22">
              <a:extLst>
                <a:ext uri="{FF2B5EF4-FFF2-40B4-BE49-F238E27FC236}">
                  <a16:creationId xmlns:a16="http://schemas.microsoft.com/office/drawing/2014/main" id="{A7111FCF-47B5-EFAF-427E-8714BA9E2405}"/>
                </a:ext>
              </a:extLst>
            </p:cNvPr>
            <p:cNvSpPr>
              <a:spLocks noChangeArrowheads="1"/>
            </p:cNvSpPr>
            <p:nvPr/>
          </p:nvSpPr>
          <p:spPr bwMode="auto">
            <a:xfrm>
              <a:off x="4883" y="2420"/>
              <a:ext cx="127" cy="128"/>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8" name="Oval 23">
              <a:extLst>
                <a:ext uri="{FF2B5EF4-FFF2-40B4-BE49-F238E27FC236}">
                  <a16:creationId xmlns:a16="http://schemas.microsoft.com/office/drawing/2014/main" id="{64093DBB-2F11-9D9E-A63E-21AA4CC3AE55}"/>
                </a:ext>
              </a:extLst>
            </p:cNvPr>
            <p:cNvSpPr>
              <a:spLocks noChangeArrowheads="1"/>
            </p:cNvSpPr>
            <p:nvPr/>
          </p:nvSpPr>
          <p:spPr bwMode="auto">
            <a:xfrm>
              <a:off x="5063" y="2420"/>
              <a:ext cx="126" cy="128"/>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9" name="Oval 24">
              <a:extLst>
                <a:ext uri="{FF2B5EF4-FFF2-40B4-BE49-F238E27FC236}">
                  <a16:creationId xmlns:a16="http://schemas.microsoft.com/office/drawing/2014/main" id="{233D720D-B899-6D9A-FC32-72F1C587E93B}"/>
                </a:ext>
              </a:extLst>
            </p:cNvPr>
            <p:cNvSpPr>
              <a:spLocks noChangeArrowheads="1"/>
            </p:cNvSpPr>
            <p:nvPr/>
          </p:nvSpPr>
          <p:spPr bwMode="auto">
            <a:xfrm>
              <a:off x="5241" y="2420"/>
              <a:ext cx="127" cy="128"/>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0" name="Oval 25">
              <a:extLst>
                <a:ext uri="{FF2B5EF4-FFF2-40B4-BE49-F238E27FC236}">
                  <a16:creationId xmlns:a16="http://schemas.microsoft.com/office/drawing/2014/main" id="{841E0EA9-4446-B7D4-DA96-50AFC28771F9}"/>
                </a:ext>
              </a:extLst>
            </p:cNvPr>
            <p:cNvSpPr>
              <a:spLocks noChangeArrowheads="1"/>
            </p:cNvSpPr>
            <p:nvPr/>
          </p:nvSpPr>
          <p:spPr bwMode="auto">
            <a:xfrm>
              <a:off x="4704" y="2600"/>
              <a:ext cx="127" cy="128"/>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1" name="Oval 26">
              <a:extLst>
                <a:ext uri="{FF2B5EF4-FFF2-40B4-BE49-F238E27FC236}">
                  <a16:creationId xmlns:a16="http://schemas.microsoft.com/office/drawing/2014/main" id="{D9012BAE-BFBF-42AF-263E-B383B043C5FA}"/>
                </a:ext>
              </a:extLst>
            </p:cNvPr>
            <p:cNvSpPr>
              <a:spLocks noChangeArrowheads="1"/>
            </p:cNvSpPr>
            <p:nvPr/>
          </p:nvSpPr>
          <p:spPr bwMode="auto">
            <a:xfrm>
              <a:off x="4883" y="2600"/>
              <a:ext cx="127" cy="128"/>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2" name="Oval 27">
              <a:extLst>
                <a:ext uri="{FF2B5EF4-FFF2-40B4-BE49-F238E27FC236}">
                  <a16:creationId xmlns:a16="http://schemas.microsoft.com/office/drawing/2014/main" id="{E0A4E3E0-1177-5F26-B091-3195797403AB}"/>
                </a:ext>
              </a:extLst>
            </p:cNvPr>
            <p:cNvSpPr>
              <a:spLocks noChangeArrowheads="1"/>
            </p:cNvSpPr>
            <p:nvPr/>
          </p:nvSpPr>
          <p:spPr bwMode="auto">
            <a:xfrm>
              <a:off x="5063" y="2600"/>
              <a:ext cx="126" cy="128"/>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3" name="Oval 28">
              <a:extLst>
                <a:ext uri="{FF2B5EF4-FFF2-40B4-BE49-F238E27FC236}">
                  <a16:creationId xmlns:a16="http://schemas.microsoft.com/office/drawing/2014/main" id="{61F125BD-968F-911B-7A2F-4D360A4CB51D}"/>
                </a:ext>
              </a:extLst>
            </p:cNvPr>
            <p:cNvSpPr>
              <a:spLocks noChangeArrowheads="1"/>
            </p:cNvSpPr>
            <p:nvPr/>
          </p:nvSpPr>
          <p:spPr bwMode="auto">
            <a:xfrm>
              <a:off x="5241" y="2600"/>
              <a:ext cx="127" cy="128"/>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4" name="Oval 29">
              <a:extLst>
                <a:ext uri="{FF2B5EF4-FFF2-40B4-BE49-F238E27FC236}">
                  <a16:creationId xmlns:a16="http://schemas.microsoft.com/office/drawing/2014/main" id="{010D1BEC-731E-2E94-48F0-30E2E73F58C7}"/>
                </a:ext>
              </a:extLst>
            </p:cNvPr>
            <p:cNvSpPr>
              <a:spLocks noChangeArrowheads="1"/>
            </p:cNvSpPr>
            <p:nvPr/>
          </p:nvSpPr>
          <p:spPr bwMode="auto">
            <a:xfrm>
              <a:off x="5420" y="2600"/>
              <a:ext cx="127" cy="128"/>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5" name="Oval 30">
              <a:extLst>
                <a:ext uri="{FF2B5EF4-FFF2-40B4-BE49-F238E27FC236}">
                  <a16:creationId xmlns:a16="http://schemas.microsoft.com/office/drawing/2014/main" id="{72697430-F2B4-9A9F-5DB3-C56580DC9445}"/>
                </a:ext>
              </a:extLst>
            </p:cNvPr>
            <p:cNvSpPr>
              <a:spLocks noChangeArrowheads="1"/>
            </p:cNvSpPr>
            <p:nvPr/>
          </p:nvSpPr>
          <p:spPr bwMode="auto">
            <a:xfrm>
              <a:off x="4704" y="2779"/>
              <a:ext cx="127" cy="127"/>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6" name="Oval 31">
              <a:extLst>
                <a:ext uri="{FF2B5EF4-FFF2-40B4-BE49-F238E27FC236}">
                  <a16:creationId xmlns:a16="http://schemas.microsoft.com/office/drawing/2014/main" id="{D3B2A5B1-A726-2E51-5347-6301518F651C}"/>
                </a:ext>
              </a:extLst>
            </p:cNvPr>
            <p:cNvSpPr>
              <a:spLocks noChangeArrowheads="1"/>
            </p:cNvSpPr>
            <p:nvPr/>
          </p:nvSpPr>
          <p:spPr bwMode="auto">
            <a:xfrm>
              <a:off x="4883" y="2779"/>
              <a:ext cx="127" cy="127"/>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7" name="Oval 32">
              <a:extLst>
                <a:ext uri="{FF2B5EF4-FFF2-40B4-BE49-F238E27FC236}">
                  <a16:creationId xmlns:a16="http://schemas.microsoft.com/office/drawing/2014/main" id="{3F68983F-4659-68F1-D5E5-3315D53A2F35}"/>
                </a:ext>
              </a:extLst>
            </p:cNvPr>
            <p:cNvSpPr>
              <a:spLocks noChangeArrowheads="1"/>
            </p:cNvSpPr>
            <p:nvPr/>
          </p:nvSpPr>
          <p:spPr bwMode="auto">
            <a:xfrm>
              <a:off x="5063" y="2779"/>
              <a:ext cx="126" cy="127"/>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8" name="Oval 33">
              <a:extLst>
                <a:ext uri="{FF2B5EF4-FFF2-40B4-BE49-F238E27FC236}">
                  <a16:creationId xmlns:a16="http://schemas.microsoft.com/office/drawing/2014/main" id="{F3D3B10F-A97F-681F-0E6A-59C1325C540B}"/>
                </a:ext>
              </a:extLst>
            </p:cNvPr>
            <p:cNvSpPr>
              <a:spLocks noChangeArrowheads="1"/>
            </p:cNvSpPr>
            <p:nvPr/>
          </p:nvSpPr>
          <p:spPr bwMode="auto">
            <a:xfrm>
              <a:off x="5241" y="2779"/>
              <a:ext cx="127" cy="127"/>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29" name="Oval 34">
              <a:extLst>
                <a:ext uri="{FF2B5EF4-FFF2-40B4-BE49-F238E27FC236}">
                  <a16:creationId xmlns:a16="http://schemas.microsoft.com/office/drawing/2014/main" id="{BB7EA438-184F-9DB3-C2BB-581694E97733}"/>
                </a:ext>
              </a:extLst>
            </p:cNvPr>
            <p:cNvSpPr>
              <a:spLocks noChangeArrowheads="1"/>
            </p:cNvSpPr>
            <p:nvPr/>
          </p:nvSpPr>
          <p:spPr bwMode="auto">
            <a:xfrm>
              <a:off x="4704" y="2959"/>
              <a:ext cx="127" cy="127"/>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30" name="Oval 35">
              <a:extLst>
                <a:ext uri="{FF2B5EF4-FFF2-40B4-BE49-F238E27FC236}">
                  <a16:creationId xmlns:a16="http://schemas.microsoft.com/office/drawing/2014/main" id="{94727A4D-1B87-0A9F-1E38-6A8A1D8761CD}"/>
                </a:ext>
              </a:extLst>
            </p:cNvPr>
            <p:cNvSpPr>
              <a:spLocks noChangeArrowheads="1"/>
            </p:cNvSpPr>
            <p:nvPr/>
          </p:nvSpPr>
          <p:spPr bwMode="auto">
            <a:xfrm>
              <a:off x="4883" y="2959"/>
              <a:ext cx="127" cy="127"/>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31" name="Oval 36">
              <a:extLst>
                <a:ext uri="{FF2B5EF4-FFF2-40B4-BE49-F238E27FC236}">
                  <a16:creationId xmlns:a16="http://schemas.microsoft.com/office/drawing/2014/main" id="{95BBE5C1-165C-920E-A7EC-C87F390E0571}"/>
                </a:ext>
              </a:extLst>
            </p:cNvPr>
            <p:cNvSpPr>
              <a:spLocks noChangeArrowheads="1"/>
            </p:cNvSpPr>
            <p:nvPr/>
          </p:nvSpPr>
          <p:spPr bwMode="auto">
            <a:xfrm>
              <a:off x="5063" y="2959"/>
              <a:ext cx="126" cy="127"/>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32" name="Oval 37">
              <a:extLst>
                <a:ext uri="{FF2B5EF4-FFF2-40B4-BE49-F238E27FC236}">
                  <a16:creationId xmlns:a16="http://schemas.microsoft.com/office/drawing/2014/main" id="{987C66DF-29BD-4A0F-E889-383D99109379}"/>
                </a:ext>
              </a:extLst>
            </p:cNvPr>
            <p:cNvSpPr>
              <a:spLocks noChangeArrowheads="1"/>
            </p:cNvSpPr>
            <p:nvPr/>
          </p:nvSpPr>
          <p:spPr bwMode="auto">
            <a:xfrm>
              <a:off x="5241" y="2959"/>
              <a:ext cx="127" cy="127"/>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33" name="Oval 38">
              <a:extLst>
                <a:ext uri="{FF2B5EF4-FFF2-40B4-BE49-F238E27FC236}">
                  <a16:creationId xmlns:a16="http://schemas.microsoft.com/office/drawing/2014/main" id="{1E7471A3-C504-5838-A1B3-1156177D05F6}"/>
                </a:ext>
              </a:extLst>
            </p:cNvPr>
            <p:cNvSpPr>
              <a:spLocks noChangeArrowheads="1"/>
            </p:cNvSpPr>
            <p:nvPr/>
          </p:nvSpPr>
          <p:spPr bwMode="auto">
            <a:xfrm>
              <a:off x="4883" y="3137"/>
              <a:ext cx="127" cy="127"/>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34" name="Oval 39">
              <a:extLst>
                <a:ext uri="{FF2B5EF4-FFF2-40B4-BE49-F238E27FC236}">
                  <a16:creationId xmlns:a16="http://schemas.microsoft.com/office/drawing/2014/main" id="{42DF913A-0078-E252-F824-698005BD2813}"/>
                </a:ext>
              </a:extLst>
            </p:cNvPr>
            <p:cNvSpPr>
              <a:spLocks noChangeArrowheads="1"/>
            </p:cNvSpPr>
            <p:nvPr/>
          </p:nvSpPr>
          <p:spPr bwMode="auto">
            <a:xfrm>
              <a:off x="5241" y="3137"/>
              <a:ext cx="127" cy="127"/>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grpSp>
      <p:sp>
        <p:nvSpPr>
          <p:cNvPr id="35" name="Line 40">
            <a:extLst>
              <a:ext uri="{FF2B5EF4-FFF2-40B4-BE49-F238E27FC236}">
                <a16:creationId xmlns:a16="http://schemas.microsoft.com/office/drawing/2014/main" id="{F070E5D0-84B4-C63D-4830-D4FB43E3B01B}"/>
              </a:ext>
            </a:extLst>
          </p:cNvPr>
          <p:cNvSpPr>
            <a:spLocks noChangeShapeType="1"/>
          </p:cNvSpPr>
          <p:nvPr/>
        </p:nvSpPr>
        <p:spPr bwMode="auto">
          <a:xfrm>
            <a:off x="212725" y="1973263"/>
            <a:ext cx="5761038"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67" name="Rectangle 3"/>
          <p:cNvSpPr>
            <a:spLocks noGrp="1" noChangeArrowheads="1"/>
          </p:cNvSpPr>
          <p:nvPr>
            <p:ph type="ctrTitle"/>
          </p:nvPr>
        </p:nvSpPr>
        <p:spPr>
          <a:xfrm>
            <a:off x="220663" y="327025"/>
            <a:ext cx="4748212" cy="1493838"/>
          </a:xfrm>
        </p:spPr>
        <p:txBody>
          <a:bodyPr/>
          <a:lstStyle>
            <a:lvl1pPr algn="r">
              <a:defRPr sz="3400"/>
            </a:lvl1pPr>
          </a:lstStyle>
          <a:p>
            <a:pPr lvl="0"/>
            <a:r>
              <a:rPr lang="en-US" altLang="en-US" noProof="0"/>
              <a:t>Click to edit Master title style</a:t>
            </a:r>
          </a:p>
        </p:txBody>
      </p:sp>
      <p:sp>
        <p:nvSpPr>
          <p:cNvPr id="62468" name="Rectangle 4"/>
          <p:cNvSpPr>
            <a:spLocks noGrp="1" noChangeArrowheads="1"/>
          </p:cNvSpPr>
          <p:nvPr>
            <p:ph type="subTitle" idx="1"/>
          </p:nvPr>
        </p:nvSpPr>
        <p:spPr>
          <a:xfrm>
            <a:off x="595313" y="2135188"/>
            <a:ext cx="4373562" cy="1652587"/>
          </a:xfrm>
        </p:spPr>
        <p:txBody>
          <a:bodyPr/>
          <a:lstStyle>
            <a:lvl1pPr marL="0" indent="0" algn="r">
              <a:buFont typeface="Wingdings" panose="05000000000000000000" pitchFamily="2" charset="2"/>
              <a:buNone/>
              <a:defRPr sz="2200"/>
            </a:lvl1pPr>
          </a:lstStyle>
          <a:p>
            <a:pPr lvl="0"/>
            <a:r>
              <a:rPr lang="en-US" altLang="en-US" noProof="0"/>
              <a:t>Click to edit Master subtitle style</a:t>
            </a:r>
          </a:p>
        </p:txBody>
      </p:sp>
      <p:sp>
        <p:nvSpPr>
          <p:cNvPr id="36" name="Rectangle 5">
            <a:extLst>
              <a:ext uri="{FF2B5EF4-FFF2-40B4-BE49-F238E27FC236}">
                <a16:creationId xmlns:a16="http://schemas.microsoft.com/office/drawing/2014/main" id="{64169251-76A5-3251-2B5D-EAEA9A9C5127}"/>
              </a:ext>
            </a:extLst>
          </p:cNvPr>
          <p:cNvSpPr>
            <a:spLocks noGrp="1" noChangeArrowheads="1"/>
          </p:cNvSpPr>
          <p:nvPr>
            <p:ph type="dt" sz="half" idx="10"/>
          </p:nvPr>
        </p:nvSpPr>
        <p:spPr/>
        <p:txBody>
          <a:bodyPr/>
          <a:lstStyle>
            <a:lvl1pPr>
              <a:defRPr/>
            </a:lvl1pPr>
          </a:lstStyle>
          <a:p>
            <a:pPr>
              <a:defRPr/>
            </a:pPr>
            <a:endParaRPr lang="en-US" altLang="en-US"/>
          </a:p>
        </p:txBody>
      </p:sp>
      <p:sp>
        <p:nvSpPr>
          <p:cNvPr id="37" name="Rectangle 6">
            <a:extLst>
              <a:ext uri="{FF2B5EF4-FFF2-40B4-BE49-F238E27FC236}">
                <a16:creationId xmlns:a16="http://schemas.microsoft.com/office/drawing/2014/main" id="{DE924AEA-0932-79B1-1676-EE8C2FB52168}"/>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38" name="Rectangle 7">
            <a:extLst>
              <a:ext uri="{FF2B5EF4-FFF2-40B4-BE49-F238E27FC236}">
                <a16:creationId xmlns:a16="http://schemas.microsoft.com/office/drawing/2014/main" id="{DA1A0FAF-B942-3C1B-3A7B-D1002620DE46}"/>
              </a:ext>
            </a:extLst>
          </p:cNvPr>
          <p:cNvSpPr>
            <a:spLocks noGrp="1" noChangeArrowheads="1"/>
          </p:cNvSpPr>
          <p:nvPr>
            <p:ph type="sldNum" sz="quarter" idx="12"/>
          </p:nvPr>
        </p:nvSpPr>
        <p:spPr/>
        <p:txBody>
          <a:bodyPr/>
          <a:lstStyle>
            <a:lvl1pPr>
              <a:defRPr/>
            </a:lvl1pPr>
          </a:lstStyle>
          <a:p>
            <a:pPr>
              <a:defRPr/>
            </a:pPr>
            <a:fld id="{8629F9B8-65B8-9E49-BF0D-F8DDF5259163}" type="slidenum">
              <a:rPr lang="en-US" altLang="en-US"/>
              <a:pPr>
                <a:defRPr/>
              </a:pPr>
              <a:t>‹#›</a:t>
            </a:fld>
            <a:endParaRPr lang="en-US" altLang="en-US"/>
          </a:p>
        </p:txBody>
      </p:sp>
    </p:spTree>
    <p:extLst>
      <p:ext uri="{BB962C8B-B14F-4D97-AF65-F5344CB8AC3E}">
        <p14:creationId xmlns:p14="http://schemas.microsoft.com/office/powerpoint/2010/main" val="2207837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1D948A1-A12D-057B-5270-AFE357B718D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0068D79-793E-BCF0-3E5A-CCBD2F5E150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293061FC-A36D-75DA-5587-0ABD8AA641BF}"/>
              </a:ext>
            </a:extLst>
          </p:cNvPr>
          <p:cNvSpPr>
            <a:spLocks noGrp="1" noChangeArrowheads="1"/>
          </p:cNvSpPr>
          <p:nvPr>
            <p:ph type="sldNum" sz="quarter" idx="12"/>
          </p:nvPr>
        </p:nvSpPr>
        <p:spPr>
          <a:ln/>
        </p:spPr>
        <p:txBody>
          <a:bodyPr/>
          <a:lstStyle>
            <a:lvl1pPr>
              <a:defRPr/>
            </a:lvl1pPr>
          </a:lstStyle>
          <a:p>
            <a:pPr>
              <a:defRPr/>
            </a:pPr>
            <a:fld id="{D9801461-B403-6447-A1E1-0F82B1695BB4}" type="slidenum">
              <a:rPr lang="en-US" altLang="en-US"/>
              <a:pPr>
                <a:defRPr/>
              </a:pPr>
              <a:t>‹#›</a:t>
            </a:fld>
            <a:endParaRPr lang="en-US" altLang="en-US"/>
          </a:p>
        </p:txBody>
      </p:sp>
    </p:spTree>
    <p:extLst>
      <p:ext uri="{BB962C8B-B14F-4D97-AF65-F5344CB8AC3E}">
        <p14:creationId xmlns:p14="http://schemas.microsoft.com/office/powerpoint/2010/main" val="2453986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36563" y="1196975"/>
            <a:ext cx="5521325" cy="1997075"/>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436563" y="3213100"/>
            <a:ext cx="5521325" cy="10493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5">
            <a:extLst>
              <a:ext uri="{FF2B5EF4-FFF2-40B4-BE49-F238E27FC236}">
                <a16:creationId xmlns:a16="http://schemas.microsoft.com/office/drawing/2014/main" id="{FA9CF678-48D1-B592-3211-BADAF49583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B9856497-3026-0A77-5963-43A34CA0F12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161A397B-ECA4-D79D-A40A-1F439812D71E}"/>
              </a:ext>
            </a:extLst>
          </p:cNvPr>
          <p:cNvSpPr>
            <a:spLocks noGrp="1" noChangeArrowheads="1"/>
          </p:cNvSpPr>
          <p:nvPr>
            <p:ph type="sldNum" sz="quarter" idx="12"/>
          </p:nvPr>
        </p:nvSpPr>
        <p:spPr>
          <a:ln/>
        </p:spPr>
        <p:txBody>
          <a:bodyPr/>
          <a:lstStyle>
            <a:lvl1pPr>
              <a:defRPr/>
            </a:lvl1pPr>
          </a:lstStyle>
          <a:p>
            <a:pPr>
              <a:defRPr/>
            </a:pPr>
            <a:fld id="{82EA4587-22F8-4845-919E-5DFC769D9A7F}" type="slidenum">
              <a:rPr lang="en-US" altLang="en-US"/>
              <a:pPr>
                <a:defRPr/>
              </a:pPr>
              <a:t>‹#›</a:t>
            </a:fld>
            <a:endParaRPr lang="en-US" altLang="en-US"/>
          </a:p>
        </p:txBody>
      </p:sp>
    </p:spTree>
    <p:extLst>
      <p:ext uri="{BB962C8B-B14F-4D97-AF65-F5344CB8AC3E}">
        <p14:creationId xmlns:p14="http://schemas.microsoft.com/office/powerpoint/2010/main" val="1412047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20675" y="1203325"/>
            <a:ext cx="2803525" cy="3087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76600" y="1203325"/>
            <a:ext cx="2803525" cy="3087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2B996ECC-06F0-BC07-3519-2F395DD8743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6C81A08-D128-A1D6-A4B5-5AB997C2C4D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9934638E-6634-FCA5-A280-FDDE08394E48}"/>
              </a:ext>
            </a:extLst>
          </p:cNvPr>
          <p:cNvSpPr>
            <a:spLocks noGrp="1" noChangeArrowheads="1"/>
          </p:cNvSpPr>
          <p:nvPr>
            <p:ph type="sldNum" sz="quarter" idx="12"/>
          </p:nvPr>
        </p:nvSpPr>
        <p:spPr>
          <a:ln/>
        </p:spPr>
        <p:txBody>
          <a:bodyPr/>
          <a:lstStyle>
            <a:lvl1pPr>
              <a:defRPr/>
            </a:lvl1pPr>
          </a:lstStyle>
          <a:p>
            <a:pPr>
              <a:defRPr/>
            </a:pPr>
            <a:fld id="{D7681B8C-A8E7-C948-B1CE-69D520B9CA51}" type="slidenum">
              <a:rPr lang="en-US" altLang="en-US"/>
              <a:pPr>
                <a:defRPr/>
              </a:pPr>
              <a:t>‹#›</a:t>
            </a:fld>
            <a:endParaRPr lang="en-US" altLang="en-US"/>
          </a:p>
        </p:txBody>
      </p:sp>
    </p:spTree>
    <p:extLst>
      <p:ext uri="{BB962C8B-B14F-4D97-AF65-F5344CB8AC3E}">
        <p14:creationId xmlns:p14="http://schemas.microsoft.com/office/powerpoint/2010/main" val="2411913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1325" y="255588"/>
            <a:ext cx="5519738" cy="928687"/>
          </a:xfrm>
        </p:spPr>
        <p:txBody>
          <a:bodyPr/>
          <a:lstStyle/>
          <a:p>
            <a:r>
              <a:rPr lang="en-US"/>
              <a:t>Click to edit Master title style</a:t>
            </a:r>
          </a:p>
        </p:txBody>
      </p:sp>
      <p:sp>
        <p:nvSpPr>
          <p:cNvPr id="3" name="Text Placeholder 2"/>
          <p:cNvSpPr>
            <a:spLocks noGrp="1"/>
          </p:cNvSpPr>
          <p:nvPr>
            <p:ph type="body" idx="1"/>
          </p:nvPr>
        </p:nvSpPr>
        <p:spPr>
          <a:xfrm>
            <a:off x="441325" y="1176338"/>
            <a:ext cx="2706688" cy="577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41325" y="1754188"/>
            <a:ext cx="2706688" cy="257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240088" y="1176338"/>
            <a:ext cx="2720975" cy="577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240088" y="1754188"/>
            <a:ext cx="2720975" cy="257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F30DF8B8-B3E8-C776-7BE8-E926C93E9EA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4030023B-CBDB-CE1E-162E-7C496DA96DE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a:extLst>
              <a:ext uri="{FF2B5EF4-FFF2-40B4-BE49-F238E27FC236}">
                <a16:creationId xmlns:a16="http://schemas.microsoft.com/office/drawing/2014/main" id="{5212FD9D-5C69-B45C-CD30-B2E0CE52D24D}"/>
              </a:ext>
            </a:extLst>
          </p:cNvPr>
          <p:cNvSpPr>
            <a:spLocks noGrp="1" noChangeArrowheads="1"/>
          </p:cNvSpPr>
          <p:nvPr>
            <p:ph type="sldNum" sz="quarter" idx="12"/>
          </p:nvPr>
        </p:nvSpPr>
        <p:spPr>
          <a:ln/>
        </p:spPr>
        <p:txBody>
          <a:bodyPr/>
          <a:lstStyle>
            <a:lvl1pPr>
              <a:defRPr/>
            </a:lvl1pPr>
          </a:lstStyle>
          <a:p>
            <a:pPr>
              <a:defRPr/>
            </a:pPr>
            <a:fld id="{B281A024-5A27-7641-993A-E0C4187EF160}" type="slidenum">
              <a:rPr lang="en-US" altLang="en-US"/>
              <a:pPr>
                <a:defRPr/>
              </a:pPr>
              <a:t>‹#›</a:t>
            </a:fld>
            <a:endParaRPr lang="en-US" altLang="en-US"/>
          </a:p>
        </p:txBody>
      </p:sp>
    </p:spTree>
    <p:extLst>
      <p:ext uri="{BB962C8B-B14F-4D97-AF65-F5344CB8AC3E}">
        <p14:creationId xmlns:p14="http://schemas.microsoft.com/office/powerpoint/2010/main" val="2294187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B44C6098-8701-AE9F-BAB5-55E5914F210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283A1517-21D3-C45D-27C8-BDABE2DAA36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C1BE222E-CB7C-63EB-4F65-7F349B0CB47D}"/>
              </a:ext>
            </a:extLst>
          </p:cNvPr>
          <p:cNvSpPr>
            <a:spLocks noGrp="1" noChangeArrowheads="1"/>
          </p:cNvSpPr>
          <p:nvPr>
            <p:ph type="sldNum" sz="quarter" idx="12"/>
          </p:nvPr>
        </p:nvSpPr>
        <p:spPr>
          <a:ln/>
        </p:spPr>
        <p:txBody>
          <a:bodyPr/>
          <a:lstStyle>
            <a:lvl1pPr>
              <a:defRPr/>
            </a:lvl1pPr>
          </a:lstStyle>
          <a:p>
            <a:pPr>
              <a:defRPr/>
            </a:pPr>
            <a:fld id="{E947147F-B456-414C-B389-E2F4050A9EB5}" type="slidenum">
              <a:rPr lang="en-US" altLang="en-US"/>
              <a:pPr>
                <a:defRPr/>
              </a:pPr>
              <a:t>‹#›</a:t>
            </a:fld>
            <a:endParaRPr lang="en-US" altLang="en-US"/>
          </a:p>
        </p:txBody>
      </p:sp>
    </p:spTree>
    <p:extLst>
      <p:ext uri="{BB962C8B-B14F-4D97-AF65-F5344CB8AC3E}">
        <p14:creationId xmlns:p14="http://schemas.microsoft.com/office/powerpoint/2010/main" val="1726528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87A78B5-26DB-A470-402C-8B86089B6DE9}"/>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42A8EC63-3C5B-B78E-700E-F9F7ED2B254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C2F9EC6C-DB0D-A348-0E04-4F6F38E96C63}"/>
              </a:ext>
            </a:extLst>
          </p:cNvPr>
          <p:cNvSpPr>
            <a:spLocks noGrp="1" noChangeArrowheads="1"/>
          </p:cNvSpPr>
          <p:nvPr>
            <p:ph type="sldNum" sz="quarter" idx="12"/>
          </p:nvPr>
        </p:nvSpPr>
        <p:spPr>
          <a:ln/>
        </p:spPr>
        <p:txBody>
          <a:bodyPr/>
          <a:lstStyle>
            <a:lvl1pPr>
              <a:defRPr/>
            </a:lvl1pPr>
          </a:lstStyle>
          <a:p>
            <a:pPr>
              <a:defRPr/>
            </a:pPr>
            <a:fld id="{C7E2B669-6A4E-3743-9B63-2C2DDBC3DEEE}" type="slidenum">
              <a:rPr lang="en-US" altLang="en-US"/>
              <a:pPr>
                <a:defRPr/>
              </a:pPr>
              <a:t>‹#›</a:t>
            </a:fld>
            <a:endParaRPr lang="en-US" altLang="en-US"/>
          </a:p>
        </p:txBody>
      </p:sp>
    </p:spTree>
    <p:extLst>
      <p:ext uri="{BB962C8B-B14F-4D97-AF65-F5344CB8AC3E}">
        <p14:creationId xmlns:p14="http://schemas.microsoft.com/office/powerpoint/2010/main" val="6947821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1325" y="320675"/>
            <a:ext cx="2063750" cy="1119188"/>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2720975" y="690563"/>
            <a:ext cx="3240088" cy="34115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41325" y="1439863"/>
            <a:ext cx="2063750" cy="2668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7DC5445D-0233-851D-EFE0-329BF2B2EDB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CE3EA16-68F1-1223-91EA-B22B701719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1459A30D-2C01-8CA8-6709-0ACFAF7AB9D5}"/>
              </a:ext>
            </a:extLst>
          </p:cNvPr>
          <p:cNvSpPr>
            <a:spLocks noGrp="1" noChangeArrowheads="1"/>
          </p:cNvSpPr>
          <p:nvPr>
            <p:ph type="sldNum" sz="quarter" idx="12"/>
          </p:nvPr>
        </p:nvSpPr>
        <p:spPr>
          <a:ln/>
        </p:spPr>
        <p:txBody>
          <a:bodyPr/>
          <a:lstStyle>
            <a:lvl1pPr>
              <a:defRPr/>
            </a:lvl1pPr>
          </a:lstStyle>
          <a:p>
            <a:pPr>
              <a:defRPr/>
            </a:pPr>
            <a:fld id="{CDDAB7FC-B22C-024B-BF56-6090387D43B8}" type="slidenum">
              <a:rPr lang="en-US" altLang="en-US"/>
              <a:pPr>
                <a:defRPr/>
              </a:pPr>
              <a:t>‹#›</a:t>
            </a:fld>
            <a:endParaRPr lang="en-US" altLang="en-US"/>
          </a:p>
        </p:txBody>
      </p:sp>
    </p:spTree>
    <p:extLst>
      <p:ext uri="{BB962C8B-B14F-4D97-AF65-F5344CB8AC3E}">
        <p14:creationId xmlns:p14="http://schemas.microsoft.com/office/powerpoint/2010/main" val="163974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1325" y="320675"/>
            <a:ext cx="2063750" cy="1119188"/>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2720975" y="690563"/>
            <a:ext cx="3240088" cy="34115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441325" y="1439863"/>
            <a:ext cx="2063750" cy="2668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1E13A168-5BCA-3A6B-C1AD-094335AC116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17071B16-A784-A1EF-CFA6-E1B079F1372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44788325-F74A-7CB3-6BF3-C01C474E81CE}"/>
              </a:ext>
            </a:extLst>
          </p:cNvPr>
          <p:cNvSpPr>
            <a:spLocks noGrp="1" noChangeArrowheads="1"/>
          </p:cNvSpPr>
          <p:nvPr>
            <p:ph type="sldNum" sz="quarter" idx="12"/>
          </p:nvPr>
        </p:nvSpPr>
        <p:spPr>
          <a:ln/>
        </p:spPr>
        <p:txBody>
          <a:bodyPr/>
          <a:lstStyle>
            <a:lvl1pPr>
              <a:defRPr/>
            </a:lvl1pPr>
          </a:lstStyle>
          <a:p>
            <a:pPr>
              <a:defRPr/>
            </a:pPr>
            <a:fld id="{E3A7DD30-9AC1-4C4E-9358-2F2555CE9E4D}" type="slidenum">
              <a:rPr lang="en-US" altLang="en-US"/>
              <a:pPr>
                <a:defRPr/>
              </a:pPr>
              <a:t>‹#›</a:t>
            </a:fld>
            <a:endParaRPr lang="en-US" altLang="en-US"/>
          </a:p>
        </p:txBody>
      </p:sp>
    </p:spTree>
    <p:extLst>
      <p:ext uri="{BB962C8B-B14F-4D97-AF65-F5344CB8AC3E}">
        <p14:creationId xmlns:p14="http://schemas.microsoft.com/office/powerpoint/2010/main" val="376957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7E08E0E-C597-A91E-0296-E729EC41689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64418AF9-1AD3-532D-5113-AF493B4EFA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4C1F3FA3-27D0-A044-9CB5-015E79FA85BD}"/>
              </a:ext>
            </a:extLst>
          </p:cNvPr>
          <p:cNvSpPr>
            <a:spLocks noGrp="1" noChangeArrowheads="1"/>
          </p:cNvSpPr>
          <p:nvPr>
            <p:ph type="sldNum" sz="quarter" idx="12"/>
          </p:nvPr>
        </p:nvSpPr>
        <p:spPr>
          <a:ln/>
        </p:spPr>
        <p:txBody>
          <a:bodyPr/>
          <a:lstStyle>
            <a:lvl1pPr>
              <a:defRPr/>
            </a:lvl1pPr>
          </a:lstStyle>
          <a:p>
            <a:pPr>
              <a:defRPr/>
            </a:pPr>
            <a:fld id="{9A68F1AE-D8B8-8B48-A850-1E48490F716C}" type="slidenum">
              <a:rPr lang="en-US" altLang="en-US"/>
              <a:pPr>
                <a:defRPr/>
              </a:pPr>
              <a:t>‹#›</a:t>
            </a:fld>
            <a:endParaRPr lang="en-US" altLang="en-US"/>
          </a:p>
        </p:txBody>
      </p:sp>
    </p:spTree>
    <p:extLst>
      <p:ext uri="{BB962C8B-B14F-4D97-AF65-F5344CB8AC3E}">
        <p14:creationId xmlns:p14="http://schemas.microsoft.com/office/powerpoint/2010/main" val="709182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640263" y="85725"/>
            <a:ext cx="1439862" cy="42052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20675" y="85725"/>
            <a:ext cx="4167188" cy="42052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4BCCAAF-EC97-F843-F57C-27839E1656E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0088EBD-1B8F-AA8E-0003-84D765AC796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B05D703E-C734-5404-A91C-91503E0A1130}"/>
              </a:ext>
            </a:extLst>
          </p:cNvPr>
          <p:cNvSpPr>
            <a:spLocks noGrp="1" noChangeArrowheads="1"/>
          </p:cNvSpPr>
          <p:nvPr>
            <p:ph type="sldNum" sz="quarter" idx="12"/>
          </p:nvPr>
        </p:nvSpPr>
        <p:spPr>
          <a:ln/>
        </p:spPr>
        <p:txBody>
          <a:bodyPr/>
          <a:lstStyle>
            <a:lvl1pPr>
              <a:defRPr/>
            </a:lvl1pPr>
          </a:lstStyle>
          <a:p>
            <a:pPr>
              <a:defRPr/>
            </a:pPr>
            <a:fld id="{394BB49B-971E-2B48-BEB8-CFDD671C13DE}" type="slidenum">
              <a:rPr lang="en-US" altLang="en-US"/>
              <a:pPr>
                <a:defRPr/>
              </a:pPr>
              <a:t>‹#›</a:t>
            </a:fld>
            <a:endParaRPr lang="en-US" altLang="en-US"/>
          </a:p>
        </p:txBody>
      </p:sp>
    </p:spTree>
    <p:extLst>
      <p:ext uri="{BB962C8B-B14F-4D97-AF65-F5344CB8AC3E}">
        <p14:creationId xmlns:p14="http://schemas.microsoft.com/office/powerpoint/2010/main" val="2452268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0675" y="85725"/>
            <a:ext cx="5280025" cy="906463"/>
          </a:xfrm>
        </p:spPr>
        <p:txBody>
          <a:bodyPr/>
          <a:lstStyle/>
          <a:p>
            <a:r>
              <a:rPr lang="en-US"/>
              <a:t>Click to edit Master title style</a:t>
            </a:r>
          </a:p>
        </p:txBody>
      </p:sp>
      <p:sp>
        <p:nvSpPr>
          <p:cNvPr id="3" name="Text Placeholder 2"/>
          <p:cNvSpPr>
            <a:spLocks noGrp="1"/>
          </p:cNvSpPr>
          <p:nvPr>
            <p:ph type="body" sz="half" idx="1"/>
          </p:nvPr>
        </p:nvSpPr>
        <p:spPr>
          <a:xfrm>
            <a:off x="320675" y="1203325"/>
            <a:ext cx="2803525" cy="3087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76600" y="1203325"/>
            <a:ext cx="2803525" cy="30876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3910F58-4316-59E3-EF08-D0BE7AE9AC5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E7E4DEB-A06E-66CE-42A2-DFA757D2D69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1F658A4B-684E-F733-C8B6-FF3D2D3D2861}"/>
              </a:ext>
            </a:extLst>
          </p:cNvPr>
          <p:cNvSpPr>
            <a:spLocks noGrp="1" noChangeArrowheads="1"/>
          </p:cNvSpPr>
          <p:nvPr>
            <p:ph type="sldNum" sz="quarter" idx="12"/>
          </p:nvPr>
        </p:nvSpPr>
        <p:spPr>
          <a:ln/>
        </p:spPr>
        <p:txBody>
          <a:bodyPr/>
          <a:lstStyle>
            <a:lvl1pPr>
              <a:defRPr/>
            </a:lvl1pPr>
          </a:lstStyle>
          <a:p>
            <a:pPr>
              <a:defRPr/>
            </a:pPr>
            <a:fld id="{E3A6D1FB-B0EC-A244-80CA-CA95009F8EF8}" type="slidenum">
              <a:rPr lang="en-US" altLang="en-US"/>
              <a:pPr>
                <a:defRPr/>
              </a:pPr>
              <a:t>‹#›</a:t>
            </a:fld>
            <a:endParaRPr lang="en-US" altLang="en-US"/>
          </a:p>
        </p:txBody>
      </p:sp>
    </p:spTree>
    <p:extLst>
      <p:ext uri="{BB962C8B-B14F-4D97-AF65-F5344CB8AC3E}">
        <p14:creationId xmlns:p14="http://schemas.microsoft.com/office/powerpoint/2010/main" val="1956596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EF5E7A71-FB7F-8378-FF73-BBA50B425224}"/>
              </a:ext>
            </a:extLst>
          </p:cNvPr>
          <p:cNvSpPr>
            <a:spLocks noChangeShapeType="1"/>
          </p:cNvSpPr>
          <p:nvPr/>
        </p:nvSpPr>
        <p:spPr bwMode="auto">
          <a:xfrm>
            <a:off x="5573713" y="106363"/>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7" name="Rectangle 3">
            <a:extLst>
              <a:ext uri="{FF2B5EF4-FFF2-40B4-BE49-F238E27FC236}">
                <a16:creationId xmlns:a16="http://schemas.microsoft.com/office/drawing/2014/main" id="{152416A3-58EC-15D5-7368-92275829F8B7}"/>
              </a:ext>
            </a:extLst>
          </p:cNvPr>
          <p:cNvSpPr>
            <a:spLocks noGrp="1" noChangeArrowheads="1"/>
          </p:cNvSpPr>
          <p:nvPr>
            <p:ph type="title"/>
          </p:nvPr>
        </p:nvSpPr>
        <p:spPr bwMode="auto">
          <a:xfrm>
            <a:off x="320675" y="85725"/>
            <a:ext cx="5280025" cy="9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4008" tIns="32004" rIns="64008" bIns="32004"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B6E932F0-F9E4-1013-3171-4663702D030C}"/>
              </a:ext>
            </a:extLst>
          </p:cNvPr>
          <p:cNvSpPr>
            <a:spLocks noGrp="1" noChangeArrowheads="1"/>
          </p:cNvSpPr>
          <p:nvPr>
            <p:ph type="body" idx="1"/>
          </p:nvPr>
        </p:nvSpPr>
        <p:spPr bwMode="auto">
          <a:xfrm>
            <a:off x="320675" y="1203325"/>
            <a:ext cx="5759450" cy="308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4008" tIns="32004" rIns="64008" bIns="3200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45" name="Rectangle 5">
            <a:extLst>
              <a:ext uri="{FF2B5EF4-FFF2-40B4-BE49-F238E27FC236}">
                <a16:creationId xmlns:a16="http://schemas.microsoft.com/office/drawing/2014/main" id="{362A1DA2-C11D-886E-2A85-70304352B86B}"/>
              </a:ext>
            </a:extLst>
          </p:cNvPr>
          <p:cNvSpPr>
            <a:spLocks noGrp="1" noChangeArrowheads="1"/>
          </p:cNvSpPr>
          <p:nvPr>
            <p:ph type="dt" sz="half" idx="2"/>
          </p:nvPr>
        </p:nvSpPr>
        <p:spPr bwMode="auto">
          <a:xfrm>
            <a:off x="320675" y="4373563"/>
            <a:ext cx="1492250" cy="320675"/>
          </a:xfrm>
          <a:prstGeom prst="rect">
            <a:avLst/>
          </a:prstGeom>
          <a:noFill/>
          <a:ln>
            <a:noFill/>
          </a:ln>
          <a:effectLst/>
        </p:spPr>
        <p:txBody>
          <a:bodyPr vert="horz" wrap="square" lIns="64008" tIns="32004" rIns="64008" bIns="32004" numCol="1" anchor="t" anchorCtr="0" compatLnSpc="1">
            <a:prstTxWarp prst="textNoShape">
              <a:avLst/>
            </a:prstTxWarp>
          </a:bodyPr>
          <a:lstStyle>
            <a:lvl1pPr defTabSz="639763" eaLnBrk="1" hangingPunct="1">
              <a:defRPr sz="700"/>
            </a:lvl1pPr>
          </a:lstStyle>
          <a:p>
            <a:pPr>
              <a:defRPr/>
            </a:pPr>
            <a:endParaRPr lang="en-US" altLang="en-US"/>
          </a:p>
        </p:txBody>
      </p:sp>
      <p:sp>
        <p:nvSpPr>
          <p:cNvPr id="61446" name="Rectangle 6">
            <a:extLst>
              <a:ext uri="{FF2B5EF4-FFF2-40B4-BE49-F238E27FC236}">
                <a16:creationId xmlns:a16="http://schemas.microsoft.com/office/drawing/2014/main" id="{7FB6EFBE-F185-E701-4783-E8CF467970D3}"/>
              </a:ext>
            </a:extLst>
          </p:cNvPr>
          <p:cNvSpPr>
            <a:spLocks noGrp="1" noChangeArrowheads="1"/>
          </p:cNvSpPr>
          <p:nvPr>
            <p:ph type="ftr" sz="quarter" idx="3"/>
          </p:nvPr>
        </p:nvSpPr>
        <p:spPr bwMode="auto">
          <a:xfrm>
            <a:off x="2187575" y="4373563"/>
            <a:ext cx="2025650" cy="320675"/>
          </a:xfrm>
          <a:prstGeom prst="rect">
            <a:avLst/>
          </a:prstGeom>
          <a:noFill/>
          <a:ln>
            <a:noFill/>
          </a:ln>
          <a:effectLst/>
        </p:spPr>
        <p:txBody>
          <a:bodyPr vert="horz" wrap="square" lIns="64008" tIns="32004" rIns="64008" bIns="32004" numCol="1" anchor="t" anchorCtr="0" compatLnSpc="1">
            <a:prstTxWarp prst="textNoShape">
              <a:avLst/>
            </a:prstTxWarp>
          </a:bodyPr>
          <a:lstStyle>
            <a:lvl1pPr algn="ctr" defTabSz="639763" eaLnBrk="1" hangingPunct="1">
              <a:defRPr sz="700"/>
            </a:lvl1pPr>
          </a:lstStyle>
          <a:p>
            <a:pPr>
              <a:defRPr/>
            </a:pPr>
            <a:endParaRPr lang="en-US" altLang="en-US"/>
          </a:p>
        </p:txBody>
      </p:sp>
      <p:sp>
        <p:nvSpPr>
          <p:cNvPr id="61447" name="Rectangle 7">
            <a:extLst>
              <a:ext uri="{FF2B5EF4-FFF2-40B4-BE49-F238E27FC236}">
                <a16:creationId xmlns:a16="http://schemas.microsoft.com/office/drawing/2014/main" id="{09EAAD74-8761-2F29-6ECD-872DE790FB7F}"/>
              </a:ext>
            </a:extLst>
          </p:cNvPr>
          <p:cNvSpPr>
            <a:spLocks noGrp="1" noChangeArrowheads="1"/>
          </p:cNvSpPr>
          <p:nvPr>
            <p:ph type="sldNum" sz="quarter" idx="4"/>
          </p:nvPr>
        </p:nvSpPr>
        <p:spPr bwMode="auto">
          <a:xfrm>
            <a:off x="4587875" y="4373563"/>
            <a:ext cx="1492250" cy="320675"/>
          </a:xfrm>
          <a:prstGeom prst="rect">
            <a:avLst/>
          </a:prstGeom>
          <a:noFill/>
          <a:ln>
            <a:noFill/>
          </a:ln>
          <a:effectLst/>
        </p:spPr>
        <p:txBody>
          <a:bodyPr vert="horz" wrap="square" lIns="64008" tIns="32004" rIns="64008" bIns="32004" numCol="1" anchor="t" anchorCtr="0" compatLnSpc="1">
            <a:prstTxWarp prst="textNoShape">
              <a:avLst/>
            </a:prstTxWarp>
          </a:bodyPr>
          <a:lstStyle>
            <a:lvl1pPr algn="r" defTabSz="639763" eaLnBrk="1" hangingPunct="1">
              <a:defRPr sz="700"/>
            </a:lvl1pPr>
          </a:lstStyle>
          <a:p>
            <a:pPr>
              <a:defRPr/>
            </a:pPr>
            <a:fld id="{1DEC9275-DD68-5F49-B53C-58FE3A1B9BC5}" type="slidenum">
              <a:rPr lang="en-US" altLang="en-US"/>
              <a:pPr>
                <a:defRPr/>
              </a:pPr>
              <a:t>‹#›</a:t>
            </a:fld>
            <a:endParaRPr lang="en-US" altLang="en-US"/>
          </a:p>
        </p:txBody>
      </p:sp>
      <p:grpSp>
        <p:nvGrpSpPr>
          <p:cNvPr id="1032" name="Group 8">
            <a:extLst>
              <a:ext uri="{FF2B5EF4-FFF2-40B4-BE49-F238E27FC236}">
                <a16:creationId xmlns:a16="http://schemas.microsoft.com/office/drawing/2014/main" id="{BDFE239E-87D9-21D0-3A4E-5DE021338F8E}"/>
              </a:ext>
            </a:extLst>
          </p:cNvPr>
          <p:cNvGrpSpPr>
            <a:grpSpLocks/>
          </p:cNvGrpSpPr>
          <p:nvPr/>
        </p:nvGrpSpPr>
        <p:grpSpPr bwMode="auto">
          <a:xfrm>
            <a:off x="5707063" y="106363"/>
            <a:ext cx="555625" cy="906462"/>
            <a:chOff x="5136" y="960"/>
            <a:chExt cx="528" cy="864"/>
          </a:xfrm>
        </p:grpSpPr>
        <p:sp>
          <p:nvSpPr>
            <p:cNvPr id="1033" name="Oval 9">
              <a:extLst>
                <a:ext uri="{FF2B5EF4-FFF2-40B4-BE49-F238E27FC236}">
                  <a16:creationId xmlns:a16="http://schemas.microsoft.com/office/drawing/2014/main" id="{14B66CE7-C8E3-6480-807F-987DA4F294E5}"/>
                </a:ext>
              </a:extLst>
            </p:cNvPr>
            <p:cNvSpPr>
              <a:spLocks noChangeArrowheads="1"/>
            </p:cNvSpPr>
            <p:nvPr/>
          </p:nvSpPr>
          <p:spPr bwMode="auto">
            <a:xfrm>
              <a:off x="5136" y="960"/>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4" name="Oval 10">
              <a:extLst>
                <a:ext uri="{FF2B5EF4-FFF2-40B4-BE49-F238E27FC236}">
                  <a16:creationId xmlns:a16="http://schemas.microsoft.com/office/drawing/2014/main" id="{7BF4B719-7B74-120D-6147-24F092B0C855}"/>
                </a:ext>
              </a:extLst>
            </p:cNvPr>
            <p:cNvSpPr>
              <a:spLocks noChangeArrowheads="1"/>
            </p:cNvSpPr>
            <p:nvPr/>
          </p:nvSpPr>
          <p:spPr bwMode="auto">
            <a:xfrm>
              <a:off x="5248" y="960"/>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5" name="Oval 11">
              <a:extLst>
                <a:ext uri="{FF2B5EF4-FFF2-40B4-BE49-F238E27FC236}">
                  <a16:creationId xmlns:a16="http://schemas.microsoft.com/office/drawing/2014/main" id="{0E7630C6-5060-186F-794B-F39816223B21}"/>
                </a:ext>
              </a:extLst>
            </p:cNvPr>
            <p:cNvSpPr>
              <a:spLocks noChangeArrowheads="1"/>
            </p:cNvSpPr>
            <p:nvPr/>
          </p:nvSpPr>
          <p:spPr bwMode="auto">
            <a:xfrm>
              <a:off x="5359" y="960"/>
              <a:ext cx="81"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6" name="Oval 12">
              <a:extLst>
                <a:ext uri="{FF2B5EF4-FFF2-40B4-BE49-F238E27FC236}">
                  <a16:creationId xmlns:a16="http://schemas.microsoft.com/office/drawing/2014/main" id="{3D25F2A0-9592-22BB-CB2B-CB9236A7FD39}"/>
                </a:ext>
              </a:extLst>
            </p:cNvPr>
            <p:cNvSpPr>
              <a:spLocks noChangeArrowheads="1"/>
            </p:cNvSpPr>
            <p:nvPr/>
          </p:nvSpPr>
          <p:spPr bwMode="auto">
            <a:xfrm>
              <a:off x="5136" y="1072"/>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7" name="Oval 13">
              <a:extLst>
                <a:ext uri="{FF2B5EF4-FFF2-40B4-BE49-F238E27FC236}">
                  <a16:creationId xmlns:a16="http://schemas.microsoft.com/office/drawing/2014/main" id="{C6C3EA2C-C045-C7B7-A00D-77CDDA9B3ADF}"/>
                </a:ext>
              </a:extLst>
            </p:cNvPr>
            <p:cNvSpPr>
              <a:spLocks noChangeArrowheads="1"/>
            </p:cNvSpPr>
            <p:nvPr/>
          </p:nvSpPr>
          <p:spPr bwMode="auto">
            <a:xfrm>
              <a:off x="5248" y="1072"/>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8" name="Oval 14">
              <a:extLst>
                <a:ext uri="{FF2B5EF4-FFF2-40B4-BE49-F238E27FC236}">
                  <a16:creationId xmlns:a16="http://schemas.microsoft.com/office/drawing/2014/main" id="{FC657CB9-453A-8209-2F8E-A18CAA26A499}"/>
                </a:ext>
              </a:extLst>
            </p:cNvPr>
            <p:cNvSpPr>
              <a:spLocks noChangeArrowheads="1"/>
            </p:cNvSpPr>
            <p:nvPr/>
          </p:nvSpPr>
          <p:spPr bwMode="auto">
            <a:xfrm>
              <a:off x="5359" y="1072"/>
              <a:ext cx="81"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39" name="Oval 15">
              <a:extLst>
                <a:ext uri="{FF2B5EF4-FFF2-40B4-BE49-F238E27FC236}">
                  <a16:creationId xmlns:a16="http://schemas.microsoft.com/office/drawing/2014/main" id="{DED640EA-A03C-19F4-CC21-9804DD64B70D}"/>
                </a:ext>
              </a:extLst>
            </p:cNvPr>
            <p:cNvSpPr>
              <a:spLocks noChangeArrowheads="1"/>
            </p:cNvSpPr>
            <p:nvPr/>
          </p:nvSpPr>
          <p:spPr bwMode="auto">
            <a:xfrm>
              <a:off x="5472" y="1072"/>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0" name="Oval 16">
              <a:extLst>
                <a:ext uri="{FF2B5EF4-FFF2-40B4-BE49-F238E27FC236}">
                  <a16:creationId xmlns:a16="http://schemas.microsoft.com/office/drawing/2014/main" id="{408D4BC0-1FF9-F339-B95A-D3C388427CE2}"/>
                </a:ext>
              </a:extLst>
            </p:cNvPr>
            <p:cNvSpPr>
              <a:spLocks noChangeArrowheads="1"/>
            </p:cNvSpPr>
            <p:nvPr/>
          </p:nvSpPr>
          <p:spPr bwMode="auto">
            <a:xfrm>
              <a:off x="5136" y="1184"/>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1" name="Oval 17">
              <a:extLst>
                <a:ext uri="{FF2B5EF4-FFF2-40B4-BE49-F238E27FC236}">
                  <a16:creationId xmlns:a16="http://schemas.microsoft.com/office/drawing/2014/main" id="{52CA3FFF-0133-6DDF-2DE7-BBA50DAD85FF}"/>
                </a:ext>
              </a:extLst>
            </p:cNvPr>
            <p:cNvSpPr>
              <a:spLocks noChangeArrowheads="1"/>
            </p:cNvSpPr>
            <p:nvPr/>
          </p:nvSpPr>
          <p:spPr bwMode="auto">
            <a:xfrm>
              <a:off x="5248" y="1184"/>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2" name="Oval 18">
              <a:extLst>
                <a:ext uri="{FF2B5EF4-FFF2-40B4-BE49-F238E27FC236}">
                  <a16:creationId xmlns:a16="http://schemas.microsoft.com/office/drawing/2014/main" id="{2FE6DF6F-C48D-6DB3-5E42-2B49BC36979B}"/>
                </a:ext>
              </a:extLst>
            </p:cNvPr>
            <p:cNvSpPr>
              <a:spLocks noChangeArrowheads="1"/>
            </p:cNvSpPr>
            <p:nvPr/>
          </p:nvSpPr>
          <p:spPr bwMode="auto">
            <a:xfrm>
              <a:off x="5359" y="1184"/>
              <a:ext cx="81"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3" name="Oval 19">
              <a:extLst>
                <a:ext uri="{FF2B5EF4-FFF2-40B4-BE49-F238E27FC236}">
                  <a16:creationId xmlns:a16="http://schemas.microsoft.com/office/drawing/2014/main" id="{E36A22DC-47C0-3676-9A69-9921193E36AB}"/>
                </a:ext>
              </a:extLst>
            </p:cNvPr>
            <p:cNvSpPr>
              <a:spLocks noChangeArrowheads="1"/>
            </p:cNvSpPr>
            <p:nvPr/>
          </p:nvSpPr>
          <p:spPr bwMode="auto">
            <a:xfrm>
              <a:off x="5472" y="1184"/>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4" name="Oval 20">
              <a:extLst>
                <a:ext uri="{FF2B5EF4-FFF2-40B4-BE49-F238E27FC236}">
                  <a16:creationId xmlns:a16="http://schemas.microsoft.com/office/drawing/2014/main" id="{FF81B67E-841D-3A41-7652-23CD76FB3B2B}"/>
                </a:ext>
              </a:extLst>
            </p:cNvPr>
            <p:cNvSpPr>
              <a:spLocks noChangeArrowheads="1"/>
            </p:cNvSpPr>
            <p:nvPr/>
          </p:nvSpPr>
          <p:spPr bwMode="auto">
            <a:xfrm>
              <a:off x="5584" y="1184"/>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5" name="Oval 21">
              <a:extLst>
                <a:ext uri="{FF2B5EF4-FFF2-40B4-BE49-F238E27FC236}">
                  <a16:creationId xmlns:a16="http://schemas.microsoft.com/office/drawing/2014/main" id="{4824B291-786F-B354-07F2-C66A3FBBE32D}"/>
                </a:ext>
              </a:extLst>
            </p:cNvPr>
            <p:cNvSpPr>
              <a:spLocks noChangeArrowheads="1"/>
            </p:cNvSpPr>
            <p:nvPr/>
          </p:nvSpPr>
          <p:spPr bwMode="auto">
            <a:xfrm>
              <a:off x="5136" y="1296"/>
              <a:ext cx="80" cy="80"/>
            </a:xfrm>
            <a:prstGeom prst="ellipse">
              <a:avLst/>
            </a:prstGeom>
            <a:solidFill>
              <a:schemeClr val="tx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6" name="Oval 22">
              <a:extLst>
                <a:ext uri="{FF2B5EF4-FFF2-40B4-BE49-F238E27FC236}">
                  <a16:creationId xmlns:a16="http://schemas.microsoft.com/office/drawing/2014/main" id="{B507D760-594C-B20F-E444-A69FB1FD9B09}"/>
                </a:ext>
              </a:extLst>
            </p:cNvPr>
            <p:cNvSpPr>
              <a:spLocks noChangeArrowheads="1"/>
            </p:cNvSpPr>
            <p:nvPr/>
          </p:nvSpPr>
          <p:spPr bwMode="auto">
            <a:xfrm>
              <a:off x="5248" y="1296"/>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7" name="Oval 23">
              <a:extLst>
                <a:ext uri="{FF2B5EF4-FFF2-40B4-BE49-F238E27FC236}">
                  <a16:creationId xmlns:a16="http://schemas.microsoft.com/office/drawing/2014/main" id="{343A67BC-6578-038D-068D-F6F9EC55ED9C}"/>
                </a:ext>
              </a:extLst>
            </p:cNvPr>
            <p:cNvSpPr>
              <a:spLocks noChangeArrowheads="1"/>
            </p:cNvSpPr>
            <p:nvPr/>
          </p:nvSpPr>
          <p:spPr bwMode="auto">
            <a:xfrm>
              <a:off x="5359" y="1296"/>
              <a:ext cx="81"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8" name="Oval 24">
              <a:extLst>
                <a:ext uri="{FF2B5EF4-FFF2-40B4-BE49-F238E27FC236}">
                  <a16:creationId xmlns:a16="http://schemas.microsoft.com/office/drawing/2014/main" id="{7B0B3969-6E84-E9DF-876C-01FCEA5113C0}"/>
                </a:ext>
              </a:extLst>
            </p:cNvPr>
            <p:cNvSpPr>
              <a:spLocks noChangeArrowheads="1"/>
            </p:cNvSpPr>
            <p:nvPr/>
          </p:nvSpPr>
          <p:spPr bwMode="auto">
            <a:xfrm>
              <a:off x="5472" y="1296"/>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49" name="Oval 25">
              <a:extLst>
                <a:ext uri="{FF2B5EF4-FFF2-40B4-BE49-F238E27FC236}">
                  <a16:creationId xmlns:a16="http://schemas.microsoft.com/office/drawing/2014/main" id="{21A1D2A1-343A-DBE7-F8C1-79D3E1878CFA}"/>
                </a:ext>
              </a:extLst>
            </p:cNvPr>
            <p:cNvSpPr>
              <a:spLocks noChangeArrowheads="1"/>
            </p:cNvSpPr>
            <p:nvPr/>
          </p:nvSpPr>
          <p:spPr bwMode="auto">
            <a:xfrm>
              <a:off x="5136" y="1408"/>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0" name="Oval 26">
              <a:extLst>
                <a:ext uri="{FF2B5EF4-FFF2-40B4-BE49-F238E27FC236}">
                  <a16:creationId xmlns:a16="http://schemas.microsoft.com/office/drawing/2014/main" id="{E7444962-476D-0722-BBD1-CA177C1DD6F7}"/>
                </a:ext>
              </a:extLst>
            </p:cNvPr>
            <p:cNvSpPr>
              <a:spLocks noChangeArrowheads="1"/>
            </p:cNvSpPr>
            <p:nvPr/>
          </p:nvSpPr>
          <p:spPr bwMode="auto">
            <a:xfrm>
              <a:off x="5248" y="1408"/>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1" name="Oval 27">
              <a:extLst>
                <a:ext uri="{FF2B5EF4-FFF2-40B4-BE49-F238E27FC236}">
                  <a16:creationId xmlns:a16="http://schemas.microsoft.com/office/drawing/2014/main" id="{118F1263-158D-570F-1B16-412635E4ADB4}"/>
                </a:ext>
              </a:extLst>
            </p:cNvPr>
            <p:cNvSpPr>
              <a:spLocks noChangeArrowheads="1"/>
            </p:cNvSpPr>
            <p:nvPr/>
          </p:nvSpPr>
          <p:spPr bwMode="auto">
            <a:xfrm>
              <a:off x="5359" y="1408"/>
              <a:ext cx="81"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2" name="Oval 28">
              <a:extLst>
                <a:ext uri="{FF2B5EF4-FFF2-40B4-BE49-F238E27FC236}">
                  <a16:creationId xmlns:a16="http://schemas.microsoft.com/office/drawing/2014/main" id="{F7056F2C-8CFC-27BC-D048-2F57C17B1C86}"/>
                </a:ext>
              </a:extLst>
            </p:cNvPr>
            <p:cNvSpPr>
              <a:spLocks noChangeArrowheads="1"/>
            </p:cNvSpPr>
            <p:nvPr/>
          </p:nvSpPr>
          <p:spPr bwMode="auto">
            <a:xfrm>
              <a:off x="5472" y="1408"/>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3" name="Oval 29">
              <a:extLst>
                <a:ext uri="{FF2B5EF4-FFF2-40B4-BE49-F238E27FC236}">
                  <a16:creationId xmlns:a16="http://schemas.microsoft.com/office/drawing/2014/main" id="{648DFE53-D45C-2CBB-8B27-11C87AA1DDA8}"/>
                </a:ext>
              </a:extLst>
            </p:cNvPr>
            <p:cNvSpPr>
              <a:spLocks noChangeArrowheads="1"/>
            </p:cNvSpPr>
            <p:nvPr/>
          </p:nvSpPr>
          <p:spPr bwMode="auto">
            <a:xfrm>
              <a:off x="5584" y="1408"/>
              <a:ext cx="80"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4" name="Oval 30">
              <a:extLst>
                <a:ext uri="{FF2B5EF4-FFF2-40B4-BE49-F238E27FC236}">
                  <a16:creationId xmlns:a16="http://schemas.microsoft.com/office/drawing/2014/main" id="{13FB0F00-6517-BB1E-A07A-4BD4F43959E6}"/>
                </a:ext>
              </a:extLst>
            </p:cNvPr>
            <p:cNvSpPr>
              <a:spLocks noChangeArrowheads="1"/>
            </p:cNvSpPr>
            <p:nvPr/>
          </p:nvSpPr>
          <p:spPr bwMode="auto">
            <a:xfrm>
              <a:off x="5136" y="1520"/>
              <a:ext cx="80" cy="80"/>
            </a:xfrm>
            <a:prstGeom prst="ellipse">
              <a:avLst/>
            </a:prstGeom>
            <a:solidFill>
              <a:schemeClr val="accent2"/>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5" name="Oval 31">
              <a:extLst>
                <a:ext uri="{FF2B5EF4-FFF2-40B4-BE49-F238E27FC236}">
                  <a16:creationId xmlns:a16="http://schemas.microsoft.com/office/drawing/2014/main" id="{DDE345A1-3F3C-F24A-99B3-027E192F5E79}"/>
                </a:ext>
              </a:extLst>
            </p:cNvPr>
            <p:cNvSpPr>
              <a:spLocks noChangeArrowheads="1"/>
            </p:cNvSpPr>
            <p:nvPr/>
          </p:nvSpPr>
          <p:spPr bwMode="auto">
            <a:xfrm>
              <a:off x="5248" y="1520"/>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6" name="Oval 32">
              <a:extLst>
                <a:ext uri="{FF2B5EF4-FFF2-40B4-BE49-F238E27FC236}">
                  <a16:creationId xmlns:a16="http://schemas.microsoft.com/office/drawing/2014/main" id="{13C888F1-B08B-F1BA-B506-6117D1C2169B}"/>
                </a:ext>
              </a:extLst>
            </p:cNvPr>
            <p:cNvSpPr>
              <a:spLocks noChangeArrowheads="1"/>
            </p:cNvSpPr>
            <p:nvPr/>
          </p:nvSpPr>
          <p:spPr bwMode="auto">
            <a:xfrm>
              <a:off x="5359" y="1520"/>
              <a:ext cx="81"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7" name="Oval 33">
              <a:extLst>
                <a:ext uri="{FF2B5EF4-FFF2-40B4-BE49-F238E27FC236}">
                  <a16:creationId xmlns:a16="http://schemas.microsoft.com/office/drawing/2014/main" id="{5CAA9269-4BC4-17EF-EC16-5790B8C3D36A}"/>
                </a:ext>
              </a:extLst>
            </p:cNvPr>
            <p:cNvSpPr>
              <a:spLocks noChangeArrowheads="1"/>
            </p:cNvSpPr>
            <p:nvPr/>
          </p:nvSpPr>
          <p:spPr bwMode="auto">
            <a:xfrm>
              <a:off x="5472" y="1520"/>
              <a:ext cx="80"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8" name="Oval 34">
              <a:extLst>
                <a:ext uri="{FF2B5EF4-FFF2-40B4-BE49-F238E27FC236}">
                  <a16:creationId xmlns:a16="http://schemas.microsoft.com/office/drawing/2014/main" id="{72D10F77-9C16-3269-3FB5-AC198FEDC0E0}"/>
                </a:ext>
              </a:extLst>
            </p:cNvPr>
            <p:cNvSpPr>
              <a:spLocks noChangeArrowheads="1"/>
            </p:cNvSpPr>
            <p:nvPr/>
          </p:nvSpPr>
          <p:spPr bwMode="auto">
            <a:xfrm>
              <a:off x="5136" y="1632"/>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59" name="Oval 35">
              <a:extLst>
                <a:ext uri="{FF2B5EF4-FFF2-40B4-BE49-F238E27FC236}">
                  <a16:creationId xmlns:a16="http://schemas.microsoft.com/office/drawing/2014/main" id="{15CE6108-3000-E7E4-D1FD-6F71B8C4B4D9}"/>
                </a:ext>
              </a:extLst>
            </p:cNvPr>
            <p:cNvSpPr>
              <a:spLocks noChangeArrowheads="1"/>
            </p:cNvSpPr>
            <p:nvPr/>
          </p:nvSpPr>
          <p:spPr bwMode="auto">
            <a:xfrm>
              <a:off x="5248" y="1632"/>
              <a:ext cx="80" cy="80"/>
            </a:xfrm>
            <a:prstGeom prst="ellipse">
              <a:avLst/>
            </a:prstGeom>
            <a:solidFill>
              <a:schemeClr val="accent1"/>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60" name="Oval 36">
              <a:extLst>
                <a:ext uri="{FF2B5EF4-FFF2-40B4-BE49-F238E27FC236}">
                  <a16:creationId xmlns:a16="http://schemas.microsoft.com/office/drawing/2014/main" id="{2C4C4117-1A51-5C0D-74F1-F7336C4D5484}"/>
                </a:ext>
              </a:extLst>
            </p:cNvPr>
            <p:cNvSpPr>
              <a:spLocks noChangeArrowheads="1"/>
            </p:cNvSpPr>
            <p:nvPr/>
          </p:nvSpPr>
          <p:spPr bwMode="auto">
            <a:xfrm>
              <a:off x="5359" y="1632"/>
              <a:ext cx="81"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61" name="Oval 37">
              <a:extLst>
                <a:ext uri="{FF2B5EF4-FFF2-40B4-BE49-F238E27FC236}">
                  <a16:creationId xmlns:a16="http://schemas.microsoft.com/office/drawing/2014/main" id="{09E5805F-C8CB-3154-A29D-7E4F3027314F}"/>
                </a:ext>
              </a:extLst>
            </p:cNvPr>
            <p:cNvSpPr>
              <a:spLocks noChangeArrowheads="1"/>
            </p:cNvSpPr>
            <p:nvPr/>
          </p:nvSpPr>
          <p:spPr bwMode="auto">
            <a:xfrm>
              <a:off x="5472" y="1632"/>
              <a:ext cx="80"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62" name="Oval 38">
              <a:extLst>
                <a:ext uri="{FF2B5EF4-FFF2-40B4-BE49-F238E27FC236}">
                  <a16:creationId xmlns:a16="http://schemas.microsoft.com/office/drawing/2014/main" id="{BE5257A9-CE79-653A-8D94-15E69DA19BB6}"/>
                </a:ext>
              </a:extLst>
            </p:cNvPr>
            <p:cNvSpPr>
              <a:spLocks noChangeArrowheads="1"/>
            </p:cNvSpPr>
            <p:nvPr/>
          </p:nvSpPr>
          <p:spPr bwMode="auto">
            <a:xfrm>
              <a:off x="5248" y="1744"/>
              <a:ext cx="80"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sp>
          <p:nvSpPr>
            <p:cNvPr id="1063" name="Oval 39">
              <a:extLst>
                <a:ext uri="{FF2B5EF4-FFF2-40B4-BE49-F238E27FC236}">
                  <a16:creationId xmlns:a16="http://schemas.microsoft.com/office/drawing/2014/main" id="{B910D526-D16B-A43E-7638-B6B1F1712A7D}"/>
                </a:ext>
              </a:extLst>
            </p:cNvPr>
            <p:cNvSpPr>
              <a:spLocks noChangeArrowheads="1"/>
            </p:cNvSpPr>
            <p:nvPr/>
          </p:nvSpPr>
          <p:spPr bwMode="auto">
            <a:xfrm>
              <a:off x="5472" y="1744"/>
              <a:ext cx="80" cy="80"/>
            </a:xfrm>
            <a:prstGeom prst="ellipse">
              <a:avLst/>
            </a:prstGeom>
            <a:solidFill>
              <a:schemeClr val="folHlink"/>
            </a:solidFill>
            <a:ln>
              <a:noFill/>
            </a:ln>
            <a:effec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739"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639763" rtl="0" eaLnBrk="0" fontAlgn="base" hangingPunct="0">
        <a:spcBef>
          <a:spcPct val="0"/>
        </a:spcBef>
        <a:spcAft>
          <a:spcPct val="0"/>
        </a:spcAft>
        <a:defRPr sz="2700" b="1" kern="1200">
          <a:solidFill>
            <a:schemeClr val="tx2"/>
          </a:solidFill>
          <a:latin typeface="+mj-lt"/>
          <a:ea typeface="+mj-ea"/>
          <a:cs typeface="+mj-cs"/>
        </a:defRPr>
      </a:lvl1pPr>
      <a:lvl2pPr algn="l" defTabSz="639763" rtl="0" eaLnBrk="0" fontAlgn="base" hangingPunct="0">
        <a:spcBef>
          <a:spcPct val="0"/>
        </a:spcBef>
        <a:spcAft>
          <a:spcPct val="0"/>
        </a:spcAft>
        <a:defRPr sz="2700" b="1">
          <a:solidFill>
            <a:schemeClr val="tx2"/>
          </a:solidFill>
          <a:latin typeface="Arial" panose="020B0604020202020204" pitchFamily="34" charset="0"/>
        </a:defRPr>
      </a:lvl2pPr>
      <a:lvl3pPr algn="l" defTabSz="639763" rtl="0" eaLnBrk="0" fontAlgn="base" hangingPunct="0">
        <a:spcBef>
          <a:spcPct val="0"/>
        </a:spcBef>
        <a:spcAft>
          <a:spcPct val="0"/>
        </a:spcAft>
        <a:defRPr sz="2700" b="1">
          <a:solidFill>
            <a:schemeClr val="tx2"/>
          </a:solidFill>
          <a:latin typeface="Arial" panose="020B0604020202020204" pitchFamily="34" charset="0"/>
        </a:defRPr>
      </a:lvl3pPr>
      <a:lvl4pPr algn="l" defTabSz="639763" rtl="0" eaLnBrk="0" fontAlgn="base" hangingPunct="0">
        <a:spcBef>
          <a:spcPct val="0"/>
        </a:spcBef>
        <a:spcAft>
          <a:spcPct val="0"/>
        </a:spcAft>
        <a:defRPr sz="2700" b="1">
          <a:solidFill>
            <a:schemeClr val="tx2"/>
          </a:solidFill>
          <a:latin typeface="Arial" panose="020B0604020202020204" pitchFamily="34" charset="0"/>
        </a:defRPr>
      </a:lvl4pPr>
      <a:lvl5pPr algn="l" defTabSz="639763" rtl="0" eaLnBrk="0" fontAlgn="base" hangingPunct="0">
        <a:spcBef>
          <a:spcPct val="0"/>
        </a:spcBef>
        <a:spcAft>
          <a:spcPct val="0"/>
        </a:spcAft>
        <a:defRPr sz="2700" b="1">
          <a:solidFill>
            <a:schemeClr val="tx2"/>
          </a:solidFill>
          <a:latin typeface="Arial" panose="020B0604020202020204" pitchFamily="34" charset="0"/>
        </a:defRPr>
      </a:lvl5pPr>
      <a:lvl6pPr marL="457200" algn="l" defTabSz="639763" rtl="0" fontAlgn="base">
        <a:spcBef>
          <a:spcPct val="0"/>
        </a:spcBef>
        <a:spcAft>
          <a:spcPct val="0"/>
        </a:spcAft>
        <a:defRPr sz="2700" b="1">
          <a:solidFill>
            <a:schemeClr val="tx2"/>
          </a:solidFill>
          <a:latin typeface="Arial" panose="020B0604020202020204" pitchFamily="34" charset="0"/>
        </a:defRPr>
      </a:lvl6pPr>
      <a:lvl7pPr marL="914400" algn="l" defTabSz="639763" rtl="0" fontAlgn="base">
        <a:spcBef>
          <a:spcPct val="0"/>
        </a:spcBef>
        <a:spcAft>
          <a:spcPct val="0"/>
        </a:spcAft>
        <a:defRPr sz="2700" b="1">
          <a:solidFill>
            <a:schemeClr val="tx2"/>
          </a:solidFill>
          <a:latin typeface="Arial" panose="020B0604020202020204" pitchFamily="34" charset="0"/>
        </a:defRPr>
      </a:lvl7pPr>
      <a:lvl8pPr marL="1371600" algn="l" defTabSz="639763" rtl="0" fontAlgn="base">
        <a:spcBef>
          <a:spcPct val="0"/>
        </a:spcBef>
        <a:spcAft>
          <a:spcPct val="0"/>
        </a:spcAft>
        <a:defRPr sz="2700" b="1">
          <a:solidFill>
            <a:schemeClr val="tx2"/>
          </a:solidFill>
          <a:latin typeface="Arial" panose="020B0604020202020204" pitchFamily="34" charset="0"/>
        </a:defRPr>
      </a:lvl8pPr>
      <a:lvl9pPr marL="1828800" algn="l" defTabSz="639763" rtl="0" fontAlgn="base">
        <a:spcBef>
          <a:spcPct val="0"/>
        </a:spcBef>
        <a:spcAft>
          <a:spcPct val="0"/>
        </a:spcAft>
        <a:defRPr sz="2700" b="1">
          <a:solidFill>
            <a:schemeClr val="tx2"/>
          </a:solidFill>
          <a:latin typeface="Arial" panose="020B0604020202020204" pitchFamily="34" charset="0"/>
        </a:defRPr>
      </a:lvl9pPr>
    </p:titleStyle>
    <p:bodyStyle>
      <a:lvl1pPr marL="239713" indent="-239713" algn="l" defTabSz="639763" rtl="0" eaLnBrk="0" fontAlgn="base" hangingPunct="0">
        <a:spcBef>
          <a:spcPct val="20000"/>
        </a:spcBef>
        <a:spcAft>
          <a:spcPct val="0"/>
        </a:spcAft>
        <a:buClr>
          <a:schemeClr val="tx2"/>
        </a:buClr>
        <a:buSzPct val="70000"/>
        <a:buFont typeface="Wingdings" pitchFamily="2" charset="2"/>
        <a:buChar char="l"/>
        <a:defRPr sz="2100" kern="1200">
          <a:solidFill>
            <a:schemeClr val="tx1"/>
          </a:solidFill>
          <a:latin typeface="+mn-lt"/>
          <a:ea typeface="+mn-ea"/>
          <a:cs typeface="+mn-cs"/>
        </a:defRPr>
      </a:lvl1pPr>
      <a:lvl2pPr marL="484188" indent="-242888" algn="l" defTabSz="639763" rtl="0" eaLnBrk="0" fontAlgn="base" hangingPunct="0">
        <a:spcBef>
          <a:spcPct val="20000"/>
        </a:spcBef>
        <a:spcAft>
          <a:spcPct val="0"/>
        </a:spcAft>
        <a:buClr>
          <a:schemeClr val="accent2"/>
        </a:buClr>
        <a:buSzPct val="70000"/>
        <a:buFont typeface="Wingdings" pitchFamily="2" charset="2"/>
        <a:buChar char="l"/>
        <a:defRPr kern="1200">
          <a:solidFill>
            <a:schemeClr val="tx1"/>
          </a:solidFill>
          <a:latin typeface="+mn-lt"/>
          <a:ea typeface="+mn-ea"/>
          <a:cs typeface="+mn-cs"/>
        </a:defRPr>
      </a:lvl2pPr>
      <a:lvl3pPr marL="690563" indent="-204788" algn="l" defTabSz="639763" rtl="0" eaLnBrk="0" fontAlgn="base" hangingPunct="0">
        <a:spcBef>
          <a:spcPct val="20000"/>
        </a:spcBef>
        <a:spcAft>
          <a:spcPct val="0"/>
        </a:spcAft>
        <a:buClr>
          <a:schemeClr val="accent1"/>
        </a:buClr>
        <a:buSzPct val="70000"/>
        <a:buFont typeface="Wingdings" pitchFamily="2" charset="2"/>
        <a:buChar char="l"/>
        <a:defRPr sz="1600" kern="1200">
          <a:solidFill>
            <a:schemeClr val="tx1"/>
          </a:solidFill>
          <a:latin typeface="+mn-lt"/>
          <a:ea typeface="+mn-ea"/>
          <a:cs typeface="+mn-cs"/>
        </a:defRPr>
      </a:lvl3pPr>
      <a:lvl4pPr marL="896938" indent="-204788" algn="l" defTabSz="639763" rtl="0" eaLnBrk="0" fontAlgn="base" hangingPunct="0">
        <a:spcBef>
          <a:spcPct val="20000"/>
        </a:spcBef>
        <a:spcAft>
          <a:spcPct val="0"/>
        </a:spcAft>
        <a:buClr>
          <a:schemeClr val="tx2"/>
        </a:buClr>
        <a:buSzPct val="75000"/>
        <a:buFont typeface="Wingdings" pitchFamily="2" charset="2"/>
        <a:buChar char="§"/>
        <a:defRPr sz="1400" kern="1200">
          <a:solidFill>
            <a:schemeClr val="tx1"/>
          </a:solidFill>
          <a:latin typeface="+mn-lt"/>
          <a:ea typeface="+mn-ea"/>
          <a:cs typeface="+mn-cs"/>
        </a:defRPr>
      </a:lvl4pPr>
      <a:lvl5pPr marL="1119188" indent="-220663" algn="l" defTabSz="639763" rtl="0" eaLnBrk="0" fontAlgn="base" hangingPunct="0">
        <a:spcBef>
          <a:spcPct val="20000"/>
        </a:spcBef>
        <a:spcAft>
          <a:spcPct val="0"/>
        </a:spcAft>
        <a:buClr>
          <a:schemeClr val="folHlink"/>
        </a:buClr>
        <a:buSzPct val="80000"/>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www.ai-junkie.com/som1.html"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2D1405C-5C64-16B9-E25F-C289EC425756}"/>
              </a:ext>
            </a:extLst>
          </p:cNvPr>
          <p:cNvSpPr>
            <a:spLocks noGrp="1" noChangeArrowheads="1"/>
          </p:cNvSpPr>
          <p:nvPr>
            <p:ph type="ctrTitle"/>
          </p:nvPr>
        </p:nvSpPr>
        <p:spPr/>
        <p:txBody>
          <a:bodyPr/>
          <a:lstStyle/>
          <a:p>
            <a:pPr eaLnBrk="1" hangingPunct="1"/>
            <a:r>
              <a:rPr lang="en-US" altLang="en-US"/>
              <a:t>Lecture #9</a:t>
            </a:r>
          </a:p>
        </p:txBody>
      </p:sp>
      <p:sp>
        <p:nvSpPr>
          <p:cNvPr id="3075" name="Rectangle 3">
            <a:extLst>
              <a:ext uri="{FF2B5EF4-FFF2-40B4-BE49-F238E27FC236}">
                <a16:creationId xmlns:a16="http://schemas.microsoft.com/office/drawing/2014/main" id="{C5FBC087-2D65-6040-F698-234D6ACB3FE9}"/>
              </a:ext>
            </a:extLst>
          </p:cNvPr>
          <p:cNvSpPr>
            <a:spLocks noGrp="1" noChangeArrowheads="1"/>
          </p:cNvSpPr>
          <p:nvPr>
            <p:ph type="subTitle" idx="1"/>
          </p:nvPr>
        </p:nvSpPr>
        <p:spPr/>
        <p:txBody>
          <a:bodyPr/>
          <a:lstStyle/>
          <a:p>
            <a:pPr eaLnBrk="1" hangingPunct="1"/>
            <a:r>
              <a:rPr lang="en-US" altLang="en-US" b="1"/>
              <a:t>Cluster Analysis</a:t>
            </a:r>
            <a:endParaRPr lang="en-US" alt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DC6141F-4C9E-4F65-FD78-11DF4400E351}"/>
              </a:ext>
            </a:extLst>
          </p:cNvPr>
          <p:cNvSpPr>
            <a:spLocks noGrp="1" noChangeArrowheads="1"/>
          </p:cNvSpPr>
          <p:nvPr>
            <p:ph type="title"/>
          </p:nvPr>
        </p:nvSpPr>
        <p:spPr>
          <a:xfrm>
            <a:off x="320675" y="266700"/>
            <a:ext cx="5280025" cy="512763"/>
          </a:xfrm>
        </p:spPr>
        <p:txBody>
          <a:bodyPr/>
          <a:lstStyle/>
          <a:p>
            <a:pPr eaLnBrk="1" hangingPunct="1"/>
            <a:r>
              <a:rPr lang="en-US" altLang="en-US"/>
              <a:t>What is clustering</a:t>
            </a:r>
          </a:p>
        </p:txBody>
      </p:sp>
      <p:sp>
        <p:nvSpPr>
          <p:cNvPr id="4099" name="Rectangle 3">
            <a:extLst>
              <a:ext uri="{FF2B5EF4-FFF2-40B4-BE49-F238E27FC236}">
                <a16:creationId xmlns:a16="http://schemas.microsoft.com/office/drawing/2014/main" id="{13C25AA1-3989-B41E-AA07-002A1DC12EB3}"/>
              </a:ext>
            </a:extLst>
          </p:cNvPr>
          <p:cNvSpPr>
            <a:spLocks noGrp="1" noChangeArrowheads="1"/>
          </p:cNvSpPr>
          <p:nvPr>
            <p:ph type="body" idx="1"/>
          </p:nvPr>
        </p:nvSpPr>
        <p:spPr>
          <a:xfrm>
            <a:off x="320675" y="1066800"/>
            <a:ext cx="5759450" cy="3627438"/>
          </a:xfrm>
        </p:spPr>
        <p:txBody>
          <a:bodyPr/>
          <a:lstStyle/>
          <a:p>
            <a:pPr eaLnBrk="1" hangingPunct="1"/>
            <a:r>
              <a:rPr lang="en-US" altLang="en-US"/>
              <a:t>Clustering is an </a:t>
            </a:r>
            <a:r>
              <a:rPr lang="en-US" altLang="en-US" u="sng"/>
              <a:t>unsupervised</a:t>
            </a:r>
            <a:r>
              <a:rPr lang="en-US" altLang="en-US"/>
              <a:t> analysis technique used to group similar objects (genes or samples) together</a:t>
            </a:r>
          </a:p>
          <a:p>
            <a:pPr eaLnBrk="1" hangingPunct="1"/>
            <a:endParaRPr lang="en-US" altLang="en-US"/>
          </a:p>
          <a:p>
            <a:pPr eaLnBrk="1" hangingPunct="1"/>
            <a:r>
              <a:rPr lang="en-US" altLang="en-US"/>
              <a:t>Builds structure to help explain the relationships that may exist between the objects</a:t>
            </a:r>
          </a:p>
          <a:p>
            <a:pPr lvl="1" eaLnBrk="1" hangingPunct="1"/>
            <a:r>
              <a:rPr lang="en-US" altLang="en-US"/>
              <a:t>Dendrogram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EC24FFA-71D8-731C-88A8-F197FC68A62E}"/>
              </a:ext>
            </a:extLst>
          </p:cNvPr>
          <p:cNvSpPr>
            <a:spLocks noGrp="1" noChangeArrowheads="1"/>
          </p:cNvSpPr>
          <p:nvPr>
            <p:ph type="title"/>
          </p:nvPr>
        </p:nvSpPr>
        <p:spPr>
          <a:xfrm>
            <a:off x="320675" y="266700"/>
            <a:ext cx="5280025" cy="512763"/>
          </a:xfrm>
        </p:spPr>
        <p:txBody>
          <a:bodyPr/>
          <a:lstStyle/>
          <a:p>
            <a:pPr eaLnBrk="1" hangingPunct="1"/>
            <a:r>
              <a:rPr lang="en-US" altLang="en-US"/>
              <a:t>Applications of clustering</a:t>
            </a:r>
          </a:p>
        </p:txBody>
      </p:sp>
      <p:sp>
        <p:nvSpPr>
          <p:cNvPr id="5123" name="Rectangle 3">
            <a:extLst>
              <a:ext uri="{FF2B5EF4-FFF2-40B4-BE49-F238E27FC236}">
                <a16:creationId xmlns:a16="http://schemas.microsoft.com/office/drawing/2014/main" id="{C7517BF3-D6BC-F725-5AA2-A7CF9A732663}"/>
              </a:ext>
            </a:extLst>
          </p:cNvPr>
          <p:cNvSpPr>
            <a:spLocks noGrp="1" noChangeArrowheads="1"/>
          </p:cNvSpPr>
          <p:nvPr>
            <p:ph type="body" idx="1"/>
          </p:nvPr>
        </p:nvSpPr>
        <p:spPr>
          <a:xfrm>
            <a:off x="320675" y="1066800"/>
            <a:ext cx="5759450" cy="3627438"/>
          </a:xfrm>
        </p:spPr>
        <p:txBody>
          <a:bodyPr/>
          <a:lstStyle/>
          <a:p>
            <a:pPr eaLnBrk="1" hangingPunct="1"/>
            <a:r>
              <a:rPr lang="en-US" altLang="en-US"/>
              <a:t>Like many techniques in transcriptome analysis, clustering is not a new approach for identifying patterns in data</a:t>
            </a:r>
          </a:p>
          <a:p>
            <a:pPr eaLnBrk="1" hangingPunct="1"/>
            <a:endParaRPr lang="en-US" altLang="en-US" sz="900"/>
          </a:p>
          <a:p>
            <a:pPr eaLnBrk="1" hangingPunct="1"/>
            <a:r>
              <a:rPr lang="en-US" altLang="en-US"/>
              <a:t>Clustering has been utilized in multiple applications</a:t>
            </a:r>
          </a:p>
          <a:p>
            <a:pPr lvl="1" eaLnBrk="1" hangingPunct="1"/>
            <a:r>
              <a:rPr lang="en-US" altLang="en-US" sz="1500" b="1"/>
              <a:t>Phylogenetics (taxonomy)</a:t>
            </a:r>
          </a:p>
          <a:p>
            <a:pPr lvl="1" eaLnBrk="1" hangingPunct="1"/>
            <a:r>
              <a:rPr lang="en-US" altLang="en-US" sz="1500" b="1"/>
              <a:t>Sociology (demographics)</a:t>
            </a:r>
          </a:p>
          <a:p>
            <a:pPr lvl="1" eaLnBrk="1" hangingPunct="1">
              <a:spcBef>
                <a:spcPts val="350"/>
              </a:spcBef>
              <a:spcAft>
                <a:spcPts val="350"/>
              </a:spcAft>
            </a:pPr>
            <a:r>
              <a:rPr lang="en-US" altLang="en-US" sz="1500" b="1"/>
              <a:t>Linguistics (word usage)</a:t>
            </a:r>
          </a:p>
          <a:p>
            <a:pPr lvl="1" eaLnBrk="1" hangingPunct="1"/>
            <a:r>
              <a:rPr lang="en-US" altLang="en-US" sz="1500" b="1"/>
              <a:t>Business (money market)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65F43FB-DBCB-55B1-2359-F98F066AB804}"/>
              </a:ext>
            </a:extLst>
          </p:cNvPr>
          <p:cNvSpPr>
            <a:spLocks noGrp="1" noChangeArrowheads="1"/>
          </p:cNvSpPr>
          <p:nvPr>
            <p:ph type="title"/>
          </p:nvPr>
        </p:nvSpPr>
        <p:spPr>
          <a:xfrm>
            <a:off x="320675" y="266700"/>
            <a:ext cx="5280025" cy="512763"/>
          </a:xfrm>
        </p:spPr>
        <p:txBody>
          <a:bodyPr/>
          <a:lstStyle/>
          <a:p>
            <a:pPr eaLnBrk="1" hangingPunct="1"/>
            <a:r>
              <a:rPr lang="en-US" altLang="en-US"/>
              <a:t>Some clustering methods</a:t>
            </a:r>
          </a:p>
        </p:txBody>
      </p:sp>
      <p:sp>
        <p:nvSpPr>
          <p:cNvPr id="6147" name="Rectangle 3">
            <a:extLst>
              <a:ext uri="{FF2B5EF4-FFF2-40B4-BE49-F238E27FC236}">
                <a16:creationId xmlns:a16="http://schemas.microsoft.com/office/drawing/2014/main" id="{39651DC4-EEED-3A39-2DB2-3B71D9963817}"/>
              </a:ext>
            </a:extLst>
          </p:cNvPr>
          <p:cNvSpPr>
            <a:spLocks noGrp="1" noChangeArrowheads="1"/>
          </p:cNvSpPr>
          <p:nvPr>
            <p:ph type="body" idx="1"/>
          </p:nvPr>
        </p:nvSpPr>
        <p:spPr>
          <a:xfrm>
            <a:off x="320675" y="1066800"/>
            <a:ext cx="5759450" cy="3627438"/>
          </a:xfrm>
        </p:spPr>
        <p:txBody>
          <a:bodyPr/>
          <a:lstStyle/>
          <a:p>
            <a:pPr eaLnBrk="1" hangingPunct="1"/>
            <a:r>
              <a:rPr lang="en-US" altLang="en-US" sz="2400"/>
              <a:t>There are multiple types of clustering methods</a:t>
            </a:r>
          </a:p>
          <a:p>
            <a:pPr lvl="1" eaLnBrk="1" hangingPunct="1"/>
            <a:r>
              <a:rPr lang="en-US" altLang="en-US"/>
              <a:t>Hierarchical (HCA)</a:t>
            </a:r>
          </a:p>
          <a:p>
            <a:pPr lvl="1" eaLnBrk="1" hangingPunct="1"/>
            <a:r>
              <a:rPr lang="en-US" altLang="en-US" i="1"/>
              <a:t>k</a:t>
            </a:r>
            <a:r>
              <a:rPr lang="en-US" altLang="en-US"/>
              <a:t>-means</a:t>
            </a:r>
          </a:p>
          <a:p>
            <a:pPr lvl="1" eaLnBrk="1" hangingPunct="1"/>
            <a:r>
              <a:rPr lang="en-US" altLang="en-US"/>
              <a:t>Self-organizing maps (SOM)</a:t>
            </a:r>
          </a:p>
          <a:p>
            <a:pPr lvl="1" eaLnBrk="1" hangingPunct="1"/>
            <a:r>
              <a:rPr lang="en-US" altLang="en-US"/>
              <a:t>Clique partitioning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C046CD9-1340-4483-3982-B5CFCD97CEAA}"/>
              </a:ext>
            </a:extLst>
          </p:cNvPr>
          <p:cNvSpPr>
            <a:spLocks noGrp="1" noChangeArrowheads="1"/>
          </p:cNvSpPr>
          <p:nvPr>
            <p:ph type="title"/>
          </p:nvPr>
        </p:nvSpPr>
        <p:spPr>
          <a:xfrm>
            <a:off x="320675" y="266700"/>
            <a:ext cx="5280025" cy="512763"/>
          </a:xfrm>
        </p:spPr>
        <p:txBody>
          <a:bodyPr/>
          <a:lstStyle/>
          <a:p>
            <a:pPr eaLnBrk="1" hangingPunct="1"/>
            <a:r>
              <a:rPr lang="en-US" altLang="en-US"/>
              <a:t>Some clustering methods</a:t>
            </a:r>
          </a:p>
        </p:txBody>
      </p:sp>
      <p:sp>
        <p:nvSpPr>
          <p:cNvPr id="7171" name="Rectangle 3">
            <a:extLst>
              <a:ext uri="{FF2B5EF4-FFF2-40B4-BE49-F238E27FC236}">
                <a16:creationId xmlns:a16="http://schemas.microsoft.com/office/drawing/2014/main" id="{4F5F3CF3-187F-9956-79CC-C93D181F4E2D}"/>
              </a:ext>
            </a:extLst>
          </p:cNvPr>
          <p:cNvSpPr>
            <a:spLocks noGrp="1" noChangeArrowheads="1"/>
          </p:cNvSpPr>
          <p:nvPr>
            <p:ph type="body" idx="1"/>
          </p:nvPr>
        </p:nvSpPr>
        <p:spPr>
          <a:xfrm>
            <a:off x="320675" y="1066800"/>
            <a:ext cx="5759450" cy="3627438"/>
          </a:xfrm>
        </p:spPr>
        <p:txBody>
          <a:bodyPr/>
          <a:lstStyle/>
          <a:p>
            <a:pPr eaLnBrk="1" hangingPunct="1"/>
            <a:r>
              <a:rPr lang="en-US" altLang="en-US" sz="2400"/>
              <a:t>There are multiple types of clustering methods</a:t>
            </a:r>
          </a:p>
          <a:p>
            <a:pPr lvl="1" eaLnBrk="1" hangingPunct="1"/>
            <a:r>
              <a:rPr lang="en-US" altLang="en-US" b="1">
                <a:solidFill>
                  <a:srgbClr val="FF5050"/>
                </a:solidFill>
              </a:rPr>
              <a:t>Hierarchical (HCA)</a:t>
            </a:r>
          </a:p>
          <a:p>
            <a:pPr lvl="1" eaLnBrk="1" hangingPunct="1"/>
            <a:r>
              <a:rPr lang="en-US" altLang="en-US" i="1"/>
              <a:t>k</a:t>
            </a:r>
            <a:r>
              <a:rPr lang="en-US" altLang="en-US"/>
              <a:t>-means</a:t>
            </a:r>
          </a:p>
          <a:p>
            <a:pPr lvl="1" eaLnBrk="1" hangingPunct="1"/>
            <a:r>
              <a:rPr lang="en-US" altLang="en-US"/>
              <a:t>Self-organizing maps (SOM)</a:t>
            </a:r>
          </a:p>
          <a:p>
            <a:pPr lvl="1" eaLnBrk="1" hangingPunct="1"/>
            <a:r>
              <a:rPr lang="en-US" altLang="en-US"/>
              <a:t>Clique partitioning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D99F07B-FE31-5588-C0AB-093C7BD103EE}"/>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HCA Clustering Procedure </a:t>
            </a:r>
            <a:r>
              <a:rPr lang="en-US" altLang="en-US" sz="1800" b="0">
                <a:latin typeface="Tahoma" panose="020B0604030504040204" pitchFamily="34" charset="0"/>
              </a:rPr>
              <a:t>(genes)</a:t>
            </a:r>
            <a:endParaRPr lang="en-US" altLang="en-US" sz="2500" b="0">
              <a:latin typeface="Tahoma" panose="020B0604030504040204" pitchFamily="34" charset="0"/>
            </a:endParaRPr>
          </a:p>
        </p:txBody>
      </p:sp>
      <p:sp>
        <p:nvSpPr>
          <p:cNvPr id="8195" name="Rectangle 3">
            <a:extLst>
              <a:ext uri="{FF2B5EF4-FFF2-40B4-BE49-F238E27FC236}">
                <a16:creationId xmlns:a16="http://schemas.microsoft.com/office/drawing/2014/main" id="{40539B85-A988-9DD4-3F5D-82B778D98D52}"/>
              </a:ext>
            </a:extLst>
          </p:cNvPr>
          <p:cNvSpPr>
            <a:spLocks noGrp="1" noChangeArrowheads="1"/>
          </p:cNvSpPr>
          <p:nvPr>
            <p:ph type="body" idx="1"/>
          </p:nvPr>
        </p:nvSpPr>
        <p:spPr>
          <a:xfrm>
            <a:off x="320675" y="1203325"/>
            <a:ext cx="3162300" cy="457200"/>
          </a:xfrm>
        </p:spPr>
        <p:txBody>
          <a:bodyPr/>
          <a:lstStyle/>
          <a:p>
            <a:pPr eaLnBrk="1" hangingPunct="1">
              <a:buFont typeface="Wingdings" pitchFamily="2" charset="2"/>
              <a:buNone/>
            </a:pPr>
            <a:r>
              <a:rPr lang="en-US" altLang="en-US" sz="1200"/>
              <a:t>1.) Each gene begins as its own cluster</a:t>
            </a:r>
          </a:p>
        </p:txBody>
      </p:sp>
      <p:pic>
        <p:nvPicPr>
          <p:cNvPr id="8196" name="Picture 4">
            <a:extLst>
              <a:ext uri="{FF2B5EF4-FFF2-40B4-BE49-F238E27FC236}">
                <a16:creationId xmlns:a16="http://schemas.microsoft.com/office/drawing/2014/main" id="{8496204E-F75F-B01C-2B51-E2541BB0D0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1088" y="1227138"/>
            <a:ext cx="2665412"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05" name="Rectangle 5">
            <a:extLst>
              <a:ext uri="{FF2B5EF4-FFF2-40B4-BE49-F238E27FC236}">
                <a16:creationId xmlns:a16="http://schemas.microsoft.com/office/drawing/2014/main" id="{9FCFAAF5-07AF-F1FF-29CF-9E3441997F36}"/>
              </a:ext>
            </a:extLst>
          </p:cNvPr>
          <p:cNvSpPr>
            <a:spLocks noChangeArrowheads="1"/>
          </p:cNvSpPr>
          <p:nvPr/>
        </p:nvSpPr>
        <p:spPr bwMode="auto">
          <a:xfrm>
            <a:off x="479425" y="2079625"/>
            <a:ext cx="2987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3.) Merge them into their own cluster</a:t>
            </a:r>
          </a:p>
        </p:txBody>
      </p:sp>
      <p:sp>
        <p:nvSpPr>
          <p:cNvPr id="307206" name="Rectangle 6">
            <a:extLst>
              <a:ext uri="{FF2B5EF4-FFF2-40B4-BE49-F238E27FC236}">
                <a16:creationId xmlns:a16="http://schemas.microsoft.com/office/drawing/2014/main" id="{F42ED6D8-025D-69B4-902A-97F00B8A0351}"/>
              </a:ext>
            </a:extLst>
          </p:cNvPr>
          <p:cNvSpPr>
            <a:spLocks noChangeArrowheads="1"/>
          </p:cNvSpPr>
          <p:nvPr/>
        </p:nvSpPr>
        <p:spPr bwMode="auto">
          <a:xfrm>
            <a:off x="479425" y="1812925"/>
            <a:ext cx="2987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2.) Look for “closest” pair of clusters</a:t>
            </a:r>
          </a:p>
        </p:txBody>
      </p:sp>
      <p:grpSp>
        <p:nvGrpSpPr>
          <p:cNvPr id="307207" name="Group 7">
            <a:extLst>
              <a:ext uri="{FF2B5EF4-FFF2-40B4-BE49-F238E27FC236}">
                <a16:creationId xmlns:a16="http://schemas.microsoft.com/office/drawing/2014/main" id="{A3C84C20-EEBF-31AF-C630-89054C29946E}"/>
              </a:ext>
            </a:extLst>
          </p:cNvPr>
          <p:cNvGrpSpPr>
            <a:grpSpLocks/>
          </p:cNvGrpSpPr>
          <p:nvPr/>
        </p:nvGrpSpPr>
        <p:grpSpPr bwMode="auto">
          <a:xfrm>
            <a:off x="4373563" y="1920875"/>
            <a:ext cx="1493837" cy="2025650"/>
            <a:chOff x="3936" y="1728"/>
            <a:chExt cx="1344" cy="1824"/>
          </a:xfrm>
        </p:grpSpPr>
        <p:sp>
          <p:nvSpPr>
            <p:cNvPr id="8212" name="Line 8">
              <a:extLst>
                <a:ext uri="{FF2B5EF4-FFF2-40B4-BE49-F238E27FC236}">
                  <a16:creationId xmlns:a16="http://schemas.microsoft.com/office/drawing/2014/main" id="{460045E5-770F-81C4-3959-9EDFDA1A8E34}"/>
                </a:ext>
              </a:extLst>
            </p:cNvPr>
            <p:cNvSpPr>
              <a:spLocks noChangeShapeType="1"/>
            </p:cNvSpPr>
            <p:nvPr/>
          </p:nvSpPr>
          <p:spPr bwMode="auto">
            <a:xfrm>
              <a:off x="3984" y="2784"/>
              <a:ext cx="96" cy="48"/>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3" name="Line 9">
              <a:extLst>
                <a:ext uri="{FF2B5EF4-FFF2-40B4-BE49-F238E27FC236}">
                  <a16:creationId xmlns:a16="http://schemas.microsoft.com/office/drawing/2014/main" id="{246716AB-8608-2FAC-C3B0-813E8C8F01D3}"/>
                </a:ext>
              </a:extLst>
            </p:cNvPr>
            <p:cNvSpPr>
              <a:spLocks noChangeShapeType="1"/>
            </p:cNvSpPr>
            <p:nvPr/>
          </p:nvSpPr>
          <p:spPr bwMode="auto">
            <a:xfrm flipH="1">
              <a:off x="3936" y="1728"/>
              <a:ext cx="144" cy="912"/>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4" name="Line 10">
              <a:extLst>
                <a:ext uri="{FF2B5EF4-FFF2-40B4-BE49-F238E27FC236}">
                  <a16:creationId xmlns:a16="http://schemas.microsoft.com/office/drawing/2014/main" id="{C4386D61-EF98-DC3F-A0BF-68D3F1120A9A}"/>
                </a:ext>
              </a:extLst>
            </p:cNvPr>
            <p:cNvSpPr>
              <a:spLocks noChangeShapeType="1"/>
            </p:cNvSpPr>
            <p:nvPr/>
          </p:nvSpPr>
          <p:spPr bwMode="auto">
            <a:xfrm flipV="1">
              <a:off x="3984" y="2496"/>
              <a:ext cx="432" cy="192"/>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5" name="Line 11">
              <a:extLst>
                <a:ext uri="{FF2B5EF4-FFF2-40B4-BE49-F238E27FC236}">
                  <a16:creationId xmlns:a16="http://schemas.microsoft.com/office/drawing/2014/main" id="{156B6E51-3835-9227-CE7D-641D826FAC31}"/>
                </a:ext>
              </a:extLst>
            </p:cNvPr>
            <p:cNvSpPr>
              <a:spLocks noChangeShapeType="1"/>
            </p:cNvSpPr>
            <p:nvPr/>
          </p:nvSpPr>
          <p:spPr bwMode="auto">
            <a:xfrm>
              <a:off x="4032" y="2688"/>
              <a:ext cx="576" cy="240"/>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6" name="Line 12">
              <a:extLst>
                <a:ext uri="{FF2B5EF4-FFF2-40B4-BE49-F238E27FC236}">
                  <a16:creationId xmlns:a16="http://schemas.microsoft.com/office/drawing/2014/main" id="{1703A260-EF50-F234-C266-F56D2C65BC62}"/>
                </a:ext>
              </a:extLst>
            </p:cNvPr>
            <p:cNvSpPr>
              <a:spLocks noChangeShapeType="1"/>
            </p:cNvSpPr>
            <p:nvPr/>
          </p:nvSpPr>
          <p:spPr bwMode="auto">
            <a:xfrm flipV="1">
              <a:off x="3984" y="1776"/>
              <a:ext cx="1056" cy="864"/>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7" name="Line 13">
              <a:extLst>
                <a:ext uri="{FF2B5EF4-FFF2-40B4-BE49-F238E27FC236}">
                  <a16:creationId xmlns:a16="http://schemas.microsoft.com/office/drawing/2014/main" id="{84097BCE-9194-4871-54B4-892B86651C72}"/>
                </a:ext>
              </a:extLst>
            </p:cNvPr>
            <p:cNvSpPr>
              <a:spLocks noChangeShapeType="1"/>
            </p:cNvSpPr>
            <p:nvPr/>
          </p:nvSpPr>
          <p:spPr bwMode="auto">
            <a:xfrm>
              <a:off x="3984" y="2736"/>
              <a:ext cx="1296" cy="816"/>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214" name="Oval 14">
            <a:extLst>
              <a:ext uri="{FF2B5EF4-FFF2-40B4-BE49-F238E27FC236}">
                <a16:creationId xmlns:a16="http://schemas.microsoft.com/office/drawing/2014/main" id="{AFFE934F-242C-789E-BE2C-87D08F00B5A7}"/>
              </a:ext>
            </a:extLst>
          </p:cNvPr>
          <p:cNvSpPr>
            <a:spLocks noChangeArrowheads="1"/>
          </p:cNvSpPr>
          <p:nvPr/>
        </p:nvSpPr>
        <p:spPr bwMode="auto">
          <a:xfrm rot="1935984">
            <a:off x="4157663" y="2927350"/>
            <a:ext cx="638175" cy="376238"/>
          </a:xfrm>
          <a:prstGeom prst="ellipse">
            <a:avLst/>
          </a:prstGeom>
          <a:noFill/>
          <a:ln w="38100" cap="sq">
            <a:solidFill>
              <a:schemeClr va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grpSp>
        <p:nvGrpSpPr>
          <p:cNvPr id="307215" name="Group 15">
            <a:extLst>
              <a:ext uri="{FF2B5EF4-FFF2-40B4-BE49-F238E27FC236}">
                <a16:creationId xmlns:a16="http://schemas.microsoft.com/office/drawing/2014/main" id="{AA46412D-D76F-9A9C-6780-88A1D464607B}"/>
              </a:ext>
            </a:extLst>
          </p:cNvPr>
          <p:cNvGrpSpPr>
            <a:grpSpLocks/>
          </p:cNvGrpSpPr>
          <p:nvPr/>
        </p:nvGrpSpPr>
        <p:grpSpPr bwMode="auto">
          <a:xfrm>
            <a:off x="479425" y="1227138"/>
            <a:ext cx="5815013" cy="3419475"/>
            <a:chOff x="432" y="1104"/>
            <a:chExt cx="5232" cy="3078"/>
          </a:xfrm>
        </p:grpSpPr>
        <p:sp>
          <p:nvSpPr>
            <p:cNvPr id="8208" name="Rectangle 16">
              <a:extLst>
                <a:ext uri="{FF2B5EF4-FFF2-40B4-BE49-F238E27FC236}">
                  <a16:creationId xmlns:a16="http://schemas.microsoft.com/office/drawing/2014/main" id="{732E536D-4726-9CC3-6191-DDBEFD7106E3}"/>
                </a:ext>
              </a:extLst>
            </p:cNvPr>
            <p:cNvSpPr>
              <a:spLocks noChangeArrowheads="1"/>
            </p:cNvSpPr>
            <p:nvPr/>
          </p:nvSpPr>
          <p:spPr bwMode="auto">
            <a:xfrm>
              <a:off x="432" y="2112"/>
              <a:ext cx="268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4.) Evaluate all distances from this new cluster and the remaining clusters</a:t>
              </a:r>
            </a:p>
          </p:txBody>
        </p:sp>
        <p:grpSp>
          <p:nvGrpSpPr>
            <p:cNvPr id="8209" name="Group 17">
              <a:extLst>
                <a:ext uri="{FF2B5EF4-FFF2-40B4-BE49-F238E27FC236}">
                  <a16:creationId xmlns:a16="http://schemas.microsoft.com/office/drawing/2014/main" id="{8172A795-012C-09A1-25EA-A1F329BFA018}"/>
                </a:ext>
              </a:extLst>
            </p:cNvPr>
            <p:cNvGrpSpPr>
              <a:grpSpLocks/>
            </p:cNvGrpSpPr>
            <p:nvPr/>
          </p:nvGrpSpPr>
          <p:grpSpPr bwMode="auto">
            <a:xfrm>
              <a:off x="3265" y="1104"/>
              <a:ext cx="2399" cy="3078"/>
              <a:chOff x="3264" y="1098"/>
              <a:chExt cx="2399" cy="3078"/>
            </a:xfrm>
          </p:grpSpPr>
          <p:pic>
            <p:nvPicPr>
              <p:cNvPr id="8210" name="Picture 18">
                <a:extLst>
                  <a:ext uri="{FF2B5EF4-FFF2-40B4-BE49-F238E27FC236}">
                    <a16:creationId xmlns:a16="http://schemas.microsoft.com/office/drawing/2014/main" id="{D404C71F-B106-A448-8F52-8249455B2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4" y="1098"/>
                <a:ext cx="2399"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11" name="Oval 19">
                <a:extLst>
                  <a:ext uri="{FF2B5EF4-FFF2-40B4-BE49-F238E27FC236}">
                    <a16:creationId xmlns:a16="http://schemas.microsoft.com/office/drawing/2014/main" id="{AA14D574-848D-E81A-0D5F-3428EAAC9254}"/>
                  </a:ext>
                </a:extLst>
              </p:cNvPr>
              <p:cNvSpPr>
                <a:spLocks noChangeArrowheads="1"/>
              </p:cNvSpPr>
              <p:nvPr/>
            </p:nvSpPr>
            <p:spPr bwMode="auto">
              <a:xfrm rot="1935984">
                <a:off x="3748" y="2628"/>
                <a:ext cx="574" cy="339"/>
              </a:xfrm>
              <a:prstGeom prst="ellipse">
                <a:avLst/>
              </a:prstGeom>
              <a:noFill/>
              <a:ln w="38100" cap="sq">
                <a:solidFill>
                  <a:schemeClr va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grpSp>
      </p:grpSp>
      <p:grpSp>
        <p:nvGrpSpPr>
          <p:cNvPr id="307220" name="Group 20">
            <a:extLst>
              <a:ext uri="{FF2B5EF4-FFF2-40B4-BE49-F238E27FC236}">
                <a16:creationId xmlns:a16="http://schemas.microsoft.com/office/drawing/2014/main" id="{61A7D620-7560-794F-38FD-3FD86D815CE4}"/>
              </a:ext>
            </a:extLst>
          </p:cNvPr>
          <p:cNvGrpSpPr>
            <a:grpSpLocks/>
          </p:cNvGrpSpPr>
          <p:nvPr/>
        </p:nvGrpSpPr>
        <p:grpSpPr bwMode="auto">
          <a:xfrm>
            <a:off x="4481513" y="1927225"/>
            <a:ext cx="1281112" cy="2027238"/>
            <a:chOff x="4033" y="1734"/>
            <a:chExt cx="1152" cy="1824"/>
          </a:xfrm>
        </p:grpSpPr>
        <p:sp>
          <p:nvSpPr>
            <p:cNvPr id="8203" name="Line 21">
              <a:extLst>
                <a:ext uri="{FF2B5EF4-FFF2-40B4-BE49-F238E27FC236}">
                  <a16:creationId xmlns:a16="http://schemas.microsoft.com/office/drawing/2014/main" id="{32FC1F84-F70F-13F4-311D-41A4E180279A}"/>
                </a:ext>
              </a:extLst>
            </p:cNvPr>
            <p:cNvSpPr>
              <a:spLocks noChangeShapeType="1"/>
            </p:cNvSpPr>
            <p:nvPr/>
          </p:nvSpPr>
          <p:spPr bwMode="auto">
            <a:xfrm flipV="1">
              <a:off x="4033" y="1734"/>
              <a:ext cx="96" cy="816"/>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4" name="Line 22">
              <a:extLst>
                <a:ext uri="{FF2B5EF4-FFF2-40B4-BE49-F238E27FC236}">
                  <a16:creationId xmlns:a16="http://schemas.microsoft.com/office/drawing/2014/main" id="{49B5B4B9-2AB5-1876-6A7D-62E6F2F858DC}"/>
                </a:ext>
              </a:extLst>
            </p:cNvPr>
            <p:cNvSpPr>
              <a:spLocks noChangeShapeType="1"/>
            </p:cNvSpPr>
            <p:nvPr/>
          </p:nvSpPr>
          <p:spPr bwMode="auto">
            <a:xfrm flipV="1">
              <a:off x="4177" y="1782"/>
              <a:ext cx="912" cy="816"/>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5" name="Line 23">
              <a:extLst>
                <a:ext uri="{FF2B5EF4-FFF2-40B4-BE49-F238E27FC236}">
                  <a16:creationId xmlns:a16="http://schemas.microsoft.com/office/drawing/2014/main" id="{1F9E9BB5-EC26-1C74-ABE8-7EB7ABE42568}"/>
                </a:ext>
              </a:extLst>
            </p:cNvPr>
            <p:cNvSpPr>
              <a:spLocks noChangeShapeType="1"/>
            </p:cNvSpPr>
            <p:nvPr/>
          </p:nvSpPr>
          <p:spPr bwMode="auto">
            <a:xfrm flipH="1" flipV="1">
              <a:off x="4369" y="2982"/>
              <a:ext cx="816" cy="576"/>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6" name="Line 24">
              <a:extLst>
                <a:ext uri="{FF2B5EF4-FFF2-40B4-BE49-F238E27FC236}">
                  <a16:creationId xmlns:a16="http://schemas.microsoft.com/office/drawing/2014/main" id="{E89A84B3-14DD-774D-3EC6-C26B289732E9}"/>
                </a:ext>
              </a:extLst>
            </p:cNvPr>
            <p:cNvSpPr>
              <a:spLocks noChangeShapeType="1"/>
            </p:cNvSpPr>
            <p:nvPr/>
          </p:nvSpPr>
          <p:spPr bwMode="auto">
            <a:xfrm flipV="1">
              <a:off x="4273" y="2550"/>
              <a:ext cx="288" cy="192"/>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7" name="Line 25">
              <a:extLst>
                <a:ext uri="{FF2B5EF4-FFF2-40B4-BE49-F238E27FC236}">
                  <a16:creationId xmlns:a16="http://schemas.microsoft.com/office/drawing/2014/main" id="{E21BD889-1FF1-5A6B-8E71-015BB365DEF5}"/>
                </a:ext>
              </a:extLst>
            </p:cNvPr>
            <p:cNvSpPr>
              <a:spLocks noChangeShapeType="1"/>
            </p:cNvSpPr>
            <p:nvPr/>
          </p:nvSpPr>
          <p:spPr bwMode="auto">
            <a:xfrm flipH="1" flipV="1">
              <a:off x="4321" y="2886"/>
              <a:ext cx="240" cy="96"/>
            </a:xfrm>
            <a:prstGeom prst="line">
              <a:avLst/>
            </a:prstGeom>
            <a:noFill/>
            <a:ln w="12700" cap="sq">
              <a:solidFill>
                <a:schemeClr val="bg2"/>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7206"/>
                                        </p:tgtEl>
                                        <p:attrNameLst>
                                          <p:attrName>style.visibility</p:attrName>
                                        </p:attrNameLst>
                                      </p:cBhvr>
                                      <p:to>
                                        <p:strVal val="visible"/>
                                      </p:to>
                                    </p:set>
                                    <p:animEffect transition="in" filter="dissolve">
                                      <p:cBhvr>
                                        <p:cTn id="7" dur="500"/>
                                        <p:tgtEl>
                                          <p:spTgt spid="3072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07207"/>
                                        </p:tgtEl>
                                        <p:attrNameLst>
                                          <p:attrName>style.visibility</p:attrName>
                                        </p:attrNameLst>
                                      </p:cBhvr>
                                      <p:to>
                                        <p:strVal val="visible"/>
                                      </p:to>
                                    </p:set>
                                    <p:animEffect transition="in" filter="dissolve">
                                      <p:cBhvr>
                                        <p:cTn id="12" dur="500"/>
                                        <p:tgtEl>
                                          <p:spTgt spid="307207"/>
                                        </p:tgtEl>
                                      </p:cBhvr>
                                    </p:animEffect>
                                  </p:childTnLst>
                                  <p:subTnLst>
                                    <p:set>
                                      <p:cBhvr override="childStyle">
                                        <p:cTn dur="1" fill="hold" display="0" masterRel="nextClick" afterEffect="1"/>
                                        <p:tgtEl>
                                          <p:spTgt spid="30720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7205"/>
                                        </p:tgtEl>
                                        <p:attrNameLst>
                                          <p:attrName>style.visibility</p:attrName>
                                        </p:attrNameLst>
                                      </p:cBhvr>
                                      <p:to>
                                        <p:strVal val="visible"/>
                                      </p:to>
                                    </p:set>
                                    <p:animEffect transition="in" filter="dissolve">
                                      <p:cBhvr>
                                        <p:cTn id="17" dur="500"/>
                                        <p:tgtEl>
                                          <p:spTgt spid="30720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07214"/>
                                        </p:tgtEl>
                                        <p:attrNameLst>
                                          <p:attrName>style.visibility</p:attrName>
                                        </p:attrNameLst>
                                      </p:cBhvr>
                                      <p:to>
                                        <p:strVal val="visible"/>
                                      </p:to>
                                    </p:set>
                                    <p:animEffect transition="in" filter="dissolve">
                                      <p:cBhvr>
                                        <p:cTn id="22" dur="500"/>
                                        <p:tgtEl>
                                          <p:spTgt spid="3072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30721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307220"/>
                                        </p:tgtEl>
                                        <p:attrNameLst>
                                          <p:attrName>style.visibility</p:attrName>
                                        </p:attrNameLst>
                                      </p:cBhvr>
                                      <p:to>
                                        <p:strVal val="visible"/>
                                      </p:to>
                                    </p:set>
                                    <p:animEffect transition="in" filter="dissolve">
                                      <p:cBhvr>
                                        <p:cTn id="31" dur="500"/>
                                        <p:tgtEl>
                                          <p:spTgt spid="307220"/>
                                        </p:tgtEl>
                                      </p:cBhvr>
                                    </p:animEffect>
                                  </p:childTnLst>
                                  <p:subTnLst>
                                    <p:set>
                                      <p:cBhvr override="childStyle">
                                        <p:cTn dur="1" fill="hold" display="0" masterRel="nextClick" afterEffect="1"/>
                                        <p:tgtEl>
                                          <p:spTgt spid="30722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5" grpId="0" autoUpdateAnimBg="0"/>
      <p:bldP spid="307206"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6AF1174-F6A4-3934-BEF5-9D0F15E84C59}"/>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HCA Clustering Procedure </a:t>
            </a:r>
            <a:r>
              <a:rPr lang="en-US" altLang="en-US" sz="1800" b="0">
                <a:latin typeface="Tahoma" panose="020B0604030504040204" pitchFamily="34" charset="0"/>
              </a:rPr>
              <a:t>(genes)</a:t>
            </a:r>
            <a:endParaRPr lang="en-US" altLang="en-US" sz="2500" b="0">
              <a:latin typeface="Tahoma" panose="020B0604030504040204" pitchFamily="34" charset="0"/>
            </a:endParaRPr>
          </a:p>
        </p:txBody>
      </p:sp>
      <p:sp>
        <p:nvSpPr>
          <p:cNvPr id="9219" name="Rectangle 3">
            <a:extLst>
              <a:ext uri="{FF2B5EF4-FFF2-40B4-BE49-F238E27FC236}">
                <a16:creationId xmlns:a16="http://schemas.microsoft.com/office/drawing/2014/main" id="{6BB79706-134B-53D4-2A09-6C7D189F2502}"/>
              </a:ext>
            </a:extLst>
          </p:cNvPr>
          <p:cNvSpPr>
            <a:spLocks noGrp="1" noChangeArrowheads="1"/>
          </p:cNvSpPr>
          <p:nvPr>
            <p:ph type="body" idx="1"/>
          </p:nvPr>
        </p:nvSpPr>
        <p:spPr>
          <a:xfrm>
            <a:off x="320675" y="1203325"/>
            <a:ext cx="3162300" cy="457200"/>
          </a:xfrm>
        </p:spPr>
        <p:txBody>
          <a:bodyPr/>
          <a:lstStyle/>
          <a:p>
            <a:pPr eaLnBrk="1" hangingPunct="1">
              <a:buFont typeface="Wingdings" pitchFamily="2" charset="2"/>
              <a:buNone/>
            </a:pPr>
            <a:r>
              <a:rPr lang="en-US" altLang="en-US" sz="1200"/>
              <a:t>1.) Each gene begins as its own cluster</a:t>
            </a:r>
          </a:p>
        </p:txBody>
      </p:sp>
      <p:pic>
        <p:nvPicPr>
          <p:cNvPr id="9220" name="Picture 4">
            <a:extLst>
              <a:ext uri="{FF2B5EF4-FFF2-40B4-BE49-F238E27FC236}">
                <a16:creationId xmlns:a16="http://schemas.microsoft.com/office/drawing/2014/main" id="{6580BF23-B026-55E8-A662-CD4A44E21A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1088" y="1227138"/>
            <a:ext cx="2665412"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1" name="Rectangle 5">
            <a:extLst>
              <a:ext uri="{FF2B5EF4-FFF2-40B4-BE49-F238E27FC236}">
                <a16:creationId xmlns:a16="http://schemas.microsoft.com/office/drawing/2014/main" id="{E11EF21D-CF1F-838D-37CA-147350155238}"/>
              </a:ext>
            </a:extLst>
          </p:cNvPr>
          <p:cNvSpPr>
            <a:spLocks noChangeArrowheads="1"/>
          </p:cNvSpPr>
          <p:nvPr/>
        </p:nvSpPr>
        <p:spPr bwMode="auto">
          <a:xfrm>
            <a:off x="479425" y="2079625"/>
            <a:ext cx="2987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3.) Merge them into their own cluster</a:t>
            </a:r>
          </a:p>
        </p:txBody>
      </p:sp>
      <p:sp>
        <p:nvSpPr>
          <p:cNvPr id="9222" name="Rectangle 6">
            <a:extLst>
              <a:ext uri="{FF2B5EF4-FFF2-40B4-BE49-F238E27FC236}">
                <a16:creationId xmlns:a16="http://schemas.microsoft.com/office/drawing/2014/main" id="{08B16F25-A920-E0A2-CEAD-B504862454DE}"/>
              </a:ext>
            </a:extLst>
          </p:cNvPr>
          <p:cNvSpPr>
            <a:spLocks noChangeArrowheads="1"/>
          </p:cNvSpPr>
          <p:nvPr/>
        </p:nvSpPr>
        <p:spPr bwMode="auto">
          <a:xfrm>
            <a:off x="479425" y="2987675"/>
            <a:ext cx="2987675"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5.) Repeat until no clusters remain</a:t>
            </a:r>
          </a:p>
        </p:txBody>
      </p:sp>
      <p:sp>
        <p:nvSpPr>
          <p:cNvPr id="9223" name="Rectangle 7">
            <a:extLst>
              <a:ext uri="{FF2B5EF4-FFF2-40B4-BE49-F238E27FC236}">
                <a16:creationId xmlns:a16="http://schemas.microsoft.com/office/drawing/2014/main" id="{A35D5249-8242-F190-2821-BA2F30EA1F62}"/>
              </a:ext>
            </a:extLst>
          </p:cNvPr>
          <p:cNvSpPr>
            <a:spLocks noChangeArrowheads="1"/>
          </p:cNvSpPr>
          <p:nvPr/>
        </p:nvSpPr>
        <p:spPr bwMode="auto">
          <a:xfrm>
            <a:off x="479425" y="1812925"/>
            <a:ext cx="2987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2.) Look for “closest” pair of clusters</a:t>
            </a:r>
          </a:p>
        </p:txBody>
      </p:sp>
      <p:sp>
        <p:nvSpPr>
          <p:cNvPr id="9224" name="Rectangle 8">
            <a:extLst>
              <a:ext uri="{FF2B5EF4-FFF2-40B4-BE49-F238E27FC236}">
                <a16:creationId xmlns:a16="http://schemas.microsoft.com/office/drawing/2014/main" id="{D79ACCFE-8410-195F-4C04-BB54CF85BB69}"/>
              </a:ext>
            </a:extLst>
          </p:cNvPr>
          <p:cNvSpPr>
            <a:spLocks noChangeArrowheads="1"/>
          </p:cNvSpPr>
          <p:nvPr/>
        </p:nvSpPr>
        <p:spPr bwMode="auto">
          <a:xfrm>
            <a:off x="479425" y="2346325"/>
            <a:ext cx="2987675"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1200"/>
              <a:t>4.) Evaluate all distances from this new cluster and the remaining clusters</a:t>
            </a:r>
          </a:p>
        </p:txBody>
      </p:sp>
      <p:sp>
        <p:nvSpPr>
          <p:cNvPr id="9225" name="Oval 9">
            <a:extLst>
              <a:ext uri="{FF2B5EF4-FFF2-40B4-BE49-F238E27FC236}">
                <a16:creationId xmlns:a16="http://schemas.microsoft.com/office/drawing/2014/main" id="{4A3CAF1D-11BD-8259-6639-5DFBF2290FA3}"/>
              </a:ext>
            </a:extLst>
          </p:cNvPr>
          <p:cNvSpPr>
            <a:spLocks noChangeArrowheads="1"/>
          </p:cNvSpPr>
          <p:nvPr/>
        </p:nvSpPr>
        <p:spPr bwMode="auto">
          <a:xfrm rot="1104868">
            <a:off x="4149725" y="2930525"/>
            <a:ext cx="1208088" cy="482600"/>
          </a:xfrm>
          <a:prstGeom prst="ellipse">
            <a:avLst/>
          </a:prstGeom>
          <a:noFill/>
          <a:ln w="38100" cap="sq">
            <a:solidFill>
              <a:schemeClr va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DEF8014D-5C1E-1ED9-354A-131F2E4D74B6}"/>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Distances and Similarities</a:t>
            </a:r>
          </a:p>
        </p:txBody>
      </p:sp>
      <p:sp>
        <p:nvSpPr>
          <p:cNvPr id="10243" name="Rectangle 3">
            <a:extLst>
              <a:ext uri="{FF2B5EF4-FFF2-40B4-BE49-F238E27FC236}">
                <a16:creationId xmlns:a16="http://schemas.microsoft.com/office/drawing/2014/main" id="{0B2C070F-3CF6-445B-FEF9-B04A5CE66E42}"/>
              </a:ext>
            </a:extLst>
          </p:cNvPr>
          <p:cNvSpPr>
            <a:spLocks noGrp="1" noChangeArrowheads="1"/>
          </p:cNvSpPr>
          <p:nvPr>
            <p:ph type="body" idx="1"/>
          </p:nvPr>
        </p:nvSpPr>
        <p:spPr>
          <a:xfrm>
            <a:off x="320675" y="1203325"/>
            <a:ext cx="2651125" cy="3087688"/>
          </a:xfrm>
        </p:spPr>
        <p:txBody>
          <a:bodyPr/>
          <a:lstStyle/>
          <a:p>
            <a:pPr eaLnBrk="1" hangingPunct="1"/>
            <a:r>
              <a:rPr lang="en-US" altLang="en-US" sz="1800"/>
              <a:t>The choice of distant or similarity metric can determine what we decide to be the closest, or most ‘like’ genes</a:t>
            </a:r>
          </a:p>
        </p:txBody>
      </p:sp>
      <p:pic>
        <p:nvPicPr>
          <p:cNvPr id="10244" name="Picture 2">
            <a:extLst>
              <a:ext uri="{FF2B5EF4-FFF2-40B4-BE49-F238E27FC236}">
                <a16:creationId xmlns:a16="http://schemas.microsoft.com/office/drawing/2014/main" id="{7BAD195B-D6DB-B222-B148-93137E24D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1409700"/>
            <a:ext cx="2909888"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5" name="Rectangle 5">
            <a:extLst>
              <a:ext uri="{FF2B5EF4-FFF2-40B4-BE49-F238E27FC236}">
                <a16:creationId xmlns:a16="http://schemas.microsoft.com/office/drawing/2014/main" id="{4D36EDA2-EE17-D3F0-1E8D-5F06170BA35B}"/>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5E920488-99BF-5EEA-0FED-EAAA1CE1C7E4}"/>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Euclidean Distance</a:t>
            </a:r>
          </a:p>
        </p:txBody>
      </p:sp>
      <p:sp>
        <p:nvSpPr>
          <p:cNvPr id="11267" name="Rectangle 3">
            <a:extLst>
              <a:ext uri="{FF2B5EF4-FFF2-40B4-BE49-F238E27FC236}">
                <a16:creationId xmlns:a16="http://schemas.microsoft.com/office/drawing/2014/main" id="{1C37463D-3E01-F1DA-619E-86C5E617F212}"/>
              </a:ext>
            </a:extLst>
          </p:cNvPr>
          <p:cNvSpPr>
            <a:spLocks noGrp="1" noChangeArrowheads="1"/>
          </p:cNvSpPr>
          <p:nvPr>
            <p:ph type="body" sz="half" idx="1"/>
          </p:nvPr>
        </p:nvSpPr>
        <p:spPr>
          <a:xfrm>
            <a:off x="142875" y="1203325"/>
            <a:ext cx="3209925" cy="3087688"/>
          </a:xfrm>
        </p:spPr>
        <p:txBody>
          <a:bodyPr/>
          <a:lstStyle/>
          <a:p>
            <a:pPr eaLnBrk="1" hangingPunct="1"/>
            <a:r>
              <a:rPr lang="en-US" altLang="en-US" sz="1200"/>
              <a:t>Length of a segment connecting two points</a:t>
            </a:r>
          </a:p>
          <a:p>
            <a:pPr eaLnBrk="1" hangingPunct="1"/>
            <a:endParaRPr lang="en-US" altLang="en-US" sz="1200"/>
          </a:p>
          <a:p>
            <a:pPr eaLnBrk="1" hangingPunct="1"/>
            <a:r>
              <a:rPr lang="en-US" altLang="en-US" sz="1200"/>
              <a:t>Distance is calculated from the cartesian coordinates of the points using the Pythagorean theorem</a:t>
            </a:r>
          </a:p>
          <a:p>
            <a:pPr eaLnBrk="1" hangingPunct="1"/>
            <a:endParaRPr lang="en-US" altLang="en-US" sz="1200"/>
          </a:p>
          <a:p>
            <a:pPr eaLnBrk="1" hangingPunct="1"/>
            <a:r>
              <a:rPr lang="en-US" altLang="en-US" sz="1200"/>
              <a:t>Disadvantages:</a:t>
            </a:r>
          </a:p>
          <a:p>
            <a:pPr lvl="1" eaLnBrk="1" hangingPunct="1"/>
            <a:r>
              <a:rPr lang="en-US" altLang="en-US" sz="1200"/>
              <a:t>Typically need to normalize</a:t>
            </a:r>
            <a:r>
              <a:rPr lang="en-US" altLang="en-US" sz="1200" b="1"/>
              <a:t> </a:t>
            </a:r>
            <a:r>
              <a:rPr lang="en-US" altLang="en-US" sz="1200"/>
              <a:t>the data before using this distance measure</a:t>
            </a:r>
          </a:p>
          <a:p>
            <a:pPr lvl="1" eaLnBrk="1" hangingPunct="1"/>
            <a:r>
              <a:rPr lang="en-US" altLang="en-US" sz="1200"/>
              <a:t>Works well with low-dimensional data and the magnitude of the vectors is important to be measured</a:t>
            </a:r>
          </a:p>
        </p:txBody>
      </p:sp>
      <p:pic>
        <p:nvPicPr>
          <p:cNvPr id="11268" name="Picture 8" descr="Image for post">
            <a:extLst>
              <a:ext uri="{FF2B5EF4-FFF2-40B4-BE49-F238E27FC236}">
                <a16:creationId xmlns:a16="http://schemas.microsoft.com/office/drawing/2014/main" id="{E1C7FFEE-D351-4174-D6CF-98345A7630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848100"/>
            <a:ext cx="2390775"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10" descr="Image for post">
            <a:extLst>
              <a:ext uri="{FF2B5EF4-FFF2-40B4-BE49-F238E27FC236}">
                <a16:creationId xmlns:a16="http://schemas.microsoft.com/office/drawing/2014/main" id="{5AD845D8-02BA-DEFF-94F3-D9DD81788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485900"/>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0" name="Rectangle 9">
            <a:extLst>
              <a:ext uri="{FF2B5EF4-FFF2-40B4-BE49-F238E27FC236}">
                <a16:creationId xmlns:a16="http://schemas.microsoft.com/office/drawing/2014/main" id="{AF56262D-8D1A-AC44-DCF7-8A2AC7BF6E02}"/>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8B6BB62-DF11-C137-33CF-0FA4F3403A13}"/>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Cosine similarity</a:t>
            </a:r>
          </a:p>
        </p:txBody>
      </p:sp>
      <p:sp>
        <p:nvSpPr>
          <p:cNvPr id="12291" name="Rectangle 3">
            <a:extLst>
              <a:ext uri="{FF2B5EF4-FFF2-40B4-BE49-F238E27FC236}">
                <a16:creationId xmlns:a16="http://schemas.microsoft.com/office/drawing/2014/main" id="{426A073F-A94A-64DC-C747-39A78D2BFF21}"/>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The cosine of the angle between two vectors</a:t>
            </a:r>
          </a:p>
          <a:p>
            <a:pPr eaLnBrk="1" hangingPunct="1"/>
            <a:endParaRPr lang="en-US" altLang="en-US" sz="1200"/>
          </a:p>
          <a:p>
            <a:pPr eaLnBrk="1" hangingPunct="1"/>
            <a:r>
              <a:rPr lang="en-US" altLang="en-US" sz="1200"/>
              <a:t>If vectors </a:t>
            </a:r>
            <a:r>
              <a:rPr lang="en-US" altLang="en-US" sz="1200" i="1"/>
              <a:t>x</a:t>
            </a:r>
            <a:r>
              <a:rPr lang="en-US" altLang="en-US" sz="1200"/>
              <a:t> and </a:t>
            </a:r>
            <a:r>
              <a:rPr lang="en-US" altLang="en-US" sz="1200" i="1"/>
              <a:t>y</a:t>
            </a:r>
            <a:r>
              <a:rPr lang="en-US" altLang="en-US" sz="1200"/>
              <a:t> are centered (i.e. have zero means), this is identical to Pearson’s correlation</a:t>
            </a:r>
          </a:p>
          <a:p>
            <a:pPr eaLnBrk="1" hangingPunct="1"/>
            <a:endParaRPr lang="en-US" altLang="en-US" sz="1200"/>
          </a:p>
          <a:p>
            <a:pPr eaLnBrk="1" hangingPunct="1"/>
            <a:r>
              <a:rPr lang="en-US" altLang="en-US" sz="1200"/>
              <a:t>Disadvantages:</a:t>
            </a:r>
          </a:p>
          <a:p>
            <a:pPr lvl="1" eaLnBrk="1" hangingPunct="1"/>
            <a:r>
              <a:rPr lang="en-US" altLang="en-US" sz="1200"/>
              <a:t>Magnitude of vectors is not taken into account, only their direction</a:t>
            </a:r>
          </a:p>
          <a:p>
            <a:pPr lvl="1" eaLnBrk="1" hangingPunct="1"/>
            <a:r>
              <a:rPr lang="en-US" altLang="en-US" sz="1200"/>
              <a:t>Perceived high correlations can be driven by extreme data values</a:t>
            </a:r>
          </a:p>
          <a:p>
            <a:pPr lvl="1" eaLnBrk="1" hangingPunct="1"/>
            <a:endParaRPr lang="en-US" altLang="en-US" sz="1200"/>
          </a:p>
        </p:txBody>
      </p:sp>
      <p:pic>
        <p:nvPicPr>
          <p:cNvPr id="12292" name="Picture 2" descr="Image for post">
            <a:extLst>
              <a:ext uri="{FF2B5EF4-FFF2-40B4-BE49-F238E27FC236}">
                <a16:creationId xmlns:a16="http://schemas.microsoft.com/office/drawing/2014/main" id="{3701F161-4AE6-1427-B5F0-740B25394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571625"/>
            <a:ext cx="2146300" cy="213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4" descr="Image for post">
            <a:extLst>
              <a:ext uri="{FF2B5EF4-FFF2-40B4-BE49-F238E27FC236}">
                <a16:creationId xmlns:a16="http://schemas.microsoft.com/office/drawing/2014/main" id="{543CB728-4831-4C22-AA10-87EC63AD7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048125"/>
            <a:ext cx="259556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Rectangle 7">
            <a:extLst>
              <a:ext uri="{FF2B5EF4-FFF2-40B4-BE49-F238E27FC236}">
                <a16:creationId xmlns:a16="http://schemas.microsoft.com/office/drawing/2014/main" id="{E2693578-FC24-FD65-2D93-0577273EDC82}"/>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E41CAB8-5387-7BB4-6A6D-FD60A8FD4151}"/>
              </a:ext>
            </a:extLst>
          </p:cNvPr>
          <p:cNvSpPr>
            <a:spLocks noGrp="1" noChangeArrowheads="1"/>
          </p:cNvSpPr>
          <p:nvPr>
            <p:ph type="title"/>
          </p:nvPr>
        </p:nvSpPr>
        <p:spPr>
          <a:xfrm>
            <a:off x="242888" y="342900"/>
            <a:ext cx="3028950" cy="711200"/>
          </a:xfrm>
        </p:spPr>
        <p:txBody>
          <a:bodyPr/>
          <a:lstStyle/>
          <a:p>
            <a:pPr eaLnBrk="1" hangingPunct="1"/>
            <a:r>
              <a:rPr lang="en-US" altLang="en-US" sz="2500" b="0">
                <a:latin typeface="Tahoma" panose="020B0604030504040204" pitchFamily="34" charset="0"/>
              </a:rPr>
              <a:t>Hamming distance</a:t>
            </a:r>
          </a:p>
        </p:txBody>
      </p:sp>
      <p:sp>
        <p:nvSpPr>
          <p:cNvPr id="13315" name="Rectangle 3">
            <a:extLst>
              <a:ext uri="{FF2B5EF4-FFF2-40B4-BE49-F238E27FC236}">
                <a16:creationId xmlns:a16="http://schemas.microsoft.com/office/drawing/2014/main" id="{70A0F612-9A7A-5357-4BFB-46A2226E571C}"/>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400"/>
              <a:t>A binary distance calculation</a:t>
            </a:r>
          </a:p>
          <a:p>
            <a:pPr eaLnBrk="1" hangingPunct="1"/>
            <a:endParaRPr lang="en-US" altLang="en-US" sz="1400"/>
          </a:p>
          <a:p>
            <a:pPr eaLnBrk="1" hangingPunct="1"/>
            <a:r>
              <a:rPr lang="en-US" altLang="en-US" sz="1400"/>
              <a:t>The number of values that are different between two vectors</a:t>
            </a:r>
          </a:p>
          <a:p>
            <a:pPr eaLnBrk="1" hangingPunct="1"/>
            <a:endParaRPr lang="en-US" altLang="en-US" sz="1400"/>
          </a:p>
          <a:p>
            <a:pPr eaLnBrk="1" hangingPunct="1"/>
            <a:r>
              <a:rPr lang="en-US" altLang="en-US" sz="1400"/>
              <a:t>Disadvantages:</a:t>
            </a:r>
          </a:p>
          <a:p>
            <a:pPr lvl="1" eaLnBrk="1" hangingPunct="1"/>
            <a:r>
              <a:rPr lang="en-US" altLang="en-US" sz="1400"/>
              <a:t>Does not take the actual value, just binary</a:t>
            </a:r>
          </a:p>
        </p:txBody>
      </p:sp>
      <p:pic>
        <p:nvPicPr>
          <p:cNvPr id="13316" name="Picture 2" descr="Image for post">
            <a:extLst>
              <a:ext uri="{FF2B5EF4-FFF2-40B4-BE49-F238E27FC236}">
                <a16:creationId xmlns:a16="http://schemas.microsoft.com/office/drawing/2014/main" id="{4341482F-7A3D-7010-7EBC-96D40B131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562100"/>
            <a:ext cx="21082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6">
            <a:extLst>
              <a:ext uri="{FF2B5EF4-FFF2-40B4-BE49-F238E27FC236}">
                <a16:creationId xmlns:a16="http://schemas.microsoft.com/office/drawing/2014/main" id="{E5D24D0E-48F3-CA3C-D826-39CC303BB832}"/>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5FFFE42-0925-07DD-4F98-96DCFABC3E34}"/>
              </a:ext>
            </a:extLst>
          </p:cNvPr>
          <p:cNvSpPr>
            <a:spLocks noGrp="1" noChangeArrowheads="1"/>
          </p:cNvSpPr>
          <p:nvPr>
            <p:ph type="title"/>
          </p:nvPr>
        </p:nvSpPr>
        <p:spPr>
          <a:xfrm>
            <a:off x="242888" y="342900"/>
            <a:ext cx="3028950" cy="711200"/>
          </a:xfrm>
        </p:spPr>
        <p:txBody>
          <a:bodyPr/>
          <a:lstStyle/>
          <a:p>
            <a:pPr eaLnBrk="1" hangingPunct="1"/>
            <a:r>
              <a:rPr lang="en-US" altLang="en-US" sz="2500" b="0">
                <a:latin typeface="Tahoma" panose="020B0604030504040204" pitchFamily="34" charset="0"/>
              </a:rPr>
              <a:t>Manhattan distance</a:t>
            </a:r>
          </a:p>
        </p:txBody>
      </p:sp>
      <p:sp>
        <p:nvSpPr>
          <p:cNvPr id="14339" name="Rectangle 3">
            <a:extLst>
              <a:ext uri="{FF2B5EF4-FFF2-40B4-BE49-F238E27FC236}">
                <a16:creationId xmlns:a16="http://schemas.microsoft.com/office/drawing/2014/main" id="{0DD421ED-0FBF-A3B3-3F4C-D16FA0D7964A}"/>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400"/>
              <a:t>Also called city block distance: the distance between real-valued vectors</a:t>
            </a:r>
          </a:p>
          <a:p>
            <a:pPr eaLnBrk="1" hangingPunct="1"/>
            <a:endParaRPr lang="en-US" altLang="en-US" sz="1400"/>
          </a:p>
          <a:p>
            <a:pPr eaLnBrk="1" hangingPunct="1"/>
            <a:r>
              <a:rPr lang="en-US" altLang="en-US" sz="1400"/>
              <a:t>Distance between two vectors if one could only move right angles (i.e. no diagonal movements)</a:t>
            </a:r>
          </a:p>
          <a:p>
            <a:pPr eaLnBrk="1" hangingPunct="1"/>
            <a:endParaRPr lang="en-US" altLang="en-US" sz="1400"/>
          </a:p>
          <a:p>
            <a:pPr eaLnBrk="1" hangingPunct="1"/>
            <a:r>
              <a:rPr lang="en-US" altLang="en-US" sz="1400"/>
              <a:t>Disadvantages:</a:t>
            </a:r>
          </a:p>
          <a:p>
            <a:pPr lvl="1" eaLnBrk="1" hangingPunct="1"/>
            <a:r>
              <a:rPr lang="en-US" altLang="en-US" sz="1400"/>
              <a:t>More likely to give a higher distance value than Euclidean distance since it does not compute the shortest path possible</a:t>
            </a:r>
          </a:p>
        </p:txBody>
      </p:sp>
      <p:pic>
        <p:nvPicPr>
          <p:cNvPr id="14340" name="Picture 2" descr="Image for post">
            <a:extLst>
              <a:ext uri="{FF2B5EF4-FFF2-40B4-BE49-F238E27FC236}">
                <a16:creationId xmlns:a16="http://schemas.microsoft.com/office/drawing/2014/main" id="{1B7729D7-1CCA-5892-2330-8B7BB9EDA8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562100"/>
            <a:ext cx="21082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4" descr="Image for post">
            <a:extLst>
              <a:ext uri="{FF2B5EF4-FFF2-40B4-BE49-F238E27FC236}">
                <a16:creationId xmlns:a16="http://schemas.microsoft.com/office/drawing/2014/main" id="{6B6200BB-A3ED-CBCC-BE94-0CCF22888F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8738" y="3875088"/>
            <a:ext cx="234791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6">
            <a:extLst>
              <a:ext uri="{FF2B5EF4-FFF2-40B4-BE49-F238E27FC236}">
                <a16:creationId xmlns:a16="http://schemas.microsoft.com/office/drawing/2014/main" id="{0CBECE3A-B833-24CA-FAC3-E4DEB1D06106}"/>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7AF6E82-6F34-0C33-2F7C-692E0C19D3B5}"/>
              </a:ext>
            </a:extLst>
          </p:cNvPr>
          <p:cNvSpPr>
            <a:spLocks noGrp="1" noChangeArrowheads="1"/>
          </p:cNvSpPr>
          <p:nvPr>
            <p:ph type="title"/>
          </p:nvPr>
        </p:nvSpPr>
        <p:spPr>
          <a:xfrm>
            <a:off x="242888" y="342900"/>
            <a:ext cx="3871912" cy="711200"/>
          </a:xfrm>
        </p:spPr>
        <p:txBody>
          <a:bodyPr/>
          <a:lstStyle/>
          <a:p>
            <a:pPr eaLnBrk="1" hangingPunct="1"/>
            <a:r>
              <a:rPr lang="en-US" altLang="en-US" sz="2500" b="0">
                <a:latin typeface="Tahoma" panose="020B0604030504040204" pitchFamily="34" charset="0"/>
                <a:cs typeface="Tahoma" panose="020B0604030504040204" pitchFamily="34" charset="0"/>
              </a:rPr>
              <a:t>Chebyshev distance</a:t>
            </a:r>
          </a:p>
        </p:txBody>
      </p:sp>
      <p:sp>
        <p:nvSpPr>
          <p:cNvPr id="15363" name="Rectangle 3">
            <a:extLst>
              <a:ext uri="{FF2B5EF4-FFF2-40B4-BE49-F238E27FC236}">
                <a16:creationId xmlns:a16="http://schemas.microsoft.com/office/drawing/2014/main" id="{C6A0FA9C-4586-F5B3-B7CC-339E5BB77DE5}"/>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The greatest of difference between two vectors along any coordinate dimension (i.e.maximum distance along one axis)</a:t>
            </a:r>
          </a:p>
          <a:p>
            <a:pPr eaLnBrk="1" hangingPunct="1"/>
            <a:endParaRPr lang="en-US" altLang="en-US" sz="1200"/>
          </a:p>
          <a:p>
            <a:pPr eaLnBrk="1" hangingPunct="1"/>
            <a:r>
              <a:rPr lang="en-US" altLang="en-US" sz="1200"/>
              <a:t>Also known as Chessboard distance</a:t>
            </a:r>
          </a:p>
          <a:p>
            <a:pPr eaLnBrk="1" hangingPunct="1"/>
            <a:endParaRPr lang="en-US" altLang="en-US" sz="1200"/>
          </a:p>
          <a:p>
            <a:pPr eaLnBrk="1" hangingPunct="1"/>
            <a:r>
              <a:rPr lang="en-US" altLang="en-US" sz="1200"/>
              <a:t>Distance between two vectors if one could only move right angles (i.e. no diagonal movements)</a:t>
            </a:r>
          </a:p>
          <a:p>
            <a:pPr eaLnBrk="1" hangingPunct="1"/>
            <a:endParaRPr lang="en-US" altLang="en-US" sz="1200"/>
          </a:p>
          <a:p>
            <a:pPr eaLnBrk="1" hangingPunct="1"/>
            <a:r>
              <a:rPr lang="en-US" altLang="en-US" sz="1200"/>
              <a:t>Disadvantages:</a:t>
            </a:r>
          </a:p>
          <a:p>
            <a:pPr lvl="1" eaLnBrk="1" hangingPunct="1"/>
            <a:r>
              <a:rPr lang="en-US" altLang="en-US" sz="1200"/>
              <a:t>Typically used in very specific use-cases, since movements are restricted to one square at-a-time</a:t>
            </a:r>
          </a:p>
        </p:txBody>
      </p:sp>
      <p:pic>
        <p:nvPicPr>
          <p:cNvPr id="15364" name="Picture 2" descr="Image for post">
            <a:extLst>
              <a:ext uri="{FF2B5EF4-FFF2-40B4-BE49-F238E27FC236}">
                <a16:creationId xmlns:a16="http://schemas.microsoft.com/office/drawing/2014/main" id="{72A1A139-D57B-7A5D-4A8C-5044EBFE9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5763" y="1485900"/>
            <a:ext cx="2024062" cy="202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4" descr="Image for post">
            <a:extLst>
              <a:ext uri="{FF2B5EF4-FFF2-40B4-BE49-F238E27FC236}">
                <a16:creationId xmlns:a16="http://schemas.microsoft.com/office/drawing/2014/main" id="{969EB7F2-60DC-6E20-0EDE-EC033AB44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3984625"/>
            <a:ext cx="2185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7">
            <a:extLst>
              <a:ext uri="{FF2B5EF4-FFF2-40B4-BE49-F238E27FC236}">
                <a16:creationId xmlns:a16="http://schemas.microsoft.com/office/drawing/2014/main" id="{4336A1EC-0F20-278F-20B3-6E2DC506E31C}"/>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9655634-A3A0-1016-E88A-6C67CC5CD116}"/>
              </a:ext>
            </a:extLst>
          </p:cNvPr>
          <p:cNvSpPr>
            <a:spLocks noGrp="1" noChangeArrowheads="1"/>
          </p:cNvSpPr>
          <p:nvPr>
            <p:ph type="title"/>
          </p:nvPr>
        </p:nvSpPr>
        <p:spPr>
          <a:xfrm>
            <a:off x="242888" y="342900"/>
            <a:ext cx="3871912" cy="711200"/>
          </a:xfrm>
        </p:spPr>
        <p:txBody>
          <a:bodyPr/>
          <a:lstStyle/>
          <a:p>
            <a:pPr eaLnBrk="1" hangingPunct="1"/>
            <a:r>
              <a:rPr lang="en-US" altLang="en-US" sz="2500" b="0">
                <a:latin typeface="Tahoma" panose="020B0604030504040204" pitchFamily="34" charset="0"/>
                <a:cs typeface="Tahoma" panose="020B0604030504040204" pitchFamily="34" charset="0"/>
              </a:rPr>
              <a:t>Minkowski distance</a:t>
            </a:r>
          </a:p>
        </p:txBody>
      </p:sp>
      <p:sp>
        <p:nvSpPr>
          <p:cNvPr id="16387" name="Rectangle 3">
            <a:extLst>
              <a:ext uri="{FF2B5EF4-FFF2-40B4-BE49-F238E27FC236}">
                <a16:creationId xmlns:a16="http://schemas.microsoft.com/office/drawing/2014/main" id="{903B3C72-3A5E-8B48-4E4B-80110741A805}"/>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A metric used in normed vector space </a:t>
            </a:r>
          </a:p>
          <a:p>
            <a:pPr eaLnBrk="1" hangingPunct="1"/>
            <a:endParaRPr lang="en-US" altLang="en-US" sz="1200"/>
          </a:p>
          <a:p>
            <a:pPr eaLnBrk="1" hangingPunct="1"/>
            <a:r>
              <a:rPr lang="en-US" altLang="en-US" sz="1200"/>
              <a:t>This distance uses a parameter, </a:t>
            </a:r>
            <a:r>
              <a:rPr lang="en-US" altLang="en-US" sz="1200" i="1"/>
              <a:t>p</a:t>
            </a:r>
            <a:r>
              <a:rPr lang="en-US" altLang="en-US" sz="1200"/>
              <a:t>:</a:t>
            </a:r>
          </a:p>
          <a:p>
            <a:pPr lvl="1"/>
            <a:r>
              <a:rPr lang="en-US" altLang="en-US" sz="1200" i="1"/>
              <a:t>p</a:t>
            </a:r>
            <a:r>
              <a:rPr lang="en-US" altLang="en-US" sz="1200"/>
              <a:t>=1 — Manhattan distance</a:t>
            </a:r>
          </a:p>
          <a:p>
            <a:pPr lvl="1"/>
            <a:r>
              <a:rPr lang="en-US" altLang="en-US" sz="1200" i="1"/>
              <a:t>p</a:t>
            </a:r>
            <a:r>
              <a:rPr lang="en-US" altLang="en-US" sz="1200"/>
              <a:t>=2 — Euclidean distance</a:t>
            </a:r>
          </a:p>
          <a:p>
            <a:pPr lvl="1"/>
            <a:r>
              <a:rPr lang="en-US" altLang="en-US" sz="1200" i="1"/>
              <a:t>p</a:t>
            </a:r>
            <a:r>
              <a:rPr lang="en-US" altLang="en-US" sz="1200"/>
              <a:t>=</a:t>
            </a:r>
            <a:r>
              <a:rPr lang="en-US" altLang="en-US" sz="1200" i="1"/>
              <a:t>∞ </a:t>
            </a:r>
            <a:r>
              <a:rPr lang="en-US" altLang="en-US" sz="1200"/>
              <a:t>— Chebyshev distance</a:t>
            </a:r>
          </a:p>
          <a:p>
            <a:pPr lvl="1" eaLnBrk="1" hangingPunct="1"/>
            <a:endParaRPr lang="en-US" altLang="en-US" sz="1200"/>
          </a:p>
          <a:p>
            <a:pPr eaLnBrk="1" hangingPunct="1"/>
            <a:r>
              <a:rPr lang="en-US" altLang="en-US" sz="1200"/>
              <a:t>Disadvantages:</a:t>
            </a:r>
          </a:p>
          <a:p>
            <a:pPr lvl="1" eaLnBrk="1" hangingPunct="1"/>
            <a:r>
              <a:rPr lang="en-US" altLang="en-US" sz="1200"/>
              <a:t>Fitting the </a:t>
            </a:r>
            <a:r>
              <a:rPr lang="en-US" altLang="en-US" sz="1200" i="1"/>
              <a:t>p</a:t>
            </a:r>
            <a:r>
              <a:rPr lang="en-US" altLang="en-US" sz="1200"/>
              <a:t> parameter can be troublesome</a:t>
            </a:r>
          </a:p>
        </p:txBody>
      </p:sp>
      <p:pic>
        <p:nvPicPr>
          <p:cNvPr id="16388" name="Picture 2" descr="Image for post">
            <a:extLst>
              <a:ext uri="{FF2B5EF4-FFF2-40B4-BE49-F238E27FC236}">
                <a16:creationId xmlns:a16="http://schemas.microsoft.com/office/drawing/2014/main" id="{3D300DD6-5A09-0FB0-D9D3-70A1EBC698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400" y="1562100"/>
            <a:ext cx="187801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descr="Image for post">
            <a:extLst>
              <a:ext uri="{FF2B5EF4-FFF2-40B4-BE49-F238E27FC236}">
                <a16:creationId xmlns:a16="http://schemas.microsoft.com/office/drawing/2014/main" id="{A1290C08-E68D-DFEB-C566-C87E92669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9563" y="3738563"/>
            <a:ext cx="20843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Rectangle 10">
            <a:extLst>
              <a:ext uri="{FF2B5EF4-FFF2-40B4-BE49-F238E27FC236}">
                <a16:creationId xmlns:a16="http://schemas.microsoft.com/office/drawing/2014/main" id="{B7B91A49-44AE-A54C-0266-286C73BB079A}"/>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671F311-D975-233C-1774-7E81999A462D}"/>
              </a:ext>
            </a:extLst>
          </p:cNvPr>
          <p:cNvSpPr>
            <a:spLocks noGrp="1" noChangeArrowheads="1"/>
          </p:cNvSpPr>
          <p:nvPr>
            <p:ph type="title"/>
          </p:nvPr>
        </p:nvSpPr>
        <p:spPr>
          <a:xfrm>
            <a:off x="242888" y="342900"/>
            <a:ext cx="3871912" cy="711200"/>
          </a:xfrm>
        </p:spPr>
        <p:txBody>
          <a:bodyPr/>
          <a:lstStyle/>
          <a:p>
            <a:pPr eaLnBrk="1" hangingPunct="1"/>
            <a:r>
              <a:rPr lang="en-US" altLang="en-US" sz="2500" b="0">
                <a:latin typeface="Tahoma" panose="020B0604030504040204" pitchFamily="34" charset="0"/>
                <a:cs typeface="Tahoma" panose="020B0604030504040204" pitchFamily="34" charset="0"/>
              </a:rPr>
              <a:t>Jaccard index</a:t>
            </a:r>
          </a:p>
        </p:txBody>
      </p:sp>
      <p:sp>
        <p:nvSpPr>
          <p:cNvPr id="17411" name="Rectangle 3">
            <a:extLst>
              <a:ext uri="{FF2B5EF4-FFF2-40B4-BE49-F238E27FC236}">
                <a16:creationId xmlns:a16="http://schemas.microsoft.com/office/drawing/2014/main" id="{E1AE02C8-3B97-0DD7-13E7-EB3E6C3CB8C4}"/>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Intersection over Union: he similarity and diversity of sample sets</a:t>
            </a:r>
          </a:p>
          <a:p>
            <a:pPr eaLnBrk="1" hangingPunct="1"/>
            <a:endParaRPr lang="en-US" altLang="en-US" sz="1200"/>
          </a:p>
          <a:p>
            <a:pPr eaLnBrk="1" hangingPunct="1"/>
            <a:r>
              <a:rPr lang="en-US" altLang="en-US" sz="1200"/>
              <a:t>The total number of similar entities between sets divided by the total number of entities</a:t>
            </a:r>
          </a:p>
          <a:p>
            <a:pPr eaLnBrk="1" hangingPunct="1"/>
            <a:endParaRPr lang="en-US" altLang="en-US" sz="1200"/>
          </a:p>
          <a:p>
            <a:pPr eaLnBrk="1" hangingPunct="1"/>
            <a:r>
              <a:rPr lang="en-US" altLang="en-US" sz="1200"/>
              <a:t>Disadvantages:</a:t>
            </a:r>
          </a:p>
          <a:p>
            <a:pPr lvl="1" eaLnBrk="1" hangingPunct="1"/>
            <a:r>
              <a:rPr lang="en-US" altLang="en-US" sz="1200"/>
              <a:t>Highly influenced by the size of the data</a:t>
            </a:r>
          </a:p>
          <a:p>
            <a:pPr lvl="1" eaLnBrk="1" hangingPunct="1"/>
            <a:r>
              <a:rPr lang="en-US" altLang="en-US" sz="1200"/>
              <a:t>Large datasets can have big impact on the index, as it could significantly increase the union while keeping the intersection similar</a:t>
            </a:r>
          </a:p>
          <a:p>
            <a:pPr lvl="1" eaLnBrk="1" hangingPunct="1"/>
            <a:r>
              <a:rPr lang="en-US" altLang="en-US" sz="1200"/>
              <a:t>Typically restricted to binary data</a:t>
            </a:r>
          </a:p>
        </p:txBody>
      </p:sp>
      <p:pic>
        <p:nvPicPr>
          <p:cNvPr id="17412" name="Picture 2" descr="Image for post">
            <a:extLst>
              <a:ext uri="{FF2B5EF4-FFF2-40B4-BE49-F238E27FC236}">
                <a16:creationId xmlns:a16="http://schemas.microsoft.com/office/drawing/2014/main" id="{AB744F10-12DC-4A43-12CA-3820C4E41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349375"/>
            <a:ext cx="2093913" cy="210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4" descr="Image for post">
            <a:extLst>
              <a:ext uri="{FF2B5EF4-FFF2-40B4-BE49-F238E27FC236}">
                <a16:creationId xmlns:a16="http://schemas.microsoft.com/office/drawing/2014/main" id="{EAA359EE-42B2-8919-D3CD-251E523C5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848100"/>
            <a:ext cx="17526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9">
            <a:extLst>
              <a:ext uri="{FF2B5EF4-FFF2-40B4-BE49-F238E27FC236}">
                <a16:creationId xmlns:a16="http://schemas.microsoft.com/office/drawing/2014/main" id="{D3CE608F-29C0-EE68-BB0A-F5A97CC8C66D}"/>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5F0FAC54-A7FB-1DCA-75F3-3E4C526AB501}"/>
              </a:ext>
            </a:extLst>
          </p:cNvPr>
          <p:cNvSpPr>
            <a:spLocks noGrp="1" noChangeArrowheads="1"/>
          </p:cNvSpPr>
          <p:nvPr>
            <p:ph type="title"/>
          </p:nvPr>
        </p:nvSpPr>
        <p:spPr>
          <a:xfrm>
            <a:off x="242888" y="342900"/>
            <a:ext cx="3871912" cy="711200"/>
          </a:xfrm>
        </p:spPr>
        <p:txBody>
          <a:bodyPr/>
          <a:lstStyle/>
          <a:p>
            <a:pPr eaLnBrk="1" hangingPunct="1"/>
            <a:r>
              <a:rPr lang="en-US" altLang="en-US" sz="2500" b="0">
                <a:latin typeface="Tahoma" panose="020B0604030504040204" pitchFamily="34" charset="0"/>
                <a:cs typeface="Tahoma" panose="020B0604030504040204" pitchFamily="34" charset="0"/>
              </a:rPr>
              <a:t>Haversine distance</a:t>
            </a:r>
          </a:p>
        </p:txBody>
      </p:sp>
      <p:sp>
        <p:nvSpPr>
          <p:cNvPr id="18435" name="Rectangle 3">
            <a:extLst>
              <a:ext uri="{FF2B5EF4-FFF2-40B4-BE49-F238E27FC236}">
                <a16:creationId xmlns:a16="http://schemas.microsoft.com/office/drawing/2014/main" id="{717D6CF5-5807-A84E-EC4D-F679620F71C8}"/>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Distance between two points on a sphere given their longitudes and latitudes</a:t>
            </a:r>
          </a:p>
          <a:p>
            <a:pPr eaLnBrk="1" hangingPunct="1"/>
            <a:endParaRPr lang="en-US" altLang="en-US" sz="1200"/>
          </a:p>
          <a:p>
            <a:pPr eaLnBrk="1" hangingPunct="1"/>
            <a:r>
              <a:rPr lang="en-US" altLang="en-US" sz="1200"/>
              <a:t>Similar to Euclidean distance in that it calculates the shortest line between two points, however no straight line is possible since the assumption here is that the two points are on a sphere</a:t>
            </a:r>
          </a:p>
          <a:p>
            <a:pPr eaLnBrk="1" hangingPunct="1"/>
            <a:endParaRPr lang="en-US" altLang="en-US" sz="1200"/>
          </a:p>
          <a:p>
            <a:pPr eaLnBrk="1" hangingPunct="1"/>
            <a:r>
              <a:rPr lang="en-US" altLang="en-US" sz="1200"/>
              <a:t>Disadvantages:</a:t>
            </a:r>
          </a:p>
          <a:p>
            <a:pPr lvl="1" eaLnBrk="1" hangingPunct="1"/>
            <a:r>
              <a:rPr lang="en-US" altLang="en-US" sz="1200"/>
              <a:t>It is assumed the points lie on a sphere</a:t>
            </a:r>
          </a:p>
        </p:txBody>
      </p:sp>
      <p:pic>
        <p:nvPicPr>
          <p:cNvPr id="18436" name="Picture 2" descr="Image for post">
            <a:extLst>
              <a:ext uri="{FF2B5EF4-FFF2-40B4-BE49-F238E27FC236}">
                <a16:creationId xmlns:a16="http://schemas.microsoft.com/office/drawing/2014/main" id="{131E78FB-81BD-946D-B06C-89CCC7415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1333500"/>
            <a:ext cx="1952625"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descr="Image for post">
            <a:extLst>
              <a:ext uri="{FF2B5EF4-FFF2-40B4-BE49-F238E27FC236}">
                <a16:creationId xmlns:a16="http://schemas.microsoft.com/office/drawing/2014/main" id="{1DA105F1-C10F-531C-284E-1199F8F55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325" y="3771900"/>
            <a:ext cx="2971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8" name="Rectangle 7">
            <a:extLst>
              <a:ext uri="{FF2B5EF4-FFF2-40B4-BE49-F238E27FC236}">
                <a16:creationId xmlns:a16="http://schemas.microsoft.com/office/drawing/2014/main" id="{68BDD782-0BC6-CF4D-58E2-E1226697008B}"/>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8FDA624-489B-D36A-B8D7-1A91E56EE7D7}"/>
              </a:ext>
            </a:extLst>
          </p:cNvPr>
          <p:cNvSpPr>
            <a:spLocks noGrp="1" noChangeArrowheads="1"/>
          </p:cNvSpPr>
          <p:nvPr>
            <p:ph type="title"/>
          </p:nvPr>
        </p:nvSpPr>
        <p:spPr>
          <a:xfrm>
            <a:off x="242888" y="342900"/>
            <a:ext cx="3871912" cy="711200"/>
          </a:xfrm>
        </p:spPr>
        <p:txBody>
          <a:bodyPr/>
          <a:lstStyle/>
          <a:p>
            <a:r>
              <a:rPr lang="en-US" altLang="en-US" sz="2500" b="0">
                <a:latin typeface="Tahoma" panose="020B0604030504040204" pitchFamily="34" charset="0"/>
                <a:cs typeface="Tahoma" panose="020B0604030504040204" pitchFamily="34" charset="0"/>
              </a:rPr>
              <a:t>Sørensen-Dice Index</a:t>
            </a:r>
          </a:p>
        </p:txBody>
      </p:sp>
      <p:sp>
        <p:nvSpPr>
          <p:cNvPr id="19459" name="Rectangle 3">
            <a:extLst>
              <a:ext uri="{FF2B5EF4-FFF2-40B4-BE49-F238E27FC236}">
                <a16:creationId xmlns:a16="http://schemas.microsoft.com/office/drawing/2014/main" id="{69A10A11-F55B-DA94-4659-5E8D62BD28FF}"/>
              </a:ext>
            </a:extLst>
          </p:cNvPr>
          <p:cNvSpPr>
            <a:spLocks noGrp="1" noChangeArrowheads="1"/>
          </p:cNvSpPr>
          <p:nvPr>
            <p:ph type="body" sz="half" idx="1"/>
          </p:nvPr>
        </p:nvSpPr>
        <p:spPr>
          <a:xfrm>
            <a:off x="152400" y="1181100"/>
            <a:ext cx="3209925" cy="3087688"/>
          </a:xfrm>
        </p:spPr>
        <p:txBody>
          <a:bodyPr/>
          <a:lstStyle/>
          <a:p>
            <a:pPr eaLnBrk="1" hangingPunct="1"/>
            <a:r>
              <a:rPr lang="en-US" altLang="en-US" sz="1200"/>
              <a:t>Similar to Jaccard index in that it measures the similarity and diversity of sample sets</a:t>
            </a:r>
          </a:p>
          <a:p>
            <a:pPr eaLnBrk="1" hangingPunct="1"/>
            <a:endParaRPr lang="en-US" altLang="en-US" sz="1200"/>
          </a:p>
          <a:p>
            <a:pPr eaLnBrk="1" hangingPunct="1"/>
            <a:r>
              <a:rPr lang="en-US" altLang="en-US" sz="1200"/>
              <a:t>Sørensen-Dice index is a bit more intuitive because it can be seen as the percentage of overlap between two sets</a:t>
            </a:r>
          </a:p>
          <a:p>
            <a:pPr eaLnBrk="1" hangingPunct="1"/>
            <a:endParaRPr lang="en-US" altLang="en-US" sz="1200"/>
          </a:p>
          <a:p>
            <a:pPr eaLnBrk="1" hangingPunct="1"/>
            <a:r>
              <a:rPr lang="en-US" altLang="en-US" sz="1200"/>
              <a:t>Disadvantages:</a:t>
            </a:r>
          </a:p>
          <a:p>
            <a:pPr lvl="1" eaLnBrk="1" hangingPunct="1"/>
            <a:r>
              <a:rPr lang="en-US" altLang="en-US" sz="1200"/>
              <a:t>Similar issues as Jaccard index</a:t>
            </a:r>
          </a:p>
        </p:txBody>
      </p:sp>
      <p:pic>
        <p:nvPicPr>
          <p:cNvPr id="19460" name="Picture 2" descr="Image for post">
            <a:extLst>
              <a:ext uri="{FF2B5EF4-FFF2-40B4-BE49-F238E27FC236}">
                <a16:creationId xmlns:a16="http://schemas.microsoft.com/office/drawing/2014/main" id="{ADEC1BAE-F102-3731-770B-6B26EAF7C1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409700"/>
            <a:ext cx="17938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Picture 4" descr="Image for post">
            <a:extLst>
              <a:ext uri="{FF2B5EF4-FFF2-40B4-BE49-F238E27FC236}">
                <a16:creationId xmlns:a16="http://schemas.microsoft.com/office/drawing/2014/main" id="{514E3863-9B98-9E0A-5A78-1776F6ADB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438" y="3695700"/>
            <a:ext cx="1547812"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Rectangle 1">
            <a:extLst>
              <a:ext uri="{FF2B5EF4-FFF2-40B4-BE49-F238E27FC236}">
                <a16:creationId xmlns:a16="http://schemas.microsoft.com/office/drawing/2014/main" id="{6934615C-4A1F-7058-76F5-2988F28122E3}"/>
              </a:ext>
            </a:extLst>
          </p:cNvPr>
          <p:cNvSpPr>
            <a:spLocks noChangeArrowheads="1"/>
          </p:cNvSpPr>
          <p:nvPr/>
        </p:nvSpPr>
        <p:spPr bwMode="auto">
          <a:xfrm>
            <a:off x="14288" y="4584700"/>
            <a:ext cx="4446587"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r>
              <a:rPr lang="en-US" altLang="en-US" sz="800"/>
              <a:t>https://towardsdatascience.com/9-distance-measures-in-data-science-918109d069fa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09E33CB-5F41-7E46-AD9E-DEFB18702FAE}"/>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Grouping metrics</a:t>
            </a:r>
          </a:p>
        </p:txBody>
      </p:sp>
      <p:sp>
        <p:nvSpPr>
          <p:cNvPr id="20483" name="Rectangle 3">
            <a:extLst>
              <a:ext uri="{FF2B5EF4-FFF2-40B4-BE49-F238E27FC236}">
                <a16:creationId xmlns:a16="http://schemas.microsoft.com/office/drawing/2014/main" id="{F972A4AE-001A-91A6-D011-6B7C6BCC9A3C}"/>
              </a:ext>
            </a:extLst>
          </p:cNvPr>
          <p:cNvSpPr>
            <a:spLocks noGrp="1" noChangeArrowheads="1"/>
          </p:cNvSpPr>
          <p:nvPr>
            <p:ph type="body" idx="1"/>
          </p:nvPr>
        </p:nvSpPr>
        <p:spPr/>
        <p:txBody>
          <a:bodyPr/>
          <a:lstStyle/>
          <a:p>
            <a:pPr eaLnBrk="1" hangingPunct="1"/>
            <a:r>
              <a:rPr lang="en-US" altLang="en-US" sz="1800"/>
              <a:t>The choice of grouping method can alter the cluster membership of the genes as they are partitioned</a:t>
            </a:r>
          </a:p>
          <a:p>
            <a:pPr marL="520700" lvl="1" indent="-200025" eaLnBrk="1" hangingPunct="1"/>
            <a:r>
              <a:rPr lang="en-US" altLang="en-US" sz="1500"/>
              <a:t>Average linkage (UPGMA)</a:t>
            </a:r>
          </a:p>
          <a:p>
            <a:pPr marL="520700" lvl="1" indent="-200025" eaLnBrk="1" hangingPunct="1"/>
            <a:r>
              <a:rPr lang="en-US" altLang="en-US" sz="1500"/>
              <a:t>Single linkage (nearest neighbor)</a:t>
            </a:r>
          </a:p>
          <a:p>
            <a:pPr marL="520700" lvl="1" indent="-200025" eaLnBrk="1" hangingPunct="1"/>
            <a:r>
              <a:rPr lang="en-US" altLang="en-US" sz="1500"/>
              <a:t>Complete linkage (furthest neighbor)</a:t>
            </a:r>
          </a:p>
          <a:p>
            <a:pPr marL="520700" lvl="1" indent="-200025" eaLnBrk="1" hangingPunct="1"/>
            <a:r>
              <a:rPr lang="en-US" altLang="en-US" sz="1500"/>
              <a:t>Ward’s method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0B7ABC5-DAF8-F37E-F1CA-14ECF2313DE2}"/>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Average Linkage</a:t>
            </a:r>
          </a:p>
        </p:txBody>
      </p:sp>
      <p:sp>
        <p:nvSpPr>
          <p:cNvPr id="21507" name="Rectangle 3">
            <a:extLst>
              <a:ext uri="{FF2B5EF4-FFF2-40B4-BE49-F238E27FC236}">
                <a16:creationId xmlns:a16="http://schemas.microsoft.com/office/drawing/2014/main" id="{25AC65E6-9A37-009B-91DF-F755C66C7BA4}"/>
              </a:ext>
            </a:extLst>
          </p:cNvPr>
          <p:cNvSpPr>
            <a:spLocks noGrp="1" noChangeArrowheads="1"/>
          </p:cNvSpPr>
          <p:nvPr>
            <p:ph type="body" idx="1"/>
          </p:nvPr>
        </p:nvSpPr>
        <p:spPr>
          <a:xfrm>
            <a:off x="53975" y="1387475"/>
            <a:ext cx="3413125" cy="1066800"/>
          </a:xfrm>
        </p:spPr>
        <p:txBody>
          <a:bodyPr/>
          <a:lstStyle/>
          <a:p>
            <a:pPr eaLnBrk="1" hangingPunct="1"/>
            <a:r>
              <a:rPr lang="en-US" altLang="en-US" sz="1500"/>
              <a:t>Calculate the distance between each point (gene) in a cluster and all other points (genes) in another cluster. </a:t>
            </a:r>
          </a:p>
        </p:txBody>
      </p:sp>
      <p:sp>
        <p:nvSpPr>
          <p:cNvPr id="21508" name="Oval 4">
            <a:extLst>
              <a:ext uri="{FF2B5EF4-FFF2-40B4-BE49-F238E27FC236}">
                <a16:creationId xmlns:a16="http://schemas.microsoft.com/office/drawing/2014/main" id="{B2ED0186-963F-3DA7-5D7C-37F1A88F8FE1}"/>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09" name="Oval 5">
            <a:extLst>
              <a:ext uri="{FF2B5EF4-FFF2-40B4-BE49-F238E27FC236}">
                <a16:creationId xmlns:a16="http://schemas.microsoft.com/office/drawing/2014/main" id="{D5570513-C1BE-F538-EC7A-9E2BA8F28ABC}"/>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0" name="Oval 6">
            <a:extLst>
              <a:ext uri="{FF2B5EF4-FFF2-40B4-BE49-F238E27FC236}">
                <a16:creationId xmlns:a16="http://schemas.microsoft.com/office/drawing/2014/main" id="{9021262D-C4E2-65D8-BE3B-FEDFDAA1BB53}"/>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1" name="Oval 7">
            <a:extLst>
              <a:ext uri="{FF2B5EF4-FFF2-40B4-BE49-F238E27FC236}">
                <a16:creationId xmlns:a16="http://schemas.microsoft.com/office/drawing/2014/main" id="{4986493B-7FCE-F3E6-117A-96A48CB316B1}"/>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2" name="Oval 8">
            <a:extLst>
              <a:ext uri="{FF2B5EF4-FFF2-40B4-BE49-F238E27FC236}">
                <a16:creationId xmlns:a16="http://schemas.microsoft.com/office/drawing/2014/main" id="{3A7AEF47-9018-82BD-2FA5-EC2B736DADC9}"/>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3" name="Oval 9">
            <a:extLst>
              <a:ext uri="{FF2B5EF4-FFF2-40B4-BE49-F238E27FC236}">
                <a16:creationId xmlns:a16="http://schemas.microsoft.com/office/drawing/2014/main" id="{D7D54F67-5E67-5928-203D-60842999FF6B}"/>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4" name="Oval 10">
            <a:extLst>
              <a:ext uri="{FF2B5EF4-FFF2-40B4-BE49-F238E27FC236}">
                <a16:creationId xmlns:a16="http://schemas.microsoft.com/office/drawing/2014/main" id="{B644B59F-74A0-F794-247F-DC735CA7B4BC}"/>
              </a:ext>
            </a:extLst>
          </p:cNvPr>
          <p:cNvSpPr>
            <a:spLocks noChangeArrowheads="1"/>
          </p:cNvSpPr>
          <p:nvPr/>
        </p:nvSpPr>
        <p:spPr bwMode="auto">
          <a:xfrm>
            <a:off x="5867400" y="19732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5" name="Oval 11">
            <a:extLst>
              <a:ext uri="{FF2B5EF4-FFF2-40B4-BE49-F238E27FC236}">
                <a16:creationId xmlns:a16="http://schemas.microsoft.com/office/drawing/2014/main" id="{18FA2F58-75DB-4543-2B08-414A7B4203F8}"/>
              </a:ext>
            </a:extLst>
          </p:cNvPr>
          <p:cNvSpPr>
            <a:spLocks noChangeArrowheads="1"/>
          </p:cNvSpPr>
          <p:nvPr/>
        </p:nvSpPr>
        <p:spPr bwMode="auto">
          <a:xfrm>
            <a:off x="5440363" y="2879725"/>
            <a:ext cx="160337"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6" name="Oval 12">
            <a:extLst>
              <a:ext uri="{FF2B5EF4-FFF2-40B4-BE49-F238E27FC236}">
                <a16:creationId xmlns:a16="http://schemas.microsoft.com/office/drawing/2014/main" id="{82387E86-D485-572E-04A7-0A41ECD98287}"/>
              </a:ext>
            </a:extLst>
          </p:cNvPr>
          <p:cNvSpPr>
            <a:spLocks noChangeArrowheads="1"/>
          </p:cNvSpPr>
          <p:nvPr/>
        </p:nvSpPr>
        <p:spPr bwMode="auto">
          <a:xfrm>
            <a:off x="5921375" y="2506663"/>
            <a:ext cx="158750"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7" name="Oval 13">
            <a:extLst>
              <a:ext uri="{FF2B5EF4-FFF2-40B4-BE49-F238E27FC236}">
                <a16:creationId xmlns:a16="http://schemas.microsoft.com/office/drawing/2014/main" id="{2E195EE8-2D78-A6CB-5F55-DF2F72487F3F}"/>
              </a:ext>
            </a:extLst>
          </p:cNvPr>
          <p:cNvSpPr>
            <a:spLocks noChangeArrowheads="1"/>
          </p:cNvSpPr>
          <p:nvPr/>
        </p:nvSpPr>
        <p:spPr bwMode="auto">
          <a:xfrm>
            <a:off x="5334000" y="23463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8" name="Oval 14">
            <a:extLst>
              <a:ext uri="{FF2B5EF4-FFF2-40B4-BE49-F238E27FC236}">
                <a16:creationId xmlns:a16="http://schemas.microsoft.com/office/drawing/2014/main" id="{3E34B201-FAC8-A4B5-A25F-9F8849FE2D8C}"/>
              </a:ext>
            </a:extLst>
          </p:cNvPr>
          <p:cNvSpPr>
            <a:spLocks noChangeArrowheads="1"/>
          </p:cNvSpPr>
          <p:nvPr/>
        </p:nvSpPr>
        <p:spPr bwMode="auto">
          <a:xfrm>
            <a:off x="5654675" y="2400300"/>
            <a:ext cx="158750"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19" name="Oval 15">
            <a:extLst>
              <a:ext uri="{FF2B5EF4-FFF2-40B4-BE49-F238E27FC236}">
                <a16:creationId xmlns:a16="http://schemas.microsoft.com/office/drawing/2014/main" id="{24F2C5A9-584A-D830-B1EC-18F7D3EAA5B6}"/>
              </a:ext>
            </a:extLst>
          </p:cNvPr>
          <p:cNvSpPr>
            <a:spLocks noChangeArrowheads="1"/>
          </p:cNvSpPr>
          <p:nvPr/>
        </p:nvSpPr>
        <p:spPr bwMode="auto">
          <a:xfrm>
            <a:off x="5546725" y="1920875"/>
            <a:ext cx="160338" cy="158750"/>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0" name="Oval 16">
            <a:extLst>
              <a:ext uri="{FF2B5EF4-FFF2-40B4-BE49-F238E27FC236}">
                <a16:creationId xmlns:a16="http://schemas.microsoft.com/office/drawing/2014/main" id="{02B0DAAC-72F8-6D10-6E87-768E3081AE44}"/>
              </a:ext>
            </a:extLst>
          </p:cNvPr>
          <p:cNvSpPr>
            <a:spLocks noChangeArrowheads="1"/>
          </p:cNvSpPr>
          <p:nvPr/>
        </p:nvSpPr>
        <p:spPr bwMode="auto">
          <a:xfrm>
            <a:off x="5813425" y="28797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1" name="Oval 17">
            <a:extLst>
              <a:ext uri="{FF2B5EF4-FFF2-40B4-BE49-F238E27FC236}">
                <a16:creationId xmlns:a16="http://schemas.microsoft.com/office/drawing/2014/main" id="{F628E5E1-73FE-B7E5-0EDE-7CF3C977D7FC}"/>
              </a:ext>
            </a:extLst>
          </p:cNvPr>
          <p:cNvSpPr>
            <a:spLocks noChangeArrowheads="1"/>
          </p:cNvSpPr>
          <p:nvPr/>
        </p:nvSpPr>
        <p:spPr bwMode="auto">
          <a:xfrm>
            <a:off x="6080125" y="22399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2" name="Oval 18">
            <a:extLst>
              <a:ext uri="{FF2B5EF4-FFF2-40B4-BE49-F238E27FC236}">
                <a16:creationId xmlns:a16="http://schemas.microsoft.com/office/drawing/2014/main" id="{2C9E2EE2-6751-CEB5-C6E6-D09F9C2F640F}"/>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3" name="Oval 19">
            <a:extLst>
              <a:ext uri="{FF2B5EF4-FFF2-40B4-BE49-F238E27FC236}">
                <a16:creationId xmlns:a16="http://schemas.microsoft.com/office/drawing/2014/main" id="{BCE1061B-3ACA-7566-ADB1-78897446FC91}"/>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4" name="Oval 20">
            <a:extLst>
              <a:ext uri="{FF2B5EF4-FFF2-40B4-BE49-F238E27FC236}">
                <a16:creationId xmlns:a16="http://schemas.microsoft.com/office/drawing/2014/main" id="{E0A4DD65-7F5F-C402-3E59-0E594F18A007}"/>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5" name="Oval 21">
            <a:extLst>
              <a:ext uri="{FF2B5EF4-FFF2-40B4-BE49-F238E27FC236}">
                <a16:creationId xmlns:a16="http://schemas.microsoft.com/office/drawing/2014/main" id="{59CCA98B-B368-0525-C9EF-22806A7F2949}"/>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6" name="Oval 22">
            <a:extLst>
              <a:ext uri="{FF2B5EF4-FFF2-40B4-BE49-F238E27FC236}">
                <a16:creationId xmlns:a16="http://schemas.microsoft.com/office/drawing/2014/main" id="{6AC26566-0CAE-7092-29CA-D0A06A2DA3B7}"/>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27" name="Oval 23">
            <a:extLst>
              <a:ext uri="{FF2B5EF4-FFF2-40B4-BE49-F238E27FC236}">
                <a16:creationId xmlns:a16="http://schemas.microsoft.com/office/drawing/2014/main" id="{CAF8F414-AC84-D882-B3D4-0D0DF138CC6A}"/>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314392" name="Rectangle 24">
            <a:extLst>
              <a:ext uri="{FF2B5EF4-FFF2-40B4-BE49-F238E27FC236}">
                <a16:creationId xmlns:a16="http://schemas.microsoft.com/office/drawing/2014/main" id="{2C8F744A-42DD-B975-F42F-0A27E66EF00A}"/>
              </a:ext>
            </a:extLst>
          </p:cNvPr>
          <p:cNvSpPr>
            <a:spLocks noChangeArrowheads="1"/>
          </p:cNvSpPr>
          <p:nvPr/>
        </p:nvSpPr>
        <p:spPr bwMode="auto">
          <a:xfrm>
            <a:off x="53975" y="2879725"/>
            <a:ext cx="34131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500"/>
              <a:t>The two clusters with the lowest average distance are joined together to form the new cluster.</a:t>
            </a:r>
          </a:p>
        </p:txBody>
      </p:sp>
      <p:grpSp>
        <p:nvGrpSpPr>
          <p:cNvPr id="314393" name="Group 25">
            <a:extLst>
              <a:ext uri="{FF2B5EF4-FFF2-40B4-BE49-F238E27FC236}">
                <a16:creationId xmlns:a16="http://schemas.microsoft.com/office/drawing/2014/main" id="{C8AB053B-4E3D-2BD7-AA5B-5885C6ED16E5}"/>
              </a:ext>
            </a:extLst>
          </p:cNvPr>
          <p:cNvGrpSpPr>
            <a:grpSpLocks/>
          </p:cNvGrpSpPr>
          <p:nvPr/>
        </p:nvGrpSpPr>
        <p:grpSpPr bwMode="auto">
          <a:xfrm>
            <a:off x="4160838" y="2133600"/>
            <a:ext cx="1760537" cy="1760538"/>
            <a:chOff x="3744" y="1920"/>
            <a:chExt cx="1584" cy="1584"/>
          </a:xfrm>
        </p:grpSpPr>
        <p:sp>
          <p:nvSpPr>
            <p:cNvPr id="21534" name="Line 26">
              <a:extLst>
                <a:ext uri="{FF2B5EF4-FFF2-40B4-BE49-F238E27FC236}">
                  <a16:creationId xmlns:a16="http://schemas.microsoft.com/office/drawing/2014/main" id="{776E5746-F5AE-3A08-F6D2-4B2533D34060}"/>
                </a:ext>
              </a:extLst>
            </p:cNvPr>
            <p:cNvSpPr>
              <a:spLocks noChangeShapeType="1"/>
            </p:cNvSpPr>
            <p:nvPr/>
          </p:nvSpPr>
          <p:spPr bwMode="auto">
            <a:xfrm flipH="1">
              <a:off x="4656" y="2448"/>
              <a:ext cx="528" cy="1056"/>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5" name="Line 27">
              <a:extLst>
                <a:ext uri="{FF2B5EF4-FFF2-40B4-BE49-F238E27FC236}">
                  <a16:creationId xmlns:a16="http://schemas.microsoft.com/office/drawing/2014/main" id="{11634FCC-43DB-E4EF-6A4F-CF4CF08237FB}"/>
                </a:ext>
              </a:extLst>
            </p:cNvPr>
            <p:cNvSpPr>
              <a:spLocks noChangeShapeType="1"/>
            </p:cNvSpPr>
            <p:nvPr/>
          </p:nvSpPr>
          <p:spPr bwMode="auto">
            <a:xfrm>
              <a:off x="3744" y="2064"/>
              <a:ext cx="816" cy="1440"/>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6" name="Line 28">
              <a:extLst>
                <a:ext uri="{FF2B5EF4-FFF2-40B4-BE49-F238E27FC236}">
                  <a16:creationId xmlns:a16="http://schemas.microsoft.com/office/drawing/2014/main" id="{0D3913E1-67AC-B2D3-40E3-7E309D845A99}"/>
                </a:ext>
              </a:extLst>
            </p:cNvPr>
            <p:cNvSpPr>
              <a:spLocks noChangeShapeType="1"/>
            </p:cNvSpPr>
            <p:nvPr/>
          </p:nvSpPr>
          <p:spPr bwMode="auto">
            <a:xfrm flipH="1" flipV="1">
              <a:off x="3792" y="2016"/>
              <a:ext cx="1392" cy="384"/>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537" name="Text Box 29">
              <a:extLst>
                <a:ext uri="{FF2B5EF4-FFF2-40B4-BE49-F238E27FC236}">
                  <a16:creationId xmlns:a16="http://schemas.microsoft.com/office/drawing/2014/main" id="{FD308297-3095-D4AF-A02D-240328DFAE41}"/>
                </a:ext>
              </a:extLst>
            </p:cNvPr>
            <p:cNvSpPr txBox="1">
              <a:spLocks noChangeArrowheads="1"/>
            </p:cNvSpPr>
            <p:nvPr/>
          </p:nvSpPr>
          <p:spPr bwMode="auto">
            <a:xfrm>
              <a:off x="4992" y="2976"/>
              <a:ext cx="336"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1</a:t>
              </a:r>
            </a:p>
          </p:txBody>
        </p:sp>
        <p:sp>
          <p:nvSpPr>
            <p:cNvPr id="21538" name="Text Box 30">
              <a:extLst>
                <a:ext uri="{FF2B5EF4-FFF2-40B4-BE49-F238E27FC236}">
                  <a16:creationId xmlns:a16="http://schemas.microsoft.com/office/drawing/2014/main" id="{AF57D281-766D-9B3B-AD26-F4669EB6D223}"/>
                </a:ext>
              </a:extLst>
            </p:cNvPr>
            <p:cNvSpPr txBox="1">
              <a:spLocks noChangeArrowheads="1"/>
            </p:cNvSpPr>
            <p:nvPr/>
          </p:nvSpPr>
          <p:spPr bwMode="auto">
            <a:xfrm>
              <a:off x="3888" y="2784"/>
              <a:ext cx="336"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2</a:t>
              </a:r>
            </a:p>
          </p:txBody>
        </p:sp>
        <p:sp>
          <p:nvSpPr>
            <p:cNvPr id="21539" name="Text Box 31">
              <a:extLst>
                <a:ext uri="{FF2B5EF4-FFF2-40B4-BE49-F238E27FC236}">
                  <a16:creationId xmlns:a16="http://schemas.microsoft.com/office/drawing/2014/main" id="{236B507F-02D4-4553-8D53-4318B978C32A}"/>
                </a:ext>
              </a:extLst>
            </p:cNvPr>
            <p:cNvSpPr txBox="1">
              <a:spLocks noChangeArrowheads="1"/>
            </p:cNvSpPr>
            <p:nvPr/>
          </p:nvSpPr>
          <p:spPr bwMode="auto">
            <a:xfrm>
              <a:off x="4368" y="1920"/>
              <a:ext cx="336" cy="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3</a:t>
              </a:r>
            </a:p>
          </p:txBody>
        </p:sp>
      </p:grpSp>
      <p:sp>
        <p:nvSpPr>
          <p:cNvPr id="21530" name="Oval 32">
            <a:extLst>
              <a:ext uri="{FF2B5EF4-FFF2-40B4-BE49-F238E27FC236}">
                <a16:creationId xmlns:a16="http://schemas.microsoft.com/office/drawing/2014/main" id="{F49858C9-2496-A4FC-F1E4-461EF75CEB3C}"/>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31" name="Oval 33">
            <a:extLst>
              <a:ext uri="{FF2B5EF4-FFF2-40B4-BE49-F238E27FC236}">
                <a16:creationId xmlns:a16="http://schemas.microsoft.com/office/drawing/2014/main" id="{00B54569-66A0-7334-2A9D-7F0F77AD763B}"/>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32" name="Oval 34">
            <a:extLst>
              <a:ext uri="{FF2B5EF4-FFF2-40B4-BE49-F238E27FC236}">
                <a16:creationId xmlns:a16="http://schemas.microsoft.com/office/drawing/2014/main" id="{1B2F0D23-B43B-2EAD-411B-1119B6E3F2E9}"/>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1533" name="Oval 35">
            <a:extLst>
              <a:ext uri="{FF2B5EF4-FFF2-40B4-BE49-F238E27FC236}">
                <a16:creationId xmlns:a16="http://schemas.microsoft.com/office/drawing/2014/main" id="{00B9C951-C594-32A6-8738-6CA516FF5823}"/>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43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14393"/>
                                        </p:tgtEl>
                                        <p:attrNameLst>
                                          <p:attrName>style.visibility</p:attrName>
                                        </p:attrNameLst>
                                      </p:cBhvr>
                                      <p:to>
                                        <p:strVal val="visible"/>
                                      </p:to>
                                    </p:set>
                                    <p:animEffect transition="in" filter="fade">
                                      <p:cBhvr>
                                        <p:cTn id="11" dur="2000"/>
                                        <p:tgtEl>
                                          <p:spTgt spid="31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9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1B5802A-DB36-01BA-F3D6-27143C7494E6}"/>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Average Linkage</a:t>
            </a:r>
          </a:p>
        </p:txBody>
      </p:sp>
      <p:sp>
        <p:nvSpPr>
          <p:cNvPr id="22531" name="Rectangle 3">
            <a:extLst>
              <a:ext uri="{FF2B5EF4-FFF2-40B4-BE49-F238E27FC236}">
                <a16:creationId xmlns:a16="http://schemas.microsoft.com/office/drawing/2014/main" id="{009A17A1-402A-B7B2-9B0A-02149E6E0319}"/>
              </a:ext>
            </a:extLst>
          </p:cNvPr>
          <p:cNvSpPr>
            <a:spLocks noGrp="1" noChangeArrowheads="1"/>
          </p:cNvSpPr>
          <p:nvPr>
            <p:ph type="body" idx="1"/>
          </p:nvPr>
        </p:nvSpPr>
        <p:spPr>
          <a:xfrm>
            <a:off x="53975" y="1387475"/>
            <a:ext cx="3413125" cy="1066800"/>
          </a:xfrm>
        </p:spPr>
        <p:txBody>
          <a:bodyPr/>
          <a:lstStyle/>
          <a:p>
            <a:pPr eaLnBrk="1" hangingPunct="1"/>
            <a:r>
              <a:rPr lang="en-US" altLang="en-US" sz="1500"/>
              <a:t>Two clusters are grouped to form new cluster</a:t>
            </a:r>
          </a:p>
        </p:txBody>
      </p:sp>
      <p:sp>
        <p:nvSpPr>
          <p:cNvPr id="22532" name="Oval 4">
            <a:extLst>
              <a:ext uri="{FF2B5EF4-FFF2-40B4-BE49-F238E27FC236}">
                <a16:creationId xmlns:a16="http://schemas.microsoft.com/office/drawing/2014/main" id="{60AA66D7-7741-AE41-3F48-A69FD6C7AE4B}"/>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3" name="Oval 5">
            <a:extLst>
              <a:ext uri="{FF2B5EF4-FFF2-40B4-BE49-F238E27FC236}">
                <a16:creationId xmlns:a16="http://schemas.microsoft.com/office/drawing/2014/main" id="{191EC266-2BBC-F0B9-76CD-114A7ACC5C7C}"/>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4" name="Oval 6">
            <a:extLst>
              <a:ext uri="{FF2B5EF4-FFF2-40B4-BE49-F238E27FC236}">
                <a16:creationId xmlns:a16="http://schemas.microsoft.com/office/drawing/2014/main" id="{3ECDB8D3-4B7C-B396-E137-95ABBCC19885}"/>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5" name="Oval 7">
            <a:extLst>
              <a:ext uri="{FF2B5EF4-FFF2-40B4-BE49-F238E27FC236}">
                <a16:creationId xmlns:a16="http://schemas.microsoft.com/office/drawing/2014/main" id="{5B61D767-E30C-08A9-9092-49839A45B426}"/>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6" name="Oval 8">
            <a:extLst>
              <a:ext uri="{FF2B5EF4-FFF2-40B4-BE49-F238E27FC236}">
                <a16:creationId xmlns:a16="http://schemas.microsoft.com/office/drawing/2014/main" id="{FA034807-A415-A83A-375E-EBD02D627050}"/>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7" name="Oval 9">
            <a:extLst>
              <a:ext uri="{FF2B5EF4-FFF2-40B4-BE49-F238E27FC236}">
                <a16:creationId xmlns:a16="http://schemas.microsoft.com/office/drawing/2014/main" id="{D704C3F9-BBD4-F239-13C7-919584FD49BA}"/>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8" name="Oval 10">
            <a:extLst>
              <a:ext uri="{FF2B5EF4-FFF2-40B4-BE49-F238E27FC236}">
                <a16:creationId xmlns:a16="http://schemas.microsoft.com/office/drawing/2014/main" id="{C49ACE3E-9CA7-E4FF-A5E6-AE561F5D5DE5}"/>
              </a:ext>
            </a:extLst>
          </p:cNvPr>
          <p:cNvSpPr>
            <a:spLocks noChangeArrowheads="1"/>
          </p:cNvSpPr>
          <p:nvPr/>
        </p:nvSpPr>
        <p:spPr bwMode="auto">
          <a:xfrm>
            <a:off x="5867400" y="19732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39" name="Oval 11">
            <a:extLst>
              <a:ext uri="{FF2B5EF4-FFF2-40B4-BE49-F238E27FC236}">
                <a16:creationId xmlns:a16="http://schemas.microsoft.com/office/drawing/2014/main" id="{5C7F064A-3430-63D9-359E-0B82D383FE00}"/>
              </a:ext>
            </a:extLst>
          </p:cNvPr>
          <p:cNvSpPr>
            <a:spLocks noChangeArrowheads="1"/>
          </p:cNvSpPr>
          <p:nvPr/>
        </p:nvSpPr>
        <p:spPr bwMode="auto">
          <a:xfrm>
            <a:off x="5440363" y="28797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0" name="Oval 12">
            <a:extLst>
              <a:ext uri="{FF2B5EF4-FFF2-40B4-BE49-F238E27FC236}">
                <a16:creationId xmlns:a16="http://schemas.microsoft.com/office/drawing/2014/main" id="{9D71C83A-3B08-8123-6F25-50610653F11A}"/>
              </a:ext>
            </a:extLst>
          </p:cNvPr>
          <p:cNvSpPr>
            <a:spLocks noChangeArrowheads="1"/>
          </p:cNvSpPr>
          <p:nvPr/>
        </p:nvSpPr>
        <p:spPr bwMode="auto">
          <a:xfrm>
            <a:off x="5921375" y="2506663"/>
            <a:ext cx="158750"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1" name="Oval 13">
            <a:extLst>
              <a:ext uri="{FF2B5EF4-FFF2-40B4-BE49-F238E27FC236}">
                <a16:creationId xmlns:a16="http://schemas.microsoft.com/office/drawing/2014/main" id="{3E85F8EA-0724-2775-03BD-81BA387F1BB7}"/>
              </a:ext>
            </a:extLst>
          </p:cNvPr>
          <p:cNvSpPr>
            <a:spLocks noChangeArrowheads="1"/>
          </p:cNvSpPr>
          <p:nvPr/>
        </p:nvSpPr>
        <p:spPr bwMode="auto">
          <a:xfrm>
            <a:off x="5334000" y="23463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2" name="Oval 14">
            <a:extLst>
              <a:ext uri="{FF2B5EF4-FFF2-40B4-BE49-F238E27FC236}">
                <a16:creationId xmlns:a16="http://schemas.microsoft.com/office/drawing/2014/main" id="{6C31C03F-2FF5-CABD-28EE-FAE37981E19C}"/>
              </a:ext>
            </a:extLst>
          </p:cNvPr>
          <p:cNvSpPr>
            <a:spLocks noChangeArrowheads="1"/>
          </p:cNvSpPr>
          <p:nvPr/>
        </p:nvSpPr>
        <p:spPr bwMode="auto">
          <a:xfrm>
            <a:off x="5654675" y="24003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3" name="Oval 15">
            <a:extLst>
              <a:ext uri="{FF2B5EF4-FFF2-40B4-BE49-F238E27FC236}">
                <a16:creationId xmlns:a16="http://schemas.microsoft.com/office/drawing/2014/main" id="{A70C47F9-C33E-D3FE-93F3-AE215ECAA92C}"/>
              </a:ext>
            </a:extLst>
          </p:cNvPr>
          <p:cNvSpPr>
            <a:spLocks noChangeArrowheads="1"/>
          </p:cNvSpPr>
          <p:nvPr/>
        </p:nvSpPr>
        <p:spPr bwMode="auto">
          <a:xfrm>
            <a:off x="5546725" y="19208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4" name="Oval 16">
            <a:extLst>
              <a:ext uri="{FF2B5EF4-FFF2-40B4-BE49-F238E27FC236}">
                <a16:creationId xmlns:a16="http://schemas.microsoft.com/office/drawing/2014/main" id="{EA6C39B5-CCC5-B5C9-E7A8-E448160CBA61}"/>
              </a:ext>
            </a:extLst>
          </p:cNvPr>
          <p:cNvSpPr>
            <a:spLocks noChangeArrowheads="1"/>
          </p:cNvSpPr>
          <p:nvPr/>
        </p:nvSpPr>
        <p:spPr bwMode="auto">
          <a:xfrm>
            <a:off x="5813425" y="28797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5" name="Oval 17">
            <a:extLst>
              <a:ext uri="{FF2B5EF4-FFF2-40B4-BE49-F238E27FC236}">
                <a16:creationId xmlns:a16="http://schemas.microsoft.com/office/drawing/2014/main" id="{D393828E-0F25-07FB-494B-4F594A94FCAE}"/>
              </a:ext>
            </a:extLst>
          </p:cNvPr>
          <p:cNvSpPr>
            <a:spLocks noChangeArrowheads="1"/>
          </p:cNvSpPr>
          <p:nvPr/>
        </p:nvSpPr>
        <p:spPr bwMode="auto">
          <a:xfrm>
            <a:off x="6080125" y="22399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6" name="Oval 18">
            <a:extLst>
              <a:ext uri="{FF2B5EF4-FFF2-40B4-BE49-F238E27FC236}">
                <a16:creationId xmlns:a16="http://schemas.microsoft.com/office/drawing/2014/main" id="{6CB44B8A-341C-E186-C60F-7A751831439B}"/>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7" name="Oval 19">
            <a:extLst>
              <a:ext uri="{FF2B5EF4-FFF2-40B4-BE49-F238E27FC236}">
                <a16:creationId xmlns:a16="http://schemas.microsoft.com/office/drawing/2014/main" id="{455FE4FC-31CE-FD99-3841-99BF7ADEBEEC}"/>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8" name="Oval 20">
            <a:extLst>
              <a:ext uri="{FF2B5EF4-FFF2-40B4-BE49-F238E27FC236}">
                <a16:creationId xmlns:a16="http://schemas.microsoft.com/office/drawing/2014/main" id="{35D6800C-529A-1B62-725A-14EE4E0B98D5}"/>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49" name="Oval 21">
            <a:extLst>
              <a:ext uri="{FF2B5EF4-FFF2-40B4-BE49-F238E27FC236}">
                <a16:creationId xmlns:a16="http://schemas.microsoft.com/office/drawing/2014/main" id="{E11E9665-6D30-5670-6998-03F60CCFB017}"/>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50" name="Oval 22">
            <a:extLst>
              <a:ext uri="{FF2B5EF4-FFF2-40B4-BE49-F238E27FC236}">
                <a16:creationId xmlns:a16="http://schemas.microsoft.com/office/drawing/2014/main" id="{372AFEF0-DDE0-780A-F029-D44D57A1C012}"/>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51" name="Oval 23">
            <a:extLst>
              <a:ext uri="{FF2B5EF4-FFF2-40B4-BE49-F238E27FC236}">
                <a16:creationId xmlns:a16="http://schemas.microsoft.com/office/drawing/2014/main" id="{F5E92339-60CB-2CB1-672E-0E5FB7BD58AE}"/>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315416" name="Rectangle 24">
            <a:extLst>
              <a:ext uri="{FF2B5EF4-FFF2-40B4-BE49-F238E27FC236}">
                <a16:creationId xmlns:a16="http://schemas.microsoft.com/office/drawing/2014/main" id="{07269B0F-C365-E638-2C2A-80225491C452}"/>
              </a:ext>
            </a:extLst>
          </p:cNvPr>
          <p:cNvSpPr>
            <a:spLocks noChangeArrowheads="1"/>
          </p:cNvSpPr>
          <p:nvPr/>
        </p:nvSpPr>
        <p:spPr bwMode="auto">
          <a:xfrm>
            <a:off x="53975" y="2879725"/>
            <a:ext cx="34131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endParaRPr lang="en-US" altLang="en-US" sz="1500"/>
          </a:p>
        </p:txBody>
      </p:sp>
      <p:sp>
        <p:nvSpPr>
          <p:cNvPr id="22553" name="Oval 25">
            <a:extLst>
              <a:ext uri="{FF2B5EF4-FFF2-40B4-BE49-F238E27FC236}">
                <a16:creationId xmlns:a16="http://schemas.microsoft.com/office/drawing/2014/main" id="{C5868C6F-B1D4-5D68-5AF7-AA9B1F2F04B4}"/>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54" name="Oval 26">
            <a:extLst>
              <a:ext uri="{FF2B5EF4-FFF2-40B4-BE49-F238E27FC236}">
                <a16:creationId xmlns:a16="http://schemas.microsoft.com/office/drawing/2014/main" id="{8686FA47-9820-1E8E-2922-0F4D06EE8698}"/>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55" name="Oval 27">
            <a:extLst>
              <a:ext uri="{FF2B5EF4-FFF2-40B4-BE49-F238E27FC236}">
                <a16:creationId xmlns:a16="http://schemas.microsoft.com/office/drawing/2014/main" id="{D00D55E9-F0EE-EA8D-B3D5-D44DACA7E9C5}"/>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2556" name="Oval 28">
            <a:extLst>
              <a:ext uri="{FF2B5EF4-FFF2-40B4-BE49-F238E27FC236}">
                <a16:creationId xmlns:a16="http://schemas.microsoft.com/office/drawing/2014/main" id="{D5C119A0-66A0-CDD4-2F8D-88658F54B4E8}"/>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154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8609E402-0E98-F862-6BF8-1D254D9AE637}"/>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Single Linkage</a:t>
            </a:r>
          </a:p>
        </p:txBody>
      </p:sp>
      <p:sp>
        <p:nvSpPr>
          <p:cNvPr id="23555" name="Rectangle 3">
            <a:extLst>
              <a:ext uri="{FF2B5EF4-FFF2-40B4-BE49-F238E27FC236}">
                <a16:creationId xmlns:a16="http://schemas.microsoft.com/office/drawing/2014/main" id="{54F55A31-923D-1444-5A56-AA9D1DBF8CA6}"/>
              </a:ext>
            </a:extLst>
          </p:cNvPr>
          <p:cNvSpPr>
            <a:spLocks noGrp="1" noChangeArrowheads="1"/>
          </p:cNvSpPr>
          <p:nvPr>
            <p:ph type="body" idx="1"/>
          </p:nvPr>
        </p:nvSpPr>
        <p:spPr>
          <a:xfrm>
            <a:off x="53975" y="1387475"/>
            <a:ext cx="3413125" cy="1066800"/>
          </a:xfrm>
        </p:spPr>
        <p:txBody>
          <a:bodyPr/>
          <a:lstStyle/>
          <a:p>
            <a:pPr eaLnBrk="1" hangingPunct="1"/>
            <a:r>
              <a:rPr lang="en-US" altLang="en-US" sz="1500"/>
              <a:t>Calculate the distance between each point (gene) in a cluster and all other points (genes) in another cluster. </a:t>
            </a:r>
          </a:p>
        </p:txBody>
      </p:sp>
      <p:sp>
        <p:nvSpPr>
          <p:cNvPr id="23556" name="Oval 4">
            <a:extLst>
              <a:ext uri="{FF2B5EF4-FFF2-40B4-BE49-F238E27FC236}">
                <a16:creationId xmlns:a16="http://schemas.microsoft.com/office/drawing/2014/main" id="{E8DDE0A9-9CE2-97BB-0B27-A9A62EC1B0D7}"/>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57" name="Oval 5">
            <a:extLst>
              <a:ext uri="{FF2B5EF4-FFF2-40B4-BE49-F238E27FC236}">
                <a16:creationId xmlns:a16="http://schemas.microsoft.com/office/drawing/2014/main" id="{EA1B2DEE-5AAB-B5EA-B408-AE326B73A35A}"/>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58" name="Oval 6">
            <a:extLst>
              <a:ext uri="{FF2B5EF4-FFF2-40B4-BE49-F238E27FC236}">
                <a16:creationId xmlns:a16="http://schemas.microsoft.com/office/drawing/2014/main" id="{41A0D857-2AB7-82D4-44AC-2A765AC04523}"/>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59" name="Oval 7">
            <a:extLst>
              <a:ext uri="{FF2B5EF4-FFF2-40B4-BE49-F238E27FC236}">
                <a16:creationId xmlns:a16="http://schemas.microsoft.com/office/drawing/2014/main" id="{F9C8BF6C-13CA-F955-C6F1-2B17F4735E73}"/>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0" name="Oval 8">
            <a:extLst>
              <a:ext uri="{FF2B5EF4-FFF2-40B4-BE49-F238E27FC236}">
                <a16:creationId xmlns:a16="http://schemas.microsoft.com/office/drawing/2014/main" id="{E8E802CA-4475-1CE3-5A68-F5A2EA3CAC93}"/>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1" name="Oval 9">
            <a:extLst>
              <a:ext uri="{FF2B5EF4-FFF2-40B4-BE49-F238E27FC236}">
                <a16:creationId xmlns:a16="http://schemas.microsoft.com/office/drawing/2014/main" id="{897EF682-C824-609C-336C-6C56FBF78941}"/>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2" name="Oval 10">
            <a:extLst>
              <a:ext uri="{FF2B5EF4-FFF2-40B4-BE49-F238E27FC236}">
                <a16:creationId xmlns:a16="http://schemas.microsoft.com/office/drawing/2014/main" id="{93123CE9-4E10-C40C-1CA4-F33035EA70DA}"/>
              </a:ext>
            </a:extLst>
          </p:cNvPr>
          <p:cNvSpPr>
            <a:spLocks noChangeArrowheads="1"/>
          </p:cNvSpPr>
          <p:nvPr/>
        </p:nvSpPr>
        <p:spPr bwMode="auto">
          <a:xfrm>
            <a:off x="5867400" y="19732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3" name="Oval 11">
            <a:extLst>
              <a:ext uri="{FF2B5EF4-FFF2-40B4-BE49-F238E27FC236}">
                <a16:creationId xmlns:a16="http://schemas.microsoft.com/office/drawing/2014/main" id="{DA1A94F1-9199-10B3-92B7-5D937682726E}"/>
              </a:ext>
            </a:extLst>
          </p:cNvPr>
          <p:cNvSpPr>
            <a:spLocks noChangeArrowheads="1"/>
          </p:cNvSpPr>
          <p:nvPr/>
        </p:nvSpPr>
        <p:spPr bwMode="auto">
          <a:xfrm>
            <a:off x="5440363" y="2879725"/>
            <a:ext cx="160337"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4" name="Oval 12">
            <a:extLst>
              <a:ext uri="{FF2B5EF4-FFF2-40B4-BE49-F238E27FC236}">
                <a16:creationId xmlns:a16="http://schemas.microsoft.com/office/drawing/2014/main" id="{7770AE40-C662-9E0B-ECB3-E6F1A6653CAD}"/>
              </a:ext>
            </a:extLst>
          </p:cNvPr>
          <p:cNvSpPr>
            <a:spLocks noChangeArrowheads="1"/>
          </p:cNvSpPr>
          <p:nvPr/>
        </p:nvSpPr>
        <p:spPr bwMode="auto">
          <a:xfrm>
            <a:off x="5921375" y="2506663"/>
            <a:ext cx="158750"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5" name="Oval 13">
            <a:extLst>
              <a:ext uri="{FF2B5EF4-FFF2-40B4-BE49-F238E27FC236}">
                <a16:creationId xmlns:a16="http://schemas.microsoft.com/office/drawing/2014/main" id="{AEDCDF2B-05AE-0EBE-A7BC-20E8D263BB92}"/>
              </a:ext>
            </a:extLst>
          </p:cNvPr>
          <p:cNvSpPr>
            <a:spLocks noChangeArrowheads="1"/>
          </p:cNvSpPr>
          <p:nvPr/>
        </p:nvSpPr>
        <p:spPr bwMode="auto">
          <a:xfrm>
            <a:off x="5334000" y="23463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6" name="Oval 14">
            <a:extLst>
              <a:ext uri="{FF2B5EF4-FFF2-40B4-BE49-F238E27FC236}">
                <a16:creationId xmlns:a16="http://schemas.microsoft.com/office/drawing/2014/main" id="{2D8B759F-785F-F448-771F-569053EE25B5}"/>
              </a:ext>
            </a:extLst>
          </p:cNvPr>
          <p:cNvSpPr>
            <a:spLocks noChangeArrowheads="1"/>
          </p:cNvSpPr>
          <p:nvPr/>
        </p:nvSpPr>
        <p:spPr bwMode="auto">
          <a:xfrm>
            <a:off x="5654675" y="2400300"/>
            <a:ext cx="158750"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7" name="Oval 15">
            <a:extLst>
              <a:ext uri="{FF2B5EF4-FFF2-40B4-BE49-F238E27FC236}">
                <a16:creationId xmlns:a16="http://schemas.microsoft.com/office/drawing/2014/main" id="{54A16359-3F8B-4C38-A235-A2FD0244F27F}"/>
              </a:ext>
            </a:extLst>
          </p:cNvPr>
          <p:cNvSpPr>
            <a:spLocks noChangeArrowheads="1"/>
          </p:cNvSpPr>
          <p:nvPr/>
        </p:nvSpPr>
        <p:spPr bwMode="auto">
          <a:xfrm>
            <a:off x="5546725" y="1920875"/>
            <a:ext cx="160338" cy="158750"/>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8" name="Oval 16">
            <a:extLst>
              <a:ext uri="{FF2B5EF4-FFF2-40B4-BE49-F238E27FC236}">
                <a16:creationId xmlns:a16="http://schemas.microsoft.com/office/drawing/2014/main" id="{FF5E0298-E241-E302-1FC2-20042785A809}"/>
              </a:ext>
            </a:extLst>
          </p:cNvPr>
          <p:cNvSpPr>
            <a:spLocks noChangeArrowheads="1"/>
          </p:cNvSpPr>
          <p:nvPr/>
        </p:nvSpPr>
        <p:spPr bwMode="auto">
          <a:xfrm>
            <a:off x="5813425" y="28797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69" name="Oval 17">
            <a:extLst>
              <a:ext uri="{FF2B5EF4-FFF2-40B4-BE49-F238E27FC236}">
                <a16:creationId xmlns:a16="http://schemas.microsoft.com/office/drawing/2014/main" id="{F7C7D460-3806-B17C-CEB4-0CD9F6213980}"/>
              </a:ext>
            </a:extLst>
          </p:cNvPr>
          <p:cNvSpPr>
            <a:spLocks noChangeArrowheads="1"/>
          </p:cNvSpPr>
          <p:nvPr/>
        </p:nvSpPr>
        <p:spPr bwMode="auto">
          <a:xfrm>
            <a:off x="6080125" y="22399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0" name="Oval 18">
            <a:extLst>
              <a:ext uri="{FF2B5EF4-FFF2-40B4-BE49-F238E27FC236}">
                <a16:creationId xmlns:a16="http://schemas.microsoft.com/office/drawing/2014/main" id="{ABF63568-8D79-0338-67EF-D7F9356250D3}"/>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1" name="Oval 19">
            <a:extLst>
              <a:ext uri="{FF2B5EF4-FFF2-40B4-BE49-F238E27FC236}">
                <a16:creationId xmlns:a16="http://schemas.microsoft.com/office/drawing/2014/main" id="{91F4C304-DD8A-08E2-19F4-563E55925EA4}"/>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2" name="Oval 20">
            <a:extLst>
              <a:ext uri="{FF2B5EF4-FFF2-40B4-BE49-F238E27FC236}">
                <a16:creationId xmlns:a16="http://schemas.microsoft.com/office/drawing/2014/main" id="{36B65A43-BED8-6355-1CD0-BAFF314C6EB5}"/>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3" name="Oval 21">
            <a:extLst>
              <a:ext uri="{FF2B5EF4-FFF2-40B4-BE49-F238E27FC236}">
                <a16:creationId xmlns:a16="http://schemas.microsoft.com/office/drawing/2014/main" id="{0058F94E-58D5-5E15-E757-71C8B42EE4C4}"/>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4" name="Oval 22">
            <a:extLst>
              <a:ext uri="{FF2B5EF4-FFF2-40B4-BE49-F238E27FC236}">
                <a16:creationId xmlns:a16="http://schemas.microsoft.com/office/drawing/2014/main" id="{7E436869-DAE5-866F-A217-8B0A2830101B}"/>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5" name="Oval 23">
            <a:extLst>
              <a:ext uri="{FF2B5EF4-FFF2-40B4-BE49-F238E27FC236}">
                <a16:creationId xmlns:a16="http://schemas.microsoft.com/office/drawing/2014/main" id="{4B34F3A7-8102-4158-F2A7-3659ED01C0E1}"/>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316440" name="Rectangle 24">
            <a:extLst>
              <a:ext uri="{FF2B5EF4-FFF2-40B4-BE49-F238E27FC236}">
                <a16:creationId xmlns:a16="http://schemas.microsoft.com/office/drawing/2014/main" id="{6D77FDB7-186B-46D3-F50A-4C221DD294FF}"/>
              </a:ext>
            </a:extLst>
          </p:cNvPr>
          <p:cNvSpPr>
            <a:spLocks noChangeArrowheads="1"/>
          </p:cNvSpPr>
          <p:nvPr/>
        </p:nvSpPr>
        <p:spPr bwMode="auto">
          <a:xfrm>
            <a:off x="53975" y="2879725"/>
            <a:ext cx="3467100" cy="1387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500"/>
              <a:t>The two clusters with members having the least dissimilarity are joined together (nearest neighbors).</a:t>
            </a:r>
          </a:p>
          <a:p>
            <a:pPr lvl="1" eaLnBrk="1" hangingPunct="1">
              <a:buFont typeface="Wingdings" pitchFamily="2" charset="2"/>
              <a:buNone/>
            </a:pPr>
            <a:r>
              <a:rPr lang="en-US" altLang="en-US" sz="1500">
                <a:cs typeface="Arial" panose="020B0604020202020204" pitchFamily="34" charset="0"/>
              </a:rPr>
              <a:t>	</a:t>
            </a:r>
            <a:r>
              <a:rPr lang="en-US" altLang="en-US" sz="1400">
                <a:cs typeface="Arial" panose="020B0604020202020204" pitchFamily="34" charset="0"/>
              </a:rPr>
              <a:t>d</a:t>
            </a:r>
            <a:r>
              <a:rPr lang="en-US" altLang="en-US" sz="1400" baseline="-25000">
                <a:cs typeface="Arial" panose="020B0604020202020204" pitchFamily="34" charset="0"/>
              </a:rPr>
              <a:t>j</a:t>
            </a:r>
            <a:r>
              <a:rPr lang="en-US" altLang="en-US" sz="1400">
                <a:cs typeface="Arial" panose="020B0604020202020204" pitchFamily="34" charset="0"/>
              </a:rPr>
              <a:t> = min (</a:t>
            </a:r>
            <a:r>
              <a:rPr lang="en-US" altLang="en-US" sz="1400"/>
              <a:t>p</a:t>
            </a:r>
            <a:r>
              <a:rPr lang="en-US" altLang="en-US" sz="1400" baseline="-25000">
                <a:cs typeface="Arial" panose="020B0604020202020204" pitchFamily="34" charset="0"/>
              </a:rPr>
              <a:t>i</a:t>
            </a:r>
            <a:r>
              <a:rPr lang="en-US" altLang="en-US" sz="1400">
                <a:cs typeface="Arial" panose="020B0604020202020204" pitchFamily="34" charset="0"/>
              </a:rPr>
              <a:t> - p</a:t>
            </a:r>
            <a:r>
              <a:rPr lang="en-US" altLang="en-US" sz="1400" baseline="-25000">
                <a:cs typeface="Arial" panose="020B0604020202020204" pitchFamily="34" charset="0"/>
              </a:rPr>
              <a:t>k</a:t>
            </a:r>
            <a:r>
              <a:rPr lang="en-US" altLang="en-US" sz="1400">
                <a:cs typeface="Arial" panose="020B0604020202020204" pitchFamily="34" charset="0"/>
              </a:rPr>
              <a:t>)</a:t>
            </a:r>
            <a:endParaRPr lang="en-US" altLang="en-US" sz="1400" baseline="30000">
              <a:cs typeface="Arial" panose="020B0604020202020204" pitchFamily="34" charset="0"/>
            </a:endParaRPr>
          </a:p>
          <a:p>
            <a:pPr eaLnBrk="1" hangingPunct="1"/>
            <a:endParaRPr lang="en-US" altLang="en-US" sz="1300"/>
          </a:p>
        </p:txBody>
      </p:sp>
      <p:grpSp>
        <p:nvGrpSpPr>
          <p:cNvPr id="316441" name="Group 25">
            <a:extLst>
              <a:ext uri="{FF2B5EF4-FFF2-40B4-BE49-F238E27FC236}">
                <a16:creationId xmlns:a16="http://schemas.microsoft.com/office/drawing/2014/main" id="{AD761CB9-F48C-8CC7-3CB2-D70BC92DC029}"/>
              </a:ext>
            </a:extLst>
          </p:cNvPr>
          <p:cNvGrpSpPr>
            <a:grpSpLocks/>
          </p:cNvGrpSpPr>
          <p:nvPr/>
        </p:nvGrpSpPr>
        <p:grpSpPr bwMode="auto">
          <a:xfrm>
            <a:off x="4160838" y="2217738"/>
            <a:ext cx="1652587" cy="1195387"/>
            <a:chOff x="3744" y="1996"/>
            <a:chExt cx="1488" cy="1076"/>
          </a:xfrm>
        </p:grpSpPr>
        <p:sp>
          <p:nvSpPr>
            <p:cNvPr id="23582" name="Line 26">
              <a:extLst>
                <a:ext uri="{FF2B5EF4-FFF2-40B4-BE49-F238E27FC236}">
                  <a16:creationId xmlns:a16="http://schemas.microsoft.com/office/drawing/2014/main" id="{9B351388-FD44-3380-13B9-EDEBBAAF224D}"/>
                </a:ext>
              </a:extLst>
            </p:cNvPr>
            <p:cNvSpPr>
              <a:spLocks noChangeShapeType="1"/>
            </p:cNvSpPr>
            <p:nvPr/>
          </p:nvSpPr>
          <p:spPr bwMode="auto">
            <a:xfrm flipH="1">
              <a:off x="4800" y="2736"/>
              <a:ext cx="144" cy="336"/>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3" name="Line 27">
              <a:extLst>
                <a:ext uri="{FF2B5EF4-FFF2-40B4-BE49-F238E27FC236}">
                  <a16:creationId xmlns:a16="http://schemas.microsoft.com/office/drawing/2014/main" id="{943498FA-E152-9BA3-F014-74FC57FBCA8B}"/>
                </a:ext>
              </a:extLst>
            </p:cNvPr>
            <p:cNvSpPr>
              <a:spLocks noChangeShapeType="1"/>
            </p:cNvSpPr>
            <p:nvPr/>
          </p:nvSpPr>
          <p:spPr bwMode="auto">
            <a:xfrm>
              <a:off x="3936" y="2640"/>
              <a:ext cx="240" cy="432"/>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4" name="Line 28">
              <a:extLst>
                <a:ext uri="{FF2B5EF4-FFF2-40B4-BE49-F238E27FC236}">
                  <a16:creationId xmlns:a16="http://schemas.microsoft.com/office/drawing/2014/main" id="{7FF39952-C1C9-C7BA-28DE-C9FC4F05F1A7}"/>
                </a:ext>
              </a:extLst>
            </p:cNvPr>
            <p:cNvSpPr>
              <a:spLocks noChangeShapeType="1"/>
            </p:cNvSpPr>
            <p:nvPr/>
          </p:nvSpPr>
          <p:spPr bwMode="auto">
            <a:xfrm flipH="1">
              <a:off x="4272" y="2208"/>
              <a:ext cx="480" cy="48"/>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85" name="Text Box 29">
              <a:extLst>
                <a:ext uri="{FF2B5EF4-FFF2-40B4-BE49-F238E27FC236}">
                  <a16:creationId xmlns:a16="http://schemas.microsoft.com/office/drawing/2014/main" id="{CAD9825A-9229-1F26-00A5-2DC8307FD072}"/>
                </a:ext>
              </a:extLst>
            </p:cNvPr>
            <p:cNvSpPr txBox="1">
              <a:spLocks noChangeArrowheads="1"/>
            </p:cNvSpPr>
            <p:nvPr/>
          </p:nvSpPr>
          <p:spPr bwMode="auto">
            <a:xfrm>
              <a:off x="4896" y="283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1</a:t>
              </a:r>
            </a:p>
          </p:txBody>
        </p:sp>
        <p:sp>
          <p:nvSpPr>
            <p:cNvPr id="23586" name="Text Box 30">
              <a:extLst>
                <a:ext uri="{FF2B5EF4-FFF2-40B4-BE49-F238E27FC236}">
                  <a16:creationId xmlns:a16="http://schemas.microsoft.com/office/drawing/2014/main" id="{35B0BA84-D544-9DA1-1845-AF0DC434F834}"/>
                </a:ext>
              </a:extLst>
            </p:cNvPr>
            <p:cNvSpPr txBox="1">
              <a:spLocks noChangeArrowheads="1"/>
            </p:cNvSpPr>
            <p:nvPr/>
          </p:nvSpPr>
          <p:spPr bwMode="auto">
            <a:xfrm>
              <a:off x="3744" y="278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2</a:t>
              </a:r>
            </a:p>
          </p:txBody>
        </p:sp>
        <p:sp>
          <p:nvSpPr>
            <p:cNvPr id="23587" name="Text Box 31">
              <a:extLst>
                <a:ext uri="{FF2B5EF4-FFF2-40B4-BE49-F238E27FC236}">
                  <a16:creationId xmlns:a16="http://schemas.microsoft.com/office/drawing/2014/main" id="{9AA0E0EC-051D-DF8A-F3C7-9CA63D7A3F2C}"/>
                </a:ext>
              </a:extLst>
            </p:cNvPr>
            <p:cNvSpPr txBox="1">
              <a:spLocks noChangeArrowheads="1"/>
            </p:cNvSpPr>
            <p:nvPr/>
          </p:nvSpPr>
          <p:spPr bwMode="auto">
            <a:xfrm>
              <a:off x="4320" y="1996"/>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3</a:t>
              </a:r>
            </a:p>
          </p:txBody>
        </p:sp>
      </p:grpSp>
      <p:sp>
        <p:nvSpPr>
          <p:cNvPr id="23578" name="Oval 32">
            <a:extLst>
              <a:ext uri="{FF2B5EF4-FFF2-40B4-BE49-F238E27FC236}">
                <a16:creationId xmlns:a16="http://schemas.microsoft.com/office/drawing/2014/main" id="{0DA0FFEB-10EB-3C35-80F9-5310B50BF300}"/>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79" name="Oval 33">
            <a:extLst>
              <a:ext uri="{FF2B5EF4-FFF2-40B4-BE49-F238E27FC236}">
                <a16:creationId xmlns:a16="http://schemas.microsoft.com/office/drawing/2014/main" id="{589499DD-CE9B-6658-BBB6-E0601BC77D36}"/>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80" name="Oval 34">
            <a:extLst>
              <a:ext uri="{FF2B5EF4-FFF2-40B4-BE49-F238E27FC236}">
                <a16:creationId xmlns:a16="http://schemas.microsoft.com/office/drawing/2014/main" id="{B154AF40-5BEF-5ED0-8CE0-C226570C8D26}"/>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3581" name="Oval 35">
            <a:extLst>
              <a:ext uri="{FF2B5EF4-FFF2-40B4-BE49-F238E27FC236}">
                <a16:creationId xmlns:a16="http://schemas.microsoft.com/office/drawing/2014/main" id="{A1275E13-31E9-3FE6-2230-6F9FBECBB28B}"/>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64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16441"/>
                                        </p:tgtEl>
                                        <p:attrNameLst>
                                          <p:attrName>style.visibility</p:attrName>
                                        </p:attrNameLst>
                                      </p:cBhvr>
                                      <p:to>
                                        <p:strVal val="visible"/>
                                      </p:to>
                                    </p:set>
                                    <p:animEffect transition="in" filter="fade">
                                      <p:cBhvr>
                                        <p:cTn id="11" dur="2000"/>
                                        <p:tgtEl>
                                          <p:spTgt spid="316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11FB1CF-0C00-5D7B-8617-943187D9D599}"/>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Single Linkage</a:t>
            </a:r>
          </a:p>
        </p:txBody>
      </p:sp>
      <p:sp>
        <p:nvSpPr>
          <p:cNvPr id="24579" name="Oval 3">
            <a:extLst>
              <a:ext uri="{FF2B5EF4-FFF2-40B4-BE49-F238E27FC236}">
                <a16:creationId xmlns:a16="http://schemas.microsoft.com/office/drawing/2014/main" id="{3B8472F9-D068-4E9A-EFD8-3899604D7DF4}"/>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0" name="Oval 4">
            <a:extLst>
              <a:ext uri="{FF2B5EF4-FFF2-40B4-BE49-F238E27FC236}">
                <a16:creationId xmlns:a16="http://schemas.microsoft.com/office/drawing/2014/main" id="{49869DF6-36A7-E748-63E5-D778A30F33CE}"/>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1" name="Oval 5">
            <a:extLst>
              <a:ext uri="{FF2B5EF4-FFF2-40B4-BE49-F238E27FC236}">
                <a16:creationId xmlns:a16="http://schemas.microsoft.com/office/drawing/2014/main" id="{BE225234-69C2-C7FD-A63D-08522BB79413}"/>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2" name="Oval 6">
            <a:extLst>
              <a:ext uri="{FF2B5EF4-FFF2-40B4-BE49-F238E27FC236}">
                <a16:creationId xmlns:a16="http://schemas.microsoft.com/office/drawing/2014/main" id="{B2FC7911-6C6B-A9F4-971B-7630B0A1909C}"/>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3" name="Oval 7">
            <a:extLst>
              <a:ext uri="{FF2B5EF4-FFF2-40B4-BE49-F238E27FC236}">
                <a16:creationId xmlns:a16="http://schemas.microsoft.com/office/drawing/2014/main" id="{32C6DD10-A0E7-423B-11D2-EFDC488CFEF8}"/>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4" name="Oval 8">
            <a:extLst>
              <a:ext uri="{FF2B5EF4-FFF2-40B4-BE49-F238E27FC236}">
                <a16:creationId xmlns:a16="http://schemas.microsoft.com/office/drawing/2014/main" id="{D42F5B7C-0514-C877-1413-7EBA858DE01D}"/>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5" name="Oval 9">
            <a:extLst>
              <a:ext uri="{FF2B5EF4-FFF2-40B4-BE49-F238E27FC236}">
                <a16:creationId xmlns:a16="http://schemas.microsoft.com/office/drawing/2014/main" id="{6E8C4AED-8B0F-B84D-25D1-49B1CAD11B94}"/>
              </a:ext>
            </a:extLst>
          </p:cNvPr>
          <p:cNvSpPr>
            <a:spLocks noChangeArrowheads="1"/>
          </p:cNvSpPr>
          <p:nvPr/>
        </p:nvSpPr>
        <p:spPr bwMode="auto">
          <a:xfrm>
            <a:off x="5867400" y="19732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6" name="Oval 10">
            <a:extLst>
              <a:ext uri="{FF2B5EF4-FFF2-40B4-BE49-F238E27FC236}">
                <a16:creationId xmlns:a16="http://schemas.microsoft.com/office/drawing/2014/main" id="{05A851EF-CF17-A9CE-C3D4-3B458EECA71C}"/>
              </a:ext>
            </a:extLst>
          </p:cNvPr>
          <p:cNvSpPr>
            <a:spLocks noChangeArrowheads="1"/>
          </p:cNvSpPr>
          <p:nvPr/>
        </p:nvSpPr>
        <p:spPr bwMode="auto">
          <a:xfrm>
            <a:off x="5440363" y="28797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7" name="Oval 11">
            <a:extLst>
              <a:ext uri="{FF2B5EF4-FFF2-40B4-BE49-F238E27FC236}">
                <a16:creationId xmlns:a16="http://schemas.microsoft.com/office/drawing/2014/main" id="{B8670C53-CEC4-D290-F40C-C3E5EA0216E9}"/>
              </a:ext>
            </a:extLst>
          </p:cNvPr>
          <p:cNvSpPr>
            <a:spLocks noChangeArrowheads="1"/>
          </p:cNvSpPr>
          <p:nvPr/>
        </p:nvSpPr>
        <p:spPr bwMode="auto">
          <a:xfrm>
            <a:off x="5921375" y="2506663"/>
            <a:ext cx="158750"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8" name="Oval 12">
            <a:extLst>
              <a:ext uri="{FF2B5EF4-FFF2-40B4-BE49-F238E27FC236}">
                <a16:creationId xmlns:a16="http://schemas.microsoft.com/office/drawing/2014/main" id="{3AA7439D-7EE9-CE52-AB16-D59C3D427DBE}"/>
              </a:ext>
            </a:extLst>
          </p:cNvPr>
          <p:cNvSpPr>
            <a:spLocks noChangeArrowheads="1"/>
          </p:cNvSpPr>
          <p:nvPr/>
        </p:nvSpPr>
        <p:spPr bwMode="auto">
          <a:xfrm>
            <a:off x="5334000" y="23463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89" name="Oval 13">
            <a:extLst>
              <a:ext uri="{FF2B5EF4-FFF2-40B4-BE49-F238E27FC236}">
                <a16:creationId xmlns:a16="http://schemas.microsoft.com/office/drawing/2014/main" id="{88323B64-2E84-1E83-6B2A-6CA7DFEAFEB6}"/>
              </a:ext>
            </a:extLst>
          </p:cNvPr>
          <p:cNvSpPr>
            <a:spLocks noChangeArrowheads="1"/>
          </p:cNvSpPr>
          <p:nvPr/>
        </p:nvSpPr>
        <p:spPr bwMode="auto">
          <a:xfrm>
            <a:off x="5654675" y="24003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0" name="Oval 14">
            <a:extLst>
              <a:ext uri="{FF2B5EF4-FFF2-40B4-BE49-F238E27FC236}">
                <a16:creationId xmlns:a16="http://schemas.microsoft.com/office/drawing/2014/main" id="{61381F89-E2DA-458E-6FBD-28FA2AAFAE24}"/>
              </a:ext>
            </a:extLst>
          </p:cNvPr>
          <p:cNvSpPr>
            <a:spLocks noChangeArrowheads="1"/>
          </p:cNvSpPr>
          <p:nvPr/>
        </p:nvSpPr>
        <p:spPr bwMode="auto">
          <a:xfrm>
            <a:off x="5546725" y="19208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1" name="Oval 15">
            <a:extLst>
              <a:ext uri="{FF2B5EF4-FFF2-40B4-BE49-F238E27FC236}">
                <a16:creationId xmlns:a16="http://schemas.microsoft.com/office/drawing/2014/main" id="{18E368D8-CBA7-D5B3-5865-11E73CCDA58D}"/>
              </a:ext>
            </a:extLst>
          </p:cNvPr>
          <p:cNvSpPr>
            <a:spLocks noChangeArrowheads="1"/>
          </p:cNvSpPr>
          <p:nvPr/>
        </p:nvSpPr>
        <p:spPr bwMode="auto">
          <a:xfrm>
            <a:off x="5813425" y="28797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2" name="Oval 16">
            <a:extLst>
              <a:ext uri="{FF2B5EF4-FFF2-40B4-BE49-F238E27FC236}">
                <a16:creationId xmlns:a16="http://schemas.microsoft.com/office/drawing/2014/main" id="{E8383FAD-71F3-75BA-9CB7-D7A07BF3EE5D}"/>
              </a:ext>
            </a:extLst>
          </p:cNvPr>
          <p:cNvSpPr>
            <a:spLocks noChangeArrowheads="1"/>
          </p:cNvSpPr>
          <p:nvPr/>
        </p:nvSpPr>
        <p:spPr bwMode="auto">
          <a:xfrm>
            <a:off x="6080125" y="22399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3" name="Oval 17">
            <a:extLst>
              <a:ext uri="{FF2B5EF4-FFF2-40B4-BE49-F238E27FC236}">
                <a16:creationId xmlns:a16="http://schemas.microsoft.com/office/drawing/2014/main" id="{BE993F6E-DC94-DB8F-29F7-FD5C8935A5A5}"/>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4" name="Oval 18">
            <a:extLst>
              <a:ext uri="{FF2B5EF4-FFF2-40B4-BE49-F238E27FC236}">
                <a16:creationId xmlns:a16="http://schemas.microsoft.com/office/drawing/2014/main" id="{32BA4E96-22EE-A15E-F0F9-52E2D8C5CAC3}"/>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5" name="Oval 19">
            <a:extLst>
              <a:ext uri="{FF2B5EF4-FFF2-40B4-BE49-F238E27FC236}">
                <a16:creationId xmlns:a16="http://schemas.microsoft.com/office/drawing/2014/main" id="{6B8A49AA-59CC-53DD-941D-E1EDD312D1BC}"/>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6" name="Oval 20">
            <a:extLst>
              <a:ext uri="{FF2B5EF4-FFF2-40B4-BE49-F238E27FC236}">
                <a16:creationId xmlns:a16="http://schemas.microsoft.com/office/drawing/2014/main" id="{006B7652-6F0D-0336-EC28-BA4C110D6258}"/>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7" name="Oval 21">
            <a:extLst>
              <a:ext uri="{FF2B5EF4-FFF2-40B4-BE49-F238E27FC236}">
                <a16:creationId xmlns:a16="http://schemas.microsoft.com/office/drawing/2014/main" id="{527C7ADF-EE67-1F6E-0412-C2597087B3C3}"/>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8" name="Oval 22">
            <a:extLst>
              <a:ext uri="{FF2B5EF4-FFF2-40B4-BE49-F238E27FC236}">
                <a16:creationId xmlns:a16="http://schemas.microsoft.com/office/drawing/2014/main" id="{7161357D-5208-4B4C-657E-6B8FB92E0D3B}"/>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599" name="Oval 23">
            <a:extLst>
              <a:ext uri="{FF2B5EF4-FFF2-40B4-BE49-F238E27FC236}">
                <a16:creationId xmlns:a16="http://schemas.microsoft.com/office/drawing/2014/main" id="{76B28A8B-200C-3E50-EE40-9DDFDFA4B932}"/>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600" name="Oval 24">
            <a:extLst>
              <a:ext uri="{FF2B5EF4-FFF2-40B4-BE49-F238E27FC236}">
                <a16:creationId xmlns:a16="http://schemas.microsoft.com/office/drawing/2014/main" id="{4285E03F-52A8-C629-8950-EF016421B480}"/>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601" name="Oval 25">
            <a:extLst>
              <a:ext uri="{FF2B5EF4-FFF2-40B4-BE49-F238E27FC236}">
                <a16:creationId xmlns:a16="http://schemas.microsoft.com/office/drawing/2014/main" id="{9A4DBBAD-5720-16E4-C679-A4F6DB8EF0A5}"/>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602" name="Oval 26">
            <a:extLst>
              <a:ext uri="{FF2B5EF4-FFF2-40B4-BE49-F238E27FC236}">
                <a16:creationId xmlns:a16="http://schemas.microsoft.com/office/drawing/2014/main" id="{B4913A6F-7B65-B240-5DAF-8D5EE69C701F}"/>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4603" name="Rectangle 27">
            <a:extLst>
              <a:ext uri="{FF2B5EF4-FFF2-40B4-BE49-F238E27FC236}">
                <a16:creationId xmlns:a16="http://schemas.microsoft.com/office/drawing/2014/main" id="{F25D2235-3D55-82C2-8814-E123894D685A}"/>
              </a:ext>
            </a:extLst>
          </p:cNvPr>
          <p:cNvSpPr>
            <a:spLocks noGrp="1" noChangeArrowheads="1"/>
          </p:cNvSpPr>
          <p:nvPr>
            <p:ph type="body" idx="1"/>
          </p:nvPr>
        </p:nvSpPr>
        <p:spPr>
          <a:xfrm>
            <a:off x="53975" y="1387475"/>
            <a:ext cx="3413125" cy="1066800"/>
          </a:xfrm>
          <a:noFill/>
        </p:spPr>
        <p:txBody>
          <a:bodyPr lIns="64453" tIns="32227" rIns="64453" bIns="32227"/>
          <a:lstStyle/>
          <a:p>
            <a:pPr eaLnBrk="1" hangingPunct="1"/>
            <a:r>
              <a:rPr lang="en-US" altLang="en-US" sz="1500"/>
              <a:t>Two clusters are grouped to form new cluster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B709645-E323-53FA-42DF-B81000C7B44C}"/>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Complete Linkage</a:t>
            </a:r>
          </a:p>
        </p:txBody>
      </p:sp>
      <p:sp>
        <p:nvSpPr>
          <p:cNvPr id="25603" name="Rectangle 3">
            <a:extLst>
              <a:ext uri="{FF2B5EF4-FFF2-40B4-BE49-F238E27FC236}">
                <a16:creationId xmlns:a16="http://schemas.microsoft.com/office/drawing/2014/main" id="{A1C841C8-C85C-BF6D-FA5F-A1958B15A6BD}"/>
              </a:ext>
            </a:extLst>
          </p:cNvPr>
          <p:cNvSpPr>
            <a:spLocks noGrp="1" noChangeArrowheads="1"/>
          </p:cNvSpPr>
          <p:nvPr>
            <p:ph type="body" idx="1"/>
          </p:nvPr>
        </p:nvSpPr>
        <p:spPr>
          <a:xfrm>
            <a:off x="53975" y="1387475"/>
            <a:ext cx="3413125" cy="1173163"/>
          </a:xfrm>
        </p:spPr>
        <p:txBody>
          <a:bodyPr/>
          <a:lstStyle/>
          <a:p>
            <a:pPr eaLnBrk="1" hangingPunct="1"/>
            <a:r>
              <a:rPr lang="en-US" altLang="en-US" sz="1500"/>
              <a:t>Calculate the distance between each point (gene) in a cluster and all other points (genes) in another cluster. </a:t>
            </a:r>
          </a:p>
        </p:txBody>
      </p:sp>
      <p:sp>
        <p:nvSpPr>
          <p:cNvPr id="25604" name="Oval 4">
            <a:extLst>
              <a:ext uri="{FF2B5EF4-FFF2-40B4-BE49-F238E27FC236}">
                <a16:creationId xmlns:a16="http://schemas.microsoft.com/office/drawing/2014/main" id="{1EC56352-4B47-BF6F-0F1A-EBE1F659FE18}"/>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05" name="Oval 5">
            <a:extLst>
              <a:ext uri="{FF2B5EF4-FFF2-40B4-BE49-F238E27FC236}">
                <a16:creationId xmlns:a16="http://schemas.microsoft.com/office/drawing/2014/main" id="{23600242-9455-E83A-1976-B7B2AED68F02}"/>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06" name="Oval 6">
            <a:extLst>
              <a:ext uri="{FF2B5EF4-FFF2-40B4-BE49-F238E27FC236}">
                <a16:creationId xmlns:a16="http://schemas.microsoft.com/office/drawing/2014/main" id="{BC824E65-4827-CD3E-AA81-688A1C9F85AE}"/>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07" name="Oval 7">
            <a:extLst>
              <a:ext uri="{FF2B5EF4-FFF2-40B4-BE49-F238E27FC236}">
                <a16:creationId xmlns:a16="http://schemas.microsoft.com/office/drawing/2014/main" id="{4E5680D8-2442-8901-033B-BE92A2E1965D}"/>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08" name="Oval 8">
            <a:extLst>
              <a:ext uri="{FF2B5EF4-FFF2-40B4-BE49-F238E27FC236}">
                <a16:creationId xmlns:a16="http://schemas.microsoft.com/office/drawing/2014/main" id="{FE2AB60A-4EC5-E8DB-A0AF-46AB13807407}"/>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09" name="Oval 9">
            <a:extLst>
              <a:ext uri="{FF2B5EF4-FFF2-40B4-BE49-F238E27FC236}">
                <a16:creationId xmlns:a16="http://schemas.microsoft.com/office/drawing/2014/main" id="{36C81A9C-F5A5-F278-B2C2-3A65FE1C4D07}"/>
              </a:ext>
            </a:extLst>
          </p:cNvPr>
          <p:cNvSpPr>
            <a:spLocks noChangeArrowheads="1"/>
          </p:cNvSpPr>
          <p:nvPr/>
        </p:nvSpPr>
        <p:spPr bwMode="auto">
          <a:xfrm>
            <a:off x="5867400" y="19732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0" name="Oval 10">
            <a:extLst>
              <a:ext uri="{FF2B5EF4-FFF2-40B4-BE49-F238E27FC236}">
                <a16:creationId xmlns:a16="http://schemas.microsoft.com/office/drawing/2014/main" id="{0704B634-5A82-7F21-2B56-5798D448F1B2}"/>
              </a:ext>
            </a:extLst>
          </p:cNvPr>
          <p:cNvSpPr>
            <a:spLocks noChangeArrowheads="1"/>
          </p:cNvSpPr>
          <p:nvPr/>
        </p:nvSpPr>
        <p:spPr bwMode="auto">
          <a:xfrm>
            <a:off x="5440363" y="2879725"/>
            <a:ext cx="160337"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1" name="Oval 11">
            <a:extLst>
              <a:ext uri="{FF2B5EF4-FFF2-40B4-BE49-F238E27FC236}">
                <a16:creationId xmlns:a16="http://schemas.microsoft.com/office/drawing/2014/main" id="{DECD1FA5-E679-4F55-E6AE-DC0ADBE481AF}"/>
              </a:ext>
            </a:extLst>
          </p:cNvPr>
          <p:cNvSpPr>
            <a:spLocks noChangeArrowheads="1"/>
          </p:cNvSpPr>
          <p:nvPr/>
        </p:nvSpPr>
        <p:spPr bwMode="auto">
          <a:xfrm>
            <a:off x="5921375" y="2506663"/>
            <a:ext cx="158750"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2" name="Oval 12">
            <a:extLst>
              <a:ext uri="{FF2B5EF4-FFF2-40B4-BE49-F238E27FC236}">
                <a16:creationId xmlns:a16="http://schemas.microsoft.com/office/drawing/2014/main" id="{AA09C8BA-50EC-FB23-6B89-D490B7719758}"/>
              </a:ext>
            </a:extLst>
          </p:cNvPr>
          <p:cNvSpPr>
            <a:spLocks noChangeArrowheads="1"/>
          </p:cNvSpPr>
          <p:nvPr/>
        </p:nvSpPr>
        <p:spPr bwMode="auto">
          <a:xfrm>
            <a:off x="5334000" y="23463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3" name="Oval 13">
            <a:extLst>
              <a:ext uri="{FF2B5EF4-FFF2-40B4-BE49-F238E27FC236}">
                <a16:creationId xmlns:a16="http://schemas.microsoft.com/office/drawing/2014/main" id="{AC2C84ED-3F20-DB9C-AEF4-AE243ADB9AFE}"/>
              </a:ext>
            </a:extLst>
          </p:cNvPr>
          <p:cNvSpPr>
            <a:spLocks noChangeArrowheads="1"/>
          </p:cNvSpPr>
          <p:nvPr/>
        </p:nvSpPr>
        <p:spPr bwMode="auto">
          <a:xfrm>
            <a:off x="5546725" y="1920875"/>
            <a:ext cx="160338" cy="158750"/>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4" name="Oval 14">
            <a:extLst>
              <a:ext uri="{FF2B5EF4-FFF2-40B4-BE49-F238E27FC236}">
                <a16:creationId xmlns:a16="http://schemas.microsoft.com/office/drawing/2014/main" id="{7D77B15C-349A-C227-6B59-395576021081}"/>
              </a:ext>
            </a:extLst>
          </p:cNvPr>
          <p:cNvSpPr>
            <a:spLocks noChangeArrowheads="1"/>
          </p:cNvSpPr>
          <p:nvPr/>
        </p:nvSpPr>
        <p:spPr bwMode="auto">
          <a:xfrm>
            <a:off x="5813425" y="28797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5" name="Oval 15">
            <a:extLst>
              <a:ext uri="{FF2B5EF4-FFF2-40B4-BE49-F238E27FC236}">
                <a16:creationId xmlns:a16="http://schemas.microsoft.com/office/drawing/2014/main" id="{B45C77F5-D590-B824-313D-D2B84DA54687}"/>
              </a:ext>
            </a:extLst>
          </p:cNvPr>
          <p:cNvSpPr>
            <a:spLocks noChangeArrowheads="1"/>
          </p:cNvSpPr>
          <p:nvPr/>
        </p:nvSpPr>
        <p:spPr bwMode="auto">
          <a:xfrm>
            <a:off x="6080125" y="22399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6" name="Oval 16">
            <a:extLst>
              <a:ext uri="{FF2B5EF4-FFF2-40B4-BE49-F238E27FC236}">
                <a16:creationId xmlns:a16="http://schemas.microsoft.com/office/drawing/2014/main" id="{8B92BEE4-5BBC-DDC4-3F83-087073FB618E}"/>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7" name="Oval 17">
            <a:extLst>
              <a:ext uri="{FF2B5EF4-FFF2-40B4-BE49-F238E27FC236}">
                <a16:creationId xmlns:a16="http://schemas.microsoft.com/office/drawing/2014/main" id="{058CD4D8-4BED-0454-7619-0F8197107828}"/>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8" name="Oval 18">
            <a:extLst>
              <a:ext uri="{FF2B5EF4-FFF2-40B4-BE49-F238E27FC236}">
                <a16:creationId xmlns:a16="http://schemas.microsoft.com/office/drawing/2014/main" id="{CD955046-8A41-6A99-24BE-7BD5670ABE5F}"/>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19" name="Oval 19">
            <a:extLst>
              <a:ext uri="{FF2B5EF4-FFF2-40B4-BE49-F238E27FC236}">
                <a16:creationId xmlns:a16="http://schemas.microsoft.com/office/drawing/2014/main" id="{ADBA5603-BCBB-FBF1-5AB0-2E3136877DC6}"/>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0" name="Oval 20">
            <a:extLst>
              <a:ext uri="{FF2B5EF4-FFF2-40B4-BE49-F238E27FC236}">
                <a16:creationId xmlns:a16="http://schemas.microsoft.com/office/drawing/2014/main" id="{95E48FC9-EF85-7FA7-D93C-BF092C756FE0}"/>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318485" name="Rectangle 21">
            <a:extLst>
              <a:ext uri="{FF2B5EF4-FFF2-40B4-BE49-F238E27FC236}">
                <a16:creationId xmlns:a16="http://schemas.microsoft.com/office/drawing/2014/main" id="{F70540CD-81C4-3406-BC77-524256A48700}"/>
              </a:ext>
            </a:extLst>
          </p:cNvPr>
          <p:cNvSpPr>
            <a:spLocks noChangeArrowheads="1"/>
          </p:cNvSpPr>
          <p:nvPr/>
        </p:nvSpPr>
        <p:spPr bwMode="auto">
          <a:xfrm>
            <a:off x="53975" y="2879725"/>
            <a:ext cx="3413125" cy="154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500"/>
              <a:t>The two clusters with members having the maximum dissimilarity are joined together (furthest neighbors).</a:t>
            </a:r>
          </a:p>
          <a:p>
            <a:pPr lvl="1" eaLnBrk="1" hangingPunct="1">
              <a:buFont typeface="Wingdings" pitchFamily="2" charset="2"/>
              <a:buNone/>
            </a:pPr>
            <a:r>
              <a:rPr lang="en-US" altLang="en-US" sz="1400">
                <a:cs typeface="Arial" panose="020B0604020202020204" pitchFamily="34" charset="0"/>
              </a:rPr>
              <a:t>	d</a:t>
            </a:r>
            <a:r>
              <a:rPr lang="en-US" altLang="en-US" sz="1400" baseline="-25000">
                <a:cs typeface="Arial" panose="020B0604020202020204" pitchFamily="34" charset="0"/>
              </a:rPr>
              <a:t>j</a:t>
            </a:r>
            <a:r>
              <a:rPr lang="en-US" altLang="en-US" sz="1400">
                <a:cs typeface="Arial" panose="020B0604020202020204" pitchFamily="34" charset="0"/>
              </a:rPr>
              <a:t> = max (</a:t>
            </a:r>
            <a:r>
              <a:rPr lang="en-US" altLang="en-US" sz="1400"/>
              <a:t>p</a:t>
            </a:r>
            <a:r>
              <a:rPr lang="en-US" altLang="en-US" sz="1400" baseline="-25000">
                <a:cs typeface="Arial" panose="020B0604020202020204" pitchFamily="34" charset="0"/>
              </a:rPr>
              <a:t>i</a:t>
            </a:r>
            <a:r>
              <a:rPr lang="en-US" altLang="en-US" sz="1400">
                <a:cs typeface="Arial" panose="020B0604020202020204" pitchFamily="34" charset="0"/>
              </a:rPr>
              <a:t> - p</a:t>
            </a:r>
            <a:r>
              <a:rPr lang="en-US" altLang="en-US" sz="1400" baseline="-25000">
                <a:cs typeface="Arial" panose="020B0604020202020204" pitchFamily="34" charset="0"/>
              </a:rPr>
              <a:t>k</a:t>
            </a:r>
            <a:r>
              <a:rPr lang="en-US" altLang="en-US" sz="1400">
                <a:cs typeface="Arial" panose="020B0604020202020204" pitchFamily="34" charset="0"/>
              </a:rPr>
              <a:t>)</a:t>
            </a:r>
            <a:endParaRPr lang="en-US" altLang="en-US" sz="1400" baseline="30000">
              <a:cs typeface="Arial" panose="020B0604020202020204" pitchFamily="34" charset="0"/>
            </a:endParaRPr>
          </a:p>
          <a:p>
            <a:pPr lvl="1" eaLnBrk="1" hangingPunct="1"/>
            <a:endParaRPr lang="en-US" altLang="en-US" sz="1400"/>
          </a:p>
        </p:txBody>
      </p:sp>
      <p:grpSp>
        <p:nvGrpSpPr>
          <p:cNvPr id="318486" name="Group 22">
            <a:extLst>
              <a:ext uri="{FF2B5EF4-FFF2-40B4-BE49-F238E27FC236}">
                <a16:creationId xmlns:a16="http://schemas.microsoft.com/office/drawing/2014/main" id="{8614B283-7DEA-67DB-18FF-C61146A46EA5}"/>
              </a:ext>
            </a:extLst>
          </p:cNvPr>
          <p:cNvGrpSpPr>
            <a:grpSpLocks/>
          </p:cNvGrpSpPr>
          <p:nvPr/>
        </p:nvGrpSpPr>
        <p:grpSpPr bwMode="auto">
          <a:xfrm>
            <a:off x="4000500" y="1812925"/>
            <a:ext cx="2027238" cy="2454275"/>
            <a:chOff x="3600" y="1632"/>
            <a:chExt cx="1824" cy="2208"/>
          </a:xfrm>
        </p:grpSpPr>
        <p:sp>
          <p:nvSpPr>
            <p:cNvPr id="25630" name="Line 23">
              <a:extLst>
                <a:ext uri="{FF2B5EF4-FFF2-40B4-BE49-F238E27FC236}">
                  <a16:creationId xmlns:a16="http://schemas.microsoft.com/office/drawing/2014/main" id="{7DED5379-2810-1B19-7025-27685E454C70}"/>
                </a:ext>
              </a:extLst>
            </p:cNvPr>
            <p:cNvSpPr>
              <a:spLocks noChangeShapeType="1"/>
            </p:cNvSpPr>
            <p:nvPr/>
          </p:nvSpPr>
          <p:spPr bwMode="auto">
            <a:xfrm flipH="1">
              <a:off x="4800" y="1920"/>
              <a:ext cx="528" cy="1872"/>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31" name="Line 24">
              <a:extLst>
                <a:ext uri="{FF2B5EF4-FFF2-40B4-BE49-F238E27FC236}">
                  <a16:creationId xmlns:a16="http://schemas.microsoft.com/office/drawing/2014/main" id="{6B2C4A94-2E34-71AD-BF6A-052ACA31F39F}"/>
                </a:ext>
              </a:extLst>
            </p:cNvPr>
            <p:cNvSpPr>
              <a:spLocks noChangeShapeType="1"/>
            </p:cNvSpPr>
            <p:nvPr/>
          </p:nvSpPr>
          <p:spPr bwMode="auto">
            <a:xfrm>
              <a:off x="3600" y="1776"/>
              <a:ext cx="1152" cy="2064"/>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32" name="Line 25">
              <a:extLst>
                <a:ext uri="{FF2B5EF4-FFF2-40B4-BE49-F238E27FC236}">
                  <a16:creationId xmlns:a16="http://schemas.microsoft.com/office/drawing/2014/main" id="{C6847BB4-BF9D-1D05-7317-8D2D06C9BB2E}"/>
                </a:ext>
              </a:extLst>
            </p:cNvPr>
            <p:cNvSpPr>
              <a:spLocks noChangeShapeType="1"/>
            </p:cNvSpPr>
            <p:nvPr/>
          </p:nvSpPr>
          <p:spPr bwMode="auto">
            <a:xfrm flipH="1" flipV="1">
              <a:off x="3696" y="1728"/>
              <a:ext cx="1728" cy="336"/>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633" name="Text Box 26">
              <a:extLst>
                <a:ext uri="{FF2B5EF4-FFF2-40B4-BE49-F238E27FC236}">
                  <a16:creationId xmlns:a16="http://schemas.microsoft.com/office/drawing/2014/main" id="{B8D49D9B-0F97-22A7-B5D2-AA5B57B00F5B}"/>
                </a:ext>
              </a:extLst>
            </p:cNvPr>
            <p:cNvSpPr txBox="1">
              <a:spLocks noChangeArrowheads="1"/>
            </p:cNvSpPr>
            <p:nvPr/>
          </p:nvSpPr>
          <p:spPr bwMode="auto">
            <a:xfrm>
              <a:off x="4992" y="292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1</a:t>
              </a:r>
            </a:p>
          </p:txBody>
        </p:sp>
        <p:sp>
          <p:nvSpPr>
            <p:cNvPr id="25634" name="Text Box 27">
              <a:extLst>
                <a:ext uri="{FF2B5EF4-FFF2-40B4-BE49-F238E27FC236}">
                  <a16:creationId xmlns:a16="http://schemas.microsoft.com/office/drawing/2014/main" id="{AA57FC19-B3A7-7301-4491-E8BF9AD42183}"/>
                </a:ext>
              </a:extLst>
            </p:cNvPr>
            <p:cNvSpPr txBox="1">
              <a:spLocks noChangeArrowheads="1"/>
            </p:cNvSpPr>
            <p:nvPr/>
          </p:nvSpPr>
          <p:spPr bwMode="auto">
            <a:xfrm>
              <a:off x="3888" y="278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2</a:t>
              </a:r>
            </a:p>
          </p:txBody>
        </p:sp>
        <p:sp>
          <p:nvSpPr>
            <p:cNvPr id="25635" name="Text Box 28">
              <a:extLst>
                <a:ext uri="{FF2B5EF4-FFF2-40B4-BE49-F238E27FC236}">
                  <a16:creationId xmlns:a16="http://schemas.microsoft.com/office/drawing/2014/main" id="{38878F7E-7239-DC5C-4986-89E125BD4DDE}"/>
                </a:ext>
              </a:extLst>
            </p:cNvPr>
            <p:cNvSpPr txBox="1">
              <a:spLocks noChangeArrowheads="1"/>
            </p:cNvSpPr>
            <p:nvPr/>
          </p:nvSpPr>
          <p:spPr bwMode="auto">
            <a:xfrm>
              <a:off x="4416" y="1632"/>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d</a:t>
              </a:r>
              <a:r>
                <a:rPr lang="en-US" altLang="en-US" sz="1100" b="1" i="1" baseline="-25000">
                  <a:latin typeface="Tahoma" panose="020B0604030504040204" pitchFamily="34" charset="0"/>
                </a:rPr>
                <a:t>3</a:t>
              </a:r>
            </a:p>
          </p:txBody>
        </p:sp>
      </p:grpSp>
      <p:sp>
        <p:nvSpPr>
          <p:cNvPr id="25623" name="Oval 29">
            <a:extLst>
              <a:ext uri="{FF2B5EF4-FFF2-40B4-BE49-F238E27FC236}">
                <a16:creationId xmlns:a16="http://schemas.microsoft.com/office/drawing/2014/main" id="{1B624FB6-B0A3-B98D-3ABA-3BA16301C7BA}"/>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4" name="Oval 30">
            <a:extLst>
              <a:ext uri="{FF2B5EF4-FFF2-40B4-BE49-F238E27FC236}">
                <a16:creationId xmlns:a16="http://schemas.microsoft.com/office/drawing/2014/main" id="{0A4996BF-C0FF-78B5-C6F2-A817A6A8D242}"/>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5" name="Oval 31">
            <a:extLst>
              <a:ext uri="{FF2B5EF4-FFF2-40B4-BE49-F238E27FC236}">
                <a16:creationId xmlns:a16="http://schemas.microsoft.com/office/drawing/2014/main" id="{BCA90DB6-71A2-0FC5-C875-8BC044D91587}"/>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6" name="Oval 32">
            <a:extLst>
              <a:ext uri="{FF2B5EF4-FFF2-40B4-BE49-F238E27FC236}">
                <a16:creationId xmlns:a16="http://schemas.microsoft.com/office/drawing/2014/main" id="{F5948B54-76ED-4A88-EF9F-D10D2721D5B0}"/>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7" name="Oval 33">
            <a:extLst>
              <a:ext uri="{FF2B5EF4-FFF2-40B4-BE49-F238E27FC236}">
                <a16:creationId xmlns:a16="http://schemas.microsoft.com/office/drawing/2014/main" id="{C50F96FE-696B-2DB6-ACEB-E8E2A8261EAF}"/>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8" name="Oval 34">
            <a:extLst>
              <a:ext uri="{FF2B5EF4-FFF2-40B4-BE49-F238E27FC236}">
                <a16:creationId xmlns:a16="http://schemas.microsoft.com/office/drawing/2014/main" id="{9AFC24DD-E98E-CFA6-828B-B4115FF5770B}"/>
              </a:ext>
            </a:extLst>
          </p:cNvPr>
          <p:cNvSpPr>
            <a:spLocks noChangeArrowheads="1"/>
          </p:cNvSpPr>
          <p:nvPr/>
        </p:nvSpPr>
        <p:spPr bwMode="auto">
          <a:xfrm>
            <a:off x="5654675" y="2400300"/>
            <a:ext cx="158750"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5629" name="Oval 35">
            <a:extLst>
              <a:ext uri="{FF2B5EF4-FFF2-40B4-BE49-F238E27FC236}">
                <a16:creationId xmlns:a16="http://schemas.microsoft.com/office/drawing/2014/main" id="{8FA93CED-654F-E730-0717-2D432B0C1477}"/>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848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18486"/>
                                        </p:tgtEl>
                                        <p:attrNameLst>
                                          <p:attrName>style.visibility</p:attrName>
                                        </p:attrNameLst>
                                      </p:cBhvr>
                                      <p:to>
                                        <p:strVal val="visible"/>
                                      </p:to>
                                    </p:set>
                                    <p:animEffect transition="in" filter="fade">
                                      <p:cBhvr>
                                        <p:cTn id="11" dur="2000"/>
                                        <p:tgtEl>
                                          <p:spTgt spid="318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8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576ED284-CE4C-46E4-321D-433969CA0772}"/>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Complete Linkage</a:t>
            </a:r>
          </a:p>
        </p:txBody>
      </p:sp>
      <p:sp>
        <p:nvSpPr>
          <p:cNvPr id="26627" name="Oval 3">
            <a:extLst>
              <a:ext uri="{FF2B5EF4-FFF2-40B4-BE49-F238E27FC236}">
                <a16:creationId xmlns:a16="http://schemas.microsoft.com/office/drawing/2014/main" id="{D97E89C4-6B2D-FD5B-260D-A37E1DDA9A83}"/>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28" name="Oval 4">
            <a:extLst>
              <a:ext uri="{FF2B5EF4-FFF2-40B4-BE49-F238E27FC236}">
                <a16:creationId xmlns:a16="http://schemas.microsoft.com/office/drawing/2014/main" id="{90F2D3F6-ED1D-AD2E-44FF-72BA461E1C0C}"/>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29" name="Oval 5">
            <a:extLst>
              <a:ext uri="{FF2B5EF4-FFF2-40B4-BE49-F238E27FC236}">
                <a16:creationId xmlns:a16="http://schemas.microsoft.com/office/drawing/2014/main" id="{0BBA9276-2626-5A04-C92E-B3DB5FCF50AE}"/>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0" name="Oval 6">
            <a:extLst>
              <a:ext uri="{FF2B5EF4-FFF2-40B4-BE49-F238E27FC236}">
                <a16:creationId xmlns:a16="http://schemas.microsoft.com/office/drawing/2014/main" id="{C6B45A68-16C7-98AB-62C8-C1126736465E}"/>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1" name="Oval 7">
            <a:extLst>
              <a:ext uri="{FF2B5EF4-FFF2-40B4-BE49-F238E27FC236}">
                <a16:creationId xmlns:a16="http://schemas.microsoft.com/office/drawing/2014/main" id="{AF561F5B-F44E-3793-A0B2-DF04EB70B10F}"/>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2" name="Oval 8">
            <a:extLst>
              <a:ext uri="{FF2B5EF4-FFF2-40B4-BE49-F238E27FC236}">
                <a16:creationId xmlns:a16="http://schemas.microsoft.com/office/drawing/2014/main" id="{D4225E2F-EDBA-A87C-F6EA-701DEAA75D6C}"/>
              </a:ext>
            </a:extLst>
          </p:cNvPr>
          <p:cNvSpPr>
            <a:spLocks noChangeArrowheads="1"/>
          </p:cNvSpPr>
          <p:nvPr/>
        </p:nvSpPr>
        <p:spPr bwMode="auto">
          <a:xfrm>
            <a:off x="5867400" y="19732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3" name="Oval 9">
            <a:extLst>
              <a:ext uri="{FF2B5EF4-FFF2-40B4-BE49-F238E27FC236}">
                <a16:creationId xmlns:a16="http://schemas.microsoft.com/office/drawing/2014/main" id="{108CA543-2C19-2437-5A53-142CB4EA3AD5}"/>
              </a:ext>
            </a:extLst>
          </p:cNvPr>
          <p:cNvSpPr>
            <a:spLocks noChangeArrowheads="1"/>
          </p:cNvSpPr>
          <p:nvPr/>
        </p:nvSpPr>
        <p:spPr bwMode="auto">
          <a:xfrm>
            <a:off x="5440363" y="2879725"/>
            <a:ext cx="160337"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4" name="Oval 10">
            <a:extLst>
              <a:ext uri="{FF2B5EF4-FFF2-40B4-BE49-F238E27FC236}">
                <a16:creationId xmlns:a16="http://schemas.microsoft.com/office/drawing/2014/main" id="{E92CBB0F-6F3C-6160-570E-E4EC8D0145CE}"/>
              </a:ext>
            </a:extLst>
          </p:cNvPr>
          <p:cNvSpPr>
            <a:spLocks noChangeArrowheads="1"/>
          </p:cNvSpPr>
          <p:nvPr/>
        </p:nvSpPr>
        <p:spPr bwMode="auto">
          <a:xfrm>
            <a:off x="5921375" y="2506663"/>
            <a:ext cx="158750"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5" name="Oval 11">
            <a:extLst>
              <a:ext uri="{FF2B5EF4-FFF2-40B4-BE49-F238E27FC236}">
                <a16:creationId xmlns:a16="http://schemas.microsoft.com/office/drawing/2014/main" id="{806B04C7-1CBE-C936-4499-C9596C4DA6DF}"/>
              </a:ext>
            </a:extLst>
          </p:cNvPr>
          <p:cNvSpPr>
            <a:spLocks noChangeArrowheads="1"/>
          </p:cNvSpPr>
          <p:nvPr/>
        </p:nvSpPr>
        <p:spPr bwMode="auto">
          <a:xfrm>
            <a:off x="5334000" y="23463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6" name="Oval 12">
            <a:extLst>
              <a:ext uri="{FF2B5EF4-FFF2-40B4-BE49-F238E27FC236}">
                <a16:creationId xmlns:a16="http://schemas.microsoft.com/office/drawing/2014/main" id="{A5DCC214-E545-6604-EB4F-4833F3F990C7}"/>
              </a:ext>
            </a:extLst>
          </p:cNvPr>
          <p:cNvSpPr>
            <a:spLocks noChangeArrowheads="1"/>
          </p:cNvSpPr>
          <p:nvPr/>
        </p:nvSpPr>
        <p:spPr bwMode="auto">
          <a:xfrm>
            <a:off x="5546725" y="1920875"/>
            <a:ext cx="160338" cy="158750"/>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7" name="Oval 13">
            <a:extLst>
              <a:ext uri="{FF2B5EF4-FFF2-40B4-BE49-F238E27FC236}">
                <a16:creationId xmlns:a16="http://schemas.microsoft.com/office/drawing/2014/main" id="{C6302767-B6D4-4644-92B8-31350DC2BCE6}"/>
              </a:ext>
            </a:extLst>
          </p:cNvPr>
          <p:cNvSpPr>
            <a:spLocks noChangeArrowheads="1"/>
          </p:cNvSpPr>
          <p:nvPr/>
        </p:nvSpPr>
        <p:spPr bwMode="auto">
          <a:xfrm>
            <a:off x="5813425" y="28797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8" name="Oval 14">
            <a:extLst>
              <a:ext uri="{FF2B5EF4-FFF2-40B4-BE49-F238E27FC236}">
                <a16:creationId xmlns:a16="http://schemas.microsoft.com/office/drawing/2014/main" id="{86835C68-D9D7-AF78-E769-BB02DCD4B335}"/>
              </a:ext>
            </a:extLst>
          </p:cNvPr>
          <p:cNvSpPr>
            <a:spLocks noChangeArrowheads="1"/>
          </p:cNvSpPr>
          <p:nvPr/>
        </p:nvSpPr>
        <p:spPr bwMode="auto">
          <a:xfrm>
            <a:off x="6080125" y="22399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39" name="Oval 15">
            <a:extLst>
              <a:ext uri="{FF2B5EF4-FFF2-40B4-BE49-F238E27FC236}">
                <a16:creationId xmlns:a16="http://schemas.microsoft.com/office/drawing/2014/main" id="{52C4E5F1-8C1B-FF72-1A56-2220332D8613}"/>
              </a:ext>
            </a:extLst>
          </p:cNvPr>
          <p:cNvSpPr>
            <a:spLocks noChangeArrowheads="1"/>
          </p:cNvSpPr>
          <p:nvPr/>
        </p:nvSpPr>
        <p:spPr bwMode="auto">
          <a:xfrm>
            <a:off x="5013325" y="33067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0" name="Oval 16">
            <a:extLst>
              <a:ext uri="{FF2B5EF4-FFF2-40B4-BE49-F238E27FC236}">
                <a16:creationId xmlns:a16="http://schemas.microsoft.com/office/drawing/2014/main" id="{9957E6B7-52A3-3B5A-E402-E2D8FB3EC2FA}"/>
              </a:ext>
            </a:extLst>
          </p:cNvPr>
          <p:cNvSpPr>
            <a:spLocks noChangeArrowheads="1"/>
          </p:cNvSpPr>
          <p:nvPr/>
        </p:nvSpPr>
        <p:spPr bwMode="auto">
          <a:xfrm>
            <a:off x="4906963" y="4054475"/>
            <a:ext cx="160337"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1" name="Oval 17">
            <a:extLst>
              <a:ext uri="{FF2B5EF4-FFF2-40B4-BE49-F238E27FC236}">
                <a16:creationId xmlns:a16="http://schemas.microsoft.com/office/drawing/2014/main" id="{F9DB693C-B664-4843-D881-C578ADCA45AD}"/>
              </a:ext>
            </a:extLst>
          </p:cNvPr>
          <p:cNvSpPr>
            <a:spLocks noChangeArrowheads="1"/>
          </p:cNvSpPr>
          <p:nvPr/>
        </p:nvSpPr>
        <p:spPr bwMode="auto">
          <a:xfrm>
            <a:off x="5227638" y="42672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2" name="Oval 18">
            <a:extLst>
              <a:ext uri="{FF2B5EF4-FFF2-40B4-BE49-F238E27FC236}">
                <a16:creationId xmlns:a16="http://schemas.microsoft.com/office/drawing/2014/main" id="{745AC785-13CA-B5B3-8507-E4DC60E4B68F}"/>
              </a:ext>
            </a:extLst>
          </p:cNvPr>
          <p:cNvSpPr>
            <a:spLocks noChangeArrowheads="1"/>
          </p:cNvSpPr>
          <p:nvPr/>
        </p:nvSpPr>
        <p:spPr bwMode="auto">
          <a:xfrm>
            <a:off x="4640263" y="39465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3" name="Oval 19">
            <a:extLst>
              <a:ext uri="{FF2B5EF4-FFF2-40B4-BE49-F238E27FC236}">
                <a16:creationId xmlns:a16="http://schemas.microsoft.com/office/drawing/2014/main" id="{1575B36F-92D0-F79C-A766-B11573CF2EB1}"/>
              </a:ext>
            </a:extLst>
          </p:cNvPr>
          <p:cNvSpPr>
            <a:spLocks noChangeArrowheads="1"/>
          </p:cNvSpPr>
          <p:nvPr/>
        </p:nvSpPr>
        <p:spPr bwMode="auto">
          <a:xfrm>
            <a:off x="4587875" y="3467100"/>
            <a:ext cx="158750"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4" name="Oval 20">
            <a:extLst>
              <a:ext uri="{FF2B5EF4-FFF2-40B4-BE49-F238E27FC236}">
                <a16:creationId xmlns:a16="http://schemas.microsoft.com/office/drawing/2014/main" id="{E6EC4521-A943-F21F-AE5D-38E77B167BA6}"/>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5" name="Oval 21">
            <a:extLst>
              <a:ext uri="{FF2B5EF4-FFF2-40B4-BE49-F238E27FC236}">
                <a16:creationId xmlns:a16="http://schemas.microsoft.com/office/drawing/2014/main" id="{2DFB6C7E-D52C-EA06-12F5-2CABFEC4F911}"/>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6" name="Oval 22">
            <a:extLst>
              <a:ext uri="{FF2B5EF4-FFF2-40B4-BE49-F238E27FC236}">
                <a16:creationId xmlns:a16="http://schemas.microsoft.com/office/drawing/2014/main" id="{4559619A-CC28-700D-291E-68265630F352}"/>
              </a:ext>
            </a:extLst>
          </p:cNvPr>
          <p:cNvSpPr>
            <a:spLocks noChangeArrowheads="1"/>
          </p:cNvSpPr>
          <p:nvPr/>
        </p:nvSpPr>
        <p:spPr bwMode="auto">
          <a:xfrm>
            <a:off x="5227638" y="34671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7" name="Oval 23">
            <a:extLst>
              <a:ext uri="{FF2B5EF4-FFF2-40B4-BE49-F238E27FC236}">
                <a16:creationId xmlns:a16="http://schemas.microsoft.com/office/drawing/2014/main" id="{513A41C0-301C-F5CF-066B-82FEDC806B4D}"/>
              </a:ext>
            </a:extLst>
          </p:cNvPr>
          <p:cNvSpPr>
            <a:spLocks noChangeArrowheads="1"/>
          </p:cNvSpPr>
          <p:nvPr/>
        </p:nvSpPr>
        <p:spPr bwMode="auto">
          <a:xfrm>
            <a:off x="4906963" y="36274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8" name="Oval 24">
            <a:extLst>
              <a:ext uri="{FF2B5EF4-FFF2-40B4-BE49-F238E27FC236}">
                <a16:creationId xmlns:a16="http://schemas.microsoft.com/office/drawing/2014/main" id="{69C29999-EFC3-05C0-8723-68D9E3031C97}"/>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49" name="Oval 25">
            <a:extLst>
              <a:ext uri="{FF2B5EF4-FFF2-40B4-BE49-F238E27FC236}">
                <a16:creationId xmlns:a16="http://schemas.microsoft.com/office/drawing/2014/main" id="{72C5B7A4-2C2E-84FD-2B08-9ECE86189F29}"/>
              </a:ext>
            </a:extLst>
          </p:cNvPr>
          <p:cNvSpPr>
            <a:spLocks noChangeArrowheads="1"/>
          </p:cNvSpPr>
          <p:nvPr/>
        </p:nvSpPr>
        <p:spPr bwMode="auto">
          <a:xfrm>
            <a:off x="5654675" y="2400300"/>
            <a:ext cx="158750"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50" name="Oval 26">
            <a:extLst>
              <a:ext uri="{FF2B5EF4-FFF2-40B4-BE49-F238E27FC236}">
                <a16:creationId xmlns:a16="http://schemas.microsoft.com/office/drawing/2014/main" id="{2E02A610-DE01-4CE7-4F9E-611F7B50AA19}"/>
              </a:ext>
            </a:extLst>
          </p:cNvPr>
          <p:cNvSpPr>
            <a:spLocks noChangeArrowheads="1"/>
          </p:cNvSpPr>
          <p:nvPr/>
        </p:nvSpPr>
        <p:spPr bwMode="auto">
          <a:xfrm>
            <a:off x="5334000" y="3787775"/>
            <a:ext cx="160338"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6651" name="Rectangle 27">
            <a:extLst>
              <a:ext uri="{FF2B5EF4-FFF2-40B4-BE49-F238E27FC236}">
                <a16:creationId xmlns:a16="http://schemas.microsoft.com/office/drawing/2014/main" id="{93C11AB4-3B9E-8502-4B1D-836B379E46C7}"/>
              </a:ext>
            </a:extLst>
          </p:cNvPr>
          <p:cNvSpPr>
            <a:spLocks noGrp="1" noChangeArrowheads="1"/>
          </p:cNvSpPr>
          <p:nvPr>
            <p:ph type="body" idx="1"/>
          </p:nvPr>
        </p:nvSpPr>
        <p:spPr>
          <a:xfrm>
            <a:off x="53975" y="1387475"/>
            <a:ext cx="3413125" cy="1066800"/>
          </a:xfrm>
          <a:noFill/>
        </p:spPr>
        <p:txBody>
          <a:bodyPr lIns="64453" tIns="32227" rIns="64453" bIns="32227"/>
          <a:lstStyle/>
          <a:p>
            <a:pPr eaLnBrk="1" hangingPunct="1"/>
            <a:r>
              <a:rPr lang="en-US" altLang="en-US" sz="1500"/>
              <a:t>Two clusters are grouped to form new cluster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97E7502-5C00-9907-5D81-57EA1F6AF779}"/>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Ward’s Method</a:t>
            </a:r>
          </a:p>
        </p:txBody>
      </p:sp>
      <p:sp>
        <p:nvSpPr>
          <p:cNvPr id="27651" name="Rectangle 3">
            <a:extLst>
              <a:ext uri="{FF2B5EF4-FFF2-40B4-BE49-F238E27FC236}">
                <a16:creationId xmlns:a16="http://schemas.microsoft.com/office/drawing/2014/main" id="{DE22BD3D-5D57-2DDF-B22D-D85D7A9F9D9A}"/>
              </a:ext>
            </a:extLst>
          </p:cNvPr>
          <p:cNvSpPr>
            <a:spLocks noGrp="1" noChangeArrowheads="1"/>
          </p:cNvSpPr>
          <p:nvPr>
            <p:ph type="body" idx="1"/>
          </p:nvPr>
        </p:nvSpPr>
        <p:spPr>
          <a:xfrm>
            <a:off x="53975" y="1387475"/>
            <a:ext cx="3413125" cy="1066800"/>
          </a:xfrm>
        </p:spPr>
        <p:txBody>
          <a:bodyPr/>
          <a:lstStyle/>
          <a:p>
            <a:pPr eaLnBrk="1" hangingPunct="1"/>
            <a:r>
              <a:rPr lang="en-US" altLang="en-US" sz="1500"/>
              <a:t>Determine mean of each cluster from average linkage</a:t>
            </a:r>
          </a:p>
          <a:p>
            <a:pPr eaLnBrk="1" hangingPunct="1"/>
            <a:endParaRPr lang="en-US" altLang="en-US" sz="1500"/>
          </a:p>
          <a:p>
            <a:pPr eaLnBrk="1" hangingPunct="1"/>
            <a:r>
              <a:rPr lang="en-US" altLang="en-US" sz="1500"/>
              <a:t>Calculate total sum of squared deviations from the mean of each cluster</a:t>
            </a:r>
          </a:p>
        </p:txBody>
      </p:sp>
      <p:sp>
        <p:nvSpPr>
          <p:cNvPr id="27652" name="Oval 4">
            <a:extLst>
              <a:ext uri="{FF2B5EF4-FFF2-40B4-BE49-F238E27FC236}">
                <a16:creationId xmlns:a16="http://schemas.microsoft.com/office/drawing/2014/main" id="{A686D6B6-6565-F2D4-254F-7E0EC20DCC01}"/>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3" name="Oval 5">
            <a:extLst>
              <a:ext uri="{FF2B5EF4-FFF2-40B4-BE49-F238E27FC236}">
                <a16:creationId xmlns:a16="http://schemas.microsoft.com/office/drawing/2014/main" id="{5CA69A37-3B8C-92F7-A360-8168E4E892E1}"/>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4" name="Oval 6">
            <a:extLst>
              <a:ext uri="{FF2B5EF4-FFF2-40B4-BE49-F238E27FC236}">
                <a16:creationId xmlns:a16="http://schemas.microsoft.com/office/drawing/2014/main" id="{D7AE7ED0-033A-8458-E43C-079AA079FC70}"/>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5" name="Oval 7">
            <a:extLst>
              <a:ext uri="{FF2B5EF4-FFF2-40B4-BE49-F238E27FC236}">
                <a16:creationId xmlns:a16="http://schemas.microsoft.com/office/drawing/2014/main" id="{E1201E41-4E12-2EFD-847C-BB0F757FDAE9}"/>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6" name="Oval 8">
            <a:extLst>
              <a:ext uri="{FF2B5EF4-FFF2-40B4-BE49-F238E27FC236}">
                <a16:creationId xmlns:a16="http://schemas.microsoft.com/office/drawing/2014/main" id="{89F1CF1E-64BC-A0B0-E37B-8C9BDAAF6E45}"/>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7" name="Oval 9">
            <a:extLst>
              <a:ext uri="{FF2B5EF4-FFF2-40B4-BE49-F238E27FC236}">
                <a16:creationId xmlns:a16="http://schemas.microsoft.com/office/drawing/2014/main" id="{078FD385-9A4E-4640-8CDC-BA4CE6662005}"/>
              </a:ext>
            </a:extLst>
          </p:cNvPr>
          <p:cNvSpPr>
            <a:spLocks noChangeArrowheads="1"/>
          </p:cNvSpPr>
          <p:nvPr/>
        </p:nvSpPr>
        <p:spPr bwMode="auto">
          <a:xfrm>
            <a:off x="5867400" y="19732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8" name="Oval 10">
            <a:extLst>
              <a:ext uri="{FF2B5EF4-FFF2-40B4-BE49-F238E27FC236}">
                <a16:creationId xmlns:a16="http://schemas.microsoft.com/office/drawing/2014/main" id="{A2D720AC-3553-7105-FEE3-F6C30747BDC4}"/>
              </a:ext>
            </a:extLst>
          </p:cNvPr>
          <p:cNvSpPr>
            <a:spLocks noChangeArrowheads="1"/>
          </p:cNvSpPr>
          <p:nvPr/>
        </p:nvSpPr>
        <p:spPr bwMode="auto">
          <a:xfrm>
            <a:off x="5440363" y="2879725"/>
            <a:ext cx="160337"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59" name="Oval 11">
            <a:extLst>
              <a:ext uri="{FF2B5EF4-FFF2-40B4-BE49-F238E27FC236}">
                <a16:creationId xmlns:a16="http://schemas.microsoft.com/office/drawing/2014/main" id="{A47E9599-4524-E320-DE38-690BCA5BD3CF}"/>
              </a:ext>
            </a:extLst>
          </p:cNvPr>
          <p:cNvSpPr>
            <a:spLocks noChangeArrowheads="1"/>
          </p:cNvSpPr>
          <p:nvPr/>
        </p:nvSpPr>
        <p:spPr bwMode="auto">
          <a:xfrm>
            <a:off x="5921375" y="2506663"/>
            <a:ext cx="158750"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0" name="Oval 12">
            <a:extLst>
              <a:ext uri="{FF2B5EF4-FFF2-40B4-BE49-F238E27FC236}">
                <a16:creationId xmlns:a16="http://schemas.microsoft.com/office/drawing/2014/main" id="{5E090E29-3097-9CE6-6236-8C1C55002B89}"/>
              </a:ext>
            </a:extLst>
          </p:cNvPr>
          <p:cNvSpPr>
            <a:spLocks noChangeArrowheads="1"/>
          </p:cNvSpPr>
          <p:nvPr/>
        </p:nvSpPr>
        <p:spPr bwMode="auto">
          <a:xfrm>
            <a:off x="5334000" y="23463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1" name="Oval 13">
            <a:extLst>
              <a:ext uri="{FF2B5EF4-FFF2-40B4-BE49-F238E27FC236}">
                <a16:creationId xmlns:a16="http://schemas.microsoft.com/office/drawing/2014/main" id="{6EEE01A6-D30E-9641-181E-F00455204C75}"/>
              </a:ext>
            </a:extLst>
          </p:cNvPr>
          <p:cNvSpPr>
            <a:spLocks noChangeArrowheads="1"/>
          </p:cNvSpPr>
          <p:nvPr/>
        </p:nvSpPr>
        <p:spPr bwMode="auto">
          <a:xfrm>
            <a:off x="5546725" y="1920875"/>
            <a:ext cx="160338" cy="158750"/>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2" name="Oval 14">
            <a:extLst>
              <a:ext uri="{FF2B5EF4-FFF2-40B4-BE49-F238E27FC236}">
                <a16:creationId xmlns:a16="http://schemas.microsoft.com/office/drawing/2014/main" id="{A3B7B81A-681E-0F64-BDAD-13533F8A45BC}"/>
              </a:ext>
            </a:extLst>
          </p:cNvPr>
          <p:cNvSpPr>
            <a:spLocks noChangeArrowheads="1"/>
          </p:cNvSpPr>
          <p:nvPr/>
        </p:nvSpPr>
        <p:spPr bwMode="auto">
          <a:xfrm>
            <a:off x="5813425" y="2879725"/>
            <a:ext cx="160338"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3" name="Oval 15">
            <a:extLst>
              <a:ext uri="{FF2B5EF4-FFF2-40B4-BE49-F238E27FC236}">
                <a16:creationId xmlns:a16="http://schemas.microsoft.com/office/drawing/2014/main" id="{74CA101D-5575-8DAA-0E4F-397D4406CCA9}"/>
              </a:ext>
            </a:extLst>
          </p:cNvPr>
          <p:cNvSpPr>
            <a:spLocks noChangeArrowheads="1"/>
          </p:cNvSpPr>
          <p:nvPr/>
        </p:nvSpPr>
        <p:spPr bwMode="auto">
          <a:xfrm>
            <a:off x="6080125" y="2239963"/>
            <a:ext cx="160338" cy="160337"/>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4" name="Oval 16">
            <a:extLst>
              <a:ext uri="{FF2B5EF4-FFF2-40B4-BE49-F238E27FC236}">
                <a16:creationId xmlns:a16="http://schemas.microsoft.com/office/drawing/2014/main" id="{50EBC46C-AF1E-AE81-2119-CE763EE6BA05}"/>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5" name="Oval 17">
            <a:extLst>
              <a:ext uri="{FF2B5EF4-FFF2-40B4-BE49-F238E27FC236}">
                <a16:creationId xmlns:a16="http://schemas.microsoft.com/office/drawing/2014/main" id="{5F040EDC-BB6C-FED0-1187-B3A683059350}"/>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6" name="Oval 18">
            <a:extLst>
              <a:ext uri="{FF2B5EF4-FFF2-40B4-BE49-F238E27FC236}">
                <a16:creationId xmlns:a16="http://schemas.microsoft.com/office/drawing/2014/main" id="{FB4E7316-C8C0-4A3D-4050-B868F3882390}"/>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7" name="Oval 19">
            <a:extLst>
              <a:ext uri="{FF2B5EF4-FFF2-40B4-BE49-F238E27FC236}">
                <a16:creationId xmlns:a16="http://schemas.microsoft.com/office/drawing/2014/main" id="{E23E4893-FFF0-3C52-C6E2-1FD4C9E84F67}"/>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68" name="Oval 20">
            <a:extLst>
              <a:ext uri="{FF2B5EF4-FFF2-40B4-BE49-F238E27FC236}">
                <a16:creationId xmlns:a16="http://schemas.microsoft.com/office/drawing/2014/main" id="{49B13EB8-2E68-5B08-9105-F65594D14DDC}"/>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320533" name="Rectangle 21">
            <a:extLst>
              <a:ext uri="{FF2B5EF4-FFF2-40B4-BE49-F238E27FC236}">
                <a16:creationId xmlns:a16="http://schemas.microsoft.com/office/drawing/2014/main" id="{A2763819-4145-74E9-AAC6-0368C42ACA75}"/>
              </a:ext>
            </a:extLst>
          </p:cNvPr>
          <p:cNvSpPr>
            <a:spLocks noChangeArrowheads="1"/>
          </p:cNvSpPr>
          <p:nvPr/>
        </p:nvSpPr>
        <p:spPr bwMode="auto">
          <a:xfrm>
            <a:off x="53975" y="3200400"/>
            <a:ext cx="34131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64453" tIns="32227" rIns="64453" bIns="32227"/>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500"/>
              <a:t>The two clusters with the smallest increase in error sum of squares are joined together</a:t>
            </a:r>
          </a:p>
          <a:p>
            <a:pPr lvl="1" eaLnBrk="1" hangingPunct="1">
              <a:buFont typeface="Wingdings" pitchFamily="2" charset="2"/>
              <a:buNone/>
            </a:pPr>
            <a:r>
              <a:rPr lang="en-US" altLang="en-US" sz="1400">
                <a:cs typeface="Arial" panose="020B0604020202020204" pitchFamily="34" charset="0"/>
              </a:rPr>
              <a:t>e</a:t>
            </a:r>
            <a:r>
              <a:rPr lang="en-US" altLang="en-US" sz="1400" baseline="-25000">
                <a:cs typeface="Arial" panose="020B0604020202020204" pitchFamily="34" charset="0"/>
              </a:rPr>
              <a:t>j</a:t>
            </a:r>
            <a:r>
              <a:rPr lang="en-US" altLang="en-US" sz="1400">
                <a:cs typeface="Arial" panose="020B0604020202020204" pitchFamily="34" charset="0"/>
              </a:rPr>
              <a:t> = ∑ (</a:t>
            </a:r>
            <a:r>
              <a:rPr lang="en-US" altLang="en-US" sz="1400"/>
              <a:t>p</a:t>
            </a:r>
            <a:r>
              <a:rPr lang="en-US" altLang="en-US" sz="1400" baseline="-25000">
                <a:cs typeface="Arial" panose="020B0604020202020204" pitchFamily="34" charset="0"/>
              </a:rPr>
              <a:t>µ</a:t>
            </a:r>
            <a:r>
              <a:rPr lang="en-US" altLang="en-US" sz="1400">
                <a:cs typeface="Arial" panose="020B0604020202020204" pitchFamily="34" charset="0"/>
              </a:rPr>
              <a:t> - p</a:t>
            </a:r>
            <a:r>
              <a:rPr lang="en-US" altLang="en-US" sz="1400" baseline="-25000">
                <a:cs typeface="Arial" panose="020B0604020202020204" pitchFamily="34" charset="0"/>
              </a:rPr>
              <a:t>i</a:t>
            </a:r>
            <a:r>
              <a:rPr lang="en-US" altLang="en-US" sz="1400">
                <a:cs typeface="Arial" panose="020B0604020202020204" pitchFamily="34" charset="0"/>
              </a:rPr>
              <a:t>)</a:t>
            </a:r>
            <a:r>
              <a:rPr lang="en-US" altLang="en-US" sz="1400" baseline="30000">
                <a:cs typeface="Arial" panose="020B0604020202020204" pitchFamily="34" charset="0"/>
              </a:rPr>
              <a:t>2</a:t>
            </a:r>
            <a:endParaRPr lang="en-US" altLang="en-US" sz="1400"/>
          </a:p>
        </p:txBody>
      </p:sp>
      <p:grpSp>
        <p:nvGrpSpPr>
          <p:cNvPr id="320534" name="Group 22">
            <a:extLst>
              <a:ext uri="{FF2B5EF4-FFF2-40B4-BE49-F238E27FC236}">
                <a16:creationId xmlns:a16="http://schemas.microsoft.com/office/drawing/2014/main" id="{80260138-A4A4-B57D-2E4A-2CA8823323DD}"/>
              </a:ext>
            </a:extLst>
          </p:cNvPr>
          <p:cNvGrpSpPr>
            <a:grpSpLocks/>
          </p:cNvGrpSpPr>
          <p:nvPr/>
        </p:nvGrpSpPr>
        <p:grpSpPr bwMode="auto">
          <a:xfrm>
            <a:off x="4533900" y="2187575"/>
            <a:ext cx="1066800" cy="1035050"/>
            <a:chOff x="4080" y="1968"/>
            <a:chExt cx="960" cy="932"/>
          </a:xfrm>
        </p:grpSpPr>
        <p:sp>
          <p:nvSpPr>
            <p:cNvPr id="27678" name="Line 23">
              <a:extLst>
                <a:ext uri="{FF2B5EF4-FFF2-40B4-BE49-F238E27FC236}">
                  <a16:creationId xmlns:a16="http://schemas.microsoft.com/office/drawing/2014/main" id="{8A46A8AA-50B2-EE0E-7586-9DBABEAFF16D}"/>
                </a:ext>
              </a:extLst>
            </p:cNvPr>
            <p:cNvSpPr>
              <a:spLocks noChangeShapeType="1"/>
            </p:cNvSpPr>
            <p:nvPr/>
          </p:nvSpPr>
          <p:spPr bwMode="auto">
            <a:xfrm flipH="1">
              <a:off x="4560" y="2448"/>
              <a:ext cx="240" cy="432"/>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79" name="Line 24">
              <a:extLst>
                <a:ext uri="{FF2B5EF4-FFF2-40B4-BE49-F238E27FC236}">
                  <a16:creationId xmlns:a16="http://schemas.microsoft.com/office/drawing/2014/main" id="{A4964DAC-0F26-AADC-C715-C65C6B0C74E7}"/>
                </a:ext>
              </a:extLst>
            </p:cNvPr>
            <p:cNvSpPr>
              <a:spLocks noChangeShapeType="1"/>
            </p:cNvSpPr>
            <p:nvPr/>
          </p:nvSpPr>
          <p:spPr bwMode="auto">
            <a:xfrm>
              <a:off x="4272" y="2112"/>
              <a:ext cx="240" cy="720"/>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80" name="Line 25">
              <a:extLst>
                <a:ext uri="{FF2B5EF4-FFF2-40B4-BE49-F238E27FC236}">
                  <a16:creationId xmlns:a16="http://schemas.microsoft.com/office/drawing/2014/main" id="{24864625-7D19-E0F0-19B0-D4BE5E51D963}"/>
                </a:ext>
              </a:extLst>
            </p:cNvPr>
            <p:cNvSpPr>
              <a:spLocks noChangeShapeType="1"/>
            </p:cNvSpPr>
            <p:nvPr/>
          </p:nvSpPr>
          <p:spPr bwMode="auto">
            <a:xfrm flipH="1" flipV="1">
              <a:off x="4224" y="2064"/>
              <a:ext cx="624" cy="336"/>
            </a:xfrm>
            <a:prstGeom prst="line">
              <a:avLst/>
            </a:prstGeom>
            <a:noFill/>
            <a:ln w="38100" cap="sq">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81" name="Text Box 26">
              <a:extLst>
                <a:ext uri="{FF2B5EF4-FFF2-40B4-BE49-F238E27FC236}">
                  <a16:creationId xmlns:a16="http://schemas.microsoft.com/office/drawing/2014/main" id="{92E2ED51-7C0A-8641-D10D-339E38BCB36A}"/>
                </a:ext>
              </a:extLst>
            </p:cNvPr>
            <p:cNvSpPr txBox="1">
              <a:spLocks noChangeArrowheads="1"/>
            </p:cNvSpPr>
            <p:nvPr/>
          </p:nvSpPr>
          <p:spPr bwMode="auto">
            <a:xfrm>
              <a:off x="4704" y="268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e</a:t>
              </a:r>
              <a:r>
                <a:rPr lang="en-US" altLang="en-US" sz="1100" b="1" i="1" baseline="-25000">
                  <a:latin typeface="Tahoma" panose="020B0604030504040204" pitchFamily="34" charset="0"/>
                </a:rPr>
                <a:t>1</a:t>
              </a:r>
            </a:p>
          </p:txBody>
        </p:sp>
        <p:sp>
          <p:nvSpPr>
            <p:cNvPr id="27682" name="Text Box 27">
              <a:extLst>
                <a:ext uri="{FF2B5EF4-FFF2-40B4-BE49-F238E27FC236}">
                  <a16:creationId xmlns:a16="http://schemas.microsoft.com/office/drawing/2014/main" id="{B4C575D4-F7DC-00F3-0E5B-D3237F20B905}"/>
                </a:ext>
              </a:extLst>
            </p:cNvPr>
            <p:cNvSpPr txBox="1">
              <a:spLocks noChangeArrowheads="1"/>
            </p:cNvSpPr>
            <p:nvPr/>
          </p:nvSpPr>
          <p:spPr bwMode="auto">
            <a:xfrm>
              <a:off x="4080" y="2544"/>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e</a:t>
              </a:r>
              <a:r>
                <a:rPr lang="en-US" altLang="en-US" sz="1100" b="1" i="1" baseline="-25000">
                  <a:latin typeface="Tahoma" panose="020B0604030504040204" pitchFamily="34" charset="0"/>
                </a:rPr>
                <a:t>2</a:t>
              </a:r>
            </a:p>
          </p:txBody>
        </p:sp>
        <p:sp>
          <p:nvSpPr>
            <p:cNvPr id="27683" name="Text Box 28">
              <a:extLst>
                <a:ext uri="{FF2B5EF4-FFF2-40B4-BE49-F238E27FC236}">
                  <a16:creationId xmlns:a16="http://schemas.microsoft.com/office/drawing/2014/main" id="{5B8470FD-92F7-65AD-925E-68216B973104}"/>
                </a:ext>
              </a:extLst>
            </p:cNvPr>
            <p:cNvSpPr txBox="1">
              <a:spLocks noChangeArrowheads="1"/>
            </p:cNvSpPr>
            <p:nvPr/>
          </p:nvSpPr>
          <p:spPr bwMode="auto">
            <a:xfrm>
              <a:off x="4416" y="1968"/>
              <a:ext cx="33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50000"/>
                </a:spcBef>
                <a:buClrTx/>
                <a:buSzTx/>
                <a:buFontTx/>
                <a:buNone/>
              </a:pPr>
              <a:r>
                <a:rPr lang="en-US" altLang="en-US" sz="1100" b="1" i="1">
                  <a:latin typeface="Tahoma" panose="020B0604030504040204" pitchFamily="34" charset="0"/>
                </a:rPr>
                <a:t>e</a:t>
              </a:r>
              <a:r>
                <a:rPr lang="en-US" altLang="en-US" sz="1100" b="1" i="1" baseline="-25000">
                  <a:latin typeface="Tahoma" panose="020B0604030504040204" pitchFamily="34" charset="0"/>
                </a:rPr>
                <a:t>3</a:t>
              </a:r>
            </a:p>
          </p:txBody>
        </p:sp>
      </p:grpSp>
      <p:sp>
        <p:nvSpPr>
          <p:cNvPr id="27671" name="Oval 29">
            <a:extLst>
              <a:ext uri="{FF2B5EF4-FFF2-40B4-BE49-F238E27FC236}">
                <a16:creationId xmlns:a16="http://schemas.microsoft.com/office/drawing/2014/main" id="{BEA9AC36-B8A5-7A8E-36AF-D4C63F0B7A3F}"/>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2" name="Oval 30">
            <a:extLst>
              <a:ext uri="{FF2B5EF4-FFF2-40B4-BE49-F238E27FC236}">
                <a16:creationId xmlns:a16="http://schemas.microsoft.com/office/drawing/2014/main" id="{A7BB18F6-3480-3D94-96B6-C78F962AC144}"/>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3" name="Oval 31">
            <a:extLst>
              <a:ext uri="{FF2B5EF4-FFF2-40B4-BE49-F238E27FC236}">
                <a16:creationId xmlns:a16="http://schemas.microsoft.com/office/drawing/2014/main" id="{F3797F14-A3D0-8632-F256-AE1E6BD99D6C}"/>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4" name="Oval 32">
            <a:extLst>
              <a:ext uri="{FF2B5EF4-FFF2-40B4-BE49-F238E27FC236}">
                <a16:creationId xmlns:a16="http://schemas.microsoft.com/office/drawing/2014/main" id="{A3DD57E2-0DD2-41B3-F59A-D8E6B7CEAC31}"/>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5" name="Oval 33">
            <a:extLst>
              <a:ext uri="{FF2B5EF4-FFF2-40B4-BE49-F238E27FC236}">
                <a16:creationId xmlns:a16="http://schemas.microsoft.com/office/drawing/2014/main" id="{4B3D5CC5-1308-31A7-79E4-CE3C96B5CF2E}"/>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6" name="Oval 34">
            <a:extLst>
              <a:ext uri="{FF2B5EF4-FFF2-40B4-BE49-F238E27FC236}">
                <a16:creationId xmlns:a16="http://schemas.microsoft.com/office/drawing/2014/main" id="{30B43C6C-DBB4-9670-75BA-F7404FC14ECA}"/>
              </a:ext>
            </a:extLst>
          </p:cNvPr>
          <p:cNvSpPr>
            <a:spLocks noChangeArrowheads="1"/>
          </p:cNvSpPr>
          <p:nvPr/>
        </p:nvSpPr>
        <p:spPr bwMode="auto">
          <a:xfrm>
            <a:off x="5654675" y="2400300"/>
            <a:ext cx="158750" cy="160338"/>
          </a:xfrm>
          <a:prstGeom prst="ellipse">
            <a:avLst/>
          </a:prstGeom>
          <a:solidFill>
            <a:srgbClr val="33CC33"/>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7677" name="Oval 35">
            <a:extLst>
              <a:ext uri="{FF2B5EF4-FFF2-40B4-BE49-F238E27FC236}">
                <a16:creationId xmlns:a16="http://schemas.microsoft.com/office/drawing/2014/main" id="{E26C1CFD-B408-42F1-AA32-3B64DA02B6F1}"/>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05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320534"/>
                                        </p:tgtEl>
                                        <p:attrNameLst>
                                          <p:attrName>style.visibility</p:attrName>
                                        </p:attrNameLst>
                                      </p:cBhvr>
                                      <p:to>
                                        <p:strVal val="visible"/>
                                      </p:to>
                                    </p:set>
                                    <p:animEffect transition="in" filter="fade">
                                      <p:cBhvr>
                                        <p:cTn id="11" dur="2000"/>
                                        <p:tgtEl>
                                          <p:spTgt spid="320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3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F26A1C7-B211-1746-49E9-D8B43DFD6D4C}"/>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Ward’s Method</a:t>
            </a:r>
          </a:p>
        </p:txBody>
      </p:sp>
      <p:sp>
        <p:nvSpPr>
          <p:cNvPr id="28675" name="Oval 3">
            <a:extLst>
              <a:ext uri="{FF2B5EF4-FFF2-40B4-BE49-F238E27FC236}">
                <a16:creationId xmlns:a16="http://schemas.microsoft.com/office/drawing/2014/main" id="{98C4627A-EB2E-20BB-ED19-C53F9A0D084A}"/>
              </a:ext>
            </a:extLst>
          </p:cNvPr>
          <p:cNvSpPr>
            <a:spLocks noChangeArrowheads="1"/>
          </p:cNvSpPr>
          <p:nvPr/>
        </p:nvSpPr>
        <p:spPr bwMode="auto">
          <a:xfrm>
            <a:off x="4533900" y="2400300"/>
            <a:ext cx="160338"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76" name="Oval 4">
            <a:extLst>
              <a:ext uri="{FF2B5EF4-FFF2-40B4-BE49-F238E27FC236}">
                <a16:creationId xmlns:a16="http://schemas.microsoft.com/office/drawing/2014/main" id="{250D0493-D867-EF4D-F5E5-705D2CC6B899}"/>
              </a:ext>
            </a:extLst>
          </p:cNvPr>
          <p:cNvSpPr>
            <a:spLocks noChangeArrowheads="1"/>
          </p:cNvSpPr>
          <p:nvPr/>
        </p:nvSpPr>
        <p:spPr bwMode="auto">
          <a:xfrm>
            <a:off x="3894138" y="2239963"/>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77" name="Oval 5">
            <a:extLst>
              <a:ext uri="{FF2B5EF4-FFF2-40B4-BE49-F238E27FC236}">
                <a16:creationId xmlns:a16="http://schemas.microsoft.com/office/drawing/2014/main" id="{EB11DAEA-21EA-A0EF-5D54-420C9197AE45}"/>
              </a:ext>
            </a:extLst>
          </p:cNvPr>
          <p:cNvSpPr>
            <a:spLocks noChangeArrowheads="1"/>
          </p:cNvSpPr>
          <p:nvPr/>
        </p:nvSpPr>
        <p:spPr bwMode="auto">
          <a:xfrm>
            <a:off x="4213225" y="27733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78" name="Oval 6">
            <a:extLst>
              <a:ext uri="{FF2B5EF4-FFF2-40B4-BE49-F238E27FC236}">
                <a16:creationId xmlns:a16="http://schemas.microsoft.com/office/drawing/2014/main" id="{87F32A86-194B-ED86-5ADD-757F4E1F8F40}"/>
              </a:ext>
            </a:extLst>
          </p:cNvPr>
          <p:cNvSpPr>
            <a:spLocks noChangeArrowheads="1"/>
          </p:cNvSpPr>
          <p:nvPr/>
        </p:nvSpPr>
        <p:spPr bwMode="auto">
          <a:xfrm>
            <a:off x="3894138" y="2667000"/>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79" name="Oval 7">
            <a:extLst>
              <a:ext uri="{FF2B5EF4-FFF2-40B4-BE49-F238E27FC236}">
                <a16:creationId xmlns:a16="http://schemas.microsoft.com/office/drawing/2014/main" id="{F92B349F-212A-8CC8-CA60-3D7AA2607F1D}"/>
              </a:ext>
            </a:extLst>
          </p:cNvPr>
          <p:cNvSpPr>
            <a:spLocks noChangeArrowheads="1"/>
          </p:cNvSpPr>
          <p:nvPr/>
        </p:nvSpPr>
        <p:spPr bwMode="auto">
          <a:xfrm>
            <a:off x="3894138" y="1812925"/>
            <a:ext cx="160337" cy="160338"/>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0" name="Oval 8">
            <a:extLst>
              <a:ext uri="{FF2B5EF4-FFF2-40B4-BE49-F238E27FC236}">
                <a16:creationId xmlns:a16="http://schemas.microsoft.com/office/drawing/2014/main" id="{2FF37F12-4191-31EF-80F3-66537EEBE559}"/>
              </a:ext>
            </a:extLst>
          </p:cNvPr>
          <p:cNvSpPr>
            <a:spLocks noChangeArrowheads="1"/>
          </p:cNvSpPr>
          <p:nvPr/>
        </p:nvSpPr>
        <p:spPr bwMode="auto">
          <a:xfrm>
            <a:off x="5867400" y="19732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1" name="Oval 9">
            <a:extLst>
              <a:ext uri="{FF2B5EF4-FFF2-40B4-BE49-F238E27FC236}">
                <a16:creationId xmlns:a16="http://schemas.microsoft.com/office/drawing/2014/main" id="{0F58D45A-CE5B-9850-9497-EB8C620F7069}"/>
              </a:ext>
            </a:extLst>
          </p:cNvPr>
          <p:cNvSpPr>
            <a:spLocks noChangeArrowheads="1"/>
          </p:cNvSpPr>
          <p:nvPr/>
        </p:nvSpPr>
        <p:spPr bwMode="auto">
          <a:xfrm>
            <a:off x="5440363" y="28797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2" name="Oval 10">
            <a:extLst>
              <a:ext uri="{FF2B5EF4-FFF2-40B4-BE49-F238E27FC236}">
                <a16:creationId xmlns:a16="http://schemas.microsoft.com/office/drawing/2014/main" id="{58672489-84E3-17AB-314F-DDF52740E593}"/>
              </a:ext>
            </a:extLst>
          </p:cNvPr>
          <p:cNvSpPr>
            <a:spLocks noChangeArrowheads="1"/>
          </p:cNvSpPr>
          <p:nvPr/>
        </p:nvSpPr>
        <p:spPr bwMode="auto">
          <a:xfrm>
            <a:off x="5921375" y="2506663"/>
            <a:ext cx="158750"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3" name="Oval 11">
            <a:extLst>
              <a:ext uri="{FF2B5EF4-FFF2-40B4-BE49-F238E27FC236}">
                <a16:creationId xmlns:a16="http://schemas.microsoft.com/office/drawing/2014/main" id="{48F389BB-DCE3-D36A-B654-A3C00D126C57}"/>
              </a:ext>
            </a:extLst>
          </p:cNvPr>
          <p:cNvSpPr>
            <a:spLocks noChangeArrowheads="1"/>
          </p:cNvSpPr>
          <p:nvPr/>
        </p:nvSpPr>
        <p:spPr bwMode="auto">
          <a:xfrm>
            <a:off x="5334000" y="23463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4" name="Oval 12">
            <a:extLst>
              <a:ext uri="{FF2B5EF4-FFF2-40B4-BE49-F238E27FC236}">
                <a16:creationId xmlns:a16="http://schemas.microsoft.com/office/drawing/2014/main" id="{A13395B6-CB9B-BCCE-B0FF-93B58FEB5E80}"/>
              </a:ext>
            </a:extLst>
          </p:cNvPr>
          <p:cNvSpPr>
            <a:spLocks noChangeArrowheads="1"/>
          </p:cNvSpPr>
          <p:nvPr/>
        </p:nvSpPr>
        <p:spPr bwMode="auto">
          <a:xfrm>
            <a:off x="5546725" y="19208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5" name="Oval 13">
            <a:extLst>
              <a:ext uri="{FF2B5EF4-FFF2-40B4-BE49-F238E27FC236}">
                <a16:creationId xmlns:a16="http://schemas.microsoft.com/office/drawing/2014/main" id="{CCE0963F-4FC3-62E2-0728-8D3B3695564B}"/>
              </a:ext>
            </a:extLst>
          </p:cNvPr>
          <p:cNvSpPr>
            <a:spLocks noChangeArrowheads="1"/>
          </p:cNvSpPr>
          <p:nvPr/>
        </p:nvSpPr>
        <p:spPr bwMode="auto">
          <a:xfrm>
            <a:off x="5813425" y="2879725"/>
            <a:ext cx="160338"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6" name="Oval 14">
            <a:extLst>
              <a:ext uri="{FF2B5EF4-FFF2-40B4-BE49-F238E27FC236}">
                <a16:creationId xmlns:a16="http://schemas.microsoft.com/office/drawing/2014/main" id="{FA11FC6E-3E6D-19C5-4DAB-7642171A7AFA}"/>
              </a:ext>
            </a:extLst>
          </p:cNvPr>
          <p:cNvSpPr>
            <a:spLocks noChangeArrowheads="1"/>
          </p:cNvSpPr>
          <p:nvPr/>
        </p:nvSpPr>
        <p:spPr bwMode="auto">
          <a:xfrm>
            <a:off x="6080125" y="22399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7" name="Oval 15">
            <a:extLst>
              <a:ext uri="{FF2B5EF4-FFF2-40B4-BE49-F238E27FC236}">
                <a16:creationId xmlns:a16="http://schemas.microsoft.com/office/drawing/2014/main" id="{577C0FB0-C7E3-16C5-BCFC-7EA999389E69}"/>
              </a:ext>
            </a:extLst>
          </p:cNvPr>
          <p:cNvSpPr>
            <a:spLocks noChangeArrowheads="1"/>
          </p:cNvSpPr>
          <p:nvPr/>
        </p:nvSpPr>
        <p:spPr bwMode="auto">
          <a:xfrm>
            <a:off x="5013325" y="3306763"/>
            <a:ext cx="160338"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8" name="Oval 16">
            <a:extLst>
              <a:ext uri="{FF2B5EF4-FFF2-40B4-BE49-F238E27FC236}">
                <a16:creationId xmlns:a16="http://schemas.microsoft.com/office/drawing/2014/main" id="{B0304CD8-C764-B0E7-9B58-0D6D91BE164F}"/>
              </a:ext>
            </a:extLst>
          </p:cNvPr>
          <p:cNvSpPr>
            <a:spLocks noChangeArrowheads="1"/>
          </p:cNvSpPr>
          <p:nvPr/>
        </p:nvSpPr>
        <p:spPr bwMode="auto">
          <a:xfrm>
            <a:off x="4906963" y="4054475"/>
            <a:ext cx="160337"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89" name="Oval 17">
            <a:extLst>
              <a:ext uri="{FF2B5EF4-FFF2-40B4-BE49-F238E27FC236}">
                <a16:creationId xmlns:a16="http://schemas.microsoft.com/office/drawing/2014/main" id="{EDC01BFF-3238-DF86-A412-C255C7C3F8C0}"/>
              </a:ext>
            </a:extLst>
          </p:cNvPr>
          <p:cNvSpPr>
            <a:spLocks noChangeArrowheads="1"/>
          </p:cNvSpPr>
          <p:nvPr/>
        </p:nvSpPr>
        <p:spPr bwMode="auto">
          <a:xfrm>
            <a:off x="5227638" y="42672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0" name="Oval 18">
            <a:extLst>
              <a:ext uri="{FF2B5EF4-FFF2-40B4-BE49-F238E27FC236}">
                <a16:creationId xmlns:a16="http://schemas.microsoft.com/office/drawing/2014/main" id="{21936145-758B-4676-667F-AF5240E514F0}"/>
              </a:ext>
            </a:extLst>
          </p:cNvPr>
          <p:cNvSpPr>
            <a:spLocks noChangeArrowheads="1"/>
          </p:cNvSpPr>
          <p:nvPr/>
        </p:nvSpPr>
        <p:spPr bwMode="auto">
          <a:xfrm>
            <a:off x="4640263" y="3946525"/>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1" name="Oval 19">
            <a:extLst>
              <a:ext uri="{FF2B5EF4-FFF2-40B4-BE49-F238E27FC236}">
                <a16:creationId xmlns:a16="http://schemas.microsoft.com/office/drawing/2014/main" id="{DBCF41A5-D138-2319-EDB6-C295E30250F8}"/>
              </a:ext>
            </a:extLst>
          </p:cNvPr>
          <p:cNvSpPr>
            <a:spLocks noChangeArrowheads="1"/>
          </p:cNvSpPr>
          <p:nvPr/>
        </p:nvSpPr>
        <p:spPr bwMode="auto">
          <a:xfrm>
            <a:off x="4587875" y="34671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2" name="Oval 20">
            <a:extLst>
              <a:ext uri="{FF2B5EF4-FFF2-40B4-BE49-F238E27FC236}">
                <a16:creationId xmlns:a16="http://schemas.microsoft.com/office/drawing/2014/main" id="{5A08637E-13BD-A38F-5387-5CE623A0B1A6}"/>
              </a:ext>
            </a:extLst>
          </p:cNvPr>
          <p:cNvSpPr>
            <a:spLocks noChangeArrowheads="1"/>
          </p:cNvSpPr>
          <p:nvPr/>
        </p:nvSpPr>
        <p:spPr bwMode="auto">
          <a:xfrm>
            <a:off x="4321175" y="2187575"/>
            <a:ext cx="158750" cy="158750"/>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3" name="Oval 21">
            <a:extLst>
              <a:ext uri="{FF2B5EF4-FFF2-40B4-BE49-F238E27FC236}">
                <a16:creationId xmlns:a16="http://schemas.microsoft.com/office/drawing/2014/main" id="{B6129ED2-1209-0F6C-90A4-C55810CEB298}"/>
              </a:ext>
            </a:extLst>
          </p:cNvPr>
          <p:cNvSpPr>
            <a:spLocks noChangeArrowheads="1"/>
          </p:cNvSpPr>
          <p:nvPr/>
        </p:nvSpPr>
        <p:spPr bwMode="auto">
          <a:xfrm>
            <a:off x="4373563" y="2560638"/>
            <a:ext cx="160337"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4" name="Oval 22">
            <a:extLst>
              <a:ext uri="{FF2B5EF4-FFF2-40B4-BE49-F238E27FC236}">
                <a16:creationId xmlns:a16="http://schemas.microsoft.com/office/drawing/2014/main" id="{D83BD0CC-51ED-8FF0-3F5A-5525970611E7}"/>
              </a:ext>
            </a:extLst>
          </p:cNvPr>
          <p:cNvSpPr>
            <a:spLocks noChangeArrowheads="1"/>
          </p:cNvSpPr>
          <p:nvPr/>
        </p:nvSpPr>
        <p:spPr bwMode="auto">
          <a:xfrm>
            <a:off x="5227638" y="3467100"/>
            <a:ext cx="160337"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5" name="Oval 23">
            <a:extLst>
              <a:ext uri="{FF2B5EF4-FFF2-40B4-BE49-F238E27FC236}">
                <a16:creationId xmlns:a16="http://schemas.microsoft.com/office/drawing/2014/main" id="{2AD90E1C-6F7C-98DE-B5BA-488791E4FF4D}"/>
              </a:ext>
            </a:extLst>
          </p:cNvPr>
          <p:cNvSpPr>
            <a:spLocks noChangeArrowheads="1"/>
          </p:cNvSpPr>
          <p:nvPr/>
        </p:nvSpPr>
        <p:spPr bwMode="auto">
          <a:xfrm>
            <a:off x="4906963" y="3627438"/>
            <a:ext cx="160337" cy="160337"/>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6" name="Oval 24">
            <a:extLst>
              <a:ext uri="{FF2B5EF4-FFF2-40B4-BE49-F238E27FC236}">
                <a16:creationId xmlns:a16="http://schemas.microsoft.com/office/drawing/2014/main" id="{1F0C51F7-E621-F108-43C4-A852E86E96DA}"/>
              </a:ext>
            </a:extLst>
          </p:cNvPr>
          <p:cNvSpPr>
            <a:spLocks noChangeArrowheads="1"/>
          </p:cNvSpPr>
          <p:nvPr/>
        </p:nvSpPr>
        <p:spPr bwMode="auto">
          <a:xfrm>
            <a:off x="4533900" y="1973263"/>
            <a:ext cx="160338" cy="160337"/>
          </a:xfrm>
          <a:prstGeom prst="ellipse">
            <a:avLst/>
          </a:prstGeom>
          <a:solidFill>
            <a:srgbClr val="FF9900"/>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7" name="Oval 25">
            <a:extLst>
              <a:ext uri="{FF2B5EF4-FFF2-40B4-BE49-F238E27FC236}">
                <a16:creationId xmlns:a16="http://schemas.microsoft.com/office/drawing/2014/main" id="{74FF2EDF-B8F7-E97F-5950-37B6CC2797F4}"/>
              </a:ext>
            </a:extLst>
          </p:cNvPr>
          <p:cNvSpPr>
            <a:spLocks noChangeArrowheads="1"/>
          </p:cNvSpPr>
          <p:nvPr/>
        </p:nvSpPr>
        <p:spPr bwMode="auto">
          <a:xfrm>
            <a:off x="5654675" y="2400300"/>
            <a:ext cx="158750" cy="160338"/>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8" name="Oval 26">
            <a:extLst>
              <a:ext uri="{FF2B5EF4-FFF2-40B4-BE49-F238E27FC236}">
                <a16:creationId xmlns:a16="http://schemas.microsoft.com/office/drawing/2014/main" id="{40AA1F3F-B383-F902-EF70-8F33BC119C4F}"/>
              </a:ext>
            </a:extLst>
          </p:cNvPr>
          <p:cNvSpPr>
            <a:spLocks noChangeArrowheads="1"/>
          </p:cNvSpPr>
          <p:nvPr/>
        </p:nvSpPr>
        <p:spPr bwMode="auto">
          <a:xfrm>
            <a:off x="5334000" y="3787775"/>
            <a:ext cx="160338" cy="158750"/>
          </a:xfrm>
          <a:prstGeom prst="ellipse">
            <a:avLst/>
          </a:prstGeom>
          <a:solidFill>
            <a:srgbClr val="CC00CC"/>
          </a:solidFill>
          <a:ln w="12700" cap="sq">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28699" name="Rectangle 27">
            <a:extLst>
              <a:ext uri="{FF2B5EF4-FFF2-40B4-BE49-F238E27FC236}">
                <a16:creationId xmlns:a16="http://schemas.microsoft.com/office/drawing/2014/main" id="{39EBD899-FD7D-F111-4B96-29A0CCE99F7F}"/>
              </a:ext>
            </a:extLst>
          </p:cNvPr>
          <p:cNvSpPr>
            <a:spLocks noGrp="1" noChangeArrowheads="1"/>
          </p:cNvSpPr>
          <p:nvPr>
            <p:ph type="body" idx="1"/>
          </p:nvPr>
        </p:nvSpPr>
        <p:spPr>
          <a:xfrm>
            <a:off x="53975" y="1387475"/>
            <a:ext cx="3413125" cy="1066800"/>
          </a:xfrm>
          <a:noFill/>
        </p:spPr>
        <p:txBody>
          <a:bodyPr lIns="64453" tIns="32227" rIns="64453" bIns="32227"/>
          <a:lstStyle/>
          <a:p>
            <a:pPr eaLnBrk="1" hangingPunct="1"/>
            <a:r>
              <a:rPr lang="en-US" altLang="en-US" sz="1500"/>
              <a:t>Two clusters are grouped to form new cluster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05B4E35-9A98-168E-B549-98AF77DCE6F3}"/>
              </a:ext>
            </a:extLst>
          </p:cNvPr>
          <p:cNvSpPr>
            <a:spLocks noGrp="1" noChangeArrowheads="1"/>
          </p:cNvSpPr>
          <p:nvPr>
            <p:ph type="title"/>
          </p:nvPr>
        </p:nvSpPr>
        <p:spPr>
          <a:xfrm>
            <a:off x="320675" y="85725"/>
            <a:ext cx="5280025" cy="501650"/>
          </a:xfrm>
        </p:spPr>
        <p:txBody>
          <a:bodyPr/>
          <a:lstStyle/>
          <a:p>
            <a:pPr eaLnBrk="1" hangingPunct="1"/>
            <a:r>
              <a:rPr lang="en-US" altLang="en-US" sz="2500" b="0">
                <a:latin typeface="Tahoma" panose="020B0604030504040204" pitchFamily="34" charset="0"/>
              </a:rPr>
              <a:t>Dendrogram Example</a:t>
            </a:r>
          </a:p>
        </p:txBody>
      </p:sp>
      <p:pic>
        <p:nvPicPr>
          <p:cNvPr id="29699" name="Picture 9">
            <a:extLst>
              <a:ext uri="{FF2B5EF4-FFF2-40B4-BE49-F238E27FC236}">
                <a16:creationId xmlns:a16="http://schemas.microsoft.com/office/drawing/2014/main" id="{CCBCAF60-4CDF-0653-DAFB-53E9BA620FAE}"/>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60438" y="698500"/>
            <a:ext cx="4106862" cy="4102100"/>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9807FF4-6E72-4787-76C6-98CE74E8C0CB}"/>
              </a:ext>
            </a:extLst>
          </p:cNvPr>
          <p:cNvSpPr>
            <a:spLocks noGrp="1" noChangeArrowheads="1"/>
          </p:cNvSpPr>
          <p:nvPr>
            <p:ph type="title"/>
          </p:nvPr>
        </p:nvSpPr>
        <p:spPr/>
        <p:txBody>
          <a:bodyPr/>
          <a:lstStyle/>
          <a:p>
            <a:pPr eaLnBrk="1" hangingPunct="1"/>
            <a:r>
              <a:rPr lang="en-US" altLang="en-US" sz="2500" b="0">
                <a:latin typeface="Tahoma" panose="020B0604030504040204" pitchFamily="34" charset="0"/>
              </a:rPr>
              <a:t>HCA pros and cons</a:t>
            </a:r>
          </a:p>
        </p:txBody>
      </p:sp>
      <p:sp>
        <p:nvSpPr>
          <p:cNvPr id="30723" name="Rectangle 3">
            <a:extLst>
              <a:ext uri="{FF2B5EF4-FFF2-40B4-BE49-F238E27FC236}">
                <a16:creationId xmlns:a16="http://schemas.microsoft.com/office/drawing/2014/main" id="{3E77FA26-AA13-D8E3-19A5-3EFB3694557F}"/>
              </a:ext>
            </a:extLst>
          </p:cNvPr>
          <p:cNvSpPr>
            <a:spLocks noGrp="1" noChangeArrowheads="1"/>
          </p:cNvSpPr>
          <p:nvPr>
            <p:ph type="body" idx="1"/>
          </p:nvPr>
        </p:nvSpPr>
        <p:spPr>
          <a:xfrm>
            <a:off x="479425" y="1387475"/>
            <a:ext cx="5441950" cy="3200400"/>
          </a:xfrm>
        </p:spPr>
        <p:txBody>
          <a:bodyPr/>
          <a:lstStyle/>
          <a:p>
            <a:pPr eaLnBrk="1" hangingPunct="1"/>
            <a:r>
              <a:rPr lang="en-US" altLang="en-US" sz="1600"/>
              <a:t>Advantages</a:t>
            </a:r>
          </a:p>
          <a:p>
            <a:pPr marL="520700" lvl="1" indent="-200025" eaLnBrk="1" hangingPunct="1"/>
            <a:r>
              <a:rPr lang="en-US" altLang="en-US" sz="1400"/>
              <a:t>Provides an informative display of ordered objects</a:t>
            </a:r>
          </a:p>
          <a:p>
            <a:pPr marL="520700" lvl="1" indent="-200025" eaLnBrk="1" hangingPunct="1"/>
            <a:r>
              <a:rPr lang="en-US" altLang="en-US" sz="1400"/>
              <a:t>Sub-clusters may provide to be useful in discovery </a:t>
            </a:r>
          </a:p>
          <a:p>
            <a:pPr marL="520700" lvl="1" indent="-200025" eaLnBrk="1" hangingPunct="1"/>
            <a:r>
              <a:rPr lang="en-US" altLang="en-US" sz="1400"/>
              <a:t>Relatively simple to implement</a:t>
            </a:r>
          </a:p>
          <a:p>
            <a:pPr marL="520700" lvl="1" indent="-200025" eaLnBrk="1" hangingPunct="1"/>
            <a:endParaRPr lang="en-US" altLang="en-US" sz="1400"/>
          </a:p>
          <a:p>
            <a:pPr marL="520700" lvl="1" indent="-200025" eaLnBrk="1" hangingPunct="1"/>
            <a:endParaRPr lang="en-US" altLang="en-US" sz="1500"/>
          </a:p>
          <a:p>
            <a:pPr eaLnBrk="1" hangingPunct="1"/>
            <a:r>
              <a:rPr lang="en-US" altLang="en-US" sz="1600"/>
              <a:t>Disadvantages</a:t>
            </a:r>
          </a:p>
          <a:p>
            <a:pPr marL="520700" lvl="1" indent="-200025" eaLnBrk="1" hangingPunct="1"/>
            <a:r>
              <a:rPr lang="en-US" altLang="en-US" sz="1400"/>
              <a:t>Early groupings are nested in later result groupings</a:t>
            </a:r>
          </a:p>
          <a:p>
            <a:pPr marL="520700" lvl="1" indent="-200025" eaLnBrk="1" hangingPunct="1"/>
            <a:r>
              <a:rPr lang="en-US" altLang="en-US" sz="1400"/>
              <a:t>Grouping metrics can provide inconsistent results</a:t>
            </a:r>
          </a:p>
          <a:p>
            <a:pPr marL="520700" lvl="1" indent="-200025" eaLnBrk="1" hangingPunct="1"/>
            <a:r>
              <a:rPr lang="en-US" altLang="en-US" sz="1400"/>
              <a:t>Tree structure is dynamic (i.e. not model-based)</a:t>
            </a:r>
          </a:p>
          <a:p>
            <a:pPr marL="520700" lvl="1" indent="-200025" eaLnBrk="1" hangingPunct="1"/>
            <a:endParaRPr lang="en-US" altLang="en-US" sz="1400"/>
          </a:p>
          <a:p>
            <a:pPr marL="520700" lvl="1" indent="-200025" eaLnBrk="1" hangingPunct="1"/>
            <a:endParaRPr lang="en-US" altLang="en-US" sz="1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51FE36F-F866-B17D-8F69-8CEF2A7B5C80}"/>
              </a:ext>
            </a:extLst>
          </p:cNvPr>
          <p:cNvSpPr>
            <a:spLocks noGrp="1" noChangeArrowheads="1"/>
          </p:cNvSpPr>
          <p:nvPr>
            <p:ph type="title"/>
          </p:nvPr>
        </p:nvSpPr>
        <p:spPr>
          <a:xfrm>
            <a:off x="320675" y="266700"/>
            <a:ext cx="5280025" cy="512763"/>
          </a:xfrm>
        </p:spPr>
        <p:txBody>
          <a:bodyPr/>
          <a:lstStyle/>
          <a:p>
            <a:pPr eaLnBrk="1" hangingPunct="1"/>
            <a:r>
              <a:rPr lang="en-US" altLang="en-US"/>
              <a:t>Some clustering methods</a:t>
            </a:r>
          </a:p>
        </p:txBody>
      </p:sp>
      <p:sp>
        <p:nvSpPr>
          <p:cNvPr id="31747" name="Rectangle 3">
            <a:extLst>
              <a:ext uri="{FF2B5EF4-FFF2-40B4-BE49-F238E27FC236}">
                <a16:creationId xmlns:a16="http://schemas.microsoft.com/office/drawing/2014/main" id="{7581FD7E-C3FB-2071-943E-EFEED5BD4273}"/>
              </a:ext>
            </a:extLst>
          </p:cNvPr>
          <p:cNvSpPr>
            <a:spLocks noGrp="1" noChangeArrowheads="1"/>
          </p:cNvSpPr>
          <p:nvPr>
            <p:ph type="body" idx="1"/>
          </p:nvPr>
        </p:nvSpPr>
        <p:spPr>
          <a:xfrm>
            <a:off x="320675" y="1066800"/>
            <a:ext cx="5759450" cy="3627438"/>
          </a:xfrm>
        </p:spPr>
        <p:txBody>
          <a:bodyPr/>
          <a:lstStyle/>
          <a:p>
            <a:pPr eaLnBrk="1" hangingPunct="1"/>
            <a:r>
              <a:rPr lang="en-US" altLang="en-US" sz="2400"/>
              <a:t>There are multiple types of clustering methods</a:t>
            </a:r>
          </a:p>
          <a:p>
            <a:pPr lvl="1" eaLnBrk="1" hangingPunct="1"/>
            <a:r>
              <a:rPr lang="en-US" altLang="en-US"/>
              <a:t>Hierarchical (HCA)</a:t>
            </a:r>
          </a:p>
          <a:p>
            <a:pPr lvl="1" eaLnBrk="1" hangingPunct="1"/>
            <a:r>
              <a:rPr lang="en-US" altLang="en-US" b="1" i="1">
                <a:solidFill>
                  <a:srgbClr val="FF5050"/>
                </a:solidFill>
              </a:rPr>
              <a:t>k</a:t>
            </a:r>
            <a:r>
              <a:rPr lang="en-US" altLang="en-US" b="1">
                <a:solidFill>
                  <a:srgbClr val="FF5050"/>
                </a:solidFill>
              </a:rPr>
              <a:t>-means</a:t>
            </a:r>
          </a:p>
          <a:p>
            <a:pPr lvl="1" eaLnBrk="1" hangingPunct="1"/>
            <a:r>
              <a:rPr lang="en-US" altLang="en-US"/>
              <a:t>Self-organizing maps (SOM)</a:t>
            </a:r>
          </a:p>
          <a:p>
            <a:pPr lvl="1" eaLnBrk="1" hangingPunct="1"/>
            <a:r>
              <a:rPr lang="en-US" altLang="en-US"/>
              <a:t>Clique partitioning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1B95568-FA0F-BD15-19B9-30466792FE07}"/>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2771" name="Rectangle 3">
            <a:extLst>
              <a:ext uri="{FF2B5EF4-FFF2-40B4-BE49-F238E27FC236}">
                <a16:creationId xmlns:a16="http://schemas.microsoft.com/office/drawing/2014/main" id="{B3650769-98BC-9A8B-4F62-4DEE6585B8DC}"/>
              </a:ext>
            </a:extLst>
          </p:cNvPr>
          <p:cNvSpPr>
            <a:spLocks noGrp="1" noChangeArrowheads="1"/>
          </p:cNvSpPr>
          <p:nvPr>
            <p:ph type="body" sz="half" idx="1"/>
          </p:nvPr>
        </p:nvSpPr>
        <p:spPr>
          <a:xfrm>
            <a:off x="320675" y="1120775"/>
            <a:ext cx="2825750" cy="3595688"/>
          </a:xfrm>
        </p:spPr>
        <p:txBody>
          <a:bodyPr/>
          <a:lstStyle/>
          <a:p>
            <a:pPr eaLnBrk="1" hangingPunct="1"/>
            <a:r>
              <a:rPr lang="en-US" altLang="en-US" sz="1200"/>
              <a:t>Start with a user-defined number of clusters (</a:t>
            </a:r>
            <a:r>
              <a:rPr lang="en-US" altLang="en-US" sz="1200" i="1"/>
              <a:t>k</a:t>
            </a:r>
            <a:r>
              <a:rPr lang="en-US" altLang="en-US" sz="1200"/>
              <a:t>-value)</a:t>
            </a:r>
          </a:p>
          <a:p>
            <a:pPr eaLnBrk="1" hangingPunct="1"/>
            <a:endParaRPr lang="en-US" altLang="en-US" sz="1200"/>
          </a:p>
          <a:p>
            <a:pPr eaLnBrk="1" hangingPunct="1"/>
            <a:endParaRPr lang="en-US" altLang="en-US" sz="1200"/>
          </a:p>
        </p:txBody>
      </p:sp>
      <p:pic>
        <p:nvPicPr>
          <p:cNvPr id="32772" name="Picture 9">
            <a:extLst>
              <a:ext uri="{FF2B5EF4-FFF2-40B4-BE49-F238E27FC236}">
                <a16:creationId xmlns:a16="http://schemas.microsoft.com/office/drawing/2014/main" id="{BA2ACEC2-5DC3-FFD4-904D-45A9EA0D7175}"/>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46425" y="1012825"/>
            <a:ext cx="3222625" cy="3787775"/>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9376D84F-4483-CC89-19A0-991BBA69B604}"/>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3795" name="Rectangle 3">
            <a:extLst>
              <a:ext uri="{FF2B5EF4-FFF2-40B4-BE49-F238E27FC236}">
                <a16:creationId xmlns:a16="http://schemas.microsoft.com/office/drawing/2014/main" id="{CEE7444E-B3C5-E157-C8AF-0C27D5F0C98D}"/>
              </a:ext>
            </a:extLst>
          </p:cNvPr>
          <p:cNvSpPr>
            <a:spLocks noGrp="1" noChangeArrowheads="1"/>
          </p:cNvSpPr>
          <p:nvPr>
            <p:ph type="body" sz="half" idx="1"/>
          </p:nvPr>
        </p:nvSpPr>
        <p:spPr>
          <a:xfrm>
            <a:off x="320675" y="1120775"/>
            <a:ext cx="2825750" cy="3595688"/>
          </a:xfrm>
        </p:spPr>
        <p:txBody>
          <a:bodyPr/>
          <a:lstStyle/>
          <a:p>
            <a:pPr eaLnBrk="1" hangingPunct="1"/>
            <a:r>
              <a:rPr lang="en-US" altLang="en-US" sz="1200"/>
              <a:t>Start with a user-defined number of clusters (</a:t>
            </a:r>
            <a:r>
              <a:rPr lang="en-US" altLang="en-US" sz="1200" i="1"/>
              <a:t>k</a:t>
            </a:r>
            <a:r>
              <a:rPr lang="en-US" altLang="en-US" sz="1200"/>
              <a:t>-value)</a:t>
            </a:r>
          </a:p>
          <a:p>
            <a:pPr eaLnBrk="1" hangingPunct="1"/>
            <a:endParaRPr lang="en-US" altLang="en-US" sz="1200"/>
          </a:p>
          <a:p>
            <a:pPr eaLnBrk="1" hangingPunct="1"/>
            <a:r>
              <a:rPr lang="en-US" altLang="en-US" sz="1200" i="1"/>
              <a:t>k</a:t>
            </a:r>
            <a:r>
              <a:rPr lang="en-US" altLang="en-US" sz="1200"/>
              <a:t> points are projected into space to estimate the center of </a:t>
            </a:r>
            <a:r>
              <a:rPr lang="en-US" altLang="en-US" sz="1200" i="1"/>
              <a:t>k</a:t>
            </a:r>
            <a:r>
              <a:rPr lang="en-US" altLang="en-US" sz="1200"/>
              <a:t> separate clusters</a:t>
            </a:r>
          </a:p>
          <a:p>
            <a:pPr eaLnBrk="1" hangingPunct="1"/>
            <a:endParaRPr lang="en-US" altLang="en-US" sz="1200"/>
          </a:p>
        </p:txBody>
      </p:sp>
      <p:pic>
        <p:nvPicPr>
          <p:cNvPr id="33796" name="Picture 4">
            <a:extLst>
              <a:ext uri="{FF2B5EF4-FFF2-40B4-BE49-F238E27FC236}">
                <a16:creationId xmlns:a16="http://schemas.microsoft.com/office/drawing/2014/main" id="{415DB632-40E1-FFB2-3F8F-83F1DE40C3C8}"/>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46425" y="1012825"/>
            <a:ext cx="3222625" cy="3787775"/>
          </a:xfrm>
        </p:spPr>
      </p:pic>
      <p:sp>
        <p:nvSpPr>
          <p:cNvPr id="33797" name="Text Box 5">
            <a:extLst>
              <a:ext uri="{FF2B5EF4-FFF2-40B4-BE49-F238E27FC236}">
                <a16:creationId xmlns:a16="http://schemas.microsoft.com/office/drawing/2014/main" id="{64F2CB73-2B69-F720-A2A8-922EC86E8E71}"/>
              </a:ext>
            </a:extLst>
          </p:cNvPr>
          <p:cNvSpPr txBox="1">
            <a:spLocks noChangeArrowheads="1"/>
          </p:cNvSpPr>
          <p:nvPr/>
        </p:nvSpPr>
        <p:spPr bwMode="auto">
          <a:xfrm>
            <a:off x="4800600" y="2506663"/>
            <a:ext cx="2127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3798" name="Text Box 6">
            <a:extLst>
              <a:ext uri="{FF2B5EF4-FFF2-40B4-BE49-F238E27FC236}">
                <a16:creationId xmlns:a16="http://schemas.microsoft.com/office/drawing/2014/main" id="{39E47700-ED6F-2FDB-BF31-BD4E62363210}"/>
              </a:ext>
            </a:extLst>
          </p:cNvPr>
          <p:cNvSpPr txBox="1">
            <a:spLocks noChangeArrowheads="1"/>
          </p:cNvSpPr>
          <p:nvPr/>
        </p:nvSpPr>
        <p:spPr bwMode="auto">
          <a:xfrm>
            <a:off x="4160838" y="2868613"/>
            <a:ext cx="2127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3799" name="Text Box 7">
            <a:extLst>
              <a:ext uri="{FF2B5EF4-FFF2-40B4-BE49-F238E27FC236}">
                <a16:creationId xmlns:a16="http://schemas.microsoft.com/office/drawing/2014/main" id="{23997C52-8CCA-0EF7-074D-F2DB9AB0455B}"/>
              </a:ext>
            </a:extLst>
          </p:cNvPr>
          <p:cNvSpPr txBox="1">
            <a:spLocks noChangeArrowheads="1"/>
          </p:cNvSpPr>
          <p:nvPr/>
        </p:nvSpPr>
        <p:spPr bwMode="auto">
          <a:xfrm>
            <a:off x="4906963" y="1654175"/>
            <a:ext cx="21431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3800" name="Text Box 8">
            <a:extLst>
              <a:ext uri="{FF2B5EF4-FFF2-40B4-BE49-F238E27FC236}">
                <a16:creationId xmlns:a16="http://schemas.microsoft.com/office/drawing/2014/main" id="{792B92E1-8A0A-6DFC-50AC-A39D0FBBB9AA}"/>
              </a:ext>
            </a:extLst>
          </p:cNvPr>
          <p:cNvSpPr txBox="1">
            <a:spLocks noChangeArrowheads="1"/>
          </p:cNvSpPr>
          <p:nvPr/>
        </p:nvSpPr>
        <p:spPr bwMode="auto">
          <a:xfrm>
            <a:off x="4479925" y="3668713"/>
            <a:ext cx="214313"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9E65FB9-1BBF-3AB9-E199-2A7BF2BA0316}"/>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4819" name="Rectangle 3">
            <a:extLst>
              <a:ext uri="{FF2B5EF4-FFF2-40B4-BE49-F238E27FC236}">
                <a16:creationId xmlns:a16="http://schemas.microsoft.com/office/drawing/2014/main" id="{6FEEC3B6-54EE-3D14-F045-5FF2BBCD3156}"/>
              </a:ext>
            </a:extLst>
          </p:cNvPr>
          <p:cNvSpPr>
            <a:spLocks noGrp="1" noChangeArrowheads="1"/>
          </p:cNvSpPr>
          <p:nvPr>
            <p:ph type="body" sz="half" idx="1"/>
          </p:nvPr>
        </p:nvSpPr>
        <p:spPr>
          <a:xfrm>
            <a:off x="320675" y="1120775"/>
            <a:ext cx="2825750" cy="3595688"/>
          </a:xfrm>
        </p:spPr>
        <p:txBody>
          <a:bodyPr/>
          <a:lstStyle/>
          <a:p>
            <a:pPr eaLnBrk="1" hangingPunct="1">
              <a:lnSpc>
                <a:spcPct val="90000"/>
              </a:lnSpc>
            </a:pPr>
            <a:r>
              <a:rPr lang="en-US" altLang="en-US" sz="1200"/>
              <a:t>Start with a user-defined number of clusters (</a:t>
            </a:r>
            <a:r>
              <a:rPr lang="en-US" altLang="en-US" sz="1200" i="1"/>
              <a:t>k</a:t>
            </a:r>
            <a:r>
              <a:rPr lang="en-US" altLang="en-US" sz="1200"/>
              <a:t>-value)</a:t>
            </a:r>
          </a:p>
          <a:p>
            <a:pPr eaLnBrk="1" hangingPunct="1">
              <a:lnSpc>
                <a:spcPct val="90000"/>
              </a:lnSpc>
            </a:pPr>
            <a:endParaRPr lang="en-US" altLang="en-US" sz="1200"/>
          </a:p>
          <a:p>
            <a:pPr eaLnBrk="1" hangingPunct="1">
              <a:lnSpc>
                <a:spcPct val="90000"/>
              </a:lnSpc>
            </a:pPr>
            <a:r>
              <a:rPr lang="en-US" altLang="en-US" sz="1200" i="1"/>
              <a:t>k</a:t>
            </a:r>
            <a:r>
              <a:rPr lang="en-US" altLang="en-US" sz="1200"/>
              <a:t> points are projected into space to estimate the center of </a:t>
            </a:r>
            <a:r>
              <a:rPr lang="en-US" altLang="en-US" sz="1200" i="1"/>
              <a:t>k</a:t>
            </a:r>
            <a:r>
              <a:rPr lang="en-US" altLang="en-US" sz="1200"/>
              <a:t> separate clusters</a:t>
            </a:r>
          </a:p>
          <a:p>
            <a:pPr eaLnBrk="1" hangingPunct="1">
              <a:lnSpc>
                <a:spcPct val="90000"/>
              </a:lnSpc>
            </a:pPr>
            <a:endParaRPr lang="en-US" altLang="en-US" sz="1200"/>
          </a:p>
          <a:p>
            <a:pPr eaLnBrk="1" hangingPunct="1">
              <a:lnSpc>
                <a:spcPct val="90000"/>
              </a:lnSpc>
            </a:pPr>
            <a:r>
              <a:rPr lang="en-US" altLang="en-US" sz="1200"/>
              <a:t>The distances from each point to all </a:t>
            </a:r>
            <a:r>
              <a:rPr lang="en-US" altLang="en-US" sz="1200" i="1"/>
              <a:t>k</a:t>
            </a:r>
            <a:r>
              <a:rPr lang="en-US" altLang="en-US" sz="1200"/>
              <a:t> clusters are calculated to determine which points are closest to which cluster centers</a:t>
            </a:r>
          </a:p>
          <a:p>
            <a:pPr eaLnBrk="1" hangingPunct="1">
              <a:lnSpc>
                <a:spcPct val="90000"/>
              </a:lnSpc>
            </a:pPr>
            <a:endParaRPr lang="en-US" altLang="en-US" sz="1200"/>
          </a:p>
        </p:txBody>
      </p:sp>
      <p:pic>
        <p:nvPicPr>
          <p:cNvPr id="34820" name="Picture 4">
            <a:extLst>
              <a:ext uri="{FF2B5EF4-FFF2-40B4-BE49-F238E27FC236}">
                <a16:creationId xmlns:a16="http://schemas.microsoft.com/office/drawing/2014/main" id="{2B7FD6DC-B1E6-FD1C-D807-AEF6A1A90E0D}"/>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46425" y="1012825"/>
            <a:ext cx="3222625" cy="3787775"/>
          </a:xfrm>
        </p:spPr>
      </p:pic>
      <p:sp>
        <p:nvSpPr>
          <p:cNvPr id="34821" name="Text Box 5">
            <a:extLst>
              <a:ext uri="{FF2B5EF4-FFF2-40B4-BE49-F238E27FC236}">
                <a16:creationId xmlns:a16="http://schemas.microsoft.com/office/drawing/2014/main" id="{26F8E2B9-B9DD-0A86-8123-A0AF6EF79566}"/>
              </a:ext>
            </a:extLst>
          </p:cNvPr>
          <p:cNvSpPr txBox="1">
            <a:spLocks noChangeArrowheads="1"/>
          </p:cNvSpPr>
          <p:nvPr/>
        </p:nvSpPr>
        <p:spPr bwMode="auto">
          <a:xfrm>
            <a:off x="4800600" y="2506663"/>
            <a:ext cx="2127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4822" name="Text Box 6">
            <a:extLst>
              <a:ext uri="{FF2B5EF4-FFF2-40B4-BE49-F238E27FC236}">
                <a16:creationId xmlns:a16="http://schemas.microsoft.com/office/drawing/2014/main" id="{B32F810A-4482-AACF-5F45-5C10B7E046BD}"/>
              </a:ext>
            </a:extLst>
          </p:cNvPr>
          <p:cNvSpPr txBox="1">
            <a:spLocks noChangeArrowheads="1"/>
          </p:cNvSpPr>
          <p:nvPr/>
        </p:nvSpPr>
        <p:spPr bwMode="auto">
          <a:xfrm>
            <a:off x="4160838" y="2868613"/>
            <a:ext cx="2127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4823" name="Text Box 7">
            <a:extLst>
              <a:ext uri="{FF2B5EF4-FFF2-40B4-BE49-F238E27FC236}">
                <a16:creationId xmlns:a16="http://schemas.microsoft.com/office/drawing/2014/main" id="{C1BCCEA3-B062-83EB-0A70-4C3BE01BBDFF}"/>
              </a:ext>
            </a:extLst>
          </p:cNvPr>
          <p:cNvSpPr txBox="1">
            <a:spLocks noChangeArrowheads="1"/>
          </p:cNvSpPr>
          <p:nvPr/>
        </p:nvSpPr>
        <p:spPr bwMode="auto">
          <a:xfrm>
            <a:off x="4906963" y="1654175"/>
            <a:ext cx="21431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4824" name="Text Box 8">
            <a:extLst>
              <a:ext uri="{FF2B5EF4-FFF2-40B4-BE49-F238E27FC236}">
                <a16:creationId xmlns:a16="http://schemas.microsoft.com/office/drawing/2014/main" id="{3A0FB41F-175A-1F8E-AAD5-B47DD6D9218B}"/>
              </a:ext>
            </a:extLst>
          </p:cNvPr>
          <p:cNvSpPr txBox="1">
            <a:spLocks noChangeArrowheads="1"/>
          </p:cNvSpPr>
          <p:nvPr/>
        </p:nvSpPr>
        <p:spPr bwMode="auto">
          <a:xfrm>
            <a:off x="4479925" y="3668713"/>
            <a:ext cx="214313"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9396862-B74B-388D-D709-6360C112E3F8}"/>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5843" name="Rectangle 3">
            <a:extLst>
              <a:ext uri="{FF2B5EF4-FFF2-40B4-BE49-F238E27FC236}">
                <a16:creationId xmlns:a16="http://schemas.microsoft.com/office/drawing/2014/main" id="{EDDFCB90-5CF7-63A2-C107-202D9DC4E1AA}"/>
              </a:ext>
            </a:extLst>
          </p:cNvPr>
          <p:cNvSpPr>
            <a:spLocks noGrp="1" noChangeArrowheads="1"/>
          </p:cNvSpPr>
          <p:nvPr>
            <p:ph type="body" sz="half" idx="1"/>
          </p:nvPr>
        </p:nvSpPr>
        <p:spPr>
          <a:xfrm>
            <a:off x="320675" y="1120775"/>
            <a:ext cx="2825750" cy="3595688"/>
          </a:xfrm>
        </p:spPr>
        <p:txBody>
          <a:bodyPr/>
          <a:lstStyle/>
          <a:p>
            <a:pPr eaLnBrk="1" hangingPunct="1">
              <a:lnSpc>
                <a:spcPct val="80000"/>
              </a:lnSpc>
            </a:pPr>
            <a:r>
              <a:rPr lang="en-US" altLang="en-US" sz="1200"/>
              <a:t>Start with a user-defined number of clusters (</a:t>
            </a:r>
            <a:r>
              <a:rPr lang="en-US" altLang="en-US" sz="1200" i="1"/>
              <a:t>k</a:t>
            </a:r>
            <a:r>
              <a:rPr lang="en-US" altLang="en-US" sz="1200"/>
              <a:t>-value)</a:t>
            </a:r>
          </a:p>
          <a:p>
            <a:pPr eaLnBrk="1" hangingPunct="1">
              <a:lnSpc>
                <a:spcPct val="80000"/>
              </a:lnSpc>
            </a:pPr>
            <a:endParaRPr lang="en-US" altLang="en-US" sz="1200"/>
          </a:p>
          <a:p>
            <a:pPr eaLnBrk="1" hangingPunct="1">
              <a:lnSpc>
                <a:spcPct val="80000"/>
              </a:lnSpc>
            </a:pPr>
            <a:r>
              <a:rPr lang="en-US" altLang="en-US" sz="1200" i="1"/>
              <a:t>k</a:t>
            </a:r>
            <a:r>
              <a:rPr lang="en-US" altLang="en-US" sz="1200"/>
              <a:t> points are projected into space to estimate the center of </a:t>
            </a:r>
            <a:r>
              <a:rPr lang="en-US" altLang="en-US" sz="1200" i="1"/>
              <a:t>k</a:t>
            </a:r>
            <a:r>
              <a:rPr lang="en-US" altLang="en-US" sz="1200"/>
              <a:t> separate clusters</a:t>
            </a:r>
          </a:p>
          <a:p>
            <a:pPr eaLnBrk="1" hangingPunct="1">
              <a:lnSpc>
                <a:spcPct val="80000"/>
              </a:lnSpc>
            </a:pPr>
            <a:endParaRPr lang="en-US" altLang="en-US" sz="1200"/>
          </a:p>
          <a:p>
            <a:pPr eaLnBrk="1" hangingPunct="1">
              <a:lnSpc>
                <a:spcPct val="80000"/>
              </a:lnSpc>
            </a:pPr>
            <a:r>
              <a:rPr lang="en-US" altLang="en-US" sz="1200"/>
              <a:t>The distances from each point to all </a:t>
            </a:r>
            <a:r>
              <a:rPr lang="en-US" altLang="en-US" sz="1200" i="1"/>
              <a:t>k</a:t>
            </a:r>
            <a:r>
              <a:rPr lang="en-US" altLang="en-US" sz="1200"/>
              <a:t> clusters are calculated to determine which points are closest to which cluster centers</a:t>
            </a:r>
          </a:p>
          <a:p>
            <a:pPr eaLnBrk="1" hangingPunct="1">
              <a:lnSpc>
                <a:spcPct val="80000"/>
              </a:lnSpc>
            </a:pPr>
            <a:endParaRPr lang="en-US" altLang="en-US" sz="1200"/>
          </a:p>
          <a:p>
            <a:pPr eaLnBrk="1" hangingPunct="1">
              <a:lnSpc>
                <a:spcPct val="80000"/>
              </a:lnSpc>
            </a:pPr>
            <a:r>
              <a:rPr lang="en-US" altLang="en-US" sz="1200"/>
              <a:t>The n-dimensional space is then partitioned into </a:t>
            </a:r>
            <a:r>
              <a:rPr lang="en-US" altLang="en-US" sz="1200" i="1"/>
              <a:t>k</a:t>
            </a:r>
            <a:r>
              <a:rPr lang="en-US" altLang="en-US" sz="1200"/>
              <a:t> regions of points</a:t>
            </a:r>
          </a:p>
          <a:p>
            <a:pPr eaLnBrk="1" hangingPunct="1">
              <a:lnSpc>
                <a:spcPct val="80000"/>
              </a:lnSpc>
            </a:pPr>
            <a:endParaRPr lang="en-US" altLang="en-US" sz="1200"/>
          </a:p>
        </p:txBody>
      </p:sp>
      <p:pic>
        <p:nvPicPr>
          <p:cNvPr id="35844" name="Picture 4">
            <a:extLst>
              <a:ext uri="{FF2B5EF4-FFF2-40B4-BE49-F238E27FC236}">
                <a16:creationId xmlns:a16="http://schemas.microsoft.com/office/drawing/2014/main" id="{4B76E7FC-0838-5D85-22D4-6CA3644DC159}"/>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46425" y="1012825"/>
            <a:ext cx="3222625" cy="3787775"/>
          </a:xfrm>
        </p:spPr>
      </p:pic>
      <p:sp>
        <p:nvSpPr>
          <p:cNvPr id="35845" name="Text Box 5">
            <a:extLst>
              <a:ext uri="{FF2B5EF4-FFF2-40B4-BE49-F238E27FC236}">
                <a16:creationId xmlns:a16="http://schemas.microsoft.com/office/drawing/2014/main" id="{3C5385FB-1779-2800-3F96-6F1A27D3D588}"/>
              </a:ext>
            </a:extLst>
          </p:cNvPr>
          <p:cNvSpPr txBox="1">
            <a:spLocks noChangeArrowheads="1"/>
          </p:cNvSpPr>
          <p:nvPr/>
        </p:nvSpPr>
        <p:spPr bwMode="auto">
          <a:xfrm>
            <a:off x="4800600" y="2506663"/>
            <a:ext cx="2127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5846" name="Text Box 6">
            <a:extLst>
              <a:ext uri="{FF2B5EF4-FFF2-40B4-BE49-F238E27FC236}">
                <a16:creationId xmlns:a16="http://schemas.microsoft.com/office/drawing/2014/main" id="{6F28B1F8-A193-38D5-6D16-6D4EC87FB40C}"/>
              </a:ext>
            </a:extLst>
          </p:cNvPr>
          <p:cNvSpPr txBox="1">
            <a:spLocks noChangeArrowheads="1"/>
          </p:cNvSpPr>
          <p:nvPr/>
        </p:nvSpPr>
        <p:spPr bwMode="auto">
          <a:xfrm>
            <a:off x="4160838" y="2868613"/>
            <a:ext cx="212725"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5847" name="Text Box 7">
            <a:extLst>
              <a:ext uri="{FF2B5EF4-FFF2-40B4-BE49-F238E27FC236}">
                <a16:creationId xmlns:a16="http://schemas.microsoft.com/office/drawing/2014/main" id="{37E46533-E9A2-55D6-DA46-4E3C8973B460}"/>
              </a:ext>
            </a:extLst>
          </p:cNvPr>
          <p:cNvSpPr txBox="1">
            <a:spLocks noChangeArrowheads="1"/>
          </p:cNvSpPr>
          <p:nvPr/>
        </p:nvSpPr>
        <p:spPr bwMode="auto">
          <a:xfrm>
            <a:off x="4906963" y="1654175"/>
            <a:ext cx="21431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5848" name="Text Box 8">
            <a:extLst>
              <a:ext uri="{FF2B5EF4-FFF2-40B4-BE49-F238E27FC236}">
                <a16:creationId xmlns:a16="http://schemas.microsoft.com/office/drawing/2014/main" id="{F2C61409-2E1F-E75F-2B3B-5DA9B193FBEF}"/>
              </a:ext>
            </a:extLst>
          </p:cNvPr>
          <p:cNvSpPr txBox="1">
            <a:spLocks noChangeArrowheads="1"/>
          </p:cNvSpPr>
          <p:nvPr/>
        </p:nvSpPr>
        <p:spPr bwMode="auto">
          <a:xfrm>
            <a:off x="4479925" y="3668713"/>
            <a:ext cx="214313"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5849" name="Line 9">
            <a:extLst>
              <a:ext uri="{FF2B5EF4-FFF2-40B4-BE49-F238E27FC236}">
                <a16:creationId xmlns:a16="http://schemas.microsoft.com/office/drawing/2014/main" id="{EEDD0C19-B098-D55C-5C1F-25BEE943E92D}"/>
              </a:ext>
            </a:extLst>
          </p:cNvPr>
          <p:cNvSpPr>
            <a:spLocks noChangeShapeType="1"/>
          </p:cNvSpPr>
          <p:nvPr/>
        </p:nvSpPr>
        <p:spPr bwMode="auto">
          <a:xfrm>
            <a:off x="4587875" y="1706563"/>
            <a:ext cx="373063" cy="17605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0" name="Line 10">
            <a:extLst>
              <a:ext uri="{FF2B5EF4-FFF2-40B4-BE49-F238E27FC236}">
                <a16:creationId xmlns:a16="http://schemas.microsoft.com/office/drawing/2014/main" id="{FC8D4D5F-7FF5-5280-E4A5-2889160E9330}"/>
              </a:ext>
            </a:extLst>
          </p:cNvPr>
          <p:cNvSpPr>
            <a:spLocks noChangeShapeType="1"/>
          </p:cNvSpPr>
          <p:nvPr/>
        </p:nvSpPr>
        <p:spPr bwMode="auto">
          <a:xfrm>
            <a:off x="3946525" y="1439863"/>
            <a:ext cx="2241550" cy="9604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5851" name="Line 11">
            <a:extLst>
              <a:ext uri="{FF2B5EF4-FFF2-40B4-BE49-F238E27FC236}">
                <a16:creationId xmlns:a16="http://schemas.microsoft.com/office/drawing/2014/main" id="{AE6CD429-4968-8470-70BD-E1441AE0CA39}"/>
              </a:ext>
            </a:extLst>
          </p:cNvPr>
          <p:cNvSpPr>
            <a:spLocks noChangeShapeType="1"/>
          </p:cNvSpPr>
          <p:nvPr/>
        </p:nvSpPr>
        <p:spPr bwMode="auto">
          <a:xfrm flipV="1">
            <a:off x="3521075" y="2933700"/>
            <a:ext cx="2613025" cy="11731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EEC02AC-9A9D-CA06-1375-1CCEA8FA8497}"/>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6867" name="Rectangle 3">
            <a:extLst>
              <a:ext uri="{FF2B5EF4-FFF2-40B4-BE49-F238E27FC236}">
                <a16:creationId xmlns:a16="http://schemas.microsoft.com/office/drawing/2014/main" id="{AC42C3C8-FE14-72BD-91A4-C16076E6673D}"/>
              </a:ext>
            </a:extLst>
          </p:cNvPr>
          <p:cNvSpPr>
            <a:spLocks noGrp="1" noChangeArrowheads="1"/>
          </p:cNvSpPr>
          <p:nvPr>
            <p:ph type="body" sz="half" idx="1"/>
          </p:nvPr>
        </p:nvSpPr>
        <p:spPr>
          <a:xfrm>
            <a:off x="320675" y="1120775"/>
            <a:ext cx="2825750" cy="3595688"/>
          </a:xfrm>
        </p:spPr>
        <p:txBody>
          <a:bodyPr/>
          <a:lstStyle/>
          <a:p>
            <a:pPr eaLnBrk="1" hangingPunct="1">
              <a:lnSpc>
                <a:spcPct val="80000"/>
              </a:lnSpc>
            </a:pPr>
            <a:r>
              <a:rPr lang="en-US" altLang="en-US" sz="1200"/>
              <a:t>Start with a user-defined number of clusters (</a:t>
            </a:r>
            <a:r>
              <a:rPr lang="en-US" altLang="en-US" sz="1200" i="1"/>
              <a:t>k</a:t>
            </a:r>
            <a:r>
              <a:rPr lang="en-US" altLang="en-US" sz="1200"/>
              <a:t>-value)</a:t>
            </a:r>
          </a:p>
          <a:p>
            <a:pPr eaLnBrk="1" hangingPunct="1">
              <a:lnSpc>
                <a:spcPct val="80000"/>
              </a:lnSpc>
            </a:pPr>
            <a:endParaRPr lang="en-US" altLang="en-US" sz="1200"/>
          </a:p>
          <a:p>
            <a:pPr eaLnBrk="1" hangingPunct="1">
              <a:lnSpc>
                <a:spcPct val="80000"/>
              </a:lnSpc>
            </a:pPr>
            <a:r>
              <a:rPr lang="en-US" altLang="en-US" sz="1200" i="1"/>
              <a:t>k</a:t>
            </a:r>
            <a:r>
              <a:rPr lang="en-US" altLang="en-US" sz="1200"/>
              <a:t> points are projected into space to estimate the center of </a:t>
            </a:r>
            <a:r>
              <a:rPr lang="en-US" altLang="en-US" sz="1200" i="1"/>
              <a:t>k</a:t>
            </a:r>
            <a:r>
              <a:rPr lang="en-US" altLang="en-US" sz="1200"/>
              <a:t> separate clusters</a:t>
            </a:r>
          </a:p>
          <a:p>
            <a:pPr eaLnBrk="1" hangingPunct="1">
              <a:lnSpc>
                <a:spcPct val="80000"/>
              </a:lnSpc>
            </a:pPr>
            <a:endParaRPr lang="en-US" altLang="en-US" sz="1200"/>
          </a:p>
          <a:p>
            <a:pPr eaLnBrk="1" hangingPunct="1">
              <a:lnSpc>
                <a:spcPct val="80000"/>
              </a:lnSpc>
            </a:pPr>
            <a:r>
              <a:rPr lang="en-US" altLang="en-US" sz="1200"/>
              <a:t>The distances from each point to all </a:t>
            </a:r>
            <a:r>
              <a:rPr lang="en-US" altLang="en-US" sz="1200" i="1"/>
              <a:t>k</a:t>
            </a:r>
            <a:r>
              <a:rPr lang="en-US" altLang="en-US" sz="1200"/>
              <a:t> clusters are calculated to determine which points are closest to which cluster centers</a:t>
            </a:r>
          </a:p>
          <a:p>
            <a:pPr eaLnBrk="1" hangingPunct="1">
              <a:lnSpc>
                <a:spcPct val="80000"/>
              </a:lnSpc>
            </a:pPr>
            <a:endParaRPr lang="en-US" altLang="en-US" sz="1200"/>
          </a:p>
          <a:p>
            <a:pPr eaLnBrk="1" hangingPunct="1">
              <a:lnSpc>
                <a:spcPct val="80000"/>
              </a:lnSpc>
            </a:pPr>
            <a:r>
              <a:rPr lang="en-US" altLang="en-US" sz="1200"/>
              <a:t>The n-dimensional space is then partitioned into </a:t>
            </a:r>
            <a:r>
              <a:rPr lang="en-US" altLang="en-US" sz="1200" i="1"/>
              <a:t>k</a:t>
            </a:r>
            <a:r>
              <a:rPr lang="en-US" altLang="en-US" sz="1200"/>
              <a:t> regions of points</a:t>
            </a:r>
          </a:p>
          <a:p>
            <a:pPr eaLnBrk="1" hangingPunct="1">
              <a:lnSpc>
                <a:spcPct val="80000"/>
              </a:lnSpc>
            </a:pPr>
            <a:endParaRPr lang="en-US" altLang="en-US" sz="1200"/>
          </a:p>
          <a:p>
            <a:pPr eaLnBrk="1" hangingPunct="1">
              <a:lnSpc>
                <a:spcPct val="80000"/>
              </a:lnSpc>
            </a:pPr>
            <a:r>
              <a:rPr lang="en-US" altLang="en-US" sz="1200"/>
              <a:t>The </a:t>
            </a:r>
            <a:r>
              <a:rPr lang="en-US" altLang="en-US" sz="1200" i="1"/>
              <a:t>k</a:t>
            </a:r>
            <a:r>
              <a:rPr lang="en-US" altLang="en-US" sz="1200"/>
              <a:t> cluster centers are adjusted to where the middle point (centroid) of the partitioned space is located</a:t>
            </a:r>
          </a:p>
          <a:p>
            <a:pPr eaLnBrk="1" hangingPunct="1">
              <a:lnSpc>
                <a:spcPct val="80000"/>
              </a:lnSpc>
            </a:pPr>
            <a:endParaRPr lang="en-US" altLang="en-US" sz="1200"/>
          </a:p>
        </p:txBody>
      </p:sp>
      <p:pic>
        <p:nvPicPr>
          <p:cNvPr id="36868" name="Picture 6">
            <a:extLst>
              <a:ext uri="{FF2B5EF4-FFF2-40B4-BE49-F238E27FC236}">
                <a16:creationId xmlns:a16="http://schemas.microsoft.com/office/drawing/2014/main" id="{CB5C8F0A-FCAC-BEC0-CC5C-BACC72C97D06}"/>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46425" y="1012825"/>
            <a:ext cx="3222625" cy="3787775"/>
          </a:xfrm>
          <a:noFill/>
        </p:spPr>
      </p:pic>
      <p:sp>
        <p:nvSpPr>
          <p:cNvPr id="36869" name="Text Box 7">
            <a:extLst>
              <a:ext uri="{FF2B5EF4-FFF2-40B4-BE49-F238E27FC236}">
                <a16:creationId xmlns:a16="http://schemas.microsoft.com/office/drawing/2014/main" id="{45846D44-0270-9D12-5DA2-1A7A03DC61E2}"/>
              </a:ext>
            </a:extLst>
          </p:cNvPr>
          <p:cNvSpPr txBox="1">
            <a:spLocks noChangeArrowheads="1"/>
          </p:cNvSpPr>
          <p:nvPr/>
        </p:nvSpPr>
        <p:spPr bwMode="auto">
          <a:xfrm>
            <a:off x="5334000" y="2454275"/>
            <a:ext cx="2127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6870" name="Text Box 8">
            <a:extLst>
              <a:ext uri="{FF2B5EF4-FFF2-40B4-BE49-F238E27FC236}">
                <a16:creationId xmlns:a16="http://schemas.microsoft.com/office/drawing/2014/main" id="{B7359AEE-9EF1-E109-4DB9-FA9D1E1A2835}"/>
              </a:ext>
            </a:extLst>
          </p:cNvPr>
          <p:cNvSpPr txBox="1">
            <a:spLocks noChangeArrowheads="1"/>
          </p:cNvSpPr>
          <p:nvPr/>
        </p:nvSpPr>
        <p:spPr bwMode="auto">
          <a:xfrm>
            <a:off x="3894138" y="2506663"/>
            <a:ext cx="212725"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6871" name="Text Box 9">
            <a:extLst>
              <a:ext uri="{FF2B5EF4-FFF2-40B4-BE49-F238E27FC236}">
                <a16:creationId xmlns:a16="http://schemas.microsoft.com/office/drawing/2014/main" id="{9C49E887-2BDA-E1A1-F8FE-FD96B63A1EA4}"/>
              </a:ext>
            </a:extLst>
          </p:cNvPr>
          <p:cNvSpPr txBox="1">
            <a:spLocks noChangeArrowheads="1"/>
          </p:cNvSpPr>
          <p:nvPr/>
        </p:nvSpPr>
        <p:spPr bwMode="auto">
          <a:xfrm>
            <a:off x="5546725" y="1546225"/>
            <a:ext cx="21431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6872" name="Text Box 10">
            <a:extLst>
              <a:ext uri="{FF2B5EF4-FFF2-40B4-BE49-F238E27FC236}">
                <a16:creationId xmlns:a16="http://schemas.microsoft.com/office/drawing/2014/main" id="{A6358D31-0863-E9D1-587D-4510FEE07B32}"/>
              </a:ext>
            </a:extLst>
          </p:cNvPr>
          <p:cNvSpPr txBox="1">
            <a:spLocks noChangeArrowheads="1"/>
          </p:cNvSpPr>
          <p:nvPr/>
        </p:nvSpPr>
        <p:spPr bwMode="auto">
          <a:xfrm>
            <a:off x="5280025" y="3679825"/>
            <a:ext cx="21431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b="1">
                <a:solidFill>
                  <a:srgbClr val="990099"/>
                </a:solidFill>
              </a:rPr>
              <a:t>*</a:t>
            </a:r>
          </a:p>
        </p:txBody>
      </p:sp>
      <p:sp>
        <p:nvSpPr>
          <p:cNvPr id="36873" name="Line 11">
            <a:extLst>
              <a:ext uri="{FF2B5EF4-FFF2-40B4-BE49-F238E27FC236}">
                <a16:creationId xmlns:a16="http://schemas.microsoft.com/office/drawing/2014/main" id="{AE8EC673-B544-94ED-2643-E07388AE00C3}"/>
              </a:ext>
            </a:extLst>
          </p:cNvPr>
          <p:cNvSpPr>
            <a:spLocks noChangeShapeType="1"/>
          </p:cNvSpPr>
          <p:nvPr/>
        </p:nvSpPr>
        <p:spPr bwMode="auto">
          <a:xfrm>
            <a:off x="4587875" y="1706563"/>
            <a:ext cx="373063" cy="17605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4" name="Line 12">
            <a:extLst>
              <a:ext uri="{FF2B5EF4-FFF2-40B4-BE49-F238E27FC236}">
                <a16:creationId xmlns:a16="http://schemas.microsoft.com/office/drawing/2014/main" id="{805393E8-A7A9-54DD-0834-7298AA0B5C87}"/>
              </a:ext>
            </a:extLst>
          </p:cNvPr>
          <p:cNvSpPr>
            <a:spLocks noChangeShapeType="1"/>
          </p:cNvSpPr>
          <p:nvPr/>
        </p:nvSpPr>
        <p:spPr bwMode="auto">
          <a:xfrm>
            <a:off x="3946525" y="1439863"/>
            <a:ext cx="2241550" cy="9604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6875" name="Line 13">
            <a:extLst>
              <a:ext uri="{FF2B5EF4-FFF2-40B4-BE49-F238E27FC236}">
                <a16:creationId xmlns:a16="http://schemas.microsoft.com/office/drawing/2014/main" id="{D2AFD329-14F5-80C7-A7A9-966F3360A36E}"/>
              </a:ext>
            </a:extLst>
          </p:cNvPr>
          <p:cNvSpPr>
            <a:spLocks noChangeShapeType="1"/>
          </p:cNvSpPr>
          <p:nvPr/>
        </p:nvSpPr>
        <p:spPr bwMode="auto">
          <a:xfrm flipV="1">
            <a:off x="3521075" y="2933700"/>
            <a:ext cx="2613025" cy="11731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10201EFE-E415-FF38-E3B8-2B6AA82E546F}"/>
              </a:ext>
            </a:extLst>
          </p:cNvPr>
          <p:cNvSpPr>
            <a:spLocks noGrp="1" noChangeArrowheads="1"/>
          </p:cNvSpPr>
          <p:nvPr>
            <p:ph type="title"/>
          </p:nvPr>
        </p:nvSpPr>
        <p:spPr/>
        <p:txBody>
          <a:bodyPr/>
          <a:lstStyle/>
          <a:p>
            <a:pPr eaLnBrk="1" hangingPunct="1"/>
            <a:r>
              <a:rPr lang="en-US" altLang="en-US" i="1"/>
              <a:t>k</a:t>
            </a:r>
            <a:r>
              <a:rPr lang="en-US" altLang="en-US"/>
              <a:t>-means procedure</a:t>
            </a:r>
          </a:p>
        </p:txBody>
      </p:sp>
      <p:sp>
        <p:nvSpPr>
          <p:cNvPr id="37891" name="Rectangle 3">
            <a:extLst>
              <a:ext uri="{FF2B5EF4-FFF2-40B4-BE49-F238E27FC236}">
                <a16:creationId xmlns:a16="http://schemas.microsoft.com/office/drawing/2014/main" id="{C72ACDEF-2996-D797-1E6E-677834841E55}"/>
              </a:ext>
            </a:extLst>
          </p:cNvPr>
          <p:cNvSpPr>
            <a:spLocks noGrp="1" noChangeArrowheads="1"/>
          </p:cNvSpPr>
          <p:nvPr>
            <p:ph type="body" sz="half" idx="1"/>
          </p:nvPr>
        </p:nvSpPr>
        <p:spPr>
          <a:xfrm>
            <a:off x="320675" y="1120775"/>
            <a:ext cx="2825750" cy="3595688"/>
          </a:xfrm>
        </p:spPr>
        <p:txBody>
          <a:bodyPr/>
          <a:lstStyle/>
          <a:p>
            <a:pPr eaLnBrk="1" hangingPunct="1">
              <a:lnSpc>
                <a:spcPct val="80000"/>
              </a:lnSpc>
            </a:pPr>
            <a:r>
              <a:rPr lang="en-US" altLang="en-US" sz="1200"/>
              <a:t>Start with a user-defined number of clusters (</a:t>
            </a:r>
            <a:r>
              <a:rPr lang="en-US" altLang="en-US" sz="1200" i="1"/>
              <a:t>k</a:t>
            </a:r>
            <a:r>
              <a:rPr lang="en-US" altLang="en-US" sz="1200"/>
              <a:t>-value)</a:t>
            </a:r>
          </a:p>
          <a:p>
            <a:pPr eaLnBrk="1" hangingPunct="1">
              <a:lnSpc>
                <a:spcPct val="80000"/>
              </a:lnSpc>
            </a:pPr>
            <a:endParaRPr lang="en-US" altLang="en-US" sz="1200"/>
          </a:p>
          <a:p>
            <a:pPr eaLnBrk="1" hangingPunct="1">
              <a:lnSpc>
                <a:spcPct val="80000"/>
              </a:lnSpc>
            </a:pPr>
            <a:r>
              <a:rPr lang="en-US" altLang="en-US" sz="1200" i="1"/>
              <a:t>k</a:t>
            </a:r>
            <a:r>
              <a:rPr lang="en-US" altLang="en-US" sz="1200"/>
              <a:t> points are projected into space to estimate the center of </a:t>
            </a:r>
            <a:r>
              <a:rPr lang="en-US" altLang="en-US" sz="1200" i="1"/>
              <a:t>k</a:t>
            </a:r>
            <a:r>
              <a:rPr lang="en-US" altLang="en-US" sz="1200"/>
              <a:t> separate clusters</a:t>
            </a:r>
          </a:p>
          <a:p>
            <a:pPr eaLnBrk="1" hangingPunct="1">
              <a:lnSpc>
                <a:spcPct val="80000"/>
              </a:lnSpc>
            </a:pPr>
            <a:endParaRPr lang="en-US" altLang="en-US" sz="1200"/>
          </a:p>
          <a:p>
            <a:pPr eaLnBrk="1" hangingPunct="1">
              <a:lnSpc>
                <a:spcPct val="80000"/>
              </a:lnSpc>
            </a:pPr>
            <a:r>
              <a:rPr lang="en-US" altLang="en-US" sz="1200"/>
              <a:t>The distances from each point to all </a:t>
            </a:r>
            <a:r>
              <a:rPr lang="en-US" altLang="en-US" sz="1200" i="1"/>
              <a:t>k</a:t>
            </a:r>
            <a:r>
              <a:rPr lang="en-US" altLang="en-US" sz="1200"/>
              <a:t> clusters are calculated to determine which points are closest to which cluster centers</a:t>
            </a:r>
          </a:p>
          <a:p>
            <a:pPr eaLnBrk="1" hangingPunct="1">
              <a:lnSpc>
                <a:spcPct val="80000"/>
              </a:lnSpc>
            </a:pPr>
            <a:endParaRPr lang="en-US" altLang="en-US" sz="1200"/>
          </a:p>
          <a:p>
            <a:pPr eaLnBrk="1" hangingPunct="1">
              <a:lnSpc>
                <a:spcPct val="80000"/>
              </a:lnSpc>
            </a:pPr>
            <a:r>
              <a:rPr lang="en-US" altLang="en-US" sz="1200"/>
              <a:t>The n-dimensional space is then partitioned into </a:t>
            </a:r>
            <a:r>
              <a:rPr lang="en-US" altLang="en-US" sz="1200" i="1"/>
              <a:t>k</a:t>
            </a:r>
            <a:r>
              <a:rPr lang="en-US" altLang="en-US" sz="1200"/>
              <a:t> regions of points</a:t>
            </a:r>
          </a:p>
          <a:p>
            <a:pPr eaLnBrk="1" hangingPunct="1">
              <a:lnSpc>
                <a:spcPct val="80000"/>
              </a:lnSpc>
            </a:pPr>
            <a:endParaRPr lang="en-US" altLang="en-US" sz="1200"/>
          </a:p>
          <a:p>
            <a:pPr eaLnBrk="1" hangingPunct="1">
              <a:lnSpc>
                <a:spcPct val="80000"/>
              </a:lnSpc>
            </a:pPr>
            <a:r>
              <a:rPr lang="en-US" altLang="en-US" sz="1200"/>
              <a:t>The </a:t>
            </a:r>
            <a:r>
              <a:rPr lang="en-US" altLang="en-US" sz="1200" i="1"/>
              <a:t>k</a:t>
            </a:r>
            <a:r>
              <a:rPr lang="en-US" altLang="en-US" sz="1200"/>
              <a:t> cluster centers are adjusted to where the middle point (centroid) of the partitioned space is located</a:t>
            </a:r>
          </a:p>
          <a:p>
            <a:pPr eaLnBrk="1" hangingPunct="1">
              <a:lnSpc>
                <a:spcPct val="80000"/>
              </a:lnSpc>
            </a:pPr>
            <a:endParaRPr lang="en-US" altLang="en-US" sz="1200"/>
          </a:p>
          <a:p>
            <a:pPr eaLnBrk="1" hangingPunct="1">
              <a:lnSpc>
                <a:spcPct val="80000"/>
              </a:lnSpc>
            </a:pPr>
            <a:r>
              <a:rPr lang="en-US" altLang="en-US" sz="1200"/>
              <a:t>This process is repeated n iterations or until convergence has occurred</a:t>
            </a:r>
            <a:endParaRPr lang="en-US" altLang="en-US" sz="1100"/>
          </a:p>
        </p:txBody>
      </p:sp>
      <p:pic>
        <p:nvPicPr>
          <p:cNvPr id="37892" name="Picture 7">
            <a:extLst>
              <a:ext uri="{FF2B5EF4-FFF2-40B4-BE49-F238E27FC236}">
                <a16:creationId xmlns:a16="http://schemas.microsoft.com/office/drawing/2014/main" id="{1D099824-6AEE-C3CE-13DC-B880085F2FC3}"/>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3122613" y="912813"/>
            <a:ext cx="3278187" cy="3887787"/>
          </a:xfr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E156868-D9D4-6AC6-30BB-1BF7CF659A04}"/>
              </a:ext>
            </a:extLst>
          </p:cNvPr>
          <p:cNvSpPr>
            <a:spLocks noGrp="1" noChangeArrowheads="1"/>
          </p:cNvSpPr>
          <p:nvPr>
            <p:ph type="title"/>
          </p:nvPr>
        </p:nvSpPr>
        <p:spPr/>
        <p:txBody>
          <a:bodyPr/>
          <a:lstStyle/>
          <a:p>
            <a:pPr eaLnBrk="1" hangingPunct="1"/>
            <a:r>
              <a:rPr lang="en-US" altLang="en-US" sz="2400" i="1"/>
              <a:t>k</a:t>
            </a:r>
            <a:r>
              <a:rPr lang="en-US" altLang="en-US" sz="2400"/>
              <a:t>-means clustering termination</a:t>
            </a:r>
          </a:p>
        </p:txBody>
      </p:sp>
      <p:sp>
        <p:nvSpPr>
          <p:cNvPr id="38915" name="Rectangle 3">
            <a:extLst>
              <a:ext uri="{FF2B5EF4-FFF2-40B4-BE49-F238E27FC236}">
                <a16:creationId xmlns:a16="http://schemas.microsoft.com/office/drawing/2014/main" id="{5ECEC9FE-87A2-D5E8-6D12-4957B7F68EA4}"/>
              </a:ext>
            </a:extLst>
          </p:cNvPr>
          <p:cNvSpPr>
            <a:spLocks noChangeArrowheads="1"/>
          </p:cNvSpPr>
          <p:nvPr/>
        </p:nvSpPr>
        <p:spPr bwMode="auto">
          <a:xfrm>
            <a:off x="320675" y="1173163"/>
            <a:ext cx="5759450" cy="357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800"/>
              <a:t>When does the algorithm terminate?</a:t>
            </a:r>
          </a:p>
          <a:p>
            <a:pPr lvl="1" eaLnBrk="1" hangingPunct="1"/>
            <a:r>
              <a:rPr lang="en-US" altLang="en-US" sz="1500"/>
              <a:t>Minimization of distortion</a:t>
            </a:r>
          </a:p>
          <a:p>
            <a:pPr lvl="1" eaLnBrk="1" hangingPunct="1"/>
            <a:endParaRPr lang="en-US" altLang="en-US" sz="1500"/>
          </a:p>
          <a:p>
            <a:pPr lvl="1" eaLnBrk="1" hangingPunct="1"/>
            <a:endParaRPr lang="en-US" altLang="en-US" sz="1500"/>
          </a:p>
          <a:p>
            <a:pPr lvl="1" eaLnBrk="1" hangingPunct="1"/>
            <a:endParaRPr lang="en-US" altLang="en-US" sz="1500"/>
          </a:p>
          <a:p>
            <a:pPr lvl="1" eaLnBrk="1" hangingPunct="1"/>
            <a:endParaRPr lang="en-US" altLang="en-US" sz="1500"/>
          </a:p>
          <a:p>
            <a:pPr lvl="1" eaLnBrk="1" hangingPunct="1">
              <a:buFont typeface="Wingdings" pitchFamily="2" charset="2"/>
              <a:buNone/>
            </a:pPr>
            <a:r>
              <a:rPr lang="en-US" altLang="en-US" sz="1500"/>
              <a:t>	and where x</a:t>
            </a:r>
            <a:r>
              <a:rPr lang="en-US" altLang="en-US" sz="1500" baseline="-25000"/>
              <a:t>i </a:t>
            </a:r>
            <a:r>
              <a:rPr lang="en-US" altLang="en-US" sz="1500"/>
              <a:t>is the </a:t>
            </a:r>
            <a:r>
              <a:rPr lang="en-US" altLang="en-US" sz="1500" i="1"/>
              <a:t>i</a:t>
            </a:r>
            <a:r>
              <a:rPr lang="en-US" altLang="en-US" sz="1500"/>
              <a:t>th point and C</a:t>
            </a:r>
            <a:r>
              <a:rPr lang="en-US" altLang="en-US" sz="1500" baseline="-25000"/>
              <a:t>j</a:t>
            </a:r>
            <a:r>
              <a:rPr lang="en-US" altLang="en-US" sz="1500"/>
              <a:t> is the </a:t>
            </a:r>
            <a:r>
              <a:rPr lang="en-US" altLang="en-US" sz="1500" i="1"/>
              <a:t>j</a:t>
            </a:r>
            <a:r>
              <a:rPr lang="en-US" altLang="en-US" sz="1500"/>
              <a:t>th cluster center</a:t>
            </a:r>
            <a:endParaRPr lang="en-US" altLang="en-US" sz="1500" baseline="-25000"/>
          </a:p>
        </p:txBody>
      </p:sp>
      <p:pic>
        <p:nvPicPr>
          <p:cNvPr id="38916" name="Picture 4">
            <a:extLst>
              <a:ext uri="{FF2B5EF4-FFF2-40B4-BE49-F238E27FC236}">
                <a16:creationId xmlns:a16="http://schemas.microsoft.com/office/drawing/2014/main" id="{E24F8DB7-B194-AA41-AB6D-CDC3953386DB}"/>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l="43613" t="53545" r="15340" b="32637"/>
          <a:stretch>
            <a:fillRect/>
          </a:stretch>
        </p:blipFill>
        <p:spPr>
          <a:xfrm>
            <a:off x="746125" y="1920875"/>
            <a:ext cx="3948113" cy="985838"/>
          </a:xfr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930A6F0-9705-0731-855B-FDD127E0E34E}"/>
              </a:ext>
            </a:extLst>
          </p:cNvPr>
          <p:cNvSpPr>
            <a:spLocks noGrp="1" noChangeArrowheads="1"/>
          </p:cNvSpPr>
          <p:nvPr>
            <p:ph type="title"/>
          </p:nvPr>
        </p:nvSpPr>
        <p:spPr>
          <a:xfrm>
            <a:off x="320675" y="53975"/>
            <a:ext cx="5280025" cy="725488"/>
          </a:xfrm>
        </p:spPr>
        <p:txBody>
          <a:bodyPr/>
          <a:lstStyle/>
          <a:p>
            <a:pPr eaLnBrk="1" hangingPunct="1"/>
            <a:r>
              <a:rPr lang="en-US" altLang="en-US" sz="2400" i="1"/>
              <a:t>k</a:t>
            </a:r>
            <a:r>
              <a:rPr lang="en-US" altLang="en-US" sz="2400"/>
              <a:t>-means pros and cons</a:t>
            </a:r>
          </a:p>
        </p:txBody>
      </p:sp>
      <p:sp>
        <p:nvSpPr>
          <p:cNvPr id="39939" name="Rectangle 3">
            <a:extLst>
              <a:ext uri="{FF2B5EF4-FFF2-40B4-BE49-F238E27FC236}">
                <a16:creationId xmlns:a16="http://schemas.microsoft.com/office/drawing/2014/main" id="{50E234B2-5813-C488-BEDE-9503972C4F6E}"/>
              </a:ext>
            </a:extLst>
          </p:cNvPr>
          <p:cNvSpPr>
            <a:spLocks noChangeArrowheads="1"/>
          </p:cNvSpPr>
          <p:nvPr/>
        </p:nvSpPr>
        <p:spPr bwMode="auto">
          <a:xfrm>
            <a:off x="320675" y="1066800"/>
            <a:ext cx="575945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800"/>
              <a:t>Advantages</a:t>
            </a:r>
          </a:p>
          <a:p>
            <a:pPr lvl="1" eaLnBrk="1" hangingPunct="1"/>
            <a:r>
              <a:rPr lang="en-US" altLang="en-US" sz="1500"/>
              <a:t>Good discovery tool</a:t>
            </a:r>
          </a:p>
          <a:p>
            <a:pPr lvl="1" eaLnBrk="1" hangingPunct="1"/>
            <a:r>
              <a:rPr lang="en-US" altLang="en-US" sz="1500"/>
              <a:t>Can alleviate fuzzy partitioning of genes/samples</a:t>
            </a:r>
          </a:p>
          <a:p>
            <a:pPr lvl="2" eaLnBrk="1" hangingPunct="1"/>
            <a:r>
              <a:rPr lang="en-US" altLang="en-US" sz="1400"/>
              <a:t>Specify </a:t>
            </a:r>
            <a:r>
              <a:rPr lang="en-US" altLang="en-US" sz="1400" i="1"/>
              <a:t>k</a:t>
            </a:r>
            <a:r>
              <a:rPr lang="en-US" altLang="en-US" sz="1400"/>
              <a:t> and algorithm will return </a:t>
            </a:r>
            <a:r>
              <a:rPr lang="en-US" altLang="en-US" sz="1400" i="1"/>
              <a:t>k</a:t>
            </a:r>
            <a:r>
              <a:rPr lang="en-US" altLang="en-US" sz="1400"/>
              <a:t> clusters</a:t>
            </a:r>
          </a:p>
          <a:p>
            <a:pPr lvl="2" eaLnBrk="1" hangingPunct="1"/>
            <a:endParaRPr lang="en-US" altLang="en-US" sz="800"/>
          </a:p>
          <a:p>
            <a:pPr eaLnBrk="1" hangingPunct="1"/>
            <a:r>
              <a:rPr lang="en-US" altLang="en-US" sz="1800"/>
              <a:t>Disadvantages</a:t>
            </a:r>
          </a:p>
          <a:p>
            <a:pPr lvl="1" eaLnBrk="1" hangingPunct="1"/>
            <a:r>
              <a:rPr lang="en-US" altLang="en-US" sz="1500"/>
              <a:t>What is the appropriate number of clusters when the data structure is unknown?</a:t>
            </a:r>
          </a:p>
          <a:p>
            <a:pPr lvl="1" eaLnBrk="1" hangingPunct="1"/>
            <a:r>
              <a:rPr lang="en-US" altLang="en-US" sz="1500"/>
              <a:t>Number of iterations necessary for convergence can be computationally expensive</a:t>
            </a:r>
          </a:p>
          <a:p>
            <a:pPr lvl="1" eaLnBrk="1" hangingPunct="1"/>
            <a:r>
              <a:rPr lang="en-US" altLang="en-US" sz="1500"/>
              <a:t>The convergence criteria for </a:t>
            </a:r>
            <a:r>
              <a:rPr lang="en-US" altLang="en-US" sz="1500" i="1"/>
              <a:t>k</a:t>
            </a:r>
            <a:r>
              <a:rPr lang="en-US" altLang="en-US" sz="1500"/>
              <a:t>-means may only provide a local optima</a:t>
            </a:r>
          </a:p>
          <a:p>
            <a:pPr lvl="1" eaLnBrk="1" hangingPunct="1"/>
            <a:r>
              <a:rPr lang="en-US" altLang="en-US" sz="1500"/>
              <a:t>Starting point may alter termination points</a:t>
            </a:r>
          </a:p>
          <a:p>
            <a:pPr lvl="1" eaLnBrk="1" hangingPunct="1"/>
            <a:r>
              <a:rPr lang="en-US" altLang="en-US" sz="1500"/>
              <a:t>Robustness in distance algorithms (similar to HCA)</a:t>
            </a:r>
            <a:endParaRPr lang="en-US" altLang="en-US" sz="1500" baseline="-25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70F328C-CBDB-2716-2986-057E4CDFA89E}"/>
              </a:ext>
            </a:extLst>
          </p:cNvPr>
          <p:cNvSpPr>
            <a:spLocks noGrp="1" noChangeArrowheads="1"/>
          </p:cNvSpPr>
          <p:nvPr>
            <p:ph type="title"/>
          </p:nvPr>
        </p:nvSpPr>
        <p:spPr>
          <a:xfrm>
            <a:off x="320675" y="266700"/>
            <a:ext cx="5280025" cy="512763"/>
          </a:xfrm>
        </p:spPr>
        <p:txBody>
          <a:bodyPr/>
          <a:lstStyle/>
          <a:p>
            <a:pPr eaLnBrk="1" hangingPunct="1"/>
            <a:r>
              <a:rPr lang="en-US" altLang="en-US"/>
              <a:t>Some clustering methods</a:t>
            </a:r>
          </a:p>
        </p:txBody>
      </p:sp>
      <p:sp>
        <p:nvSpPr>
          <p:cNvPr id="40963" name="Rectangle 3">
            <a:extLst>
              <a:ext uri="{FF2B5EF4-FFF2-40B4-BE49-F238E27FC236}">
                <a16:creationId xmlns:a16="http://schemas.microsoft.com/office/drawing/2014/main" id="{89658D56-6803-9E9F-536E-23911EE759C8}"/>
              </a:ext>
            </a:extLst>
          </p:cNvPr>
          <p:cNvSpPr>
            <a:spLocks noGrp="1" noChangeArrowheads="1"/>
          </p:cNvSpPr>
          <p:nvPr>
            <p:ph type="body" idx="1"/>
          </p:nvPr>
        </p:nvSpPr>
        <p:spPr>
          <a:xfrm>
            <a:off x="320675" y="1066800"/>
            <a:ext cx="5759450" cy="3627438"/>
          </a:xfrm>
        </p:spPr>
        <p:txBody>
          <a:bodyPr/>
          <a:lstStyle/>
          <a:p>
            <a:pPr eaLnBrk="1" hangingPunct="1"/>
            <a:r>
              <a:rPr lang="en-US" altLang="en-US" sz="2400"/>
              <a:t>There are multiple types of clustering methods</a:t>
            </a:r>
          </a:p>
          <a:p>
            <a:pPr lvl="1" eaLnBrk="1" hangingPunct="1"/>
            <a:r>
              <a:rPr lang="en-US" altLang="en-US"/>
              <a:t>Hierarchical (HCA)</a:t>
            </a:r>
          </a:p>
          <a:p>
            <a:pPr lvl="1" eaLnBrk="1" hangingPunct="1"/>
            <a:r>
              <a:rPr lang="en-US" altLang="en-US" i="1"/>
              <a:t>k</a:t>
            </a:r>
            <a:r>
              <a:rPr lang="en-US" altLang="en-US"/>
              <a:t>-means</a:t>
            </a:r>
          </a:p>
          <a:p>
            <a:pPr lvl="1" eaLnBrk="1" hangingPunct="1"/>
            <a:r>
              <a:rPr lang="en-US" altLang="en-US" b="1">
                <a:solidFill>
                  <a:srgbClr val="FF5050"/>
                </a:solidFill>
              </a:rPr>
              <a:t>Self-organizing maps (SOM)</a:t>
            </a:r>
          </a:p>
          <a:p>
            <a:pPr lvl="1" eaLnBrk="1" hangingPunct="1"/>
            <a:r>
              <a:rPr lang="en-US" altLang="en-US"/>
              <a:t>Clique partitioning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FEDC5E3-170A-8315-EDD5-6F5441F74571}"/>
              </a:ext>
            </a:extLst>
          </p:cNvPr>
          <p:cNvSpPr>
            <a:spLocks noGrp="1" noChangeArrowheads="1"/>
          </p:cNvSpPr>
          <p:nvPr>
            <p:ph type="title"/>
          </p:nvPr>
        </p:nvSpPr>
        <p:spPr>
          <a:xfrm>
            <a:off x="320675" y="266700"/>
            <a:ext cx="5280025" cy="512763"/>
          </a:xfrm>
        </p:spPr>
        <p:txBody>
          <a:bodyPr/>
          <a:lstStyle/>
          <a:p>
            <a:pPr eaLnBrk="1" hangingPunct="1"/>
            <a:r>
              <a:rPr lang="en-US" altLang="en-US"/>
              <a:t>SOMs</a:t>
            </a:r>
          </a:p>
        </p:txBody>
      </p:sp>
      <p:sp>
        <p:nvSpPr>
          <p:cNvPr id="41987" name="Rectangle 3">
            <a:extLst>
              <a:ext uri="{FF2B5EF4-FFF2-40B4-BE49-F238E27FC236}">
                <a16:creationId xmlns:a16="http://schemas.microsoft.com/office/drawing/2014/main" id="{81F93342-80FB-84E3-5728-BDD8F2E60A34}"/>
              </a:ext>
            </a:extLst>
          </p:cNvPr>
          <p:cNvSpPr>
            <a:spLocks noGrp="1" noChangeArrowheads="1"/>
          </p:cNvSpPr>
          <p:nvPr>
            <p:ph type="body" idx="1"/>
          </p:nvPr>
        </p:nvSpPr>
        <p:spPr>
          <a:xfrm>
            <a:off x="320675" y="1066800"/>
            <a:ext cx="5759450" cy="3627438"/>
          </a:xfrm>
        </p:spPr>
        <p:txBody>
          <a:bodyPr/>
          <a:lstStyle/>
          <a:p>
            <a:pPr eaLnBrk="1" hangingPunct="1"/>
            <a:r>
              <a:rPr lang="en-US" altLang="en-US" sz="2400"/>
              <a:t>Self-organizing maps are an iterative fitting algorithm similar to k-means</a:t>
            </a:r>
          </a:p>
          <a:p>
            <a:pPr eaLnBrk="1" hangingPunct="1"/>
            <a:endParaRPr lang="en-US" altLang="en-US"/>
          </a:p>
          <a:p>
            <a:pPr eaLnBrk="1" hangingPunct="1"/>
            <a:r>
              <a:rPr lang="en-US" altLang="en-US"/>
              <a:t>The grid shape and size are the parameters that are user defined</a:t>
            </a:r>
          </a:p>
          <a:p>
            <a:pPr lvl="1" eaLnBrk="1" hangingPunct="1"/>
            <a:r>
              <a:rPr lang="en-US" altLang="en-US"/>
              <a:t>Similar to the </a:t>
            </a:r>
            <a:r>
              <a:rPr lang="en-US" altLang="en-US" i="1"/>
              <a:t>k</a:t>
            </a:r>
            <a:r>
              <a:rPr lang="en-US" altLang="en-US"/>
              <a:t> clusters from </a:t>
            </a:r>
            <a:r>
              <a:rPr lang="en-US" altLang="en-US" i="1"/>
              <a:t>k</a:t>
            </a:r>
            <a:r>
              <a:rPr lang="en-US" altLang="en-US"/>
              <a:t>-means</a:t>
            </a:r>
          </a:p>
          <a:p>
            <a:pPr lvl="1" eaLnBrk="1" hangingPunct="1"/>
            <a:r>
              <a:rPr lang="en-US" altLang="en-US"/>
              <a:t>Hexagonal, rectangular, etc.</a:t>
            </a:r>
          </a:p>
          <a:p>
            <a:pPr lvl="1" eaLnBrk="1" hangingPunct="1"/>
            <a:r>
              <a:rPr lang="en-US" altLang="en-US"/>
              <a:t>Dimensions (e.g. 3x4)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CE9D1C3-6D78-EDB0-7E3D-F596DF4D564E}"/>
              </a:ext>
            </a:extLst>
          </p:cNvPr>
          <p:cNvSpPr>
            <a:spLocks noGrp="1" noChangeArrowheads="1"/>
          </p:cNvSpPr>
          <p:nvPr>
            <p:ph type="title"/>
          </p:nvPr>
        </p:nvSpPr>
        <p:spPr/>
        <p:txBody>
          <a:bodyPr/>
          <a:lstStyle/>
          <a:p>
            <a:pPr eaLnBrk="1" hangingPunct="1"/>
            <a:r>
              <a:rPr lang="en-US" altLang="en-US"/>
              <a:t>SOM procedure</a:t>
            </a:r>
            <a:r>
              <a:rPr lang="en-US" altLang="en-US" baseline="30000"/>
              <a:t>3</a:t>
            </a:r>
          </a:p>
        </p:txBody>
      </p:sp>
      <p:sp>
        <p:nvSpPr>
          <p:cNvPr id="43011" name="Rectangle 3">
            <a:extLst>
              <a:ext uri="{FF2B5EF4-FFF2-40B4-BE49-F238E27FC236}">
                <a16:creationId xmlns:a16="http://schemas.microsoft.com/office/drawing/2014/main" id="{D9B8DC98-E53E-C5E9-014C-645DE7ACD6D0}"/>
              </a:ext>
            </a:extLst>
          </p:cNvPr>
          <p:cNvSpPr>
            <a:spLocks noGrp="1" noChangeArrowheads="1"/>
          </p:cNvSpPr>
          <p:nvPr>
            <p:ph type="body" sz="half" idx="1"/>
          </p:nvPr>
        </p:nvSpPr>
        <p:spPr>
          <a:xfrm>
            <a:off x="320675" y="1120775"/>
            <a:ext cx="2825750" cy="3595688"/>
          </a:xfrm>
        </p:spPr>
        <p:txBody>
          <a:bodyPr/>
          <a:lstStyle/>
          <a:p>
            <a:pPr eaLnBrk="1" hangingPunct="1"/>
            <a:r>
              <a:rPr lang="en-US" altLang="en-US" sz="1100"/>
              <a:t>A initial grid type of n x m dimensions is specified</a:t>
            </a:r>
          </a:p>
          <a:p>
            <a:pPr eaLnBrk="1" hangingPunct="1"/>
            <a:endParaRPr lang="en-US" altLang="en-US" sz="1100"/>
          </a:p>
        </p:txBody>
      </p:sp>
      <p:sp>
        <p:nvSpPr>
          <p:cNvPr id="43012" name="Rectangle 13">
            <a:extLst>
              <a:ext uri="{FF2B5EF4-FFF2-40B4-BE49-F238E27FC236}">
                <a16:creationId xmlns:a16="http://schemas.microsoft.com/office/drawing/2014/main" id="{C3725CA3-7F6A-0241-D38E-7CA3AF9E7869}"/>
              </a:ext>
            </a:extLst>
          </p:cNvPr>
          <p:cNvSpPr>
            <a:spLocks noChangeArrowheads="1"/>
          </p:cNvSpPr>
          <p:nvPr/>
        </p:nvSpPr>
        <p:spPr bwMode="auto">
          <a:xfrm>
            <a:off x="3627438" y="1600200"/>
            <a:ext cx="2667000" cy="2667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43013" name="Line 14">
            <a:extLst>
              <a:ext uri="{FF2B5EF4-FFF2-40B4-BE49-F238E27FC236}">
                <a16:creationId xmlns:a16="http://schemas.microsoft.com/office/drawing/2014/main" id="{F3CCD2B5-A405-26BB-C806-F54B294561DF}"/>
              </a:ext>
            </a:extLst>
          </p:cNvPr>
          <p:cNvSpPr>
            <a:spLocks noChangeShapeType="1"/>
          </p:cNvSpPr>
          <p:nvPr/>
        </p:nvSpPr>
        <p:spPr bwMode="auto">
          <a:xfrm>
            <a:off x="3627438" y="21336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4" name="Line 15">
            <a:extLst>
              <a:ext uri="{FF2B5EF4-FFF2-40B4-BE49-F238E27FC236}">
                <a16:creationId xmlns:a16="http://schemas.microsoft.com/office/drawing/2014/main" id="{D81E506E-874E-9A4A-FE07-6E9F9941150B}"/>
              </a:ext>
            </a:extLst>
          </p:cNvPr>
          <p:cNvSpPr>
            <a:spLocks noChangeShapeType="1"/>
          </p:cNvSpPr>
          <p:nvPr/>
        </p:nvSpPr>
        <p:spPr bwMode="auto">
          <a:xfrm>
            <a:off x="3627438" y="26670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5" name="Line 16">
            <a:extLst>
              <a:ext uri="{FF2B5EF4-FFF2-40B4-BE49-F238E27FC236}">
                <a16:creationId xmlns:a16="http://schemas.microsoft.com/office/drawing/2014/main" id="{DC4BB0C9-BCE1-BC20-5C1D-AB34B1D67E32}"/>
              </a:ext>
            </a:extLst>
          </p:cNvPr>
          <p:cNvSpPr>
            <a:spLocks noChangeShapeType="1"/>
          </p:cNvSpPr>
          <p:nvPr/>
        </p:nvSpPr>
        <p:spPr bwMode="auto">
          <a:xfrm>
            <a:off x="3627438" y="32004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 name="Line 17">
            <a:extLst>
              <a:ext uri="{FF2B5EF4-FFF2-40B4-BE49-F238E27FC236}">
                <a16:creationId xmlns:a16="http://schemas.microsoft.com/office/drawing/2014/main" id="{3C5A0AD0-C51B-E78C-0A6D-0078189E98E4}"/>
              </a:ext>
            </a:extLst>
          </p:cNvPr>
          <p:cNvSpPr>
            <a:spLocks noChangeShapeType="1"/>
          </p:cNvSpPr>
          <p:nvPr/>
        </p:nvSpPr>
        <p:spPr bwMode="auto">
          <a:xfrm>
            <a:off x="3627438" y="37338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 name="Line 18">
            <a:extLst>
              <a:ext uri="{FF2B5EF4-FFF2-40B4-BE49-F238E27FC236}">
                <a16:creationId xmlns:a16="http://schemas.microsoft.com/office/drawing/2014/main" id="{242FCFA5-EDD9-933E-5BA9-C76D54E3CC36}"/>
              </a:ext>
            </a:extLst>
          </p:cNvPr>
          <p:cNvSpPr>
            <a:spLocks noChangeShapeType="1"/>
          </p:cNvSpPr>
          <p:nvPr/>
        </p:nvSpPr>
        <p:spPr bwMode="auto">
          <a:xfrm>
            <a:off x="4213225"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 name="Line 19">
            <a:extLst>
              <a:ext uri="{FF2B5EF4-FFF2-40B4-BE49-F238E27FC236}">
                <a16:creationId xmlns:a16="http://schemas.microsoft.com/office/drawing/2014/main" id="{B88CE9FE-54E2-C769-B693-685B58E24071}"/>
              </a:ext>
            </a:extLst>
          </p:cNvPr>
          <p:cNvSpPr>
            <a:spLocks noChangeShapeType="1"/>
          </p:cNvSpPr>
          <p:nvPr/>
        </p:nvSpPr>
        <p:spPr bwMode="auto">
          <a:xfrm>
            <a:off x="4906963"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 name="Line 20">
            <a:extLst>
              <a:ext uri="{FF2B5EF4-FFF2-40B4-BE49-F238E27FC236}">
                <a16:creationId xmlns:a16="http://schemas.microsoft.com/office/drawing/2014/main" id="{02A4B246-1C22-AB0B-F025-7C6B1AD32A5A}"/>
              </a:ext>
            </a:extLst>
          </p:cNvPr>
          <p:cNvSpPr>
            <a:spLocks noChangeShapeType="1"/>
          </p:cNvSpPr>
          <p:nvPr/>
        </p:nvSpPr>
        <p:spPr bwMode="auto">
          <a:xfrm>
            <a:off x="5600700"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04A6A9C-EECA-2903-D1A4-9052D0176D79}"/>
              </a:ext>
            </a:extLst>
          </p:cNvPr>
          <p:cNvSpPr>
            <a:spLocks noGrp="1" noChangeArrowheads="1"/>
          </p:cNvSpPr>
          <p:nvPr>
            <p:ph type="title"/>
          </p:nvPr>
        </p:nvSpPr>
        <p:spPr/>
        <p:txBody>
          <a:bodyPr/>
          <a:lstStyle/>
          <a:p>
            <a:pPr eaLnBrk="1" hangingPunct="1"/>
            <a:r>
              <a:rPr lang="en-US" altLang="en-US"/>
              <a:t>SOM procedure</a:t>
            </a:r>
            <a:r>
              <a:rPr lang="en-US" altLang="en-US" baseline="30000"/>
              <a:t>3</a:t>
            </a:r>
          </a:p>
        </p:txBody>
      </p:sp>
      <p:sp>
        <p:nvSpPr>
          <p:cNvPr id="44035" name="Rectangle 3">
            <a:extLst>
              <a:ext uri="{FF2B5EF4-FFF2-40B4-BE49-F238E27FC236}">
                <a16:creationId xmlns:a16="http://schemas.microsoft.com/office/drawing/2014/main" id="{7AB76CAC-43ED-5F5F-84D7-2DB962E66CFC}"/>
              </a:ext>
            </a:extLst>
          </p:cNvPr>
          <p:cNvSpPr>
            <a:spLocks noGrp="1" noChangeArrowheads="1"/>
          </p:cNvSpPr>
          <p:nvPr>
            <p:ph type="body" sz="half" idx="1"/>
          </p:nvPr>
        </p:nvSpPr>
        <p:spPr>
          <a:xfrm>
            <a:off x="320675" y="1120775"/>
            <a:ext cx="2825750" cy="3595688"/>
          </a:xfrm>
        </p:spPr>
        <p:txBody>
          <a:bodyPr/>
          <a:lstStyle/>
          <a:p>
            <a:pPr eaLnBrk="1" hangingPunct="1"/>
            <a:r>
              <a:rPr lang="en-US" altLang="en-US" sz="1100"/>
              <a:t>The cells in the grid are identified as nodes and each node is initialized with some random weight (vector of weights)</a:t>
            </a:r>
          </a:p>
          <a:p>
            <a:pPr eaLnBrk="1" hangingPunct="1"/>
            <a:endParaRPr lang="en-US" altLang="en-US" sz="1100"/>
          </a:p>
        </p:txBody>
      </p:sp>
      <p:sp>
        <p:nvSpPr>
          <p:cNvPr id="44036" name="Rectangle 4">
            <a:extLst>
              <a:ext uri="{FF2B5EF4-FFF2-40B4-BE49-F238E27FC236}">
                <a16:creationId xmlns:a16="http://schemas.microsoft.com/office/drawing/2014/main" id="{70CBB389-4097-107A-488F-971AE8951303}"/>
              </a:ext>
            </a:extLst>
          </p:cNvPr>
          <p:cNvSpPr>
            <a:spLocks noChangeArrowheads="1"/>
          </p:cNvSpPr>
          <p:nvPr/>
        </p:nvSpPr>
        <p:spPr bwMode="auto">
          <a:xfrm>
            <a:off x="3627438" y="1600200"/>
            <a:ext cx="2667000" cy="2667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44037" name="Line 5">
            <a:extLst>
              <a:ext uri="{FF2B5EF4-FFF2-40B4-BE49-F238E27FC236}">
                <a16:creationId xmlns:a16="http://schemas.microsoft.com/office/drawing/2014/main" id="{59B4C9D1-7D57-BCED-C001-65B32D0ACD6D}"/>
              </a:ext>
            </a:extLst>
          </p:cNvPr>
          <p:cNvSpPr>
            <a:spLocks noChangeShapeType="1"/>
          </p:cNvSpPr>
          <p:nvPr/>
        </p:nvSpPr>
        <p:spPr bwMode="auto">
          <a:xfrm>
            <a:off x="3627438" y="21336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8" name="Line 6">
            <a:extLst>
              <a:ext uri="{FF2B5EF4-FFF2-40B4-BE49-F238E27FC236}">
                <a16:creationId xmlns:a16="http://schemas.microsoft.com/office/drawing/2014/main" id="{062DF7C8-0498-AA68-4924-525E10BFE69F}"/>
              </a:ext>
            </a:extLst>
          </p:cNvPr>
          <p:cNvSpPr>
            <a:spLocks noChangeShapeType="1"/>
          </p:cNvSpPr>
          <p:nvPr/>
        </p:nvSpPr>
        <p:spPr bwMode="auto">
          <a:xfrm>
            <a:off x="3627438" y="26670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39" name="Line 7">
            <a:extLst>
              <a:ext uri="{FF2B5EF4-FFF2-40B4-BE49-F238E27FC236}">
                <a16:creationId xmlns:a16="http://schemas.microsoft.com/office/drawing/2014/main" id="{EAD6A3C6-0677-CBD1-511D-17A97005EEC7}"/>
              </a:ext>
            </a:extLst>
          </p:cNvPr>
          <p:cNvSpPr>
            <a:spLocks noChangeShapeType="1"/>
          </p:cNvSpPr>
          <p:nvPr/>
        </p:nvSpPr>
        <p:spPr bwMode="auto">
          <a:xfrm>
            <a:off x="3627438" y="32004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0" name="Line 8">
            <a:extLst>
              <a:ext uri="{FF2B5EF4-FFF2-40B4-BE49-F238E27FC236}">
                <a16:creationId xmlns:a16="http://schemas.microsoft.com/office/drawing/2014/main" id="{BD85D10E-3A3A-B881-6B54-7195162EDFB2}"/>
              </a:ext>
            </a:extLst>
          </p:cNvPr>
          <p:cNvSpPr>
            <a:spLocks noChangeShapeType="1"/>
          </p:cNvSpPr>
          <p:nvPr/>
        </p:nvSpPr>
        <p:spPr bwMode="auto">
          <a:xfrm>
            <a:off x="3627438" y="37338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1" name="Line 9">
            <a:extLst>
              <a:ext uri="{FF2B5EF4-FFF2-40B4-BE49-F238E27FC236}">
                <a16:creationId xmlns:a16="http://schemas.microsoft.com/office/drawing/2014/main" id="{8E3FBBE7-3D12-7887-EDCE-BCA3D99CC8C2}"/>
              </a:ext>
            </a:extLst>
          </p:cNvPr>
          <p:cNvSpPr>
            <a:spLocks noChangeShapeType="1"/>
          </p:cNvSpPr>
          <p:nvPr/>
        </p:nvSpPr>
        <p:spPr bwMode="auto">
          <a:xfrm>
            <a:off x="4213225"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2" name="Line 10">
            <a:extLst>
              <a:ext uri="{FF2B5EF4-FFF2-40B4-BE49-F238E27FC236}">
                <a16:creationId xmlns:a16="http://schemas.microsoft.com/office/drawing/2014/main" id="{E7E3E31D-7F73-6F0F-C13B-4706538F65A3}"/>
              </a:ext>
            </a:extLst>
          </p:cNvPr>
          <p:cNvSpPr>
            <a:spLocks noChangeShapeType="1"/>
          </p:cNvSpPr>
          <p:nvPr/>
        </p:nvSpPr>
        <p:spPr bwMode="auto">
          <a:xfrm>
            <a:off x="4906963"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3" name="Line 11">
            <a:extLst>
              <a:ext uri="{FF2B5EF4-FFF2-40B4-BE49-F238E27FC236}">
                <a16:creationId xmlns:a16="http://schemas.microsoft.com/office/drawing/2014/main" id="{702E7464-FD79-B532-D14F-C283665F3F82}"/>
              </a:ext>
            </a:extLst>
          </p:cNvPr>
          <p:cNvSpPr>
            <a:spLocks noChangeShapeType="1"/>
          </p:cNvSpPr>
          <p:nvPr/>
        </p:nvSpPr>
        <p:spPr bwMode="auto">
          <a:xfrm>
            <a:off x="5600700"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044" name="Text Box 12">
            <a:extLst>
              <a:ext uri="{FF2B5EF4-FFF2-40B4-BE49-F238E27FC236}">
                <a16:creationId xmlns:a16="http://schemas.microsoft.com/office/drawing/2014/main" id="{58DF7047-D10E-C4BD-B7E4-007CA9410F34}"/>
              </a:ext>
            </a:extLst>
          </p:cNvPr>
          <p:cNvSpPr txBox="1">
            <a:spLocks noChangeArrowheads="1"/>
          </p:cNvSpPr>
          <p:nvPr/>
        </p:nvSpPr>
        <p:spPr bwMode="auto">
          <a:xfrm>
            <a:off x="37338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a:t>
            </a:r>
          </a:p>
        </p:txBody>
      </p:sp>
      <p:sp>
        <p:nvSpPr>
          <p:cNvPr id="44045" name="Text Box 13">
            <a:extLst>
              <a:ext uri="{FF2B5EF4-FFF2-40B4-BE49-F238E27FC236}">
                <a16:creationId xmlns:a16="http://schemas.microsoft.com/office/drawing/2014/main" id="{6CA29FFA-8911-F672-2929-C569BC538AB8}"/>
              </a:ext>
            </a:extLst>
          </p:cNvPr>
          <p:cNvSpPr txBox="1">
            <a:spLocks noChangeArrowheads="1"/>
          </p:cNvSpPr>
          <p:nvPr/>
        </p:nvSpPr>
        <p:spPr bwMode="auto">
          <a:xfrm>
            <a:off x="4427538" y="1812925"/>
            <a:ext cx="3190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a:t>
            </a:r>
          </a:p>
        </p:txBody>
      </p:sp>
      <p:sp>
        <p:nvSpPr>
          <p:cNvPr id="44046" name="Text Box 14">
            <a:extLst>
              <a:ext uri="{FF2B5EF4-FFF2-40B4-BE49-F238E27FC236}">
                <a16:creationId xmlns:a16="http://schemas.microsoft.com/office/drawing/2014/main" id="{65D196CB-AED1-3A32-A73B-EC542DC412CD}"/>
              </a:ext>
            </a:extLst>
          </p:cNvPr>
          <p:cNvSpPr txBox="1">
            <a:spLocks noChangeArrowheads="1"/>
          </p:cNvSpPr>
          <p:nvPr/>
        </p:nvSpPr>
        <p:spPr bwMode="auto">
          <a:xfrm>
            <a:off x="50673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3</a:t>
            </a:r>
          </a:p>
        </p:txBody>
      </p:sp>
      <p:sp>
        <p:nvSpPr>
          <p:cNvPr id="44047" name="Text Box 15">
            <a:extLst>
              <a:ext uri="{FF2B5EF4-FFF2-40B4-BE49-F238E27FC236}">
                <a16:creationId xmlns:a16="http://schemas.microsoft.com/office/drawing/2014/main" id="{9BA23F09-8D0B-E68E-C700-63807E9DC610}"/>
              </a:ext>
            </a:extLst>
          </p:cNvPr>
          <p:cNvSpPr txBox="1">
            <a:spLocks noChangeArrowheads="1"/>
          </p:cNvSpPr>
          <p:nvPr/>
        </p:nvSpPr>
        <p:spPr bwMode="auto">
          <a:xfrm>
            <a:off x="5121275" y="2827338"/>
            <a:ext cx="319088"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11</a:t>
            </a:r>
          </a:p>
        </p:txBody>
      </p:sp>
      <p:sp>
        <p:nvSpPr>
          <p:cNvPr id="44048" name="Text Box 16">
            <a:extLst>
              <a:ext uri="{FF2B5EF4-FFF2-40B4-BE49-F238E27FC236}">
                <a16:creationId xmlns:a16="http://schemas.microsoft.com/office/drawing/2014/main" id="{697FFF87-B63F-0504-5EB3-BEB6657A3E57}"/>
              </a:ext>
            </a:extLst>
          </p:cNvPr>
          <p:cNvSpPr txBox="1">
            <a:spLocks noChangeArrowheads="1"/>
          </p:cNvSpPr>
          <p:nvPr/>
        </p:nvSpPr>
        <p:spPr bwMode="auto">
          <a:xfrm>
            <a:off x="5121275" y="2346325"/>
            <a:ext cx="31908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7</a:t>
            </a:r>
          </a:p>
        </p:txBody>
      </p:sp>
      <p:sp>
        <p:nvSpPr>
          <p:cNvPr id="44049" name="Text Box 22">
            <a:extLst>
              <a:ext uri="{FF2B5EF4-FFF2-40B4-BE49-F238E27FC236}">
                <a16:creationId xmlns:a16="http://schemas.microsoft.com/office/drawing/2014/main" id="{15372BF4-86A0-81D9-BB8D-CEE9F72DDB39}"/>
              </a:ext>
            </a:extLst>
          </p:cNvPr>
          <p:cNvSpPr txBox="1">
            <a:spLocks noChangeArrowheads="1"/>
          </p:cNvSpPr>
          <p:nvPr/>
        </p:nvSpPr>
        <p:spPr bwMode="auto">
          <a:xfrm>
            <a:off x="5808663" y="18129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4</a:t>
            </a:r>
          </a:p>
        </p:txBody>
      </p:sp>
      <p:sp>
        <p:nvSpPr>
          <p:cNvPr id="44050" name="Text Box 22">
            <a:extLst>
              <a:ext uri="{FF2B5EF4-FFF2-40B4-BE49-F238E27FC236}">
                <a16:creationId xmlns:a16="http://schemas.microsoft.com/office/drawing/2014/main" id="{C59C0A9E-E694-6E7E-5398-2064DC43FDD9}"/>
              </a:ext>
            </a:extLst>
          </p:cNvPr>
          <p:cNvSpPr txBox="1">
            <a:spLocks noChangeArrowheads="1"/>
          </p:cNvSpPr>
          <p:nvPr/>
        </p:nvSpPr>
        <p:spPr bwMode="auto">
          <a:xfrm>
            <a:off x="3775075" y="2374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5</a:t>
            </a:r>
          </a:p>
        </p:txBody>
      </p:sp>
      <p:sp>
        <p:nvSpPr>
          <p:cNvPr id="44051" name="Text Box 22">
            <a:extLst>
              <a:ext uri="{FF2B5EF4-FFF2-40B4-BE49-F238E27FC236}">
                <a16:creationId xmlns:a16="http://schemas.microsoft.com/office/drawing/2014/main" id="{A297ACCF-6A90-EED8-6AED-EDF594D41613}"/>
              </a:ext>
            </a:extLst>
          </p:cNvPr>
          <p:cNvSpPr txBox="1">
            <a:spLocks noChangeArrowheads="1"/>
          </p:cNvSpPr>
          <p:nvPr/>
        </p:nvSpPr>
        <p:spPr bwMode="auto">
          <a:xfrm>
            <a:off x="4451350" y="236855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6</a:t>
            </a:r>
          </a:p>
        </p:txBody>
      </p:sp>
      <p:sp>
        <p:nvSpPr>
          <p:cNvPr id="44052" name="Text Box 22">
            <a:extLst>
              <a:ext uri="{FF2B5EF4-FFF2-40B4-BE49-F238E27FC236}">
                <a16:creationId xmlns:a16="http://schemas.microsoft.com/office/drawing/2014/main" id="{BC8FBD77-9516-7B38-6989-99976C471501}"/>
              </a:ext>
            </a:extLst>
          </p:cNvPr>
          <p:cNvSpPr txBox="1">
            <a:spLocks noChangeArrowheads="1"/>
          </p:cNvSpPr>
          <p:nvPr/>
        </p:nvSpPr>
        <p:spPr bwMode="auto">
          <a:xfrm>
            <a:off x="5851525" y="23463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8</a:t>
            </a:r>
          </a:p>
        </p:txBody>
      </p:sp>
      <p:sp>
        <p:nvSpPr>
          <p:cNvPr id="44053" name="Text Box 22">
            <a:extLst>
              <a:ext uri="{FF2B5EF4-FFF2-40B4-BE49-F238E27FC236}">
                <a16:creationId xmlns:a16="http://schemas.microsoft.com/office/drawing/2014/main" id="{12DC1C47-FBFA-C20A-FC76-F0C2B8036933}"/>
              </a:ext>
            </a:extLst>
          </p:cNvPr>
          <p:cNvSpPr txBox="1">
            <a:spLocks noChangeArrowheads="1"/>
          </p:cNvSpPr>
          <p:nvPr/>
        </p:nvSpPr>
        <p:spPr bwMode="auto">
          <a:xfrm>
            <a:off x="3775075"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9</a:t>
            </a:r>
          </a:p>
        </p:txBody>
      </p:sp>
      <p:sp>
        <p:nvSpPr>
          <p:cNvPr id="44054" name="Text Box 22">
            <a:extLst>
              <a:ext uri="{FF2B5EF4-FFF2-40B4-BE49-F238E27FC236}">
                <a16:creationId xmlns:a16="http://schemas.microsoft.com/office/drawing/2014/main" id="{877139DF-7AF8-3935-5644-B78F80238F0B}"/>
              </a:ext>
            </a:extLst>
          </p:cNvPr>
          <p:cNvSpPr txBox="1">
            <a:spLocks noChangeArrowheads="1"/>
          </p:cNvSpPr>
          <p:nvPr/>
        </p:nvSpPr>
        <p:spPr bwMode="auto">
          <a:xfrm>
            <a:off x="4416425" y="285273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10</a:t>
            </a:r>
          </a:p>
        </p:txBody>
      </p:sp>
      <p:sp>
        <p:nvSpPr>
          <p:cNvPr id="44055" name="Text Box 22">
            <a:extLst>
              <a:ext uri="{FF2B5EF4-FFF2-40B4-BE49-F238E27FC236}">
                <a16:creationId xmlns:a16="http://schemas.microsoft.com/office/drawing/2014/main" id="{1606C4BA-0270-99D4-F007-29760CF61CBD}"/>
              </a:ext>
            </a:extLst>
          </p:cNvPr>
          <p:cNvSpPr txBox="1">
            <a:spLocks noChangeArrowheads="1"/>
          </p:cNvSpPr>
          <p:nvPr/>
        </p:nvSpPr>
        <p:spPr bwMode="auto">
          <a:xfrm>
            <a:off x="5816600"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12</a:t>
            </a:r>
          </a:p>
        </p:txBody>
      </p:sp>
      <p:sp>
        <p:nvSpPr>
          <p:cNvPr id="44056" name="Text Box 22">
            <a:extLst>
              <a:ext uri="{FF2B5EF4-FFF2-40B4-BE49-F238E27FC236}">
                <a16:creationId xmlns:a16="http://schemas.microsoft.com/office/drawing/2014/main" id="{B44FE89A-BC24-DDE3-D0A3-50B5040BD788}"/>
              </a:ext>
            </a:extLst>
          </p:cNvPr>
          <p:cNvSpPr txBox="1">
            <a:spLocks noChangeArrowheads="1"/>
          </p:cNvSpPr>
          <p:nvPr/>
        </p:nvSpPr>
        <p:spPr bwMode="auto">
          <a:xfrm>
            <a:off x="376078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13</a:t>
            </a:r>
          </a:p>
        </p:txBody>
      </p:sp>
      <p:sp>
        <p:nvSpPr>
          <p:cNvPr id="44057" name="Text Box 22">
            <a:extLst>
              <a:ext uri="{FF2B5EF4-FFF2-40B4-BE49-F238E27FC236}">
                <a16:creationId xmlns:a16="http://schemas.microsoft.com/office/drawing/2014/main" id="{160F0A2F-6E5C-D4F1-A4C7-04A732D47400}"/>
              </a:ext>
            </a:extLst>
          </p:cNvPr>
          <p:cNvSpPr txBox="1">
            <a:spLocks noChangeArrowheads="1"/>
          </p:cNvSpPr>
          <p:nvPr/>
        </p:nvSpPr>
        <p:spPr bwMode="auto">
          <a:xfrm>
            <a:off x="4451350"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14</a:t>
            </a:r>
          </a:p>
        </p:txBody>
      </p:sp>
      <p:sp>
        <p:nvSpPr>
          <p:cNvPr id="44058" name="Text Box 22">
            <a:extLst>
              <a:ext uri="{FF2B5EF4-FFF2-40B4-BE49-F238E27FC236}">
                <a16:creationId xmlns:a16="http://schemas.microsoft.com/office/drawing/2014/main" id="{B5C4EF2C-57D8-3DA9-65DA-7FDF1EE4CDCD}"/>
              </a:ext>
            </a:extLst>
          </p:cNvPr>
          <p:cNvSpPr txBox="1">
            <a:spLocks noChangeArrowheads="1"/>
          </p:cNvSpPr>
          <p:nvPr/>
        </p:nvSpPr>
        <p:spPr bwMode="auto">
          <a:xfrm>
            <a:off x="511333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15</a:t>
            </a:r>
          </a:p>
        </p:txBody>
      </p:sp>
      <p:sp>
        <p:nvSpPr>
          <p:cNvPr id="44059" name="Text Box 22">
            <a:extLst>
              <a:ext uri="{FF2B5EF4-FFF2-40B4-BE49-F238E27FC236}">
                <a16:creationId xmlns:a16="http://schemas.microsoft.com/office/drawing/2014/main" id="{218D1396-0C07-0028-C9AA-4D277B609A52}"/>
              </a:ext>
            </a:extLst>
          </p:cNvPr>
          <p:cNvSpPr txBox="1">
            <a:spLocks noChangeArrowheads="1"/>
          </p:cNvSpPr>
          <p:nvPr/>
        </p:nvSpPr>
        <p:spPr bwMode="auto">
          <a:xfrm>
            <a:off x="5851525" y="3395663"/>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16</a:t>
            </a:r>
          </a:p>
        </p:txBody>
      </p:sp>
      <p:sp>
        <p:nvSpPr>
          <p:cNvPr id="44060" name="Text Box 22">
            <a:extLst>
              <a:ext uri="{FF2B5EF4-FFF2-40B4-BE49-F238E27FC236}">
                <a16:creationId xmlns:a16="http://schemas.microsoft.com/office/drawing/2014/main" id="{9B4DB530-3418-902D-E295-48CF1B0696BD}"/>
              </a:ext>
            </a:extLst>
          </p:cNvPr>
          <p:cNvSpPr txBox="1">
            <a:spLocks noChangeArrowheads="1"/>
          </p:cNvSpPr>
          <p:nvPr/>
        </p:nvSpPr>
        <p:spPr bwMode="auto">
          <a:xfrm>
            <a:off x="3789363" y="390048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17</a:t>
            </a:r>
          </a:p>
        </p:txBody>
      </p:sp>
      <p:sp>
        <p:nvSpPr>
          <p:cNvPr id="44061" name="Text Box 22">
            <a:extLst>
              <a:ext uri="{FF2B5EF4-FFF2-40B4-BE49-F238E27FC236}">
                <a16:creationId xmlns:a16="http://schemas.microsoft.com/office/drawing/2014/main" id="{D627DF04-5B7A-4CF9-2AD1-D0E253FFF6EF}"/>
              </a:ext>
            </a:extLst>
          </p:cNvPr>
          <p:cNvSpPr txBox="1">
            <a:spLocks noChangeArrowheads="1"/>
          </p:cNvSpPr>
          <p:nvPr/>
        </p:nvSpPr>
        <p:spPr bwMode="auto">
          <a:xfrm>
            <a:off x="4451350" y="3898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18</a:t>
            </a:r>
          </a:p>
        </p:txBody>
      </p:sp>
      <p:sp>
        <p:nvSpPr>
          <p:cNvPr id="44062" name="Text Box 22">
            <a:extLst>
              <a:ext uri="{FF2B5EF4-FFF2-40B4-BE49-F238E27FC236}">
                <a16:creationId xmlns:a16="http://schemas.microsoft.com/office/drawing/2014/main" id="{E563E431-CBE6-AD0C-E4D9-F2CDB87523EC}"/>
              </a:ext>
            </a:extLst>
          </p:cNvPr>
          <p:cNvSpPr txBox="1">
            <a:spLocks noChangeArrowheads="1"/>
          </p:cNvSpPr>
          <p:nvPr/>
        </p:nvSpPr>
        <p:spPr bwMode="auto">
          <a:xfrm>
            <a:off x="5129213"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19</a:t>
            </a:r>
          </a:p>
        </p:txBody>
      </p:sp>
      <p:sp>
        <p:nvSpPr>
          <p:cNvPr id="44063" name="Text Box 22">
            <a:extLst>
              <a:ext uri="{FF2B5EF4-FFF2-40B4-BE49-F238E27FC236}">
                <a16:creationId xmlns:a16="http://schemas.microsoft.com/office/drawing/2014/main" id="{71222606-970B-024C-CADF-8AC72D57FC19}"/>
              </a:ext>
            </a:extLst>
          </p:cNvPr>
          <p:cNvSpPr txBox="1">
            <a:spLocks noChangeArrowheads="1"/>
          </p:cNvSpPr>
          <p:nvPr/>
        </p:nvSpPr>
        <p:spPr bwMode="auto">
          <a:xfrm>
            <a:off x="5851525"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20</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B73DE91-4CC1-4612-34FC-E6D21789B28A}"/>
              </a:ext>
            </a:extLst>
          </p:cNvPr>
          <p:cNvSpPr>
            <a:spLocks noGrp="1" noChangeArrowheads="1"/>
          </p:cNvSpPr>
          <p:nvPr>
            <p:ph type="title"/>
          </p:nvPr>
        </p:nvSpPr>
        <p:spPr/>
        <p:txBody>
          <a:bodyPr/>
          <a:lstStyle/>
          <a:p>
            <a:pPr eaLnBrk="1" hangingPunct="1"/>
            <a:r>
              <a:rPr lang="en-US" altLang="en-US"/>
              <a:t>SOM procedure</a:t>
            </a:r>
            <a:r>
              <a:rPr lang="en-US" altLang="en-US" baseline="30000"/>
              <a:t>3</a:t>
            </a:r>
          </a:p>
        </p:txBody>
      </p:sp>
      <p:sp>
        <p:nvSpPr>
          <p:cNvPr id="45059" name="Rectangle 3">
            <a:extLst>
              <a:ext uri="{FF2B5EF4-FFF2-40B4-BE49-F238E27FC236}">
                <a16:creationId xmlns:a16="http://schemas.microsoft.com/office/drawing/2014/main" id="{918CDC1B-FCBA-EC34-B909-794DA5773E7B}"/>
              </a:ext>
            </a:extLst>
          </p:cNvPr>
          <p:cNvSpPr>
            <a:spLocks noGrp="1" noChangeArrowheads="1"/>
          </p:cNvSpPr>
          <p:nvPr>
            <p:ph type="body" sz="half" idx="1"/>
          </p:nvPr>
        </p:nvSpPr>
        <p:spPr>
          <a:xfrm>
            <a:off x="320675" y="1120775"/>
            <a:ext cx="2825750" cy="3595688"/>
          </a:xfrm>
        </p:spPr>
        <p:txBody>
          <a:bodyPr/>
          <a:lstStyle/>
          <a:p>
            <a:pPr eaLnBrk="1" hangingPunct="1"/>
            <a:r>
              <a:rPr lang="en-US" altLang="en-US" sz="1100"/>
              <a:t>A vector is chosen at random and compared to the grid nodes to determine which weight is the most similar to the input vector</a:t>
            </a:r>
          </a:p>
          <a:p>
            <a:pPr lvl="1" eaLnBrk="1" hangingPunct="1"/>
            <a:r>
              <a:rPr lang="en-US" altLang="en-US" sz="1100"/>
              <a:t>Distance (such as Euclidean) is calculated between the input vector and all other node vectors</a:t>
            </a:r>
          </a:p>
          <a:p>
            <a:pPr lvl="1" eaLnBrk="1" hangingPunct="1"/>
            <a:r>
              <a:rPr lang="en-US" altLang="en-US" sz="1100"/>
              <a:t>The most similar node is referred as the best matching node (BMU)</a:t>
            </a:r>
          </a:p>
          <a:p>
            <a:pPr lvl="1" eaLnBrk="1" hangingPunct="1"/>
            <a:endParaRPr lang="en-US" altLang="en-US" sz="1100"/>
          </a:p>
        </p:txBody>
      </p:sp>
      <p:sp>
        <p:nvSpPr>
          <p:cNvPr id="45060" name="Rectangle 12">
            <a:extLst>
              <a:ext uri="{FF2B5EF4-FFF2-40B4-BE49-F238E27FC236}">
                <a16:creationId xmlns:a16="http://schemas.microsoft.com/office/drawing/2014/main" id="{8BCE8D1B-6295-ABD3-EBAD-72B6861331EC}"/>
              </a:ext>
            </a:extLst>
          </p:cNvPr>
          <p:cNvSpPr>
            <a:spLocks noChangeArrowheads="1"/>
          </p:cNvSpPr>
          <p:nvPr/>
        </p:nvSpPr>
        <p:spPr bwMode="auto">
          <a:xfrm>
            <a:off x="3627438" y="1600200"/>
            <a:ext cx="2667000" cy="2667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45061" name="Line 13">
            <a:extLst>
              <a:ext uri="{FF2B5EF4-FFF2-40B4-BE49-F238E27FC236}">
                <a16:creationId xmlns:a16="http://schemas.microsoft.com/office/drawing/2014/main" id="{06126CA5-AB91-43BC-9BCB-5A1F7FB38B88}"/>
              </a:ext>
            </a:extLst>
          </p:cNvPr>
          <p:cNvSpPr>
            <a:spLocks noChangeShapeType="1"/>
          </p:cNvSpPr>
          <p:nvPr/>
        </p:nvSpPr>
        <p:spPr bwMode="auto">
          <a:xfrm>
            <a:off x="3627438" y="21336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2" name="Line 14">
            <a:extLst>
              <a:ext uri="{FF2B5EF4-FFF2-40B4-BE49-F238E27FC236}">
                <a16:creationId xmlns:a16="http://schemas.microsoft.com/office/drawing/2014/main" id="{71AC01F3-B843-68BD-E6BC-811E7FAD8450}"/>
              </a:ext>
            </a:extLst>
          </p:cNvPr>
          <p:cNvSpPr>
            <a:spLocks noChangeShapeType="1"/>
          </p:cNvSpPr>
          <p:nvPr/>
        </p:nvSpPr>
        <p:spPr bwMode="auto">
          <a:xfrm>
            <a:off x="3627438" y="26670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3" name="Line 15">
            <a:extLst>
              <a:ext uri="{FF2B5EF4-FFF2-40B4-BE49-F238E27FC236}">
                <a16:creationId xmlns:a16="http://schemas.microsoft.com/office/drawing/2014/main" id="{4BA2A976-0853-25F0-A6F9-F91B6977F603}"/>
              </a:ext>
            </a:extLst>
          </p:cNvPr>
          <p:cNvSpPr>
            <a:spLocks noChangeShapeType="1"/>
          </p:cNvSpPr>
          <p:nvPr/>
        </p:nvSpPr>
        <p:spPr bwMode="auto">
          <a:xfrm>
            <a:off x="3627438" y="32004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 name="Line 16">
            <a:extLst>
              <a:ext uri="{FF2B5EF4-FFF2-40B4-BE49-F238E27FC236}">
                <a16:creationId xmlns:a16="http://schemas.microsoft.com/office/drawing/2014/main" id="{536373B7-9A35-1FFF-3D06-ABE964011DF8}"/>
              </a:ext>
            </a:extLst>
          </p:cNvPr>
          <p:cNvSpPr>
            <a:spLocks noChangeShapeType="1"/>
          </p:cNvSpPr>
          <p:nvPr/>
        </p:nvSpPr>
        <p:spPr bwMode="auto">
          <a:xfrm>
            <a:off x="3627438" y="37338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5" name="Line 17">
            <a:extLst>
              <a:ext uri="{FF2B5EF4-FFF2-40B4-BE49-F238E27FC236}">
                <a16:creationId xmlns:a16="http://schemas.microsoft.com/office/drawing/2014/main" id="{53510E88-7A0C-29AE-58C8-BA26FD3C1644}"/>
              </a:ext>
            </a:extLst>
          </p:cNvPr>
          <p:cNvSpPr>
            <a:spLocks noChangeShapeType="1"/>
          </p:cNvSpPr>
          <p:nvPr/>
        </p:nvSpPr>
        <p:spPr bwMode="auto">
          <a:xfrm>
            <a:off x="4213225"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 name="Line 18">
            <a:extLst>
              <a:ext uri="{FF2B5EF4-FFF2-40B4-BE49-F238E27FC236}">
                <a16:creationId xmlns:a16="http://schemas.microsoft.com/office/drawing/2014/main" id="{133D7C3D-D1E3-E3AA-F1F1-2BE5B787A22C}"/>
              </a:ext>
            </a:extLst>
          </p:cNvPr>
          <p:cNvSpPr>
            <a:spLocks noChangeShapeType="1"/>
          </p:cNvSpPr>
          <p:nvPr/>
        </p:nvSpPr>
        <p:spPr bwMode="auto">
          <a:xfrm>
            <a:off x="4906963"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 name="Line 19">
            <a:extLst>
              <a:ext uri="{FF2B5EF4-FFF2-40B4-BE49-F238E27FC236}">
                <a16:creationId xmlns:a16="http://schemas.microsoft.com/office/drawing/2014/main" id="{850A56E9-17A1-D2F7-23EE-2E554C20C5A2}"/>
              </a:ext>
            </a:extLst>
          </p:cNvPr>
          <p:cNvSpPr>
            <a:spLocks noChangeShapeType="1"/>
          </p:cNvSpPr>
          <p:nvPr/>
        </p:nvSpPr>
        <p:spPr bwMode="auto">
          <a:xfrm>
            <a:off x="5600700"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Text Box 20">
            <a:extLst>
              <a:ext uri="{FF2B5EF4-FFF2-40B4-BE49-F238E27FC236}">
                <a16:creationId xmlns:a16="http://schemas.microsoft.com/office/drawing/2014/main" id="{19CD3049-29D5-D127-7AF8-0AE7E0D236E3}"/>
              </a:ext>
            </a:extLst>
          </p:cNvPr>
          <p:cNvSpPr txBox="1">
            <a:spLocks noChangeArrowheads="1"/>
          </p:cNvSpPr>
          <p:nvPr/>
        </p:nvSpPr>
        <p:spPr bwMode="auto">
          <a:xfrm>
            <a:off x="37338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a:t>
            </a:r>
          </a:p>
        </p:txBody>
      </p:sp>
      <p:sp>
        <p:nvSpPr>
          <p:cNvPr id="45069" name="Text Box 21">
            <a:extLst>
              <a:ext uri="{FF2B5EF4-FFF2-40B4-BE49-F238E27FC236}">
                <a16:creationId xmlns:a16="http://schemas.microsoft.com/office/drawing/2014/main" id="{D04FA0AD-81A8-A374-2B76-4B01F9F1F144}"/>
              </a:ext>
            </a:extLst>
          </p:cNvPr>
          <p:cNvSpPr txBox="1">
            <a:spLocks noChangeArrowheads="1"/>
          </p:cNvSpPr>
          <p:nvPr/>
        </p:nvSpPr>
        <p:spPr bwMode="auto">
          <a:xfrm>
            <a:off x="4427538" y="1812925"/>
            <a:ext cx="3190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a:t>
            </a:r>
          </a:p>
        </p:txBody>
      </p:sp>
      <p:sp>
        <p:nvSpPr>
          <p:cNvPr id="45070" name="Text Box 22">
            <a:extLst>
              <a:ext uri="{FF2B5EF4-FFF2-40B4-BE49-F238E27FC236}">
                <a16:creationId xmlns:a16="http://schemas.microsoft.com/office/drawing/2014/main" id="{AD66E57E-59C7-B618-4270-747C82A26DC1}"/>
              </a:ext>
            </a:extLst>
          </p:cNvPr>
          <p:cNvSpPr txBox="1">
            <a:spLocks noChangeArrowheads="1"/>
          </p:cNvSpPr>
          <p:nvPr/>
        </p:nvSpPr>
        <p:spPr bwMode="auto">
          <a:xfrm>
            <a:off x="50673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3</a:t>
            </a:r>
          </a:p>
        </p:txBody>
      </p:sp>
      <p:sp>
        <p:nvSpPr>
          <p:cNvPr id="45071" name="Text Box 23">
            <a:extLst>
              <a:ext uri="{FF2B5EF4-FFF2-40B4-BE49-F238E27FC236}">
                <a16:creationId xmlns:a16="http://schemas.microsoft.com/office/drawing/2014/main" id="{AE7A880D-FE2E-AF54-2D3C-22B57B806306}"/>
              </a:ext>
            </a:extLst>
          </p:cNvPr>
          <p:cNvSpPr txBox="1">
            <a:spLocks noChangeArrowheads="1"/>
          </p:cNvSpPr>
          <p:nvPr/>
        </p:nvSpPr>
        <p:spPr bwMode="auto">
          <a:xfrm>
            <a:off x="3254375" y="2773363"/>
            <a:ext cx="319088"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v</a:t>
            </a:r>
            <a:r>
              <a:rPr lang="en-US" altLang="en-US" sz="1000" baseline="-25000"/>
              <a:t>1</a:t>
            </a:r>
          </a:p>
        </p:txBody>
      </p:sp>
      <p:sp>
        <p:nvSpPr>
          <p:cNvPr id="45072" name="Line 24">
            <a:extLst>
              <a:ext uri="{FF2B5EF4-FFF2-40B4-BE49-F238E27FC236}">
                <a16:creationId xmlns:a16="http://schemas.microsoft.com/office/drawing/2014/main" id="{3C9D16DD-360E-5336-1F74-7FCE49D52D3F}"/>
              </a:ext>
            </a:extLst>
          </p:cNvPr>
          <p:cNvSpPr>
            <a:spLocks noChangeShapeType="1"/>
          </p:cNvSpPr>
          <p:nvPr/>
        </p:nvSpPr>
        <p:spPr bwMode="auto">
          <a:xfrm flipV="1">
            <a:off x="3521075" y="2027238"/>
            <a:ext cx="319088" cy="800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3" name="Line 25">
            <a:extLst>
              <a:ext uri="{FF2B5EF4-FFF2-40B4-BE49-F238E27FC236}">
                <a16:creationId xmlns:a16="http://schemas.microsoft.com/office/drawing/2014/main" id="{05CF068D-ACB2-5FF7-D0BD-DD9CC5883097}"/>
              </a:ext>
            </a:extLst>
          </p:cNvPr>
          <p:cNvSpPr>
            <a:spLocks noChangeShapeType="1"/>
          </p:cNvSpPr>
          <p:nvPr/>
        </p:nvSpPr>
        <p:spPr bwMode="auto">
          <a:xfrm flipV="1">
            <a:off x="3521075" y="2027238"/>
            <a:ext cx="1012825" cy="800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4" name="Line 26">
            <a:extLst>
              <a:ext uri="{FF2B5EF4-FFF2-40B4-BE49-F238E27FC236}">
                <a16:creationId xmlns:a16="http://schemas.microsoft.com/office/drawing/2014/main" id="{AFD010C3-74BE-9290-E386-087D3298DB0B}"/>
              </a:ext>
            </a:extLst>
          </p:cNvPr>
          <p:cNvSpPr>
            <a:spLocks noChangeShapeType="1"/>
          </p:cNvSpPr>
          <p:nvPr/>
        </p:nvSpPr>
        <p:spPr bwMode="auto">
          <a:xfrm flipV="1">
            <a:off x="3521075" y="2079625"/>
            <a:ext cx="1706563" cy="7477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5" name="Text Box 27">
            <a:extLst>
              <a:ext uri="{FF2B5EF4-FFF2-40B4-BE49-F238E27FC236}">
                <a16:creationId xmlns:a16="http://schemas.microsoft.com/office/drawing/2014/main" id="{0B1D1090-1470-5723-096F-3D2925C28541}"/>
              </a:ext>
            </a:extLst>
          </p:cNvPr>
          <p:cNvSpPr txBox="1">
            <a:spLocks noChangeArrowheads="1"/>
          </p:cNvSpPr>
          <p:nvPr/>
        </p:nvSpPr>
        <p:spPr bwMode="auto">
          <a:xfrm>
            <a:off x="5121275" y="2827338"/>
            <a:ext cx="373063"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b="1">
                <a:solidFill>
                  <a:srgbClr val="FF5050"/>
                </a:solidFill>
              </a:rPr>
              <a:t>w</a:t>
            </a:r>
            <a:r>
              <a:rPr lang="en-US" altLang="en-US" sz="1000" b="1" baseline="-25000">
                <a:solidFill>
                  <a:srgbClr val="FF5050"/>
                </a:solidFill>
              </a:rPr>
              <a:t>11</a:t>
            </a:r>
          </a:p>
        </p:txBody>
      </p:sp>
      <p:sp>
        <p:nvSpPr>
          <p:cNvPr id="45076" name="Line 28">
            <a:extLst>
              <a:ext uri="{FF2B5EF4-FFF2-40B4-BE49-F238E27FC236}">
                <a16:creationId xmlns:a16="http://schemas.microsoft.com/office/drawing/2014/main" id="{1C707F5D-192F-D51D-E561-62F834397D08}"/>
              </a:ext>
            </a:extLst>
          </p:cNvPr>
          <p:cNvSpPr>
            <a:spLocks noChangeShapeType="1"/>
          </p:cNvSpPr>
          <p:nvPr/>
        </p:nvSpPr>
        <p:spPr bwMode="auto">
          <a:xfrm>
            <a:off x="3521075" y="2827338"/>
            <a:ext cx="1600200" cy="106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7" name="Text Box 29">
            <a:extLst>
              <a:ext uri="{FF2B5EF4-FFF2-40B4-BE49-F238E27FC236}">
                <a16:creationId xmlns:a16="http://schemas.microsoft.com/office/drawing/2014/main" id="{39488333-D1CA-E0AB-955D-9EB79096F9DA}"/>
              </a:ext>
            </a:extLst>
          </p:cNvPr>
          <p:cNvSpPr txBox="1">
            <a:spLocks noChangeArrowheads="1"/>
          </p:cNvSpPr>
          <p:nvPr/>
        </p:nvSpPr>
        <p:spPr bwMode="auto">
          <a:xfrm>
            <a:off x="5121275" y="2346325"/>
            <a:ext cx="31908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7</a:t>
            </a:r>
          </a:p>
        </p:txBody>
      </p:sp>
      <p:sp>
        <p:nvSpPr>
          <p:cNvPr id="45078" name="Line 30">
            <a:extLst>
              <a:ext uri="{FF2B5EF4-FFF2-40B4-BE49-F238E27FC236}">
                <a16:creationId xmlns:a16="http://schemas.microsoft.com/office/drawing/2014/main" id="{EBD8D86C-12B2-5412-F38F-08F8D1F3387C}"/>
              </a:ext>
            </a:extLst>
          </p:cNvPr>
          <p:cNvSpPr>
            <a:spLocks noChangeShapeType="1"/>
          </p:cNvSpPr>
          <p:nvPr/>
        </p:nvSpPr>
        <p:spPr bwMode="auto">
          <a:xfrm flipV="1">
            <a:off x="3521075" y="2454275"/>
            <a:ext cx="1600200" cy="373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79" name="Text Box 22">
            <a:extLst>
              <a:ext uri="{FF2B5EF4-FFF2-40B4-BE49-F238E27FC236}">
                <a16:creationId xmlns:a16="http://schemas.microsoft.com/office/drawing/2014/main" id="{D778D1A1-A18A-5DB2-B2C2-6FBD48372DB0}"/>
              </a:ext>
            </a:extLst>
          </p:cNvPr>
          <p:cNvSpPr txBox="1">
            <a:spLocks noChangeArrowheads="1"/>
          </p:cNvSpPr>
          <p:nvPr/>
        </p:nvSpPr>
        <p:spPr bwMode="auto">
          <a:xfrm>
            <a:off x="5808663" y="18129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4</a:t>
            </a:r>
          </a:p>
        </p:txBody>
      </p:sp>
      <p:sp>
        <p:nvSpPr>
          <p:cNvPr id="45080" name="Text Box 22">
            <a:extLst>
              <a:ext uri="{FF2B5EF4-FFF2-40B4-BE49-F238E27FC236}">
                <a16:creationId xmlns:a16="http://schemas.microsoft.com/office/drawing/2014/main" id="{6177DF61-F7EF-61AF-6BA2-21D23F31D663}"/>
              </a:ext>
            </a:extLst>
          </p:cNvPr>
          <p:cNvSpPr txBox="1">
            <a:spLocks noChangeArrowheads="1"/>
          </p:cNvSpPr>
          <p:nvPr/>
        </p:nvSpPr>
        <p:spPr bwMode="auto">
          <a:xfrm>
            <a:off x="3775075" y="2374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5</a:t>
            </a:r>
          </a:p>
        </p:txBody>
      </p:sp>
      <p:sp>
        <p:nvSpPr>
          <p:cNvPr id="45081" name="Text Box 22">
            <a:extLst>
              <a:ext uri="{FF2B5EF4-FFF2-40B4-BE49-F238E27FC236}">
                <a16:creationId xmlns:a16="http://schemas.microsoft.com/office/drawing/2014/main" id="{6C72BA34-00B3-2380-5C8F-6AC7FCA16132}"/>
              </a:ext>
            </a:extLst>
          </p:cNvPr>
          <p:cNvSpPr txBox="1">
            <a:spLocks noChangeArrowheads="1"/>
          </p:cNvSpPr>
          <p:nvPr/>
        </p:nvSpPr>
        <p:spPr bwMode="auto">
          <a:xfrm>
            <a:off x="4451350" y="236855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6</a:t>
            </a:r>
          </a:p>
        </p:txBody>
      </p:sp>
      <p:sp>
        <p:nvSpPr>
          <p:cNvPr id="45082" name="Text Box 22">
            <a:extLst>
              <a:ext uri="{FF2B5EF4-FFF2-40B4-BE49-F238E27FC236}">
                <a16:creationId xmlns:a16="http://schemas.microsoft.com/office/drawing/2014/main" id="{E13D17C7-2BE9-0707-2631-AD1250C43490}"/>
              </a:ext>
            </a:extLst>
          </p:cNvPr>
          <p:cNvSpPr txBox="1">
            <a:spLocks noChangeArrowheads="1"/>
          </p:cNvSpPr>
          <p:nvPr/>
        </p:nvSpPr>
        <p:spPr bwMode="auto">
          <a:xfrm>
            <a:off x="5851525" y="23463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8</a:t>
            </a:r>
          </a:p>
        </p:txBody>
      </p:sp>
      <p:sp>
        <p:nvSpPr>
          <p:cNvPr id="45083" name="Text Box 22">
            <a:extLst>
              <a:ext uri="{FF2B5EF4-FFF2-40B4-BE49-F238E27FC236}">
                <a16:creationId xmlns:a16="http://schemas.microsoft.com/office/drawing/2014/main" id="{8B9C37F5-6EB0-2737-7C51-53DAA2ED852C}"/>
              </a:ext>
            </a:extLst>
          </p:cNvPr>
          <p:cNvSpPr txBox="1">
            <a:spLocks noChangeArrowheads="1"/>
          </p:cNvSpPr>
          <p:nvPr/>
        </p:nvSpPr>
        <p:spPr bwMode="auto">
          <a:xfrm>
            <a:off x="3775075"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9</a:t>
            </a:r>
          </a:p>
        </p:txBody>
      </p:sp>
      <p:sp>
        <p:nvSpPr>
          <p:cNvPr id="45084" name="Text Box 22">
            <a:extLst>
              <a:ext uri="{FF2B5EF4-FFF2-40B4-BE49-F238E27FC236}">
                <a16:creationId xmlns:a16="http://schemas.microsoft.com/office/drawing/2014/main" id="{0DB7E6A1-61AD-8318-E3B1-A419CF272FB6}"/>
              </a:ext>
            </a:extLst>
          </p:cNvPr>
          <p:cNvSpPr txBox="1">
            <a:spLocks noChangeArrowheads="1"/>
          </p:cNvSpPr>
          <p:nvPr/>
        </p:nvSpPr>
        <p:spPr bwMode="auto">
          <a:xfrm>
            <a:off x="4416425" y="285273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10</a:t>
            </a:r>
          </a:p>
        </p:txBody>
      </p:sp>
      <p:sp>
        <p:nvSpPr>
          <p:cNvPr id="45085" name="Text Box 22">
            <a:extLst>
              <a:ext uri="{FF2B5EF4-FFF2-40B4-BE49-F238E27FC236}">
                <a16:creationId xmlns:a16="http://schemas.microsoft.com/office/drawing/2014/main" id="{A6045B52-89A4-5AC5-551C-51BCFAEFAA18}"/>
              </a:ext>
            </a:extLst>
          </p:cNvPr>
          <p:cNvSpPr txBox="1">
            <a:spLocks noChangeArrowheads="1"/>
          </p:cNvSpPr>
          <p:nvPr/>
        </p:nvSpPr>
        <p:spPr bwMode="auto">
          <a:xfrm>
            <a:off x="5816600"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12</a:t>
            </a:r>
          </a:p>
        </p:txBody>
      </p:sp>
      <p:sp>
        <p:nvSpPr>
          <p:cNvPr id="45086" name="Text Box 22">
            <a:extLst>
              <a:ext uri="{FF2B5EF4-FFF2-40B4-BE49-F238E27FC236}">
                <a16:creationId xmlns:a16="http://schemas.microsoft.com/office/drawing/2014/main" id="{92BDC42A-2973-17DD-1CB0-D272C9AD6AA2}"/>
              </a:ext>
            </a:extLst>
          </p:cNvPr>
          <p:cNvSpPr txBox="1">
            <a:spLocks noChangeArrowheads="1"/>
          </p:cNvSpPr>
          <p:nvPr/>
        </p:nvSpPr>
        <p:spPr bwMode="auto">
          <a:xfrm>
            <a:off x="376078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13</a:t>
            </a:r>
          </a:p>
        </p:txBody>
      </p:sp>
      <p:sp>
        <p:nvSpPr>
          <p:cNvPr id="45087" name="Text Box 22">
            <a:extLst>
              <a:ext uri="{FF2B5EF4-FFF2-40B4-BE49-F238E27FC236}">
                <a16:creationId xmlns:a16="http://schemas.microsoft.com/office/drawing/2014/main" id="{E0BBBD25-1FC3-C6B1-69AC-5448571FF175}"/>
              </a:ext>
            </a:extLst>
          </p:cNvPr>
          <p:cNvSpPr txBox="1">
            <a:spLocks noChangeArrowheads="1"/>
          </p:cNvSpPr>
          <p:nvPr/>
        </p:nvSpPr>
        <p:spPr bwMode="auto">
          <a:xfrm>
            <a:off x="4451350"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14</a:t>
            </a:r>
          </a:p>
        </p:txBody>
      </p:sp>
      <p:sp>
        <p:nvSpPr>
          <p:cNvPr id="45088" name="Text Box 22">
            <a:extLst>
              <a:ext uri="{FF2B5EF4-FFF2-40B4-BE49-F238E27FC236}">
                <a16:creationId xmlns:a16="http://schemas.microsoft.com/office/drawing/2014/main" id="{06220CD8-5C33-BDE0-9C45-FCA03EB6BD7A}"/>
              </a:ext>
            </a:extLst>
          </p:cNvPr>
          <p:cNvSpPr txBox="1">
            <a:spLocks noChangeArrowheads="1"/>
          </p:cNvSpPr>
          <p:nvPr/>
        </p:nvSpPr>
        <p:spPr bwMode="auto">
          <a:xfrm>
            <a:off x="511333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15</a:t>
            </a:r>
          </a:p>
        </p:txBody>
      </p:sp>
      <p:sp>
        <p:nvSpPr>
          <p:cNvPr id="45089" name="Text Box 22">
            <a:extLst>
              <a:ext uri="{FF2B5EF4-FFF2-40B4-BE49-F238E27FC236}">
                <a16:creationId xmlns:a16="http://schemas.microsoft.com/office/drawing/2014/main" id="{FF58AC62-8237-4C6F-EB8C-9A127A9CEB1C}"/>
              </a:ext>
            </a:extLst>
          </p:cNvPr>
          <p:cNvSpPr txBox="1">
            <a:spLocks noChangeArrowheads="1"/>
          </p:cNvSpPr>
          <p:nvPr/>
        </p:nvSpPr>
        <p:spPr bwMode="auto">
          <a:xfrm>
            <a:off x="5851525" y="3395663"/>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16</a:t>
            </a:r>
          </a:p>
        </p:txBody>
      </p:sp>
      <p:sp>
        <p:nvSpPr>
          <p:cNvPr id="45090" name="Text Box 22">
            <a:extLst>
              <a:ext uri="{FF2B5EF4-FFF2-40B4-BE49-F238E27FC236}">
                <a16:creationId xmlns:a16="http://schemas.microsoft.com/office/drawing/2014/main" id="{2B1F7044-C91A-3EF4-6ABD-A685284F2E9C}"/>
              </a:ext>
            </a:extLst>
          </p:cNvPr>
          <p:cNvSpPr txBox="1">
            <a:spLocks noChangeArrowheads="1"/>
          </p:cNvSpPr>
          <p:nvPr/>
        </p:nvSpPr>
        <p:spPr bwMode="auto">
          <a:xfrm>
            <a:off x="3789363" y="390048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17</a:t>
            </a:r>
          </a:p>
        </p:txBody>
      </p:sp>
      <p:sp>
        <p:nvSpPr>
          <p:cNvPr id="45091" name="Text Box 22">
            <a:extLst>
              <a:ext uri="{FF2B5EF4-FFF2-40B4-BE49-F238E27FC236}">
                <a16:creationId xmlns:a16="http://schemas.microsoft.com/office/drawing/2014/main" id="{493798D2-0DAA-56A9-6C5B-8B090BC56C6E}"/>
              </a:ext>
            </a:extLst>
          </p:cNvPr>
          <p:cNvSpPr txBox="1">
            <a:spLocks noChangeArrowheads="1"/>
          </p:cNvSpPr>
          <p:nvPr/>
        </p:nvSpPr>
        <p:spPr bwMode="auto">
          <a:xfrm>
            <a:off x="4451350" y="3898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18</a:t>
            </a:r>
          </a:p>
        </p:txBody>
      </p:sp>
      <p:sp>
        <p:nvSpPr>
          <p:cNvPr id="45092" name="Text Box 22">
            <a:extLst>
              <a:ext uri="{FF2B5EF4-FFF2-40B4-BE49-F238E27FC236}">
                <a16:creationId xmlns:a16="http://schemas.microsoft.com/office/drawing/2014/main" id="{25501B09-E858-128A-96AF-390E0F756661}"/>
              </a:ext>
            </a:extLst>
          </p:cNvPr>
          <p:cNvSpPr txBox="1">
            <a:spLocks noChangeArrowheads="1"/>
          </p:cNvSpPr>
          <p:nvPr/>
        </p:nvSpPr>
        <p:spPr bwMode="auto">
          <a:xfrm>
            <a:off x="5129213"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19</a:t>
            </a:r>
          </a:p>
        </p:txBody>
      </p:sp>
      <p:sp>
        <p:nvSpPr>
          <p:cNvPr id="45093" name="Text Box 22">
            <a:extLst>
              <a:ext uri="{FF2B5EF4-FFF2-40B4-BE49-F238E27FC236}">
                <a16:creationId xmlns:a16="http://schemas.microsoft.com/office/drawing/2014/main" id="{DF3BE2EC-4749-5E0E-08D8-22F4C53DD987}"/>
              </a:ext>
            </a:extLst>
          </p:cNvPr>
          <p:cNvSpPr txBox="1">
            <a:spLocks noChangeArrowheads="1"/>
          </p:cNvSpPr>
          <p:nvPr/>
        </p:nvSpPr>
        <p:spPr bwMode="auto">
          <a:xfrm>
            <a:off x="5851525"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20</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4593F94-211C-2FEF-0410-8BD45FB7687D}"/>
              </a:ext>
            </a:extLst>
          </p:cNvPr>
          <p:cNvSpPr>
            <a:spLocks noGrp="1" noChangeArrowheads="1"/>
          </p:cNvSpPr>
          <p:nvPr>
            <p:ph type="title"/>
          </p:nvPr>
        </p:nvSpPr>
        <p:spPr/>
        <p:txBody>
          <a:bodyPr/>
          <a:lstStyle/>
          <a:p>
            <a:pPr eaLnBrk="1" hangingPunct="1"/>
            <a:r>
              <a:rPr lang="en-US" altLang="en-US"/>
              <a:t>SOM procedure</a:t>
            </a:r>
            <a:r>
              <a:rPr lang="en-US" altLang="en-US" baseline="30000"/>
              <a:t>3</a:t>
            </a:r>
          </a:p>
        </p:txBody>
      </p:sp>
      <p:sp>
        <p:nvSpPr>
          <p:cNvPr id="46083" name="Rectangle 3">
            <a:extLst>
              <a:ext uri="{FF2B5EF4-FFF2-40B4-BE49-F238E27FC236}">
                <a16:creationId xmlns:a16="http://schemas.microsoft.com/office/drawing/2014/main" id="{100EA2F5-46BB-10EF-172D-5DBA9D966FC0}"/>
              </a:ext>
            </a:extLst>
          </p:cNvPr>
          <p:cNvSpPr>
            <a:spLocks noGrp="1" noChangeArrowheads="1"/>
          </p:cNvSpPr>
          <p:nvPr>
            <p:ph type="body" sz="half" idx="1"/>
          </p:nvPr>
        </p:nvSpPr>
        <p:spPr>
          <a:xfrm>
            <a:off x="320675" y="1120775"/>
            <a:ext cx="2825750" cy="3595688"/>
          </a:xfrm>
        </p:spPr>
        <p:txBody>
          <a:bodyPr/>
          <a:lstStyle/>
          <a:p>
            <a:pPr eaLnBrk="1" hangingPunct="1">
              <a:lnSpc>
                <a:spcPct val="80000"/>
              </a:lnSpc>
            </a:pPr>
            <a:r>
              <a:rPr lang="en-US" altLang="en-US" sz="1100"/>
              <a:t>All neighboring weights around the BMU node (and the BMU node) are adjusted according to similarity to the input vector</a:t>
            </a:r>
          </a:p>
          <a:p>
            <a:pPr lvl="1" eaLnBrk="1" hangingPunct="1">
              <a:lnSpc>
                <a:spcPct val="80000"/>
              </a:lnSpc>
            </a:pPr>
            <a:r>
              <a:rPr lang="en-US" altLang="en-US" sz="1000"/>
              <a:t>Radius gets smaller and smaller each iteration by a decay function</a:t>
            </a:r>
          </a:p>
          <a:p>
            <a:pPr eaLnBrk="1" hangingPunct="1">
              <a:lnSpc>
                <a:spcPct val="80000"/>
              </a:lnSpc>
            </a:pPr>
            <a:endParaRPr lang="en-US" altLang="en-US" sz="1100"/>
          </a:p>
        </p:txBody>
      </p:sp>
      <p:sp>
        <p:nvSpPr>
          <p:cNvPr id="46084" name="Rectangle 4">
            <a:extLst>
              <a:ext uri="{FF2B5EF4-FFF2-40B4-BE49-F238E27FC236}">
                <a16:creationId xmlns:a16="http://schemas.microsoft.com/office/drawing/2014/main" id="{8B943F9B-D183-834C-997F-D69F2709046A}"/>
              </a:ext>
            </a:extLst>
          </p:cNvPr>
          <p:cNvSpPr>
            <a:spLocks noChangeArrowheads="1"/>
          </p:cNvSpPr>
          <p:nvPr/>
        </p:nvSpPr>
        <p:spPr bwMode="auto">
          <a:xfrm>
            <a:off x="3627438" y="1600200"/>
            <a:ext cx="2667000" cy="2667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46085" name="Line 5">
            <a:extLst>
              <a:ext uri="{FF2B5EF4-FFF2-40B4-BE49-F238E27FC236}">
                <a16:creationId xmlns:a16="http://schemas.microsoft.com/office/drawing/2014/main" id="{886019EA-7D5B-DA94-CE1D-56FB02A19CF3}"/>
              </a:ext>
            </a:extLst>
          </p:cNvPr>
          <p:cNvSpPr>
            <a:spLocks noChangeShapeType="1"/>
          </p:cNvSpPr>
          <p:nvPr/>
        </p:nvSpPr>
        <p:spPr bwMode="auto">
          <a:xfrm>
            <a:off x="3627438" y="21336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6" name="Line 6">
            <a:extLst>
              <a:ext uri="{FF2B5EF4-FFF2-40B4-BE49-F238E27FC236}">
                <a16:creationId xmlns:a16="http://schemas.microsoft.com/office/drawing/2014/main" id="{223A08FB-E096-7CB0-E741-351AF0C45772}"/>
              </a:ext>
            </a:extLst>
          </p:cNvPr>
          <p:cNvSpPr>
            <a:spLocks noChangeShapeType="1"/>
          </p:cNvSpPr>
          <p:nvPr/>
        </p:nvSpPr>
        <p:spPr bwMode="auto">
          <a:xfrm>
            <a:off x="3627438" y="26670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7" name="Line 7">
            <a:extLst>
              <a:ext uri="{FF2B5EF4-FFF2-40B4-BE49-F238E27FC236}">
                <a16:creationId xmlns:a16="http://schemas.microsoft.com/office/drawing/2014/main" id="{6D268ADB-4D71-3CDC-CC39-AAE2BCECFFD1}"/>
              </a:ext>
            </a:extLst>
          </p:cNvPr>
          <p:cNvSpPr>
            <a:spLocks noChangeShapeType="1"/>
          </p:cNvSpPr>
          <p:nvPr/>
        </p:nvSpPr>
        <p:spPr bwMode="auto">
          <a:xfrm>
            <a:off x="3627438" y="32004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8" name="Line 8">
            <a:extLst>
              <a:ext uri="{FF2B5EF4-FFF2-40B4-BE49-F238E27FC236}">
                <a16:creationId xmlns:a16="http://schemas.microsoft.com/office/drawing/2014/main" id="{CB6DE52D-5E1A-0F25-2A68-E372D6FFDA63}"/>
              </a:ext>
            </a:extLst>
          </p:cNvPr>
          <p:cNvSpPr>
            <a:spLocks noChangeShapeType="1"/>
          </p:cNvSpPr>
          <p:nvPr/>
        </p:nvSpPr>
        <p:spPr bwMode="auto">
          <a:xfrm>
            <a:off x="3627438" y="37338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9" name="Line 9">
            <a:extLst>
              <a:ext uri="{FF2B5EF4-FFF2-40B4-BE49-F238E27FC236}">
                <a16:creationId xmlns:a16="http://schemas.microsoft.com/office/drawing/2014/main" id="{BC468CED-A6DE-386D-7301-CBF2DFBABEDE}"/>
              </a:ext>
            </a:extLst>
          </p:cNvPr>
          <p:cNvSpPr>
            <a:spLocks noChangeShapeType="1"/>
          </p:cNvSpPr>
          <p:nvPr/>
        </p:nvSpPr>
        <p:spPr bwMode="auto">
          <a:xfrm>
            <a:off x="4213225"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0" name="Line 10">
            <a:extLst>
              <a:ext uri="{FF2B5EF4-FFF2-40B4-BE49-F238E27FC236}">
                <a16:creationId xmlns:a16="http://schemas.microsoft.com/office/drawing/2014/main" id="{76DDF421-BEBF-9781-E17F-F0EFFBED2750}"/>
              </a:ext>
            </a:extLst>
          </p:cNvPr>
          <p:cNvSpPr>
            <a:spLocks noChangeShapeType="1"/>
          </p:cNvSpPr>
          <p:nvPr/>
        </p:nvSpPr>
        <p:spPr bwMode="auto">
          <a:xfrm>
            <a:off x="4906963"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1" name="Line 11">
            <a:extLst>
              <a:ext uri="{FF2B5EF4-FFF2-40B4-BE49-F238E27FC236}">
                <a16:creationId xmlns:a16="http://schemas.microsoft.com/office/drawing/2014/main" id="{6EF7FE37-C6C2-35EB-25AA-F93FA6540FF0}"/>
              </a:ext>
            </a:extLst>
          </p:cNvPr>
          <p:cNvSpPr>
            <a:spLocks noChangeShapeType="1"/>
          </p:cNvSpPr>
          <p:nvPr/>
        </p:nvSpPr>
        <p:spPr bwMode="auto">
          <a:xfrm>
            <a:off x="5600700"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2" name="Text Box 12">
            <a:extLst>
              <a:ext uri="{FF2B5EF4-FFF2-40B4-BE49-F238E27FC236}">
                <a16:creationId xmlns:a16="http://schemas.microsoft.com/office/drawing/2014/main" id="{38DA6CB4-63EE-4C8F-F981-15647972BD21}"/>
              </a:ext>
            </a:extLst>
          </p:cNvPr>
          <p:cNvSpPr txBox="1">
            <a:spLocks noChangeArrowheads="1"/>
          </p:cNvSpPr>
          <p:nvPr/>
        </p:nvSpPr>
        <p:spPr bwMode="auto">
          <a:xfrm>
            <a:off x="37338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a:t>
            </a:r>
          </a:p>
        </p:txBody>
      </p:sp>
      <p:sp>
        <p:nvSpPr>
          <p:cNvPr id="46093" name="Text Box 13">
            <a:extLst>
              <a:ext uri="{FF2B5EF4-FFF2-40B4-BE49-F238E27FC236}">
                <a16:creationId xmlns:a16="http://schemas.microsoft.com/office/drawing/2014/main" id="{607CF71D-265C-2AE0-D5CA-9AAF5AB80ED6}"/>
              </a:ext>
            </a:extLst>
          </p:cNvPr>
          <p:cNvSpPr txBox="1">
            <a:spLocks noChangeArrowheads="1"/>
          </p:cNvSpPr>
          <p:nvPr/>
        </p:nvSpPr>
        <p:spPr bwMode="auto">
          <a:xfrm>
            <a:off x="4427538" y="1812925"/>
            <a:ext cx="3190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a:t>
            </a:r>
          </a:p>
        </p:txBody>
      </p:sp>
      <p:sp>
        <p:nvSpPr>
          <p:cNvPr id="46094" name="Text Box 14">
            <a:extLst>
              <a:ext uri="{FF2B5EF4-FFF2-40B4-BE49-F238E27FC236}">
                <a16:creationId xmlns:a16="http://schemas.microsoft.com/office/drawing/2014/main" id="{2DF52454-4975-52CE-4D6C-2A00E075A685}"/>
              </a:ext>
            </a:extLst>
          </p:cNvPr>
          <p:cNvSpPr txBox="1">
            <a:spLocks noChangeArrowheads="1"/>
          </p:cNvSpPr>
          <p:nvPr/>
        </p:nvSpPr>
        <p:spPr bwMode="auto">
          <a:xfrm>
            <a:off x="50673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3</a:t>
            </a:r>
          </a:p>
        </p:txBody>
      </p:sp>
      <p:sp>
        <p:nvSpPr>
          <p:cNvPr id="46095" name="Text Box 15">
            <a:extLst>
              <a:ext uri="{FF2B5EF4-FFF2-40B4-BE49-F238E27FC236}">
                <a16:creationId xmlns:a16="http://schemas.microsoft.com/office/drawing/2014/main" id="{FA84A50A-4ED2-9C73-634B-1AD318826D4C}"/>
              </a:ext>
            </a:extLst>
          </p:cNvPr>
          <p:cNvSpPr txBox="1">
            <a:spLocks noChangeArrowheads="1"/>
          </p:cNvSpPr>
          <p:nvPr/>
        </p:nvSpPr>
        <p:spPr bwMode="auto">
          <a:xfrm>
            <a:off x="5121275" y="2827338"/>
            <a:ext cx="365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b="1">
                <a:solidFill>
                  <a:srgbClr val="FF5050"/>
                </a:solidFill>
              </a:rPr>
              <a:t>w</a:t>
            </a:r>
            <a:r>
              <a:rPr lang="en-US" altLang="en-US" sz="1000" b="1" baseline="-25000">
                <a:solidFill>
                  <a:srgbClr val="FF5050"/>
                </a:solidFill>
              </a:rPr>
              <a:t>11</a:t>
            </a:r>
          </a:p>
        </p:txBody>
      </p:sp>
      <p:sp>
        <p:nvSpPr>
          <p:cNvPr id="46096" name="Text Box 21">
            <a:extLst>
              <a:ext uri="{FF2B5EF4-FFF2-40B4-BE49-F238E27FC236}">
                <a16:creationId xmlns:a16="http://schemas.microsoft.com/office/drawing/2014/main" id="{BDF7C04A-CF26-4B05-F795-202C223FE939}"/>
              </a:ext>
            </a:extLst>
          </p:cNvPr>
          <p:cNvSpPr txBox="1">
            <a:spLocks noChangeArrowheads="1"/>
          </p:cNvSpPr>
          <p:nvPr/>
        </p:nvSpPr>
        <p:spPr bwMode="auto">
          <a:xfrm>
            <a:off x="5121275" y="2346325"/>
            <a:ext cx="31908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7</a:t>
            </a:r>
          </a:p>
        </p:txBody>
      </p:sp>
      <p:sp>
        <p:nvSpPr>
          <p:cNvPr id="46097" name="Text Box 22">
            <a:extLst>
              <a:ext uri="{FF2B5EF4-FFF2-40B4-BE49-F238E27FC236}">
                <a16:creationId xmlns:a16="http://schemas.microsoft.com/office/drawing/2014/main" id="{4F7388D6-C09D-0D59-9CC2-511514C1C921}"/>
              </a:ext>
            </a:extLst>
          </p:cNvPr>
          <p:cNvSpPr txBox="1">
            <a:spLocks noChangeArrowheads="1"/>
          </p:cNvSpPr>
          <p:nvPr/>
        </p:nvSpPr>
        <p:spPr bwMode="auto">
          <a:xfrm>
            <a:off x="3775075" y="2374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5</a:t>
            </a:r>
          </a:p>
        </p:txBody>
      </p:sp>
      <p:sp>
        <p:nvSpPr>
          <p:cNvPr id="46098" name="Text Box 22">
            <a:extLst>
              <a:ext uri="{FF2B5EF4-FFF2-40B4-BE49-F238E27FC236}">
                <a16:creationId xmlns:a16="http://schemas.microsoft.com/office/drawing/2014/main" id="{D33AE9AF-A9B2-523A-3037-A203657D4EB1}"/>
              </a:ext>
            </a:extLst>
          </p:cNvPr>
          <p:cNvSpPr txBox="1">
            <a:spLocks noChangeArrowheads="1"/>
          </p:cNvSpPr>
          <p:nvPr/>
        </p:nvSpPr>
        <p:spPr bwMode="auto">
          <a:xfrm>
            <a:off x="4451350" y="236855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6</a:t>
            </a:r>
          </a:p>
        </p:txBody>
      </p:sp>
      <p:sp>
        <p:nvSpPr>
          <p:cNvPr id="46099" name="Text Box 22">
            <a:extLst>
              <a:ext uri="{FF2B5EF4-FFF2-40B4-BE49-F238E27FC236}">
                <a16:creationId xmlns:a16="http://schemas.microsoft.com/office/drawing/2014/main" id="{FDB25143-D429-9915-D666-07A492E25C33}"/>
              </a:ext>
            </a:extLst>
          </p:cNvPr>
          <p:cNvSpPr txBox="1">
            <a:spLocks noChangeArrowheads="1"/>
          </p:cNvSpPr>
          <p:nvPr/>
        </p:nvSpPr>
        <p:spPr bwMode="auto">
          <a:xfrm>
            <a:off x="5851525" y="23463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8</a:t>
            </a:r>
          </a:p>
        </p:txBody>
      </p:sp>
      <p:sp>
        <p:nvSpPr>
          <p:cNvPr id="46100" name="Text Box 22">
            <a:extLst>
              <a:ext uri="{FF2B5EF4-FFF2-40B4-BE49-F238E27FC236}">
                <a16:creationId xmlns:a16="http://schemas.microsoft.com/office/drawing/2014/main" id="{A1DBF6DF-3811-11FD-2CCB-AC0B0C012BDB}"/>
              </a:ext>
            </a:extLst>
          </p:cNvPr>
          <p:cNvSpPr txBox="1">
            <a:spLocks noChangeArrowheads="1"/>
          </p:cNvSpPr>
          <p:nvPr/>
        </p:nvSpPr>
        <p:spPr bwMode="auto">
          <a:xfrm>
            <a:off x="3775075"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9</a:t>
            </a:r>
          </a:p>
        </p:txBody>
      </p:sp>
      <p:sp>
        <p:nvSpPr>
          <p:cNvPr id="46101" name="Text Box 22">
            <a:extLst>
              <a:ext uri="{FF2B5EF4-FFF2-40B4-BE49-F238E27FC236}">
                <a16:creationId xmlns:a16="http://schemas.microsoft.com/office/drawing/2014/main" id="{57BD757D-2E38-6948-B954-6551E13ED19E}"/>
              </a:ext>
            </a:extLst>
          </p:cNvPr>
          <p:cNvSpPr txBox="1">
            <a:spLocks noChangeArrowheads="1"/>
          </p:cNvSpPr>
          <p:nvPr/>
        </p:nvSpPr>
        <p:spPr bwMode="auto">
          <a:xfrm>
            <a:off x="4416425" y="285273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10</a:t>
            </a:r>
          </a:p>
        </p:txBody>
      </p:sp>
      <p:sp>
        <p:nvSpPr>
          <p:cNvPr id="46102" name="Text Box 22">
            <a:extLst>
              <a:ext uri="{FF2B5EF4-FFF2-40B4-BE49-F238E27FC236}">
                <a16:creationId xmlns:a16="http://schemas.microsoft.com/office/drawing/2014/main" id="{1729D1AD-D0D0-11D9-B13B-69BA4B4230EE}"/>
              </a:ext>
            </a:extLst>
          </p:cNvPr>
          <p:cNvSpPr txBox="1">
            <a:spLocks noChangeArrowheads="1"/>
          </p:cNvSpPr>
          <p:nvPr/>
        </p:nvSpPr>
        <p:spPr bwMode="auto">
          <a:xfrm>
            <a:off x="5816600"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12</a:t>
            </a:r>
          </a:p>
        </p:txBody>
      </p:sp>
      <p:sp>
        <p:nvSpPr>
          <p:cNvPr id="46103" name="Text Box 22">
            <a:extLst>
              <a:ext uri="{FF2B5EF4-FFF2-40B4-BE49-F238E27FC236}">
                <a16:creationId xmlns:a16="http://schemas.microsoft.com/office/drawing/2014/main" id="{E2079939-115D-4CFA-B1DA-4F8ACA43FE7D}"/>
              </a:ext>
            </a:extLst>
          </p:cNvPr>
          <p:cNvSpPr txBox="1">
            <a:spLocks noChangeArrowheads="1"/>
          </p:cNvSpPr>
          <p:nvPr/>
        </p:nvSpPr>
        <p:spPr bwMode="auto">
          <a:xfrm>
            <a:off x="376078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13</a:t>
            </a:r>
          </a:p>
        </p:txBody>
      </p:sp>
      <p:sp>
        <p:nvSpPr>
          <p:cNvPr id="46104" name="Text Box 22">
            <a:extLst>
              <a:ext uri="{FF2B5EF4-FFF2-40B4-BE49-F238E27FC236}">
                <a16:creationId xmlns:a16="http://schemas.microsoft.com/office/drawing/2014/main" id="{9974EF62-4A3A-CD09-5231-506448C336A1}"/>
              </a:ext>
            </a:extLst>
          </p:cNvPr>
          <p:cNvSpPr txBox="1">
            <a:spLocks noChangeArrowheads="1"/>
          </p:cNvSpPr>
          <p:nvPr/>
        </p:nvSpPr>
        <p:spPr bwMode="auto">
          <a:xfrm>
            <a:off x="4451350"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14</a:t>
            </a:r>
          </a:p>
        </p:txBody>
      </p:sp>
      <p:sp>
        <p:nvSpPr>
          <p:cNvPr id="46105" name="Text Box 22">
            <a:extLst>
              <a:ext uri="{FF2B5EF4-FFF2-40B4-BE49-F238E27FC236}">
                <a16:creationId xmlns:a16="http://schemas.microsoft.com/office/drawing/2014/main" id="{BDA20AC9-CA8A-DC83-5B45-ED559363307A}"/>
              </a:ext>
            </a:extLst>
          </p:cNvPr>
          <p:cNvSpPr txBox="1">
            <a:spLocks noChangeArrowheads="1"/>
          </p:cNvSpPr>
          <p:nvPr/>
        </p:nvSpPr>
        <p:spPr bwMode="auto">
          <a:xfrm>
            <a:off x="511333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15</a:t>
            </a:r>
          </a:p>
        </p:txBody>
      </p:sp>
      <p:sp>
        <p:nvSpPr>
          <p:cNvPr id="46106" name="Text Box 22">
            <a:extLst>
              <a:ext uri="{FF2B5EF4-FFF2-40B4-BE49-F238E27FC236}">
                <a16:creationId xmlns:a16="http://schemas.microsoft.com/office/drawing/2014/main" id="{F75F7FD3-322A-D3AC-FFC8-7AC6E4ECB31E}"/>
              </a:ext>
            </a:extLst>
          </p:cNvPr>
          <p:cNvSpPr txBox="1">
            <a:spLocks noChangeArrowheads="1"/>
          </p:cNvSpPr>
          <p:nvPr/>
        </p:nvSpPr>
        <p:spPr bwMode="auto">
          <a:xfrm>
            <a:off x="5851525" y="3395663"/>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16</a:t>
            </a:r>
          </a:p>
        </p:txBody>
      </p:sp>
      <p:sp>
        <p:nvSpPr>
          <p:cNvPr id="46107" name="Text Box 22">
            <a:extLst>
              <a:ext uri="{FF2B5EF4-FFF2-40B4-BE49-F238E27FC236}">
                <a16:creationId xmlns:a16="http://schemas.microsoft.com/office/drawing/2014/main" id="{7B5ADD8E-569B-2DAF-BB01-EF69409591A6}"/>
              </a:ext>
            </a:extLst>
          </p:cNvPr>
          <p:cNvSpPr txBox="1">
            <a:spLocks noChangeArrowheads="1"/>
          </p:cNvSpPr>
          <p:nvPr/>
        </p:nvSpPr>
        <p:spPr bwMode="auto">
          <a:xfrm>
            <a:off x="3789363" y="390048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17</a:t>
            </a:r>
          </a:p>
        </p:txBody>
      </p:sp>
      <p:sp>
        <p:nvSpPr>
          <p:cNvPr id="46108" name="Text Box 22">
            <a:extLst>
              <a:ext uri="{FF2B5EF4-FFF2-40B4-BE49-F238E27FC236}">
                <a16:creationId xmlns:a16="http://schemas.microsoft.com/office/drawing/2014/main" id="{7DAF6505-3985-6D20-5725-037106B96AC6}"/>
              </a:ext>
            </a:extLst>
          </p:cNvPr>
          <p:cNvSpPr txBox="1">
            <a:spLocks noChangeArrowheads="1"/>
          </p:cNvSpPr>
          <p:nvPr/>
        </p:nvSpPr>
        <p:spPr bwMode="auto">
          <a:xfrm>
            <a:off x="4451350" y="3898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18</a:t>
            </a:r>
          </a:p>
        </p:txBody>
      </p:sp>
      <p:sp>
        <p:nvSpPr>
          <p:cNvPr id="46109" name="Text Box 22">
            <a:extLst>
              <a:ext uri="{FF2B5EF4-FFF2-40B4-BE49-F238E27FC236}">
                <a16:creationId xmlns:a16="http://schemas.microsoft.com/office/drawing/2014/main" id="{C49F0EB5-DC5A-7EE5-9DB0-977A6A866CF8}"/>
              </a:ext>
            </a:extLst>
          </p:cNvPr>
          <p:cNvSpPr txBox="1">
            <a:spLocks noChangeArrowheads="1"/>
          </p:cNvSpPr>
          <p:nvPr/>
        </p:nvSpPr>
        <p:spPr bwMode="auto">
          <a:xfrm>
            <a:off x="5129213"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19</a:t>
            </a:r>
          </a:p>
        </p:txBody>
      </p:sp>
      <p:sp>
        <p:nvSpPr>
          <p:cNvPr id="46110" name="Text Box 22">
            <a:extLst>
              <a:ext uri="{FF2B5EF4-FFF2-40B4-BE49-F238E27FC236}">
                <a16:creationId xmlns:a16="http://schemas.microsoft.com/office/drawing/2014/main" id="{8DA9FA9D-6D13-715D-9819-4E1D22B872EB}"/>
              </a:ext>
            </a:extLst>
          </p:cNvPr>
          <p:cNvSpPr txBox="1">
            <a:spLocks noChangeArrowheads="1"/>
          </p:cNvSpPr>
          <p:nvPr/>
        </p:nvSpPr>
        <p:spPr bwMode="auto">
          <a:xfrm>
            <a:off x="5851525"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20</a:t>
            </a:r>
          </a:p>
        </p:txBody>
      </p:sp>
      <p:sp>
        <p:nvSpPr>
          <p:cNvPr id="46111" name="Text Box 22">
            <a:extLst>
              <a:ext uri="{FF2B5EF4-FFF2-40B4-BE49-F238E27FC236}">
                <a16:creationId xmlns:a16="http://schemas.microsoft.com/office/drawing/2014/main" id="{0D7335BB-C51A-8F8B-2E9E-414FF2B334FA}"/>
              </a:ext>
            </a:extLst>
          </p:cNvPr>
          <p:cNvSpPr txBox="1">
            <a:spLocks noChangeArrowheads="1"/>
          </p:cNvSpPr>
          <p:nvPr/>
        </p:nvSpPr>
        <p:spPr bwMode="auto">
          <a:xfrm>
            <a:off x="5808663" y="18129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4</a:t>
            </a:r>
          </a:p>
        </p:txBody>
      </p:sp>
      <p:sp>
        <p:nvSpPr>
          <p:cNvPr id="46112" name="Rectangle: Rounded Corners 1">
            <a:extLst>
              <a:ext uri="{FF2B5EF4-FFF2-40B4-BE49-F238E27FC236}">
                <a16:creationId xmlns:a16="http://schemas.microsoft.com/office/drawing/2014/main" id="{8A5A6893-7B59-BCA2-9C7B-0090E1286875}"/>
              </a:ext>
            </a:extLst>
          </p:cNvPr>
          <p:cNvSpPr>
            <a:spLocks noChangeArrowheads="1"/>
          </p:cNvSpPr>
          <p:nvPr/>
        </p:nvSpPr>
        <p:spPr bwMode="auto">
          <a:xfrm>
            <a:off x="4213225" y="2112963"/>
            <a:ext cx="2081213" cy="1600200"/>
          </a:xfrm>
          <a:prstGeom prst="roundRect">
            <a:avLst>
              <a:gd name="adj" fmla="val 16667"/>
            </a:avLst>
          </a:prstGeom>
          <a:solidFill>
            <a:srgbClr val="CCCC00">
              <a:alpha val="25098"/>
            </a:srgbClr>
          </a:solidFill>
          <a:ln w="9525" algn="ctr">
            <a:solidFill>
              <a:schemeClr val="tx1"/>
            </a:solidFill>
            <a:round/>
            <a:headEnd/>
            <a:tailEnd/>
          </a:ln>
        </p:spPr>
        <p:txBody>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742950" indent="-285750"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1143000" indent="-228600"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600200" indent="-228600"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2057400" indent="-228600"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2514600" indent="-228600"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971800" indent="-228600"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3429000" indent="-228600"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886200" indent="-228600"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en-US" altLang="en-US" sz="13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DDB9E5F-EA48-35FC-22B7-6E011D8CAD9C}"/>
              </a:ext>
            </a:extLst>
          </p:cNvPr>
          <p:cNvSpPr>
            <a:spLocks noGrp="1" noChangeArrowheads="1"/>
          </p:cNvSpPr>
          <p:nvPr>
            <p:ph type="title"/>
          </p:nvPr>
        </p:nvSpPr>
        <p:spPr/>
        <p:txBody>
          <a:bodyPr/>
          <a:lstStyle/>
          <a:p>
            <a:pPr eaLnBrk="1" hangingPunct="1"/>
            <a:r>
              <a:rPr lang="en-US" altLang="en-US"/>
              <a:t>SOM procedure</a:t>
            </a:r>
            <a:r>
              <a:rPr lang="en-US" altLang="en-US" baseline="30000"/>
              <a:t>3</a:t>
            </a:r>
          </a:p>
        </p:txBody>
      </p:sp>
      <p:sp>
        <p:nvSpPr>
          <p:cNvPr id="47107" name="Rectangle 3">
            <a:extLst>
              <a:ext uri="{FF2B5EF4-FFF2-40B4-BE49-F238E27FC236}">
                <a16:creationId xmlns:a16="http://schemas.microsoft.com/office/drawing/2014/main" id="{071EB652-A68E-DD8A-8777-44899C90B3B2}"/>
              </a:ext>
            </a:extLst>
          </p:cNvPr>
          <p:cNvSpPr>
            <a:spLocks noGrp="1" noChangeArrowheads="1"/>
          </p:cNvSpPr>
          <p:nvPr>
            <p:ph type="body" sz="half" idx="1"/>
          </p:nvPr>
        </p:nvSpPr>
        <p:spPr>
          <a:xfrm>
            <a:off x="320675" y="1120775"/>
            <a:ext cx="2825750" cy="3595688"/>
          </a:xfrm>
        </p:spPr>
        <p:txBody>
          <a:bodyPr/>
          <a:lstStyle/>
          <a:p>
            <a:pPr lvl="1" eaLnBrk="1" hangingPunct="1"/>
            <a:endParaRPr lang="en-US" altLang="en-US" sz="1100"/>
          </a:p>
          <a:p>
            <a:pPr eaLnBrk="1" hangingPunct="1"/>
            <a:r>
              <a:rPr lang="en-US" altLang="en-US" sz="1100"/>
              <a:t>This process is repeated N times, where N is genes</a:t>
            </a:r>
          </a:p>
          <a:p>
            <a:pPr eaLnBrk="1" hangingPunct="1"/>
            <a:endParaRPr lang="en-US" altLang="en-US" sz="1100"/>
          </a:p>
        </p:txBody>
      </p:sp>
      <p:sp>
        <p:nvSpPr>
          <p:cNvPr id="47108" name="Rectangle 4">
            <a:extLst>
              <a:ext uri="{FF2B5EF4-FFF2-40B4-BE49-F238E27FC236}">
                <a16:creationId xmlns:a16="http://schemas.microsoft.com/office/drawing/2014/main" id="{D897CE12-ED1B-3224-27C1-03A5247933CE}"/>
              </a:ext>
            </a:extLst>
          </p:cNvPr>
          <p:cNvSpPr>
            <a:spLocks noChangeArrowheads="1"/>
          </p:cNvSpPr>
          <p:nvPr/>
        </p:nvSpPr>
        <p:spPr bwMode="auto">
          <a:xfrm>
            <a:off x="3627438" y="1600200"/>
            <a:ext cx="2667000" cy="266700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47109" name="Line 5">
            <a:extLst>
              <a:ext uri="{FF2B5EF4-FFF2-40B4-BE49-F238E27FC236}">
                <a16:creationId xmlns:a16="http://schemas.microsoft.com/office/drawing/2014/main" id="{584940CE-7275-FF6C-4653-D672E841EBBF}"/>
              </a:ext>
            </a:extLst>
          </p:cNvPr>
          <p:cNvSpPr>
            <a:spLocks noChangeShapeType="1"/>
          </p:cNvSpPr>
          <p:nvPr/>
        </p:nvSpPr>
        <p:spPr bwMode="auto">
          <a:xfrm>
            <a:off x="3627438" y="21336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0" name="Line 6">
            <a:extLst>
              <a:ext uri="{FF2B5EF4-FFF2-40B4-BE49-F238E27FC236}">
                <a16:creationId xmlns:a16="http://schemas.microsoft.com/office/drawing/2014/main" id="{43EF3E43-9395-DD8E-9FBA-FE957FF52AE8}"/>
              </a:ext>
            </a:extLst>
          </p:cNvPr>
          <p:cNvSpPr>
            <a:spLocks noChangeShapeType="1"/>
          </p:cNvSpPr>
          <p:nvPr/>
        </p:nvSpPr>
        <p:spPr bwMode="auto">
          <a:xfrm>
            <a:off x="3627438" y="26670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1" name="Line 7">
            <a:extLst>
              <a:ext uri="{FF2B5EF4-FFF2-40B4-BE49-F238E27FC236}">
                <a16:creationId xmlns:a16="http://schemas.microsoft.com/office/drawing/2014/main" id="{93BC5C13-CC1E-9056-BE30-E5B977AE81D5}"/>
              </a:ext>
            </a:extLst>
          </p:cNvPr>
          <p:cNvSpPr>
            <a:spLocks noChangeShapeType="1"/>
          </p:cNvSpPr>
          <p:nvPr/>
        </p:nvSpPr>
        <p:spPr bwMode="auto">
          <a:xfrm>
            <a:off x="3627438" y="32004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2" name="Line 8">
            <a:extLst>
              <a:ext uri="{FF2B5EF4-FFF2-40B4-BE49-F238E27FC236}">
                <a16:creationId xmlns:a16="http://schemas.microsoft.com/office/drawing/2014/main" id="{E4F20CB1-3421-80A0-C229-EF3806FBD78C}"/>
              </a:ext>
            </a:extLst>
          </p:cNvPr>
          <p:cNvSpPr>
            <a:spLocks noChangeShapeType="1"/>
          </p:cNvSpPr>
          <p:nvPr/>
        </p:nvSpPr>
        <p:spPr bwMode="auto">
          <a:xfrm>
            <a:off x="3627438" y="3733800"/>
            <a:ext cx="2667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3" name="Line 9">
            <a:extLst>
              <a:ext uri="{FF2B5EF4-FFF2-40B4-BE49-F238E27FC236}">
                <a16:creationId xmlns:a16="http://schemas.microsoft.com/office/drawing/2014/main" id="{9169D143-BAA8-CF3E-EE85-D34E9CDA275D}"/>
              </a:ext>
            </a:extLst>
          </p:cNvPr>
          <p:cNvSpPr>
            <a:spLocks noChangeShapeType="1"/>
          </p:cNvSpPr>
          <p:nvPr/>
        </p:nvSpPr>
        <p:spPr bwMode="auto">
          <a:xfrm>
            <a:off x="4213225"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Line 10">
            <a:extLst>
              <a:ext uri="{FF2B5EF4-FFF2-40B4-BE49-F238E27FC236}">
                <a16:creationId xmlns:a16="http://schemas.microsoft.com/office/drawing/2014/main" id="{916B153C-5280-4DE4-DAB6-58C62A0F049D}"/>
              </a:ext>
            </a:extLst>
          </p:cNvPr>
          <p:cNvSpPr>
            <a:spLocks noChangeShapeType="1"/>
          </p:cNvSpPr>
          <p:nvPr/>
        </p:nvSpPr>
        <p:spPr bwMode="auto">
          <a:xfrm>
            <a:off x="4906963"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Line 11">
            <a:extLst>
              <a:ext uri="{FF2B5EF4-FFF2-40B4-BE49-F238E27FC236}">
                <a16:creationId xmlns:a16="http://schemas.microsoft.com/office/drawing/2014/main" id="{5AD3B68C-E0C9-8B11-6AD6-174D02463DA7}"/>
              </a:ext>
            </a:extLst>
          </p:cNvPr>
          <p:cNvSpPr>
            <a:spLocks noChangeShapeType="1"/>
          </p:cNvSpPr>
          <p:nvPr/>
        </p:nvSpPr>
        <p:spPr bwMode="auto">
          <a:xfrm>
            <a:off x="5600700" y="1600200"/>
            <a:ext cx="0" cy="26670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6" name="Text Box 12">
            <a:extLst>
              <a:ext uri="{FF2B5EF4-FFF2-40B4-BE49-F238E27FC236}">
                <a16:creationId xmlns:a16="http://schemas.microsoft.com/office/drawing/2014/main" id="{5183EF2A-DF22-AFBE-BC17-3A4F9D8A54CA}"/>
              </a:ext>
            </a:extLst>
          </p:cNvPr>
          <p:cNvSpPr txBox="1">
            <a:spLocks noChangeArrowheads="1"/>
          </p:cNvSpPr>
          <p:nvPr/>
        </p:nvSpPr>
        <p:spPr bwMode="auto">
          <a:xfrm>
            <a:off x="37338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a:t>
            </a:r>
          </a:p>
        </p:txBody>
      </p:sp>
      <p:sp>
        <p:nvSpPr>
          <p:cNvPr id="47117" name="Text Box 13">
            <a:extLst>
              <a:ext uri="{FF2B5EF4-FFF2-40B4-BE49-F238E27FC236}">
                <a16:creationId xmlns:a16="http://schemas.microsoft.com/office/drawing/2014/main" id="{A599873C-903D-F7D4-F455-3DF019FD58DA}"/>
              </a:ext>
            </a:extLst>
          </p:cNvPr>
          <p:cNvSpPr txBox="1">
            <a:spLocks noChangeArrowheads="1"/>
          </p:cNvSpPr>
          <p:nvPr/>
        </p:nvSpPr>
        <p:spPr bwMode="auto">
          <a:xfrm>
            <a:off x="4427538" y="1812925"/>
            <a:ext cx="319087"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a:t>
            </a:r>
          </a:p>
        </p:txBody>
      </p:sp>
      <p:sp>
        <p:nvSpPr>
          <p:cNvPr id="47118" name="Text Box 14">
            <a:extLst>
              <a:ext uri="{FF2B5EF4-FFF2-40B4-BE49-F238E27FC236}">
                <a16:creationId xmlns:a16="http://schemas.microsoft.com/office/drawing/2014/main" id="{E352A523-FF8A-7752-9E43-D27C0C97F1CA}"/>
              </a:ext>
            </a:extLst>
          </p:cNvPr>
          <p:cNvSpPr txBox="1">
            <a:spLocks noChangeArrowheads="1"/>
          </p:cNvSpPr>
          <p:nvPr/>
        </p:nvSpPr>
        <p:spPr bwMode="auto">
          <a:xfrm>
            <a:off x="5067300" y="1812925"/>
            <a:ext cx="320675"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3</a:t>
            </a:r>
          </a:p>
        </p:txBody>
      </p:sp>
      <p:sp>
        <p:nvSpPr>
          <p:cNvPr id="47119" name="Text Box 15">
            <a:extLst>
              <a:ext uri="{FF2B5EF4-FFF2-40B4-BE49-F238E27FC236}">
                <a16:creationId xmlns:a16="http://schemas.microsoft.com/office/drawing/2014/main" id="{340543AC-B0F1-6DC3-D1D3-1D307B68D483}"/>
              </a:ext>
            </a:extLst>
          </p:cNvPr>
          <p:cNvSpPr txBox="1">
            <a:spLocks noChangeArrowheads="1"/>
          </p:cNvSpPr>
          <p:nvPr/>
        </p:nvSpPr>
        <p:spPr bwMode="auto">
          <a:xfrm>
            <a:off x="3254375" y="2773363"/>
            <a:ext cx="319088" cy="21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v</a:t>
            </a:r>
            <a:r>
              <a:rPr lang="en-US" altLang="en-US" sz="1000" baseline="-25000"/>
              <a:t>2</a:t>
            </a:r>
          </a:p>
        </p:txBody>
      </p:sp>
      <p:sp>
        <p:nvSpPr>
          <p:cNvPr id="47120" name="Line 16">
            <a:extLst>
              <a:ext uri="{FF2B5EF4-FFF2-40B4-BE49-F238E27FC236}">
                <a16:creationId xmlns:a16="http://schemas.microsoft.com/office/drawing/2014/main" id="{1A46A4D5-F6AD-82EA-BBEB-3632851602B9}"/>
              </a:ext>
            </a:extLst>
          </p:cNvPr>
          <p:cNvSpPr>
            <a:spLocks noChangeShapeType="1"/>
          </p:cNvSpPr>
          <p:nvPr/>
        </p:nvSpPr>
        <p:spPr bwMode="auto">
          <a:xfrm flipV="1">
            <a:off x="3521075" y="2027238"/>
            <a:ext cx="319088" cy="800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1" name="Line 17">
            <a:extLst>
              <a:ext uri="{FF2B5EF4-FFF2-40B4-BE49-F238E27FC236}">
                <a16:creationId xmlns:a16="http://schemas.microsoft.com/office/drawing/2014/main" id="{BED5B625-C635-886D-A5E7-E38C8C92E41C}"/>
              </a:ext>
            </a:extLst>
          </p:cNvPr>
          <p:cNvSpPr>
            <a:spLocks noChangeShapeType="1"/>
          </p:cNvSpPr>
          <p:nvPr/>
        </p:nvSpPr>
        <p:spPr bwMode="auto">
          <a:xfrm flipV="1">
            <a:off x="3521075" y="2027238"/>
            <a:ext cx="1012825" cy="800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2" name="Line 18">
            <a:extLst>
              <a:ext uri="{FF2B5EF4-FFF2-40B4-BE49-F238E27FC236}">
                <a16:creationId xmlns:a16="http://schemas.microsoft.com/office/drawing/2014/main" id="{1A107B17-10E7-F626-48DB-A0516A0AF231}"/>
              </a:ext>
            </a:extLst>
          </p:cNvPr>
          <p:cNvSpPr>
            <a:spLocks noChangeShapeType="1"/>
          </p:cNvSpPr>
          <p:nvPr/>
        </p:nvSpPr>
        <p:spPr bwMode="auto">
          <a:xfrm flipV="1">
            <a:off x="3521075" y="2079625"/>
            <a:ext cx="1706563" cy="74771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3" name="Text Box 19">
            <a:extLst>
              <a:ext uri="{FF2B5EF4-FFF2-40B4-BE49-F238E27FC236}">
                <a16:creationId xmlns:a16="http://schemas.microsoft.com/office/drawing/2014/main" id="{5B7D2836-C528-D61C-6EBC-D41D2D7AD43B}"/>
              </a:ext>
            </a:extLst>
          </p:cNvPr>
          <p:cNvSpPr txBox="1">
            <a:spLocks noChangeArrowheads="1"/>
          </p:cNvSpPr>
          <p:nvPr/>
        </p:nvSpPr>
        <p:spPr bwMode="auto">
          <a:xfrm>
            <a:off x="5121275" y="2827338"/>
            <a:ext cx="425450" cy="21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11</a:t>
            </a:r>
          </a:p>
        </p:txBody>
      </p:sp>
      <p:sp>
        <p:nvSpPr>
          <p:cNvPr id="47124" name="Line 20">
            <a:extLst>
              <a:ext uri="{FF2B5EF4-FFF2-40B4-BE49-F238E27FC236}">
                <a16:creationId xmlns:a16="http://schemas.microsoft.com/office/drawing/2014/main" id="{73A82399-841B-9A96-47AF-A518EF7DA75E}"/>
              </a:ext>
            </a:extLst>
          </p:cNvPr>
          <p:cNvSpPr>
            <a:spLocks noChangeShapeType="1"/>
          </p:cNvSpPr>
          <p:nvPr/>
        </p:nvSpPr>
        <p:spPr bwMode="auto">
          <a:xfrm>
            <a:off x="3521075" y="2827338"/>
            <a:ext cx="1600200" cy="106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5" name="Line 21">
            <a:extLst>
              <a:ext uri="{FF2B5EF4-FFF2-40B4-BE49-F238E27FC236}">
                <a16:creationId xmlns:a16="http://schemas.microsoft.com/office/drawing/2014/main" id="{AF178418-4AAC-B4D2-7F13-803DCDBBB0A1}"/>
              </a:ext>
            </a:extLst>
          </p:cNvPr>
          <p:cNvSpPr>
            <a:spLocks noChangeShapeType="1"/>
          </p:cNvSpPr>
          <p:nvPr/>
        </p:nvSpPr>
        <p:spPr bwMode="auto">
          <a:xfrm flipV="1">
            <a:off x="3521075" y="2454275"/>
            <a:ext cx="1600200" cy="3730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26" name="Text Box 22">
            <a:extLst>
              <a:ext uri="{FF2B5EF4-FFF2-40B4-BE49-F238E27FC236}">
                <a16:creationId xmlns:a16="http://schemas.microsoft.com/office/drawing/2014/main" id="{4F51E769-674F-5BD5-2CA1-78E172A26B67}"/>
              </a:ext>
            </a:extLst>
          </p:cNvPr>
          <p:cNvSpPr txBox="1">
            <a:spLocks noChangeArrowheads="1"/>
          </p:cNvSpPr>
          <p:nvPr/>
        </p:nvSpPr>
        <p:spPr bwMode="auto">
          <a:xfrm>
            <a:off x="5121275" y="2346325"/>
            <a:ext cx="319088"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7</a:t>
            </a:r>
          </a:p>
        </p:txBody>
      </p:sp>
      <p:sp>
        <p:nvSpPr>
          <p:cNvPr id="47127" name="Text Box 22">
            <a:extLst>
              <a:ext uri="{FF2B5EF4-FFF2-40B4-BE49-F238E27FC236}">
                <a16:creationId xmlns:a16="http://schemas.microsoft.com/office/drawing/2014/main" id="{8C1277B3-C590-DB2B-8F73-8107DCAC94A7}"/>
              </a:ext>
            </a:extLst>
          </p:cNvPr>
          <p:cNvSpPr txBox="1">
            <a:spLocks noChangeArrowheads="1"/>
          </p:cNvSpPr>
          <p:nvPr/>
        </p:nvSpPr>
        <p:spPr bwMode="auto">
          <a:xfrm>
            <a:off x="3775075" y="2374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5</a:t>
            </a:r>
          </a:p>
        </p:txBody>
      </p:sp>
      <p:sp>
        <p:nvSpPr>
          <p:cNvPr id="47128" name="Text Box 22">
            <a:extLst>
              <a:ext uri="{FF2B5EF4-FFF2-40B4-BE49-F238E27FC236}">
                <a16:creationId xmlns:a16="http://schemas.microsoft.com/office/drawing/2014/main" id="{3E201C6C-5C68-2E10-D09B-3DD8EA209A4A}"/>
              </a:ext>
            </a:extLst>
          </p:cNvPr>
          <p:cNvSpPr txBox="1">
            <a:spLocks noChangeArrowheads="1"/>
          </p:cNvSpPr>
          <p:nvPr/>
        </p:nvSpPr>
        <p:spPr bwMode="auto">
          <a:xfrm>
            <a:off x="4451350" y="236855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6</a:t>
            </a:r>
          </a:p>
        </p:txBody>
      </p:sp>
      <p:sp>
        <p:nvSpPr>
          <p:cNvPr id="47129" name="Text Box 22">
            <a:extLst>
              <a:ext uri="{FF2B5EF4-FFF2-40B4-BE49-F238E27FC236}">
                <a16:creationId xmlns:a16="http://schemas.microsoft.com/office/drawing/2014/main" id="{853DB021-C1E3-4263-DC0B-B7F199F7C75B}"/>
              </a:ext>
            </a:extLst>
          </p:cNvPr>
          <p:cNvSpPr txBox="1">
            <a:spLocks noChangeArrowheads="1"/>
          </p:cNvSpPr>
          <p:nvPr/>
        </p:nvSpPr>
        <p:spPr bwMode="auto">
          <a:xfrm>
            <a:off x="5851525" y="23463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8</a:t>
            </a:r>
          </a:p>
        </p:txBody>
      </p:sp>
      <p:sp>
        <p:nvSpPr>
          <p:cNvPr id="47130" name="Text Box 22">
            <a:extLst>
              <a:ext uri="{FF2B5EF4-FFF2-40B4-BE49-F238E27FC236}">
                <a16:creationId xmlns:a16="http://schemas.microsoft.com/office/drawing/2014/main" id="{F3435407-92B6-BFB1-5C6B-E36EB5F7E972}"/>
              </a:ext>
            </a:extLst>
          </p:cNvPr>
          <p:cNvSpPr txBox="1">
            <a:spLocks noChangeArrowheads="1"/>
          </p:cNvSpPr>
          <p:nvPr/>
        </p:nvSpPr>
        <p:spPr bwMode="auto">
          <a:xfrm>
            <a:off x="3775075" y="2844800"/>
            <a:ext cx="320675"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9</a:t>
            </a:r>
          </a:p>
        </p:txBody>
      </p:sp>
      <p:sp>
        <p:nvSpPr>
          <p:cNvPr id="47131" name="Text Box 22">
            <a:extLst>
              <a:ext uri="{FF2B5EF4-FFF2-40B4-BE49-F238E27FC236}">
                <a16:creationId xmlns:a16="http://schemas.microsoft.com/office/drawing/2014/main" id="{D6BA8ED1-9055-A860-C899-EAA210CFA9DD}"/>
              </a:ext>
            </a:extLst>
          </p:cNvPr>
          <p:cNvSpPr txBox="1">
            <a:spLocks noChangeArrowheads="1"/>
          </p:cNvSpPr>
          <p:nvPr/>
        </p:nvSpPr>
        <p:spPr bwMode="auto">
          <a:xfrm>
            <a:off x="4416425" y="2852738"/>
            <a:ext cx="355600"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10</a:t>
            </a:r>
          </a:p>
        </p:txBody>
      </p:sp>
      <p:sp>
        <p:nvSpPr>
          <p:cNvPr id="47132" name="Text Box 22">
            <a:extLst>
              <a:ext uri="{FF2B5EF4-FFF2-40B4-BE49-F238E27FC236}">
                <a16:creationId xmlns:a16="http://schemas.microsoft.com/office/drawing/2014/main" id="{A29793FD-D974-7F4E-97F6-79E805DA09C7}"/>
              </a:ext>
            </a:extLst>
          </p:cNvPr>
          <p:cNvSpPr txBox="1">
            <a:spLocks noChangeArrowheads="1"/>
          </p:cNvSpPr>
          <p:nvPr/>
        </p:nvSpPr>
        <p:spPr bwMode="auto">
          <a:xfrm>
            <a:off x="5816600" y="2844800"/>
            <a:ext cx="355600" cy="21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12</a:t>
            </a:r>
          </a:p>
        </p:txBody>
      </p:sp>
      <p:sp>
        <p:nvSpPr>
          <p:cNvPr id="47133" name="Text Box 22">
            <a:extLst>
              <a:ext uri="{FF2B5EF4-FFF2-40B4-BE49-F238E27FC236}">
                <a16:creationId xmlns:a16="http://schemas.microsoft.com/office/drawing/2014/main" id="{6D28D7EE-1FFF-B6E8-5164-5BEDA9DCF4C2}"/>
              </a:ext>
            </a:extLst>
          </p:cNvPr>
          <p:cNvSpPr txBox="1">
            <a:spLocks noChangeArrowheads="1"/>
          </p:cNvSpPr>
          <p:nvPr/>
        </p:nvSpPr>
        <p:spPr bwMode="auto">
          <a:xfrm>
            <a:off x="3760788" y="33924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13</a:t>
            </a:r>
          </a:p>
        </p:txBody>
      </p:sp>
      <p:sp>
        <p:nvSpPr>
          <p:cNvPr id="47134" name="Text Box 22">
            <a:extLst>
              <a:ext uri="{FF2B5EF4-FFF2-40B4-BE49-F238E27FC236}">
                <a16:creationId xmlns:a16="http://schemas.microsoft.com/office/drawing/2014/main" id="{4FAB6CAE-8956-6044-05A5-C44281A465E8}"/>
              </a:ext>
            </a:extLst>
          </p:cNvPr>
          <p:cNvSpPr txBox="1">
            <a:spLocks noChangeArrowheads="1"/>
          </p:cNvSpPr>
          <p:nvPr/>
        </p:nvSpPr>
        <p:spPr bwMode="auto">
          <a:xfrm>
            <a:off x="4416425" y="3392488"/>
            <a:ext cx="355600"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14</a:t>
            </a:r>
          </a:p>
        </p:txBody>
      </p:sp>
      <p:sp>
        <p:nvSpPr>
          <p:cNvPr id="47135" name="Text Box 22">
            <a:extLst>
              <a:ext uri="{FF2B5EF4-FFF2-40B4-BE49-F238E27FC236}">
                <a16:creationId xmlns:a16="http://schemas.microsoft.com/office/drawing/2014/main" id="{C8EAD61F-9B29-CFFC-1F32-93C9315954F2}"/>
              </a:ext>
            </a:extLst>
          </p:cNvPr>
          <p:cNvSpPr txBox="1">
            <a:spLocks noChangeArrowheads="1"/>
          </p:cNvSpPr>
          <p:nvPr/>
        </p:nvSpPr>
        <p:spPr bwMode="auto">
          <a:xfrm>
            <a:off x="5067300" y="3392488"/>
            <a:ext cx="366713"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15</a:t>
            </a:r>
          </a:p>
        </p:txBody>
      </p:sp>
      <p:sp>
        <p:nvSpPr>
          <p:cNvPr id="47136" name="Text Box 22">
            <a:extLst>
              <a:ext uri="{FF2B5EF4-FFF2-40B4-BE49-F238E27FC236}">
                <a16:creationId xmlns:a16="http://schemas.microsoft.com/office/drawing/2014/main" id="{8D8AA370-B8F8-4E6E-E105-CA26583969E9}"/>
              </a:ext>
            </a:extLst>
          </p:cNvPr>
          <p:cNvSpPr txBox="1">
            <a:spLocks noChangeArrowheads="1"/>
          </p:cNvSpPr>
          <p:nvPr/>
        </p:nvSpPr>
        <p:spPr bwMode="auto">
          <a:xfrm>
            <a:off x="5807075" y="3395663"/>
            <a:ext cx="3651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16</a:t>
            </a:r>
          </a:p>
        </p:txBody>
      </p:sp>
      <p:sp>
        <p:nvSpPr>
          <p:cNvPr id="47137" name="Text Box 22">
            <a:extLst>
              <a:ext uri="{FF2B5EF4-FFF2-40B4-BE49-F238E27FC236}">
                <a16:creationId xmlns:a16="http://schemas.microsoft.com/office/drawing/2014/main" id="{DBD4AB1B-789D-7B25-DBD8-056DF86A0E1C}"/>
              </a:ext>
            </a:extLst>
          </p:cNvPr>
          <p:cNvSpPr txBox="1">
            <a:spLocks noChangeArrowheads="1"/>
          </p:cNvSpPr>
          <p:nvPr/>
        </p:nvSpPr>
        <p:spPr bwMode="auto">
          <a:xfrm>
            <a:off x="3789363" y="3900488"/>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17</a:t>
            </a:r>
          </a:p>
        </p:txBody>
      </p:sp>
      <p:sp>
        <p:nvSpPr>
          <p:cNvPr id="47138" name="Text Box 22">
            <a:extLst>
              <a:ext uri="{FF2B5EF4-FFF2-40B4-BE49-F238E27FC236}">
                <a16:creationId xmlns:a16="http://schemas.microsoft.com/office/drawing/2014/main" id="{6AF88B9E-B92A-068F-E052-7C35CFB24EF1}"/>
              </a:ext>
            </a:extLst>
          </p:cNvPr>
          <p:cNvSpPr txBox="1">
            <a:spLocks noChangeArrowheads="1"/>
          </p:cNvSpPr>
          <p:nvPr/>
        </p:nvSpPr>
        <p:spPr bwMode="auto">
          <a:xfrm>
            <a:off x="4451350" y="3898900"/>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18</a:t>
            </a:r>
          </a:p>
        </p:txBody>
      </p:sp>
      <p:sp>
        <p:nvSpPr>
          <p:cNvPr id="47139" name="Text Box 22">
            <a:extLst>
              <a:ext uri="{FF2B5EF4-FFF2-40B4-BE49-F238E27FC236}">
                <a16:creationId xmlns:a16="http://schemas.microsoft.com/office/drawing/2014/main" id="{7295E0E5-9E8D-B771-9FC4-537266A31236}"/>
              </a:ext>
            </a:extLst>
          </p:cNvPr>
          <p:cNvSpPr txBox="1">
            <a:spLocks noChangeArrowheads="1"/>
          </p:cNvSpPr>
          <p:nvPr/>
        </p:nvSpPr>
        <p:spPr bwMode="auto">
          <a:xfrm>
            <a:off x="5129213"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19</a:t>
            </a:r>
          </a:p>
        </p:txBody>
      </p:sp>
      <p:sp>
        <p:nvSpPr>
          <p:cNvPr id="47140" name="Text Box 22">
            <a:extLst>
              <a:ext uri="{FF2B5EF4-FFF2-40B4-BE49-F238E27FC236}">
                <a16:creationId xmlns:a16="http://schemas.microsoft.com/office/drawing/2014/main" id="{A6A08749-A51B-A73E-15C1-8D94F72E9935}"/>
              </a:ext>
            </a:extLst>
          </p:cNvPr>
          <p:cNvSpPr txBox="1">
            <a:spLocks noChangeArrowheads="1"/>
          </p:cNvSpPr>
          <p:nvPr/>
        </p:nvSpPr>
        <p:spPr bwMode="auto">
          <a:xfrm>
            <a:off x="5851525" y="3925888"/>
            <a:ext cx="320675" cy="21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20</a:t>
            </a:r>
          </a:p>
        </p:txBody>
      </p:sp>
      <p:sp>
        <p:nvSpPr>
          <p:cNvPr id="47141" name="Text Box 22">
            <a:extLst>
              <a:ext uri="{FF2B5EF4-FFF2-40B4-BE49-F238E27FC236}">
                <a16:creationId xmlns:a16="http://schemas.microsoft.com/office/drawing/2014/main" id="{78AD295F-D937-3F82-E006-B5735E62A7AD}"/>
              </a:ext>
            </a:extLst>
          </p:cNvPr>
          <p:cNvSpPr txBox="1">
            <a:spLocks noChangeArrowheads="1"/>
          </p:cNvSpPr>
          <p:nvPr/>
        </p:nvSpPr>
        <p:spPr bwMode="auto">
          <a:xfrm>
            <a:off x="5808663" y="1812925"/>
            <a:ext cx="3206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000"/>
              <a:t>w</a:t>
            </a:r>
            <a:r>
              <a:rPr lang="en-US" altLang="en-US" sz="1000" baseline="-25000"/>
              <a:t>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1CCC3D9-73A4-EA04-CCB7-DD5D0E09E64D}"/>
              </a:ext>
            </a:extLst>
          </p:cNvPr>
          <p:cNvSpPr>
            <a:spLocks noGrp="1" noChangeArrowheads="1"/>
          </p:cNvSpPr>
          <p:nvPr>
            <p:ph type="title"/>
          </p:nvPr>
        </p:nvSpPr>
        <p:spPr>
          <a:xfrm>
            <a:off x="320675" y="85725"/>
            <a:ext cx="5280025" cy="485775"/>
          </a:xfrm>
        </p:spPr>
        <p:txBody>
          <a:bodyPr/>
          <a:lstStyle/>
          <a:p>
            <a:pPr eaLnBrk="1" hangingPunct="1"/>
            <a:r>
              <a:rPr lang="en-US" altLang="en-US"/>
              <a:t>SOM example</a:t>
            </a:r>
            <a:endParaRPr lang="en-US" altLang="en-US" baseline="30000"/>
          </a:p>
        </p:txBody>
      </p:sp>
      <p:sp>
        <p:nvSpPr>
          <p:cNvPr id="48131" name="Rectangle 3">
            <a:extLst>
              <a:ext uri="{FF2B5EF4-FFF2-40B4-BE49-F238E27FC236}">
                <a16:creationId xmlns:a16="http://schemas.microsoft.com/office/drawing/2014/main" id="{D374D700-A083-15D4-F86B-9568FAF19356}"/>
              </a:ext>
            </a:extLst>
          </p:cNvPr>
          <p:cNvSpPr>
            <a:spLocks noGrp="1" noChangeArrowheads="1"/>
          </p:cNvSpPr>
          <p:nvPr>
            <p:ph type="body" sz="half" idx="1"/>
          </p:nvPr>
        </p:nvSpPr>
        <p:spPr>
          <a:xfrm>
            <a:off x="307975" y="800100"/>
            <a:ext cx="5759450" cy="852488"/>
          </a:xfrm>
        </p:spPr>
        <p:txBody>
          <a:bodyPr/>
          <a:lstStyle/>
          <a:p>
            <a:pPr eaLnBrk="1" hangingPunct="1"/>
            <a:r>
              <a:rPr lang="en-US" altLang="en-US" sz="1400"/>
              <a:t>Golub data with 3x2 rectangular grid</a:t>
            </a:r>
          </a:p>
          <a:p>
            <a:pPr eaLnBrk="1" hangingPunct="1"/>
            <a:r>
              <a:rPr lang="en-US" altLang="en-US" sz="1400"/>
              <a:t>Produces 6 representative gene profiles</a:t>
            </a:r>
          </a:p>
          <a:p>
            <a:pPr eaLnBrk="1" hangingPunct="1"/>
            <a:endParaRPr lang="en-US" altLang="en-US" sz="1400"/>
          </a:p>
        </p:txBody>
      </p:sp>
      <p:pic>
        <p:nvPicPr>
          <p:cNvPr id="48132" name="Picture 3">
            <a:extLst>
              <a:ext uri="{FF2B5EF4-FFF2-40B4-BE49-F238E27FC236}">
                <a16:creationId xmlns:a16="http://schemas.microsoft.com/office/drawing/2014/main" id="{247F2607-BB9E-A5E0-D4FD-195A34EDD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724025"/>
            <a:ext cx="3014663"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3" name="Picture 6">
            <a:extLst>
              <a:ext uri="{FF2B5EF4-FFF2-40B4-BE49-F238E27FC236}">
                <a16:creationId xmlns:a16="http://schemas.microsoft.com/office/drawing/2014/main" id="{CE0F8D78-51B2-97EE-BBCF-B71B6A96D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943100"/>
            <a:ext cx="2709863"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TextBox 7">
            <a:extLst>
              <a:ext uri="{FF2B5EF4-FFF2-40B4-BE49-F238E27FC236}">
                <a16:creationId xmlns:a16="http://schemas.microsoft.com/office/drawing/2014/main" id="{69F33D83-6CAD-8D21-390A-95FA5C5021AB}"/>
              </a:ext>
            </a:extLst>
          </p:cNvPr>
          <p:cNvSpPr txBox="1">
            <a:spLocks noChangeArrowheads="1"/>
          </p:cNvSpPr>
          <p:nvPr/>
        </p:nvSpPr>
        <p:spPr bwMode="auto">
          <a:xfrm>
            <a:off x="1163638" y="1684338"/>
            <a:ext cx="20574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n-US" altLang="en-US" b="1"/>
              <a:t>Radar plot</a:t>
            </a:r>
          </a:p>
        </p:txBody>
      </p:sp>
      <p:sp>
        <p:nvSpPr>
          <p:cNvPr id="48135" name="TextBox 11">
            <a:extLst>
              <a:ext uri="{FF2B5EF4-FFF2-40B4-BE49-F238E27FC236}">
                <a16:creationId xmlns:a16="http://schemas.microsoft.com/office/drawing/2014/main" id="{94BDBFF7-DE34-5D7F-C34C-C805F2EC79B3}"/>
              </a:ext>
            </a:extLst>
          </p:cNvPr>
          <p:cNvSpPr txBox="1">
            <a:spLocks noChangeArrowheads="1"/>
          </p:cNvSpPr>
          <p:nvPr/>
        </p:nvSpPr>
        <p:spPr bwMode="auto">
          <a:xfrm>
            <a:off x="4191000" y="1651000"/>
            <a:ext cx="20574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r>
              <a:rPr lang="en-US" altLang="en-US" b="1"/>
              <a:t>Gene profile plot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3AB0B5AF-F671-BA8F-375D-F9FF1C49C363}"/>
              </a:ext>
            </a:extLst>
          </p:cNvPr>
          <p:cNvSpPr>
            <a:spLocks noGrp="1" noChangeArrowheads="1"/>
          </p:cNvSpPr>
          <p:nvPr>
            <p:ph type="title"/>
          </p:nvPr>
        </p:nvSpPr>
        <p:spPr>
          <a:xfrm>
            <a:off x="320675" y="53975"/>
            <a:ext cx="5280025" cy="725488"/>
          </a:xfrm>
        </p:spPr>
        <p:txBody>
          <a:bodyPr/>
          <a:lstStyle/>
          <a:p>
            <a:pPr eaLnBrk="1" hangingPunct="1"/>
            <a:r>
              <a:rPr lang="en-US" altLang="en-US" sz="2400"/>
              <a:t>SOMs pros and cons</a:t>
            </a:r>
          </a:p>
        </p:txBody>
      </p:sp>
      <p:sp>
        <p:nvSpPr>
          <p:cNvPr id="49155" name="Rectangle 3">
            <a:extLst>
              <a:ext uri="{FF2B5EF4-FFF2-40B4-BE49-F238E27FC236}">
                <a16:creationId xmlns:a16="http://schemas.microsoft.com/office/drawing/2014/main" id="{6BAF4B32-3DBD-DE54-8384-50BA23E50C47}"/>
              </a:ext>
            </a:extLst>
          </p:cNvPr>
          <p:cNvSpPr>
            <a:spLocks noChangeArrowheads="1"/>
          </p:cNvSpPr>
          <p:nvPr/>
        </p:nvSpPr>
        <p:spPr bwMode="auto">
          <a:xfrm>
            <a:off x="320675" y="1066800"/>
            <a:ext cx="575945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800"/>
              <a:t>Advantages</a:t>
            </a:r>
          </a:p>
          <a:p>
            <a:pPr lvl="1" eaLnBrk="1" hangingPunct="1"/>
            <a:r>
              <a:rPr lang="en-US" altLang="en-US" sz="1500"/>
              <a:t>Good discovery tool</a:t>
            </a:r>
          </a:p>
          <a:p>
            <a:pPr lvl="2" eaLnBrk="1" hangingPunct="1"/>
            <a:endParaRPr lang="en-US" altLang="en-US" sz="1400"/>
          </a:p>
          <a:p>
            <a:pPr eaLnBrk="1" hangingPunct="1"/>
            <a:r>
              <a:rPr lang="en-US" altLang="en-US" sz="1800"/>
              <a:t>Disadvantages</a:t>
            </a:r>
          </a:p>
          <a:p>
            <a:pPr lvl="1" eaLnBrk="1" hangingPunct="1"/>
            <a:r>
              <a:rPr lang="en-US" altLang="en-US" sz="1500"/>
              <a:t>Can be computationally expensive</a:t>
            </a:r>
          </a:p>
          <a:p>
            <a:pPr lvl="1" eaLnBrk="1" hangingPunct="1"/>
            <a:r>
              <a:rPr lang="en-US" altLang="en-US" sz="1500"/>
              <a:t>Much of the partitioning is dependent upon the grid design</a:t>
            </a:r>
          </a:p>
          <a:p>
            <a:pPr lvl="1" eaLnBrk="1" hangingPunct="1"/>
            <a:endParaRPr lang="en-US" altLang="en-US" sz="1500" baseline="-25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59AA41E-0520-80BB-B2B6-8B6DF0B4FAE4}"/>
              </a:ext>
            </a:extLst>
          </p:cNvPr>
          <p:cNvSpPr>
            <a:spLocks noGrp="1" noChangeArrowheads="1"/>
          </p:cNvSpPr>
          <p:nvPr>
            <p:ph type="title"/>
          </p:nvPr>
        </p:nvSpPr>
        <p:spPr>
          <a:xfrm>
            <a:off x="320675" y="266700"/>
            <a:ext cx="5280025" cy="512763"/>
          </a:xfrm>
        </p:spPr>
        <p:txBody>
          <a:bodyPr/>
          <a:lstStyle/>
          <a:p>
            <a:pPr eaLnBrk="1" hangingPunct="1"/>
            <a:r>
              <a:rPr lang="en-US" altLang="en-US"/>
              <a:t>Some clustering methods</a:t>
            </a:r>
          </a:p>
        </p:txBody>
      </p:sp>
      <p:sp>
        <p:nvSpPr>
          <p:cNvPr id="50179" name="Rectangle 3">
            <a:extLst>
              <a:ext uri="{FF2B5EF4-FFF2-40B4-BE49-F238E27FC236}">
                <a16:creationId xmlns:a16="http://schemas.microsoft.com/office/drawing/2014/main" id="{0BB6C012-04E5-6425-43A0-7344505E4654}"/>
              </a:ext>
            </a:extLst>
          </p:cNvPr>
          <p:cNvSpPr>
            <a:spLocks noGrp="1" noChangeArrowheads="1"/>
          </p:cNvSpPr>
          <p:nvPr>
            <p:ph type="body" idx="1"/>
          </p:nvPr>
        </p:nvSpPr>
        <p:spPr>
          <a:xfrm>
            <a:off x="320675" y="1066800"/>
            <a:ext cx="5759450" cy="3627438"/>
          </a:xfrm>
        </p:spPr>
        <p:txBody>
          <a:bodyPr/>
          <a:lstStyle/>
          <a:p>
            <a:pPr eaLnBrk="1" hangingPunct="1"/>
            <a:r>
              <a:rPr lang="en-US" altLang="en-US" sz="2400"/>
              <a:t>There are multiple types of clustering methods</a:t>
            </a:r>
          </a:p>
          <a:p>
            <a:pPr lvl="1" eaLnBrk="1" hangingPunct="1"/>
            <a:r>
              <a:rPr lang="en-US" altLang="en-US"/>
              <a:t>Hierarchical (HCA)</a:t>
            </a:r>
          </a:p>
          <a:p>
            <a:pPr lvl="1" eaLnBrk="1" hangingPunct="1"/>
            <a:r>
              <a:rPr lang="en-US" altLang="en-US" i="1"/>
              <a:t>k</a:t>
            </a:r>
            <a:r>
              <a:rPr lang="en-US" altLang="en-US"/>
              <a:t>-means</a:t>
            </a:r>
          </a:p>
          <a:p>
            <a:pPr lvl="1" eaLnBrk="1" hangingPunct="1"/>
            <a:r>
              <a:rPr lang="en-US" altLang="en-US"/>
              <a:t>Self-organizing maps (SOM)</a:t>
            </a:r>
          </a:p>
          <a:p>
            <a:pPr lvl="1" eaLnBrk="1" hangingPunct="1"/>
            <a:r>
              <a:rPr lang="en-US" altLang="en-US" b="1">
                <a:solidFill>
                  <a:srgbClr val="FF5050"/>
                </a:solidFill>
              </a:rPr>
              <a:t>Clique partitioning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F3EC227-8625-0814-3D40-1A1025E55254}"/>
              </a:ext>
            </a:extLst>
          </p:cNvPr>
          <p:cNvSpPr>
            <a:spLocks noGrp="1" noChangeArrowheads="1"/>
          </p:cNvSpPr>
          <p:nvPr>
            <p:ph type="title"/>
          </p:nvPr>
        </p:nvSpPr>
        <p:spPr>
          <a:xfrm>
            <a:off x="320675" y="266700"/>
            <a:ext cx="5280025" cy="512763"/>
          </a:xfrm>
        </p:spPr>
        <p:txBody>
          <a:bodyPr/>
          <a:lstStyle/>
          <a:p>
            <a:pPr eaLnBrk="1" hangingPunct="1"/>
            <a:r>
              <a:rPr lang="en-US" altLang="en-US"/>
              <a:t>Clique Partitioning</a:t>
            </a:r>
          </a:p>
        </p:txBody>
      </p:sp>
      <p:sp>
        <p:nvSpPr>
          <p:cNvPr id="51203" name="Rectangle 3">
            <a:extLst>
              <a:ext uri="{FF2B5EF4-FFF2-40B4-BE49-F238E27FC236}">
                <a16:creationId xmlns:a16="http://schemas.microsoft.com/office/drawing/2014/main" id="{5085F1F5-8B4C-C19F-9609-2A3D34CBC969}"/>
              </a:ext>
            </a:extLst>
          </p:cNvPr>
          <p:cNvSpPr>
            <a:spLocks noGrp="1" noChangeArrowheads="1"/>
          </p:cNvSpPr>
          <p:nvPr>
            <p:ph type="body" idx="1"/>
          </p:nvPr>
        </p:nvSpPr>
        <p:spPr>
          <a:xfrm>
            <a:off x="320675" y="1066800"/>
            <a:ext cx="5759450" cy="3627438"/>
          </a:xfrm>
        </p:spPr>
        <p:txBody>
          <a:bodyPr/>
          <a:lstStyle/>
          <a:p>
            <a:pPr eaLnBrk="1" hangingPunct="1">
              <a:lnSpc>
                <a:spcPct val="90000"/>
              </a:lnSpc>
            </a:pPr>
            <a:r>
              <a:rPr lang="en-US" altLang="en-US" sz="1500"/>
              <a:t>Method is based on linear programming</a:t>
            </a:r>
          </a:p>
          <a:p>
            <a:pPr lvl="1" eaLnBrk="1" hangingPunct="1">
              <a:lnSpc>
                <a:spcPct val="90000"/>
              </a:lnSpc>
            </a:pPr>
            <a:r>
              <a:rPr lang="en-US" altLang="en-US" sz="1400"/>
              <a:t>Integer programming is explained here</a:t>
            </a:r>
          </a:p>
          <a:p>
            <a:pPr lvl="1" eaLnBrk="1" hangingPunct="1">
              <a:lnSpc>
                <a:spcPct val="90000"/>
              </a:lnSpc>
            </a:pPr>
            <a:endParaRPr lang="en-US" altLang="en-US" sz="1400"/>
          </a:p>
          <a:p>
            <a:pPr eaLnBrk="1" hangingPunct="1">
              <a:lnSpc>
                <a:spcPct val="90000"/>
              </a:lnSpc>
            </a:pPr>
            <a:r>
              <a:rPr lang="en-US" altLang="en-US" sz="1500"/>
              <a:t>Useful tool for building gene-to-gene interactions</a:t>
            </a:r>
          </a:p>
          <a:p>
            <a:pPr lvl="1" eaLnBrk="1" hangingPunct="1">
              <a:lnSpc>
                <a:spcPct val="90000"/>
              </a:lnSpc>
            </a:pPr>
            <a:r>
              <a:rPr lang="en-US" altLang="en-US" sz="1400"/>
              <a:t>Network models</a:t>
            </a:r>
          </a:p>
          <a:p>
            <a:pPr eaLnBrk="1" hangingPunct="1">
              <a:lnSpc>
                <a:spcPct val="90000"/>
              </a:lnSpc>
            </a:pPr>
            <a:endParaRPr lang="en-US" altLang="en-US" sz="1300"/>
          </a:p>
          <a:p>
            <a:pPr eaLnBrk="1" hangingPunct="1">
              <a:lnSpc>
                <a:spcPct val="90000"/>
              </a:lnSpc>
            </a:pPr>
            <a:r>
              <a:rPr lang="en-US" altLang="en-US" sz="1500"/>
              <a:t>Gene interactions are estimated by maximizing a function consisting of weighted interactions, subject to various constraint parameters</a:t>
            </a:r>
          </a:p>
          <a:p>
            <a:pPr lvl="1" eaLnBrk="1" hangingPunct="1">
              <a:lnSpc>
                <a:spcPct val="90000"/>
              </a:lnSpc>
            </a:pPr>
            <a:r>
              <a:rPr lang="en-US" altLang="en-US" sz="1400"/>
              <a:t>Weighted interactions are scores given to pair-wise gene-to-gene comparisons (e.g. covariance, correlation, distance measure, etc.)</a:t>
            </a:r>
          </a:p>
          <a:p>
            <a:pPr eaLnBrk="1" hangingPunct="1">
              <a:lnSpc>
                <a:spcPct val="90000"/>
              </a:lnSpc>
            </a:pPr>
            <a:endParaRPr lang="en-US" altLang="en-US" sz="1500"/>
          </a:p>
          <a:p>
            <a:pPr eaLnBrk="1" hangingPunct="1">
              <a:lnSpc>
                <a:spcPct val="90000"/>
              </a:lnSpc>
            </a:pPr>
            <a:r>
              <a:rPr lang="en-US" altLang="en-US" sz="1500"/>
              <a:t>Optimization function and constraint equations are decomposed as a matrix to solve for the pair-wise interactions</a:t>
            </a:r>
          </a:p>
          <a:p>
            <a:pPr lvl="1" eaLnBrk="1" hangingPunct="1">
              <a:lnSpc>
                <a:spcPct val="90000"/>
              </a:lnSpc>
            </a:pPr>
            <a:endParaRPr lang="en-US" altLang="en-US" sz="17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75CA8AB-ED2A-1FAF-DE0F-981FF03C0A31}"/>
              </a:ext>
            </a:extLst>
          </p:cNvPr>
          <p:cNvSpPr>
            <a:spLocks noGrp="1" noChangeArrowheads="1"/>
          </p:cNvSpPr>
          <p:nvPr>
            <p:ph type="title"/>
          </p:nvPr>
        </p:nvSpPr>
        <p:spPr>
          <a:xfrm>
            <a:off x="320675" y="234950"/>
            <a:ext cx="5280025" cy="777875"/>
          </a:xfrm>
        </p:spPr>
        <p:txBody>
          <a:bodyPr/>
          <a:lstStyle/>
          <a:p>
            <a:pPr eaLnBrk="1" hangingPunct="1"/>
            <a:r>
              <a:rPr lang="en-US" altLang="en-US" sz="2500"/>
              <a:t>Clique Partitioning – triangle constraint inequalities</a:t>
            </a:r>
          </a:p>
        </p:txBody>
      </p:sp>
      <p:sp>
        <p:nvSpPr>
          <p:cNvPr id="52227" name="Rectangle 7">
            <a:extLst>
              <a:ext uri="{FF2B5EF4-FFF2-40B4-BE49-F238E27FC236}">
                <a16:creationId xmlns:a16="http://schemas.microsoft.com/office/drawing/2014/main" id="{BCD3BBB0-5235-3074-2FD6-1BA5E675CC1B}"/>
              </a:ext>
            </a:extLst>
          </p:cNvPr>
          <p:cNvSpPr>
            <a:spLocks noChangeArrowheads="1"/>
          </p:cNvSpPr>
          <p:nvPr/>
        </p:nvSpPr>
        <p:spPr bwMode="auto">
          <a:xfrm>
            <a:off x="693738" y="1279525"/>
            <a:ext cx="4852987" cy="8001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28" name="Rectangle 8">
            <a:extLst>
              <a:ext uri="{FF2B5EF4-FFF2-40B4-BE49-F238E27FC236}">
                <a16:creationId xmlns:a16="http://schemas.microsoft.com/office/drawing/2014/main" id="{0706F5F2-495D-1B91-B281-E7FC77F88503}"/>
              </a:ext>
            </a:extLst>
          </p:cNvPr>
          <p:cNvSpPr>
            <a:spLocks noGrp="1" noChangeArrowheads="1"/>
          </p:cNvSpPr>
          <p:nvPr>
            <p:ph type="body" idx="1"/>
          </p:nvPr>
        </p:nvSpPr>
        <p:spPr>
          <a:xfrm>
            <a:off x="320675" y="2133600"/>
            <a:ext cx="5759450" cy="2566988"/>
          </a:xfrm>
          <a:noFill/>
        </p:spPr>
        <p:txBody>
          <a:bodyPr/>
          <a:lstStyle/>
          <a:p>
            <a:pPr eaLnBrk="1" hangingPunct="1">
              <a:lnSpc>
                <a:spcPct val="80000"/>
              </a:lnSpc>
            </a:pPr>
            <a:r>
              <a:rPr lang="en-US" altLang="en-US" sz="1000"/>
              <a:t>Maximization function = </a:t>
            </a:r>
          </a:p>
          <a:p>
            <a:pPr marL="520700" lvl="1" indent="-200025" eaLnBrk="1" hangingPunct="1">
              <a:lnSpc>
                <a:spcPct val="80000"/>
              </a:lnSpc>
            </a:pPr>
            <a:r>
              <a:rPr lang="en-US" altLang="en-US" sz="1000"/>
              <a:t>∑wijxij = w</a:t>
            </a:r>
            <a:r>
              <a:rPr lang="en-US" altLang="en-US" sz="1000" baseline="-25000"/>
              <a:t>12</a:t>
            </a:r>
            <a:r>
              <a:rPr lang="en-US" altLang="en-US" sz="1000"/>
              <a:t>x</a:t>
            </a:r>
            <a:r>
              <a:rPr lang="en-US" altLang="en-US" sz="1000" baseline="-25000"/>
              <a:t>12</a:t>
            </a:r>
            <a:r>
              <a:rPr lang="en-US" altLang="en-US" sz="1000"/>
              <a:t> + w</a:t>
            </a:r>
            <a:r>
              <a:rPr lang="en-US" altLang="en-US" sz="1000" baseline="-25000"/>
              <a:t>13</a:t>
            </a:r>
            <a:r>
              <a:rPr lang="en-US" altLang="en-US" sz="1000"/>
              <a:t>x</a:t>
            </a:r>
            <a:r>
              <a:rPr lang="en-US" altLang="en-US" sz="1000" baseline="-25000"/>
              <a:t>13</a:t>
            </a:r>
            <a:r>
              <a:rPr lang="en-US" altLang="en-US" sz="1000"/>
              <a:t> + w</a:t>
            </a:r>
            <a:r>
              <a:rPr lang="en-US" altLang="en-US" sz="1000" baseline="-25000"/>
              <a:t>14</a:t>
            </a:r>
            <a:r>
              <a:rPr lang="en-US" altLang="en-US" sz="1000"/>
              <a:t>x</a:t>
            </a:r>
            <a:r>
              <a:rPr lang="en-US" altLang="en-US" sz="1000" baseline="-25000"/>
              <a:t>14</a:t>
            </a:r>
            <a:r>
              <a:rPr lang="en-US" altLang="en-US" sz="1000"/>
              <a:t> + w</a:t>
            </a:r>
            <a:r>
              <a:rPr lang="en-US" altLang="en-US" sz="1000" baseline="-25000"/>
              <a:t>23</a:t>
            </a:r>
            <a:r>
              <a:rPr lang="en-US" altLang="en-US" sz="1000"/>
              <a:t>x</a:t>
            </a:r>
            <a:r>
              <a:rPr lang="en-US" altLang="en-US" sz="1000" baseline="-25000"/>
              <a:t>23</a:t>
            </a:r>
            <a:r>
              <a:rPr lang="en-US" altLang="en-US" sz="1000"/>
              <a:t> + w</a:t>
            </a:r>
            <a:r>
              <a:rPr lang="en-US" altLang="en-US" sz="1000" baseline="-25000"/>
              <a:t>24</a:t>
            </a:r>
            <a:r>
              <a:rPr lang="en-US" altLang="en-US" sz="1000"/>
              <a:t>x</a:t>
            </a:r>
            <a:r>
              <a:rPr lang="en-US" altLang="en-US" sz="1000" baseline="-25000"/>
              <a:t>24</a:t>
            </a:r>
            <a:r>
              <a:rPr lang="en-US" altLang="en-US" sz="1000"/>
              <a:t> + w</a:t>
            </a:r>
            <a:r>
              <a:rPr lang="en-US" altLang="en-US" sz="1000" baseline="-25000"/>
              <a:t>34</a:t>
            </a:r>
            <a:r>
              <a:rPr lang="en-US" altLang="en-US" sz="1000"/>
              <a:t>x</a:t>
            </a:r>
            <a:r>
              <a:rPr lang="en-US" altLang="en-US" sz="1000" baseline="-25000"/>
              <a:t>34</a:t>
            </a:r>
          </a:p>
          <a:p>
            <a:pPr marL="520700" lvl="1" indent="-200025" eaLnBrk="1" hangingPunct="1">
              <a:lnSpc>
                <a:spcPct val="80000"/>
              </a:lnSpc>
            </a:pPr>
            <a:r>
              <a:rPr lang="en-US" altLang="en-US" sz="1000"/>
              <a:t>w = weighting</a:t>
            </a:r>
          </a:p>
          <a:p>
            <a:pPr marL="520700" lvl="1" indent="-200025" eaLnBrk="1" hangingPunct="1">
              <a:lnSpc>
                <a:spcPct val="80000"/>
              </a:lnSpc>
            </a:pPr>
            <a:r>
              <a:rPr lang="en-US" altLang="en-US" sz="1000"/>
              <a:t>x = edge connecting nodes</a:t>
            </a:r>
          </a:p>
          <a:p>
            <a:pPr marL="520700" lvl="1" indent="-200025" eaLnBrk="1" hangingPunct="1">
              <a:lnSpc>
                <a:spcPct val="80000"/>
              </a:lnSpc>
            </a:pPr>
            <a:r>
              <a:rPr lang="en-US" altLang="en-US" sz="1000"/>
              <a:t>i,j = nodes being connected</a:t>
            </a:r>
          </a:p>
          <a:p>
            <a:pPr marL="520700" lvl="1" indent="-200025" eaLnBrk="1" hangingPunct="1">
              <a:lnSpc>
                <a:spcPct val="80000"/>
              </a:lnSpc>
            </a:pPr>
            <a:endParaRPr lang="en-US" altLang="en-US" sz="1000"/>
          </a:p>
          <a:p>
            <a:pPr eaLnBrk="1" hangingPunct="1">
              <a:lnSpc>
                <a:spcPct val="80000"/>
              </a:lnSpc>
            </a:pPr>
            <a:r>
              <a:rPr lang="en-US" altLang="en-US" sz="1000"/>
              <a:t>Triangular constraints implemented for first triangle:</a:t>
            </a:r>
          </a:p>
          <a:p>
            <a:pPr eaLnBrk="1" hangingPunct="1">
              <a:spcBef>
                <a:spcPct val="0"/>
              </a:spcBef>
              <a:buClrTx/>
              <a:buSzTx/>
              <a:buFontTx/>
              <a:buNone/>
            </a:pPr>
            <a:r>
              <a:rPr lang="en-US" altLang="en-US" sz="1100"/>
              <a:t>	 </a:t>
            </a:r>
            <a:r>
              <a:rPr lang="en-US" altLang="en-US" sz="1100">
                <a:latin typeface="Times New Roman" panose="02020603050405020304" pitchFamily="18" charset="0"/>
              </a:rPr>
              <a:t>w</a:t>
            </a:r>
            <a:r>
              <a:rPr lang="en-US" altLang="en-US" sz="1100" baseline="-25000">
                <a:latin typeface="Times New Roman" panose="02020603050405020304" pitchFamily="18" charset="0"/>
              </a:rPr>
              <a:t>12</a:t>
            </a:r>
            <a:r>
              <a:rPr lang="en-US" altLang="en-US" sz="1100">
                <a:latin typeface="Times New Roman" panose="02020603050405020304" pitchFamily="18" charset="0"/>
              </a:rPr>
              <a:t>x</a:t>
            </a:r>
            <a:r>
              <a:rPr lang="en-US" altLang="en-US" sz="1100" baseline="-25000">
                <a:latin typeface="Times New Roman" panose="02020603050405020304" pitchFamily="18" charset="0"/>
              </a:rPr>
              <a:t>12</a:t>
            </a:r>
            <a:r>
              <a:rPr lang="en-US" altLang="en-US" sz="1100">
                <a:latin typeface="Times New Roman" panose="02020603050405020304" pitchFamily="18" charset="0"/>
              </a:rPr>
              <a:t> + w</a:t>
            </a:r>
            <a:r>
              <a:rPr lang="en-US" altLang="en-US" sz="1100" baseline="-25000">
                <a:latin typeface="Times New Roman" panose="02020603050405020304" pitchFamily="18" charset="0"/>
              </a:rPr>
              <a:t>13</a:t>
            </a:r>
            <a:r>
              <a:rPr lang="en-US" altLang="en-US" sz="1100">
                <a:latin typeface="Times New Roman" panose="02020603050405020304" pitchFamily="18" charset="0"/>
              </a:rPr>
              <a:t>x</a:t>
            </a:r>
            <a:r>
              <a:rPr lang="en-US" altLang="en-US" sz="1100" baseline="-25000">
                <a:latin typeface="Times New Roman" panose="02020603050405020304" pitchFamily="18" charset="0"/>
              </a:rPr>
              <a:t>13</a:t>
            </a:r>
            <a:r>
              <a:rPr lang="en-US" altLang="en-US" sz="1100">
                <a:latin typeface="Times New Roman" panose="02020603050405020304" pitchFamily="18" charset="0"/>
              </a:rPr>
              <a:t> + w</a:t>
            </a:r>
            <a:r>
              <a:rPr lang="en-US" altLang="en-US" sz="1100" baseline="-25000">
                <a:latin typeface="Times New Roman" panose="02020603050405020304" pitchFamily="18" charset="0"/>
              </a:rPr>
              <a:t>14</a:t>
            </a:r>
            <a:r>
              <a:rPr lang="en-US" altLang="en-US" sz="1100">
                <a:latin typeface="Times New Roman" panose="02020603050405020304" pitchFamily="18" charset="0"/>
              </a:rPr>
              <a:t>x</a:t>
            </a:r>
            <a:r>
              <a:rPr lang="en-US" altLang="en-US" sz="1100" baseline="-25000">
                <a:latin typeface="Times New Roman" panose="02020603050405020304" pitchFamily="18" charset="0"/>
              </a:rPr>
              <a:t>14</a:t>
            </a:r>
            <a:r>
              <a:rPr lang="en-US" altLang="en-US" sz="1100">
                <a:latin typeface="Times New Roman" panose="02020603050405020304" pitchFamily="18" charset="0"/>
              </a:rPr>
              <a:t> + w</a:t>
            </a:r>
            <a:r>
              <a:rPr lang="en-US" altLang="en-US" sz="1100" baseline="-25000">
                <a:latin typeface="Times New Roman" panose="02020603050405020304" pitchFamily="18" charset="0"/>
              </a:rPr>
              <a:t>23</a:t>
            </a:r>
            <a:r>
              <a:rPr lang="en-US" altLang="en-US" sz="1100">
                <a:latin typeface="Times New Roman" panose="02020603050405020304" pitchFamily="18" charset="0"/>
              </a:rPr>
              <a:t>x</a:t>
            </a:r>
            <a:r>
              <a:rPr lang="en-US" altLang="en-US" sz="1100" baseline="-25000">
                <a:latin typeface="Times New Roman" panose="02020603050405020304" pitchFamily="18" charset="0"/>
              </a:rPr>
              <a:t>23</a:t>
            </a:r>
            <a:r>
              <a:rPr lang="en-US" altLang="en-US" sz="1100">
                <a:latin typeface="Times New Roman" panose="02020603050405020304" pitchFamily="18" charset="0"/>
              </a:rPr>
              <a:t> + w</a:t>
            </a:r>
            <a:r>
              <a:rPr lang="en-US" altLang="en-US" sz="1100" baseline="-25000">
                <a:latin typeface="Times New Roman" panose="02020603050405020304" pitchFamily="18" charset="0"/>
              </a:rPr>
              <a:t>24</a:t>
            </a:r>
            <a:r>
              <a:rPr lang="en-US" altLang="en-US" sz="1100">
                <a:latin typeface="Times New Roman" panose="02020603050405020304" pitchFamily="18" charset="0"/>
              </a:rPr>
              <a:t>x</a:t>
            </a:r>
            <a:r>
              <a:rPr lang="en-US" altLang="en-US" sz="1100" baseline="-25000">
                <a:latin typeface="Times New Roman" panose="02020603050405020304" pitchFamily="18" charset="0"/>
              </a:rPr>
              <a:t>24</a:t>
            </a:r>
            <a:r>
              <a:rPr lang="en-US" altLang="en-US" sz="1100">
                <a:latin typeface="Times New Roman" panose="02020603050405020304" pitchFamily="18" charset="0"/>
              </a:rPr>
              <a:t> + w</a:t>
            </a:r>
            <a:r>
              <a:rPr lang="en-US" altLang="en-US" sz="1100" baseline="-25000">
                <a:latin typeface="Times New Roman" panose="02020603050405020304" pitchFamily="18" charset="0"/>
              </a:rPr>
              <a:t>34</a:t>
            </a:r>
            <a:r>
              <a:rPr lang="en-US" altLang="en-US" sz="1100">
                <a:latin typeface="Times New Roman" panose="02020603050405020304" pitchFamily="18" charset="0"/>
              </a:rPr>
              <a:t>x</a:t>
            </a:r>
            <a:r>
              <a:rPr lang="en-US" altLang="en-US" sz="1100" baseline="-25000">
                <a:latin typeface="Times New Roman" panose="02020603050405020304" pitchFamily="18" charset="0"/>
              </a:rPr>
              <a:t>34</a:t>
            </a:r>
          </a:p>
          <a:p>
            <a:pPr eaLnBrk="1" hangingPunct="1">
              <a:spcBef>
                <a:spcPct val="0"/>
              </a:spcBef>
              <a:buClrTx/>
              <a:buSzTx/>
              <a:buFontTx/>
              <a:buNone/>
            </a:pPr>
            <a:r>
              <a:rPr lang="en-US" altLang="en-US" sz="1100">
                <a:latin typeface="Times New Roman" panose="02020603050405020304" pitchFamily="18" charset="0"/>
              </a:rPr>
              <a:t>	 x</a:t>
            </a:r>
            <a:r>
              <a:rPr lang="en-US" altLang="en-US" sz="1100" baseline="-25000">
                <a:latin typeface="Times New Roman" panose="02020603050405020304" pitchFamily="18" charset="0"/>
              </a:rPr>
              <a:t>12 </a:t>
            </a:r>
            <a:r>
              <a:rPr lang="en-US" altLang="en-US" sz="1100">
                <a:latin typeface="Times New Roman" panose="02020603050405020304" pitchFamily="18" charset="0"/>
              </a:rPr>
              <a:t>+      x</a:t>
            </a:r>
            <a:r>
              <a:rPr lang="en-US" altLang="en-US" sz="1100" baseline="-25000">
                <a:latin typeface="Times New Roman" panose="02020603050405020304" pitchFamily="18" charset="0"/>
              </a:rPr>
              <a:t>13</a:t>
            </a:r>
            <a:r>
              <a:rPr lang="en-US" altLang="en-US" sz="1100">
                <a:latin typeface="Times New Roman" panose="02020603050405020304" pitchFamily="18" charset="0"/>
              </a:rPr>
              <a:t> +      0    -       x</a:t>
            </a:r>
            <a:r>
              <a:rPr lang="en-US" altLang="en-US" sz="1100" baseline="-25000">
                <a:latin typeface="Times New Roman" panose="02020603050405020304" pitchFamily="18" charset="0"/>
              </a:rPr>
              <a:t>23</a:t>
            </a:r>
            <a:r>
              <a:rPr lang="en-US" altLang="en-US" sz="1100">
                <a:latin typeface="Times New Roman" panose="02020603050405020304" pitchFamily="18" charset="0"/>
              </a:rPr>
              <a:t> +       0   +       0 +      y</a:t>
            </a:r>
            <a:r>
              <a:rPr lang="en-US" altLang="en-US" sz="1100" baseline="-25000">
                <a:latin typeface="Times New Roman" panose="02020603050405020304" pitchFamily="18" charset="0"/>
              </a:rPr>
              <a:t>1</a:t>
            </a:r>
            <a:r>
              <a:rPr lang="en-US" altLang="en-US" sz="1100">
                <a:latin typeface="Times New Roman" panose="02020603050405020304" pitchFamily="18" charset="0"/>
              </a:rPr>
              <a:t> = 1</a:t>
            </a:r>
          </a:p>
          <a:p>
            <a:pPr eaLnBrk="1" hangingPunct="1">
              <a:spcBef>
                <a:spcPct val="0"/>
              </a:spcBef>
              <a:buClrTx/>
              <a:buSzTx/>
              <a:buFontTx/>
              <a:buNone/>
            </a:pPr>
            <a:r>
              <a:rPr lang="en-US" altLang="en-US" sz="1100">
                <a:latin typeface="Times New Roman" panose="02020603050405020304" pitchFamily="18" charset="0"/>
              </a:rPr>
              <a:t>	 x</a:t>
            </a:r>
            <a:r>
              <a:rPr lang="en-US" altLang="en-US" sz="1100" baseline="-25000">
                <a:latin typeface="Times New Roman" panose="02020603050405020304" pitchFamily="18" charset="0"/>
              </a:rPr>
              <a:t>12</a:t>
            </a:r>
            <a:r>
              <a:rPr lang="en-US" altLang="en-US" sz="1100">
                <a:latin typeface="Times New Roman" panose="02020603050405020304" pitchFamily="18" charset="0"/>
              </a:rPr>
              <a:t> -       x</a:t>
            </a:r>
            <a:r>
              <a:rPr lang="en-US" altLang="en-US" sz="1100" baseline="-25000">
                <a:latin typeface="Times New Roman" panose="02020603050405020304" pitchFamily="18" charset="0"/>
              </a:rPr>
              <a:t>13</a:t>
            </a:r>
            <a:r>
              <a:rPr lang="en-US" altLang="en-US" sz="1100">
                <a:latin typeface="Times New Roman" panose="02020603050405020304" pitchFamily="18" charset="0"/>
              </a:rPr>
              <a:t> +      0 +          x</a:t>
            </a:r>
            <a:r>
              <a:rPr lang="en-US" altLang="en-US" sz="1100" baseline="-25000">
                <a:latin typeface="Times New Roman" panose="02020603050405020304" pitchFamily="18" charset="0"/>
              </a:rPr>
              <a:t>23</a:t>
            </a:r>
            <a:r>
              <a:rPr lang="en-US" altLang="en-US" sz="1100">
                <a:latin typeface="Times New Roman" panose="02020603050405020304" pitchFamily="18" charset="0"/>
              </a:rPr>
              <a:t> +       0   +       0 +      y</a:t>
            </a:r>
            <a:r>
              <a:rPr lang="en-US" altLang="en-US" sz="1100" baseline="-25000">
                <a:latin typeface="Times New Roman" panose="02020603050405020304" pitchFamily="18" charset="0"/>
              </a:rPr>
              <a:t>2</a:t>
            </a:r>
            <a:r>
              <a:rPr lang="en-US" altLang="en-US" sz="1100">
                <a:latin typeface="Times New Roman" panose="02020603050405020304" pitchFamily="18" charset="0"/>
              </a:rPr>
              <a:t> = 1</a:t>
            </a:r>
          </a:p>
          <a:p>
            <a:pPr eaLnBrk="1" hangingPunct="1">
              <a:spcBef>
                <a:spcPct val="0"/>
              </a:spcBef>
              <a:buClrTx/>
              <a:buSzTx/>
              <a:buFontTx/>
              <a:buNone/>
            </a:pPr>
            <a:r>
              <a:rPr lang="en-US" altLang="en-US" sz="1100">
                <a:latin typeface="Times New Roman" panose="02020603050405020304" pitchFamily="18" charset="0"/>
              </a:rPr>
              <a:t>      -x</a:t>
            </a:r>
            <a:r>
              <a:rPr lang="en-US" altLang="en-US" sz="1100" baseline="-25000">
                <a:latin typeface="Times New Roman" panose="02020603050405020304" pitchFamily="18" charset="0"/>
              </a:rPr>
              <a:t>12</a:t>
            </a:r>
            <a:r>
              <a:rPr lang="en-US" altLang="en-US" sz="1100">
                <a:latin typeface="Times New Roman" panose="02020603050405020304" pitchFamily="18" charset="0"/>
              </a:rPr>
              <a:t> +       x</a:t>
            </a:r>
            <a:r>
              <a:rPr lang="en-US" altLang="en-US" sz="1100" baseline="-25000">
                <a:latin typeface="Times New Roman" panose="02020603050405020304" pitchFamily="18" charset="0"/>
              </a:rPr>
              <a:t>13</a:t>
            </a:r>
            <a:r>
              <a:rPr lang="en-US" altLang="en-US" sz="1100">
                <a:latin typeface="Times New Roman" panose="02020603050405020304" pitchFamily="18" charset="0"/>
              </a:rPr>
              <a:t> +      0 +          x</a:t>
            </a:r>
            <a:r>
              <a:rPr lang="en-US" altLang="en-US" sz="1100" baseline="-25000">
                <a:latin typeface="Times New Roman" panose="02020603050405020304" pitchFamily="18" charset="0"/>
              </a:rPr>
              <a:t>23</a:t>
            </a:r>
            <a:r>
              <a:rPr lang="en-US" altLang="en-US" sz="1100">
                <a:latin typeface="Times New Roman" panose="02020603050405020304" pitchFamily="18" charset="0"/>
              </a:rPr>
              <a:t> +      0   +       0 +      y</a:t>
            </a:r>
            <a:r>
              <a:rPr lang="en-US" altLang="en-US" sz="1100" baseline="-25000">
                <a:latin typeface="Times New Roman" panose="02020603050405020304" pitchFamily="18" charset="0"/>
              </a:rPr>
              <a:t>3</a:t>
            </a:r>
            <a:r>
              <a:rPr lang="en-US" altLang="en-US" sz="1100">
                <a:latin typeface="Times New Roman" panose="02020603050405020304" pitchFamily="18" charset="0"/>
              </a:rPr>
              <a:t> = 1</a:t>
            </a:r>
          </a:p>
          <a:p>
            <a:pPr marL="520700" lvl="1" indent="-200025" eaLnBrk="1" hangingPunct="1">
              <a:lnSpc>
                <a:spcPct val="80000"/>
              </a:lnSpc>
              <a:buFont typeface="Wingdings" pitchFamily="2" charset="2"/>
              <a:buNone/>
            </a:pPr>
            <a:r>
              <a:rPr lang="en-US" altLang="en-US" sz="1000"/>
              <a:t>	</a:t>
            </a:r>
          </a:p>
          <a:p>
            <a:pPr marL="520700" lvl="1" indent="-200025" eaLnBrk="1" hangingPunct="1">
              <a:lnSpc>
                <a:spcPct val="80000"/>
              </a:lnSpc>
              <a:buFont typeface="Wingdings" pitchFamily="2" charset="2"/>
              <a:buNone/>
            </a:pPr>
            <a:r>
              <a:rPr lang="en-US" altLang="en-US" sz="1000"/>
              <a:t>y variables are “slack” variables and allow equalities to be made for the constraints rather than inequalities</a:t>
            </a:r>
          </a:p>
          <a:p>
            <a:pPr marL="800100" lvl="2" indent="-160338" eaLnBrk="1" hangingPunct="1">
              <a:lnSpc>
                <a:spcPct val="80000"/>
              </a:lnSpc>
            </a:pPr>
            <a:endParaRPr lang="en-US" altLang="en-US" sz="1000"/>
          </a:p>
          <a:p>
            <a:pPr eaLnBrk="1" hangingPunct="1">
              <a:lnSpc>
                <a:spcPct val="80000"/>
              </a:lnSpc>
            </a:pPr>
            <a:r>
              <a:rPr lang="en-US" altLang="en-US" sz="1000"/>
              <a:t>One set of three constraint equations exists for each triangle</a:t>
            </a:r>
          </a:p>
        </p:txBody>
      </p:sp>
      <p:grpSp>
        <p:nvGrpSpPr>
          <p:cNvPr id="52229" name="Group 9">
            <a:extLst>
              <a:ext uri="{FF2B5EF4-FFF2-40B4-BE49-F238E27FC236}">
                <a16:creationId xmlns:a16="http://schemas.microsoft.com/office/drawing/2014/main" id="{769F992D-6684-23CA-BCAF-08B513B3FE81}"/>
              </a:ext>
            </a:extLst>
          </p:cNvPr>
          <p:cNvGrpSpPr>
            <a:grpSpLocks/>
          </p:cNvGrpSpPr>
          <p:nvPr/>
        </p:nvGrpSpPr>
        <p:grpSpPr bwMode="auto">
          <a:xfrm>
            <a:off x="693738" y="1279525"/>
            <a:ext cx="4927600" cy="817563"/>
            <a:chOff x="0" y="1555"/>
            <a:chExt cx="4752" cy="916"/>
          </a:xfrm>
        </p:grpSpPr>
        <p:grpSp>
          <p:nvGrpSpPr>
            <p:cNvPr id="52230" name="Group 10">
              <a:extLst>
                <a:ext uri="{FF2B5EF4-FFF2-40B4-BE49-F238E27FC236}">
                  <a16:creationId xmlns:a16="http://schemas.microsoft.com/office/drawing/2014/main" id="{FDE8DB57-A1B6-67D4-DC98-FADB96BC3443}"/>
                </a:ext>
              </a:extLst>
            </p:cNvPr>
            <p:cNvGrpSpPr>
              <a:grpSpLocks/>
            </p:cNvGrpSpPr>
            <p:nvPr/>
          </p:nvGrpSpPr>
          <p:grpSpPr bwMode="auto">
            <a:xfrm>
              <a:off x="432" y="1565"/>
              <a:ext cx="288" cy="215"/>
              <a:chOff x="432" y="1565"/>
              <a:chExt cx="288" cy="215"/>
            </a:xfrm>
          </p:grpSpPr>
          <p:sp>
            <p:nvSpPr>
              <p:cNvPr id="52288" name="Oval 11">
                <a:extLst>
                  <a:ext uri="{FF2B5EF4-FFF2-40B4-BE49-F238E27FC236}">
                    <a16:creationId xmlns:a16="http://schemas.microsoft.com/office/drawing/2014/main" id="{35B41ED0-CC91-BE5D-1E5E-8E56BD4026FB}"/>
                  </a:ext>
                </a:extLst>
              </p:cNvPr>
              <p:cNvSpPr>
                <a:spLocks noChangeArrowheads="1"/>
              </p:cNvSpPr>
              <p:nvPr/>
            </p:nvSpPr>
            <p:spPr bwMode="auto">
              <a:xfrm>
                <a:off x="480" y="170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89" name="Text Box 12">
                <a:extLst>
                  <a:ext uri="{FF2B5EF4-FFF2-40B4-BE49-F238E27FC236}">
                    <a16:creationId xmlns:a16="http://schemas.microsoft.com/office/drawing/2014/main" id="{82916A3D-10DD-AEFD-A3BD-6A75686C1424}"/>
                  </a:ext>
                </a:extLst>
              </p:cNvPr>
              <p:cNvSpPr txBox="1">
                <a:spLocks noChangeArrowheads="1"/>
              </p:cNvSpPr>
              <p:nvPr/>
            </p:nvSpPr>
            <p:spPr bwMode="auto">
              <a:xfrm>
                <a:off x="432" y="1565"/>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3</a:t>
                </a:r>
                <a:endParaRPr lang="en-US" altLang="en-US" sz="1300">
                  <a:latin typeface="Tahoma" panose="020B0604030504040204" pitchFamily="34" charset="0"/>
                </a:endParaRPr>
              </a:p>
            </p:txBody>
          </p:sp>
        </p:grpSp>
        <p:grpSp>
          <p:nvGrpSpPr>
            <p:cNvPr id="52231" name="Group 13">
              <a:extLst>
                <a:ext uri="{FF2B5EF4-FFF2-40B4-BE49-F238E27FC236}">
                  <a16:creationId xmlns:a16="http://schemas.microsoft.com/office/drawing/2014/main" id="{C5AD3918-8AEE-4ADB-9217-01797F85342A}"/>
                </a:ext>
              </a:extLst>
            </p:cNvPr>
            <p:cNvGrpSpPr>
              <a:grpSpLocks/>
            </p:cNvGrpSpPr>
            <p:nvPr/>
          </p:nvGrpSpPr>
          <p:grpSpPr bwMode="auto">
            <a:xfrm>
              <a:off x="768" y="1853"/>
              <a:ext cx="336" cy="215"/>
              <a:chOff x="768" y="1853"/>
              <a:chExt cx="336" cy="215"/>
            </a:xfrm>
          </p:grpSpPr>
          <p:sp>
            <p:nvSpPr>
              <p:cNvPr id="52286" name="Oval 14">
                <a:extLst>
                  <a:ext uri="{FF2B5EF4-FFF2-40B4-BE49-F238E27FC236}">
                    <a16:creationId xmlns:a16="http://schemas.microsoft.com/office/drawing/2014/main" id="{5EB52EA8-CE9B-ED89-464E-3B6D9E3C863D}"/>
                  </a:ext>
                </a:extLst>
              </p:cNvPr>
              <p:cNvSpPr>
                <a:spLocks noChangeArrowheads="1"/>
              </p:cNvSpPr>
              <p:nvPr/>
            </p:nvSpPr>
            <p:spPr bwMode="auto">
              <a:xfrm>
                <a:off x="768"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87" name="Text Box 15">
                <a:extLst>
                  <a:ext uri="{FF2B5EF4-FFF2-40B4-BE49-F238E27FC236}">
                    <a16:creationId xmlns:a16="http://schemas.microsoft.com/office/drawing/2014/main" id="{AF8EB468-8F37-FA17-6008-24D34FCB2264}"/>
                  </a:ext>
                </a:extLst>
              </p:cNvPr>
              <p:cNvSpPr txBox="1">
                <a:spLocks noChangeArrowheads="1"/>
              </p:cNvSpPr>
              <p:nvPr/>
            </p:nvSpPr>
            <p:spPr bwMode="auto">
              <a:xfrm>
                <a:off x="816" y="1853"/>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2</a:t>
                </a:r>
                <a:endParaRPr lang="en-US" altLang="en-US" sz="1300">
                  <a:latin typeface="Tahoma" panose="020B0604030504040204" pitchFamily="34" charset="0"/>
                </a:endParaRPr>
              </a:p>
            </p:txBody>
          </p:sp>
        </p:grpSp>
        <p:grpSp>
          <p:nvGrpSpPr>
            <p:cNvPr id="52232" name="Group 16">
              <a:extLst>
                <a:ext uri="{FF2B5EF4-FFF2-40B4-BE49-F238E27FC236}">
                  <a16:creationId xmlns:a16="http://schemas.microsoft.com/office/drawing/2014/main" id="{F09C124F-D1F2-3C15-CBFC-5A42F9FBCC71}"/>
                </a:ext>
              </a:extLst>
            </p:cNvPr>
            <p:cNvGrpSpPr>
              <a:grpSpLocks/>
            </p:cNvGrpSpPr>
            <p:nvPr/>
          </p:nvGrpSpPr>
          <p:grpSpPr bwMode="auto">
            <a:xfrm>
              <a:off x="432" y="2189"/>
              <a:ext cx="288" cy="263"/>
              <a:chOff x="432" y="2189"/>
              <a:chExt cx="288" cy="263"/>
            </a:xfrm>
          </p:grpSpPr>
          <p:sp>
            <p:nvSpPr>
              <p:cNvPr id="52284" name="Oval 17">
                <a:extLst>
                  <a:ext uri="{FF2B5EF4-FFF2-40B4-BE49-F238E27FC236}">
                    <a16:creationId xmlns:a16="http://schemas.microsoft.com/office/drawing/2014/main" id="{D9999324-99CD-0761-57D4-17306EC79A97}"/>
                  </a:ext>
                </a:extLst>
              </p:cNvPr>
              <p:cNvSpPr>
                <a:spLocks noChangeArrowheads="1"/>
              </p:cNvSpPr>
              <p:nvPr/>
            </p:nvSpPr>
            <p:spPr bwMode="auto">
              <a:xfrm>
                <a:off x="480" y="218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85" name="Text Box 18">
                <a:extLst>
                  <a:ext uri="{FF2B5EF4-FFF2-40B4-BE49-F238E27FC236}">
                    <a16:creationId xmlns:a16="http://schemas.microsoft.com/office/drawing/2014/main" id="{BE20DC66-2840-A153-48A3-3D95D0E79F57}"/>
                  </a:ext>
                </a:extLst>
              </p:cNvPr>
              <p:cNvSpPr txBox="1">
                <a:spLocks noChangeArrowheads="1"/>
              </p:cNvSpPr>
              <p:nvPr/>
            </p:nvSpPr>
            <p:spPr bwMode="auto">
              <a:xfrm>
                <a:off x="432" y="2236"/>
                <a:ext cx="288" cy="216"/>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1</a:t>
                </a:r>
                <a:endParaRPr lang="en-US" altLang="en-US" sz="1300">
                  <a:latin typeface="Tahoma" panose="020B0604030504040204" pitchFamily="34" charset="0"/>
                </a:endParaRPr>
              </a:p>
            </p:txBody>
          </p:sp>
        </p:grpSp>
        <p:grpSp>
          <p:nvGrpSpPr>
            <p:cNvPr id="52233" name="Group 19">
              <a:extLst>
                <a:ext uri="{FF2B5EF4-FFF2-40B4-BE49-F238E27FC236}">
                  <a16:creationId xmlns:a16="http://schemas.microsoft.com/office/drawing/2014/main" id="{EAD4FEA1-5FE0-501B-F0C3-081E1E8B8D15}"/>
                </a:ext>
              </a:extLst>
            </p:cNvPr>
            <p:cNvGrpSpPr>
              <a:grpSpLocks/>
            </p:cNvGrpSpPr>
            <p:nvPr/>
          </p:nvGrpSpPr>
          <p:grpSpPr bwMode="auto">
            <a:xfrm>
              <a:off x="0" y="1872"/>
              <a:ext cx="288" cy="215"/>
              <a:chOff x="0" y="1872"/>
              <a:chExt cx="288" cy="215"/>
            </a:xfrm>
          </p:grpSpPr>
          <p:sp>
            <p:nvSpPr>
              <p:cNvPr id="52282" name="Oval 20">
                <a:extLst>
                  <a:ext uri="{FF2B5EF4-FFF2-40B4-BE49-F238E27FC236}">
                    <a16:creationId xmlns:a16="http://schemas.microsoft.com/office/drawing/2014/main" id="{ED063558-414B-B3AD-7B62-9D4EB43F6A79}"/>
                  </a:ext>
                </a:extLst>
              </p:cNvPr>
              <p:cNvSpPr>
                <a:spLocks noChangeArrowheads="1"/>
              </p:cNvSpPr>
              <p:nvPr/>
            </p:nvSpPr>
            <p:spPr bwMode="auto">
              <a:xfrm>
                <a:off x="192"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83" name="Text Box 21">
                <a:extLst>
                  <a:ext uri="{FF2B5EF4-FFF2-40B4-BE49-F238E27FC236}">
                    <a16:creationId xmlns:a16="http://schemas.microsoft.com/office/drawing/2014/main" id="{A59A0112-BFB9-C17D-862E-96249CABD6EE}"/>
                  </a:ext>
                </a:extLst>
              </p:cNvPr>
              <p:cNvSpPr txBox="1">
                <a:spLocks noChangeArrowheads="1"/>
              </p:cNvSpPr>
              <p:nvPr/>
            </p:nvSpPr>
            <p:spPr bwMode="auto">
              <a:xfrm>
                <a:off x="0" y="1872"/>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4</a:t>
                </a:r>
                <a:endParaRPr lang="en-US" altLang="en-US" sz="1300">
                  <a:latin typeface="Tahoma" panose="020B0604030504040204" pitchFamily="34" charset="0"/>
                </a:endParaRPr>
              </a:p>
            </p:txBody>
          </p:sp>
        </p:grpSp>
        <p:grpSp>
          <p:nvGrpSpPr>
            <p:cNvPr id="52234" name="Group 22">
              <a:extLst>
                <a:ext uri="{FF2B5EF4-FFF2-40B4-BE49-F238E27FC236}">
                  <a16:creationId xmlns:a16="http://schemas.microsoft.com/office/drawing/2014/main" id="{7ADF1884-B5D2-BE59-0596-6B8B65D6816C}"/>
                </a:ext>
              </a:extLst>
            </p:cNvPr>
            <p:cNvGrpSpPr>
              <a:grpSpLocks/>
            </p:cNvGrpSpPr>
            <p:nvPr/>
          </p:nvGrpSpPr>
          <p:grpSpPr bwMode="auto">
            <a:xfrm>
              <a:off x="1248" y="1555"/>
              <a:ext cx="288" cy="215"/>
              <a:chOff x="432" y="1565"/>
              <a:chExt cx="288" cy="215"/>
            </a:xfrm>
          </p:grpSpPr>
          <p:sp>
            <p:nvSpPr>
              <p:cNvPr id="52280" name="Oval 23">
                <a:extLst>
                  <a:ext uri="{FF2B5EF4-FFF2-40B4-BE49-F238E27FC236}">
                    <a16:creationId xmlns:a16="http://schemas.microsoft.com/office/drawing/2014/main" id="{25303173-FB10-8D04-FE88-1C864970B68F}"/>
                  </a:ext>
                </a:extLst>
              </p:cNvPr>
              <p:cNvSpPr>
                <a:spLocks noChangeArrowheads="1"/>
              </p:cNvSpPr>
              <p:nvPr/>
            </p:nvSpPr>
            <p:spPr bwMode="auto">
              <a:xfrm>
                <a:off x="480" y="170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81" name="Text Box 24">
                <a:extLst>
                  <a:ext uri="{FF2B5EF4-FFF2-40B4-BE49-F238E27FC236}">
                    <a16:creationId xmlns:a16="http://schemas.microsoft.com/office/drawing/2014/main" id="{65626E32-FA87-7ADC-8C00-0BAAAB7F00A9}"/>
                  </a:ext>
                </a:extLst>
              </p:cNvPr>
              <p:cNvSpPr txBox="1">
                <a:spLocks noChangeArrowheads="1"/>
              </p:cNvSpPr>
              <p:nvPr/>
            </p:nvSpPr>
            <p:spPr bwMode="auto">
              <a:xfrm>
                <a:off x="432" y="1565"/>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3</a:t>
                </a:r>
                <a:endParaRPr lang="en-US" altLang="en-US" sz="1300">
                  <a:latin typeface="Tahoma" panose="020B0604030504040204" pitchFamily="34" charset="0"/>
                </a:endParaRPr>
              </a:p>
            </p:txBody>
          </p:sp>
        </p:grpSp>
        <p:grpSp>
          <p:nvGrpSpPr>
            <p:cNvPr id="52235" name="Group 25">
              <a:extLst>
                <a:ext uri="{FF2B5EF4-FFF2-40B4-BE49-F238E27FC236}">
                  <a16:creationId xmlns:a16="http://schemas.microsoft.com/office/drawing/2014/main" id="{51EE7AD3-F60A-FDEF-F6FC-6A3D3BDEFBD2}"/>
                </a:ext>
              </a:extLst>
            </p:cNvPr>
            <p:cNvGrpSpPr>
              <a:grpSpLocks/>
            </p:cNvGrpSpPr>
            <p:nvPr/>
          </p:nvGrpSpPr>
          <p:grpSpPr bwMode="auto">
            <a:xfrm>
              <a:off x="1584" y="1843"/>
              <a:ext cx="336" cy="215"/>
              <a:chOff x="768" y="1853"/>
              <a:chExt cx="336" cy="215"/>
            </a:xfrm>
          </p:grpSpPr>
          <p:sp>
            <p:nvSpPr>
              <p:cNvPr id="52278" name="Oval 26">
                <a:extLst>
                  <a:ext uri="{FF2B5EF4-FFF2-40B4-BE49-F238E27FC236}">
                    <a16:creationId xmlns:a16="http://schemas.microsoft.com/office/drawing/2014/main" id="{0083F744-F389-BE0C-2E95-5861986C3DA1}"/>
                  </a:ext>
                </a:extLst>
              </p:cNvPr>
              <p:cNvSpPr>
                <a:spLocks noChangeArrowheads="1"/>
              </p:cNvSpPr>
              <p:nvPr/>
            </p:nvSpPr>
            <p:spPr bwMode="auto">
              <a:xfrm>
                <a:off x="768"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79" name="Text Box 27">
                <a:extLst>
                  <a:ext uri="{FF2B5EF4-FFF2-40B4-BE49-F238E27FC236}">
                    <a16:creationId xmlns:a16="http://schemas.microsoft.com/office/drawing/2014/main" id="{8C905A86-910E-19EC-DA98-DEFFD108FA0E}"/>
                  </a:ext>
                </a:extLst>
              </p:cNvPr>
              <p:cNvSpPr txBox="1">
                <a:spLocks noChangeArrowheads="1"/>
              </p:cNvSpPr>
              <p:nvPr/>
            </p:nvSpPr>
            <p:spPr bwMode="auto">
              <a:xfrm>
                <a:off x="816" y="1853"/>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2</a:t>
                </a:r>
                <a:endParaRPr lang="en-US" altLang="en-US" sz="1300">
                  <a:latin typeface="Tahoma" panose="020B0604030504040204" pitchFamily="34" charset="0"/>
                </a:endParaRPr>
              </a:p>
            </p:txBody>
          </p:sp>
        </p:grpSp>
        <p:grpSp>
          <p:nvGrpSpPr>
            <p:cNvPr id="52236" name="Group 28">
              <a:extLst>
                <a:ext uri="{FF2B5EF4-FFF2-40B4-BE49-F238E27FC236}">
                  <a16:creationId xmlns:a16="http://schemas.microsoft.com/office/drawing/2014/main" id="{D94B6E81-1579-3AB1-0A13-6D4171142633}"/>
                </a:ext>
              </a:extLst>
            </p:cNvPr>
            <p:cNvGrpSpPr>
              <a:grpSpLocks/>
            </p:cNvGrpSpPr>
            <p:nvPr/>
          </p:nvGrpSpPr>
          <p:grpSpPr bwMode="auto">
            <a:xfrm>
              <a:off x="1248" y="2179"/>
              <a:ext cx="288" cy="263"/>
              <a:chOff x="432" y="2189"/>
              <a:chExt cx="288" cy="263"/>
            </a:xfrm>
          </p:grpSpPr>
          <p:sp>
            <p:nvSpPr>
              <p:cNvPr id="52276" name="Oval 29">
                <a:extLst>
                  <a:ext uri="{FF2B5EF4-FFF2-40B4-BE49-F238E27FC236}">
                    <a16:creationId xmlns:a16="http://schemas.microsoft.com/office/drawing/2014/main" id="{5CA31419-2ABD-D91E-AA23-6EEA6D337E29}"/>
                  </a:ext>
                </a:extLst>
              </p:cNvPr>
              <p:cNvSpPr>
                <a:spLocks noChangeArrowheads="1"/>
              </p:cNvSpPr>
              <p:nvPr/>
            </p:nvSpPr>
            <p:spPr bwMode="auto">
              <a:xfrm>
                <a:off x="480" y="218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77" name="Text Box 30">
                <a:extLst>
                  <a:ext uri="{FF2B5EF4-FFF2-40B4-BE49-F238E27FC236}">
                    <a16:creationId xmlns:a16="http://schemas.microsoft.com/office/drawing/2014/main" id="{F6BAA1CB-1191-C7AE-669D-AD76081DDC53}"/>
                  </a:ext>
                </a:extLst>
              </p:cNvPr>
              <p:cNvSpPr txBox="1">
                <a:spLocks noChangeArrowheads="1"/>
              </p:cNvSpPr>
              <p:nvPr/>
            </p:nvSpPr>
            <p:spPr bwMode="auto">
              <a:xfrm>
                <a:off x="432" y="2236"/>
                <a:ext cx="288" cy="216"/>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1</a:t>
                </a:r>
                <a:endParaRPr lang="en-US" altLang="en-US" sz="1300">
                  <a:latin typeface="Tahoma" panose="020B0604030504040204" pitchFamily="34" charset="0"/>
                </a:endParaRPr>
              </a:p>
            </p:txBody>
          </p:sp>
        </p:grpSp>
        <p:sp>
          <p:nvSpPr>
            <p:cNvPr id="52237" name="Line 31">
              <a:extLst>
                <a:ext uri="{FF2B5EF4-FFF2-40B4-BE49-F238E27FC236}">
                  <a16:creationId xmlns:a16="http://schemas.microsoft.com/office/drawing/2014/main" id="{CCADF83D-B80C-DC87-BB0E-5AB1B30E3A23}"/>
                </a:ext>
              </a:extLst>
            </p:cNvPr>
            <p:cNvSpPr>
              <a:spLocks noChangeShapeType="1"/>
            </p:cNvSpPr>
            <p:nvPr/>
          </p:nvSpPr>
          <p:spPr bwMode="auto">
            <a:xfrm>
              <a:off x="1344" y="1728"/>
              <a:ext cx="0" cy="4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8" name="Line 32">
              <a:extLst>
                <a:ext uri="{FF2B5EF4-FFF2-40B4-BE49-F238E27FC236}">
                  <a16:creationId xmlns:a16="http://schemas.microsoft.com/office/drawing/2014/main" id="{6C1EBF16-A3C1-E81E-9B35-46C13817B458}"/>
                </a:ext>
              </a:extLst>
            </p:cNvPr>
            <p:cNvSpPr>
              <a:spLocks noChangeShapeType="1"/>
            </p:cNvSpPr>
            <p:nvPr/>
          </p:nvSpPr>
          <p:spPr bwMode="auto">
            <a:xfrm>
              <a:off x="1344" y="1728"/>
              <a:ext cx="288"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39" name="Line 33">
              <a:extLst>
                <a:ext uri="{FF2B5EF4-FFF2-40B4-BE49-F238E27FC236}">
                  <a16:creationId xmlns:a16="http://schemas.microsoft.com/office/drawing/2014/main" id="{EBC30F2B-15CF-007C-0640-6356E78E2B4F}"/>
                </a:ext>
              </a:extLst>
            </p:cNvPr>
            <p:cNvSpPr>
              <a:spLocks noChangeShapeType="1"/>
            </p:cNvSpPr>
            <p:nvPr/>
          </p:nvSpPr>
          <p:spPr bwMode="auto">
            <a:xfrm flipH="1">
              <a:off x="1344" y="1968"/>
              <a:ext cx="240"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2240" name="Group 34">
              <a:extLst>
                <a:ext uri="{FF2B5EF4-FFF2-40B4-BE49-F238E27FC236}">
                  <a16:creationId xmlns:a16="http://schemas.microsoft.com/office/drawing/2014/main" id="{98895AAB-9959-AB38-72F8-8394B3D8BFED}"/>
                </a:ext>
              </a:extLst>
            </p:cNvPr>
            <p:cNvGrpSpPr>
              <a:grpSpLocks/>
            </p:cNvGrpSpPr>
            <p:nvPr/>
          </p:nvGrpSpPr>
          <p:grpSpPr bwMode="auto">
            <a:xfrm>
              <a:off x="2304" y="1555"/>
              <a:ext cx="288" cy="215"/>
              <a:chOff x="432" y="1565"/>
              <a:chExt cx="288" cy="215"/>
            </a:xfrm>
          </p:grpSpPr>
          <p:sp>
            <p:nvSpPr>
              <p:cNvPr id="52274" name="Oval 35">
                <a:extLst>
                  <a:ext uri="{FF2B5EF4-FFF2-40B4-BE49-F238E27FC236}">
                    <a16:creationId xmlns:a16="http://schemas.microsoft.com/office/drawing/2014/main" id="{A3FBDBE9-5804-0700-2225-3C925252EDFB}"/>
                  </a:ext>
                </a:extLst>
              </p:cNvPr>
              <p:cNvSpPr>
                <a:spLocks noChangeArrowheads="1"/>
              </p:cNvSpPr>
              <p:nvPr/>
            </p:nvSpPr>
            <p:spPr bwMode="auto">
              <a:xfrm>
                <a:off x="480" y="170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75" name="Text Box 36">
                <a:extLst>
                  <a:ext uri="{FF2B5EF4-FFF2-40B4-BE49-F238E27FC236}">
                    <a16:creationId xmlns:a16="http://schemas.microsoft.com/office/drawing/2014/main" id="{A111A151-7170-B0B1-81C0-0D77F60E481C}"/>
                  </a:ext>
                </a:extLst>
              </p:cNvPr>
              <p:cNvSpPr txBox="1">
                <a:spLocks noChangeArrowheads="1"/>
              </p:cNvSpPr>
              <p:nvPr/>
            </p:nvSpPr>
            <p:spPr bwMode="auto">
              <a:xfrm>
                <a:off x="432" y="1565"/>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3</a:t>
                </a:r>
                <a:endParaRPr lang="en-US" altLang="en-US" sz="1300">
                  <a:latin typeface="Tahoma" panose="020B0604030504040204" pitchFamily="34" charset="0"/>
                </a:endParaRPr>
              </a:p>
            </p:txBody>
          </p:sp>
        </p:grpSp>
        <p:grpSp>
          <p:nvGrpSpPr>
            <p:cNvPr id="52241" name="Group 37">
              <a:extLst>
                <a:ext uri="{FF2B5EF4-FFF2-40B4-BE49-F238E27FC236}">
                  <a16:creationId xmlns:a16="http://schemas.microsoft.com/office/drawing/2014/main" id="{50397576-EB9B-DB3B-6E1A-06F0B04122E6}"/>
                </a:ext>
              </a:extLst>
            </p:cNvPr>
            <p:cNvGrpSpPr>
              <a:grpSpLocks/>
            </p:cNvGrpSpPr>
            <p:nvPr/>
          </p:nvGrpSpPr>
          <p:grpSpPr bwMode="auto">
            <a:xfrm>
              <a:off x="2304" y="2179"/>
              <a:ext cx="288" cy="263"/>
              <a:chOff x="432" y="2189"/>
              <a:chExt cx="288" cy="263"/>
            </a:xfrm>
          </p:grpSpPr>
          <p:sp>
            <p:nvSpPr>
              <p:cNvPr id="52272" name="Oval 38">
                <a:extLst>
                  <a:ext uri="{FF2B5EF4-FFF2-40B4-BE49-F238E27FC236}">
                    <a16:creationId xmlns:a16="http://schemas.microsoft.com/office/drawing/2014/main" id="{E1394BBB-422B-6CCE-6FAC-8957FF037795}"/>
                  </a:ext>
                </a:extLst>
              </p:cNvPr>
              <p:cNvSpPr>
                <a:spLocks noChangeArrowheads="1"/>
              </p:cNvSpPr>
              <p:nvPr/>
            </p:nvSpPr>
            <p:spPr bwMode="auto">
              <a:xfrm>
                <a:off x="480" y="218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73" name="Text Box 39">
                <a:extLst>
                  <a:ext uri="{FF2B5EF4-FFF2-40B4-BE49-F238E27FC236}">
                    <a16:creationId xmlns:a16="http://schemas.microsoft.com/office/drawing/2014/main" id="{895B1037-E64B-8141-C978-9B9F1845DDC7}"/>
                  </a:ext>
                </a:extLst>
              </p:cNvPr>
              <p:cNvSpPr txBox="1">
                <a:spLocks noChangeArrowheads="1"/>
              </p:cNvSpPr>
              <p:nvPr/>
            </p:nvSpPr>
            <p:spPr bwMode="auto">
              <a:xfrm>
                <a:off x="432" y="2236"/>
                <a:ext cx="288" cy="216"/>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1</a:t>
                </a:r>
                <a:endParaRPr lang="en-US" altLang="en-US" sz="1300">
                  <a:latin typeface="Tahoma" panose="020B0604030504040204" pitchFamily="34" charset="0"/>
                </a:endParaRPr>
              </a:p>
            </p:txBody>
          </p:sp>
        </p:grpSp>
        <p:grpSp>
          <p:nvGrpSpPr>
            <p:cNvPr id="52242" name="Group 40">
              <a:extLst>
                <a:ext uri="{FF2B5EF4-FFF2-40B4-BE49-F238E27FC236}">
                  <a16:creationId xmlns:a16="http://schemas.microsoft.com/office/drawing/2014/main" id="{1D4688C2-E6EA-83BA-7796-A63EB9C77472}"/>
                </a:ext>
              </a:extLst>
            </p:cNvPr>
            <p:cNvGrpSpPr>
              <a:grpSpLocks/>
            </p:cNvGrpSpPr>
            <p:nvPr/>
          </p:nvGrpSpPr>
          <p:grpSpPr bwMode="auto">
            <a:xfrm>
              <a:off x="1872" y="1862"/>
              <a:ext cx="288" cy="215"/>
              <a:chOff x="0" y="1872"/>
              <a:chExt cx="288" cy="215"/>
            </a:xfrm>
          </p:grpSpPr>
          <p:sp>
            <p:nvSpPr>
              <p:cNvPr id="52270" name="Oval 41">
                <a:extLst>
                  <a:ext uri="{FF2B5EF4-FFF2-40B4-BE49-F238E27FC236}">
                    <a16:creationId xmlns:a16="http://schemas.microsoft.com/office/drawing/2014/main" id="{2C023E1B-D0BE-5DE1-6425-98C6469F2128}"/>
                  </a:ext>
                </a:extLst>
              </p:cNvPr>
              <p:cNvSpPr>
                <a:spLocks noChangeArrowheads="1"/>
              </p:cNvSpPr>
              <p:nvPr/>
            </p:nvSpPr>
            <p:spPr bwMode="auto">
              <a:xfrm>
                <a:off x="192"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71" name="Text Box 42">
                <a:extLst>
                  <a:ext uri="{FF2B5EF4-FFF2-40B4-BE49-F238E27FC236}">
                    <a16:creationId xmlns:a16="http://schemas.microsoft.com/office/drawing/2014/main" id="{0EF0DEF4-2880-82D6-BC98-C7AB66F15944}"/>
                  </a:ext>
                </a:extLst>
              </p:cNvPr>
              <p:cNvSpPr txBox="1">
                <a:spLocks noChangeArrowheads="1"/>
              </p:cNvSpPr>
              <p:nvPr/>
            </p:nvSpPr>
            <p:spPr bwMode="auto">
              <a:xfrm>
                <a:off x="0" y="1872"/>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4</a:t>
                </a:r>
                <a:endParaRPr lang="en-US" altLang="en-US" sz="1300">
                  <a:latin typeface="Tahoma" panose="020B0604030504040204" pitchFamily="34" charset="0"/>
                </a:endParaRPr>
              </a:p>
            </p:txBody>
          </p:sp>
        </p:grpSp>
        <p:sp>
          <p:nvSpPr>
            <p:cNvPr id="52243" name="Line 43">
              <a:extLst>
                <a:ext uri="{FF2B5EF4-FFF2-40B4-BE49-F238E27FC236}">
                  <a16:creationId xmlns:a16="http://schemas.microsoft.com/office/drawing/2014/main" id="{DF6DD621-E8E2-CEEA-817A-457AAD009237}"/>
                </a:ext>
              </a:extLst>
            </p:cNvPr>
            <p:cNvSpPr>
              <a:spLocks noChangeShapeType="1"/>
            </p:cNvSpPr>
            <p:nvPr/>
          </p:nvSpPr>
          <p:spPr bwMode="auto">
            <a:xfrm flipH="1">
              <a:off x="2112" y="1699"/>
              <a:ext cx="288"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4" name="Line 44">
              <a:extLst>
                <a:ext uri="{FF2B5EF4-FFF2-40B4-BE49-F238E27FC236}">
                  <a16:creationId xmlns:a16="http://schemas.microsoft.com/office/drawing/2014/main" id="{4B485248-2454-118B-A65B-98D54063B1C6}"/>
                </a:ext>
              </a:extLst>
            </p:cNvPr>
            <p:cNvSpPr>
              <a:spLocks noChangeShapeType="1"/>
            </p:cNvSpPr>
            <p:nvPr/>
          </p:nvSpPr>
          <p:spPr bwMode="auto">
            <a:xfrm>
              <a:off x="2112" y="1987"/>
              <a:ext cx="24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45" name="Line 45">
              <a:extLst>
                <a:ext uri="{FF2B5EF4-FFF2-40B4-BE49-F238E27FC236}">
                  <a16:creationId xmlns:a16="http://schemas.microsoft.com/office/drawing/2014/main" id="{F372645B-D592-D786-9F70-8C6303A502E2}"/>
                </a:ext>
              </a:extLst>
            </p:cNvPr>
            <p:cNvSpPr>
              <a:spLocks noChangeShapeType="1"/>
            </p:cNvSpPr>
            <p:nvPr/>
          </p:nvSpPr>
          <p:spPr bwMode="auto">
            <a:xfrm>
              <a:off x="2352" y="1747"/>
              <a:ext cx="0" cy="43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2246" name="Group 46">
              <a:extLst>
                <a:ext uri="{FF2B5EF4-FFF2-40B4-BE49-F238E27FC236}">
                  <a16:creationId xmlns:a16="http://schemas.microsoft.com/office/drawing/2014/main" id="{4DCB75EF-E3AB-40BD-7417-479FAE797571}"/>
                </a:ext>
              </a:extLst>
            </p:cNvPr>
            <p:cNvGrpSpPr>
              <a:grpSpLocks/>
            </p:cNvGrpSpPr>
            <p:nvPr/>
          </p:nvGrpSpPr>
          <p:grpSpPr bwMode="auto">
            <a:xfrm>
              <a:off x="3312" y="1872"/>
              <a:ext cx="336" cy="215"/>
              <a:chOff x="768" y="1853"/>
              <a:chExt cx="336" cy="215"/>
            </a:xfrm>
          </p:grpSpPr>
          <p:sp>
            <p:nvSpPr>
              <p:cNvPr id="52268" name="Oval 47">
                <a:extLst>
                  <a:ext uri="{FF2B5EF4-FFF2-40B4-BE49-F238E27FC236}">
                    <a16:creationId xmlns:a16="http://schemas.microsoft.com/office/drawing/2014/main" id="{6BE14DF8-460D-BE7A-3C94-F81ED47EE454}"/>
                  </a:ext>
                </a:extLst>
              </p:cNvPr>
              <p:cNvSpPr>
                <a:spLocks noChangeArrowheads="1"/>
              </p:cNvSpPr>
              <p:nvPr/>
            </p:nvSpPr>
            <p:spPr bwMode="auto">
              <a:xfrm>
                <a:off x="768"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69" name="Text Box 48">
                <a:extLst>
                  <a:ext uri="{FF2B5EF4-FFF2-40B4-BE49-F238E27FC236}">
                    <a16:creationId xmlns:a16="http://schemas.microsoft.com/office/drawing/2014/main" id="{E27A82B4-62F1-4064-1955-2CC8CDD8B248}"/>
                  </a:ext>
                </a:extLst>
              </p:cNvPr>
              <p:cNvSpPr txBox="1">
                <a:spLocks noChangeArrowheads="1"/>
              </p:cNvSpPr>
              <p:nvPr/>
            </p:nvSpPr>
            <p:spPr bwMode="auto">
              <a:xfrm>
                <a:off x="816" y="1853"/>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2</a:t>
                </a:r>
                <a:endParaRPr lang="en-US" altLang="en-US" sz="1300">
                  <a:latin typeface="Tahoma" panose="020B0604030504040204" pitchFamily="34" charset="0"/>
                </a:endParaRPr>
              </a:p>
            </p:txBody>
          </p:sp>
        </p:grpSp>
        <p:grpSp>
          <p:nvGrpSpPr>
            <p:cNvPr id="52247" name="Group 49">
              <a:extLst>
                <a:ext uri="{FF2B5EF4-FFF2-40B4-BE49-F238E27FC236}">
                  <a16:creationId xmlns:a16="http://schemas.microsoft.com/office/drawing/2014/main" id="{13D5ABF2-B309-0FD8-C911-54F8AF488AF9}"/>
                </a:ext>
              </a:extLst>
            </p:cNvPr>
            <p:cNvGrpSpPr>
              <a:grpSpLocks/>
            </p:cNvGrpSpPr>
            <p:nvPr/>
          </p:nvGrpSpPr>
          <p:grpSpPr bwMode="auto">
            <a:xfrm>
              <a:off x="2976" y="2208"/>
              <a:ext cx="288" cy="263"/>
              <a:chOff x="432" y="2189"/>
              <a:chExt cx="288" cy="263"/>
            </a:xfrm>
          </p:grpSpPr>
          <p:sp>
            <p:nvSpPr>
              <p:cNvPr id="52266" name="Oval 50">
                <a:extLst>
                  <a:ext uri="{FF2B5EF4-FFF2-40B4-BE49-F238E27FC236}">
                    <a16:creationId xmlns:a16="http://schemas.microsoft.com/office/drawing/2014/main" id="{7010B861-0189-A85B-1D5D-A2E25579D857}"/>
                  </a:ext>
                </a:extLst>
              </p:cNvPr>
              <p:cNvSpPr>
                <a:spLocks noChangeArrowheads="1"/>
              </p:cNvSpPr>
              <p:nvPr/>
            </p:nvSpPr>
            <p:spPr bwMode="auto">
              <a:xfrm>
                <a:off x="480" y="218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67" name="Text Box 51">
                <a:extLst>
                  <a:ext uri="{FF2B5EF4-FFF2-40B4-BE49-F238E27FC236}">
                    <a16:creationId xmlns:a16="http://schemas.microsoft.com/office/drawing/2014/main" id="{6263D735-81C8-9064-12C3-08E8705DBB32}"/>
                  </a:ext>
                </a:extLst>
              </p:cNvPr>
              <p:cNvSpPr txBox="1">
                <a:spLocks noChangeArrowheads="1"/>
              </p:cNvSpPr>
              <p:nvPr/>
            </p:nvSpPr>
            <p:spPr bwMode="auto">
              <a:xfrm>
                <a:off x="432" y="2236"/>
                <a:ext cx="288" cy="216"/>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1</a:t>
                </a:r>
                <a:endParaRPr lang="en-US" altLang="en-US" sz="1300">
                  <a:latin typeface="Tahoma" panose="020B0604030504040204" pitchFamily="34" charset="0"/>
                </a:endParaRPr>
              </a:p>
            </p:txBody>
          </p:sp>
        </p:grpSp>
        <p:grpSp>
          <p:nvGrpSpPr>
            <p:cNvPr id="52248" name="Group 52">
              <a:extLst>
                <a:ext uri="{FF2B5EF4-FFF2-40B4-BE49-F238E27FC236}">
                  <a16:creationId xmlns:a16="http://schemas.microsoft.com/office/drawing/2014/main" id="{9C5C6DA8-EA10-9497-8E80-B714E4FA8592}"/>
                </a:ext>
              </a:extLst>
            </p:cNvPr>
            <p:cNvGrpSpPr>
              <a:grpSpLocks/>
            </p:cNvGrpSpPr>
            <p:nvPr/>
          </p:nvGrpSpPr>
          <p:grpSpPr bwMode="auto">
            <a:xfrm>
              <a:off x="2544" y="1891"/>
              <a:ext cx="288" cy="217"/>
              <a:chOff x="0" y="1872"/>
              <a:chExt cx="288" cy="217"/>
            </a:xfrm>
          </p:grpSpPr>
          <p:sp>
            <p:nvSpPr>
              <p:cNvPr id="52264" name="Oval 53">
                <a:extLst>
                  <a:ext uri="{FF2B5EF4-FFF2-40B4-BE49-F238E27FC236}">
                    <a16:creationId xmlns:a16="http://schemas.microsoft.com/office/drawing/2014/main" id="{6626ABEA-4D9F-1378-83C1-0C4725E3A80F}"/>
                  </a:ext>
                </a:extLst>
              </p:cNvPr>
              <p:cNvSpPr>
                <a:spLocks noChangeArrowheads="1"/>
              </p:cNvSpPr>
              <p:nvPr/>
            </p:nvSpPr>
            <p:spPr bwMode="auto">
              <a:xfrm>
                <a:off x="192"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65" name="Text Box 54">
                <a:extLst>
                  <a:ext uri="{FF2B5EF4-FFF2-40B4-BE49-F238E27FC236}">
                    <a16:creationId xmlns:a16="http://schemas.microsoft.com/office/drawing/2014/main" id="{8E58AD4E-B598-7146-DFF8-C1EE8425DE77}"/>
                  </a:ext>
                </a:extLst>
              </p:cNvPr>
              <p:cNvSpPr txBox="1">
                <a:spLocks noChangeArrowheads="1"/>
              </p:cNvSpPr>
              <p:nvPr/>
            </p:nvSpPr>
            <p:spPr bwMode="auto">
              <a:xfrm>
                <a:off x="0" y="1872"/>
                <a:ext cx="288" cy="21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4</a:t>
                </a:r>
                <a:endParaRPr lang="en-US" altLang="en-US" sz="1300">
                  <a:latin typeface="Tahoma" panose="020B0604030504040204" pitchFamily="34" charset="0"/>
                </a:endParaRPr>
              </a:p>
            </p:txBody>
          </p:sp>
        </p:grpSp>
        <p:sp>
          <p:nvSpPr>
            <p:cNvPr id="52249" name="Line 55">
              <a:extLst>
                <a:ext uri="{FF2B5EF4-FFF2-40B4-BE49-F238E27FC236}">
                  <a16:creationId xmlns:a16="http://schemas.microsoft.com/office/drawing/2014/main" id="{C45CBF89-ABD7-0E15-A1DF-FA1EC2220C74}"/>
                </a:ext>
              </a:extLst>
            </p:cNvPr>
            <p:cNvSpPr>
              <a:spLocks noChangeShapeType="1"/>
            </p:cNvSpPr>
            <p:nvPr/>
          </p:nvSpPr>
          <p:spPr bwMode="auto">
            <a:xfrm>
              <a:off x="2784" y="2016"/>
              <a:ext cx="288"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0" name="Line 56">
              <a:extLst>
                <a:ext uri="{FF2B5EF4-FFF2-40B4-BE49-F238E27FC236}">
                  <a16:creationId xmlns:a16="http://schemas.microsoft.com/office/drawing/2014/main" id="{10EB3F21-5F9D-26ED-D173-4FCC19ADB4C6}"/>
                </a:ext>
              </a:extLst>
            </p:cNvPr>
            <p:cNvSpPr>
              <a:spLocks noChangeShapeType="1"/>
            </p:cNvSpPr>
            <p:nvPr/>
          </p:nvSpPr>
          <p:spPr bwMode="auto">
            <a:xfrm flipH="1">
              <a:off x="3072" y="2016"/>
              <a:ext cx="24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1" name="Line 57">
              <a:extLst>
                <a:ext uri="{FF2B5EF4-FFF2-40B4-BE49-F238E27FC236}">
                  <a16:creationId xmlns:a16="http://schemas.microsoft.com/office/drawing/2014/main" id="{0282F0DC-A218-0BB9-8B71-263DFC146248}"/>
                </a:ext>
              </a:extLst>
            </p:cNvPr>
            <p:cNvSpPr>
              <a:spLocks noChangeShapeType="1"/>
            </p:cNvSpPr>
            <p:nvPr/>
          </p:nvSpPr>
          <p:spPr bwMode="auto">
            <a:xfrm>
              <a:off x="2784" y="2016"/>
              <a:ext cx="52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2252" name="Group 58">
              <a:extLst>
                <a:ext uri="{FF2B5EF4-FFF2-40B4-BE49-F238E27FC236}">
                  <a16:creationId xmlns:a16="http://schemas.microsoft.com/office/drawing/2014/main" id="{6450E9EF-7549-3C06-222E-5F459EFDD534}"/>
                </a:ext>
              </a:extLst>
            </p:cNvPr>
            <p:cNvGrpSpPr>
              <a:grpSpLocks/>
            </p:cNvGrpSpPr>
            <p:nvPr/>
          </p:nvGrpSpPr>
          <p:grpSpPr bwMode="auto">
            <a:xfrm>
              <a:off x="4080" y="1584"/>
              <a:ext cx="288" cy="215"/>
              <a:chOff x="432" y="1565"/>
              <a:chExt cx="288" cy="215"/>
            </a:xfrm>
          </p:grpSpPr>
          <p:sp>
            <p:nvSpPr>
              <p:cNvPr id="52262" name="Oval 59">
                <a:extLst>
                  <a:ext uri="{FF2B5EF4-FFF2-40B4-BE49-F238E27FC236}">
                    <a16:creationId xmlns:a16="http://schemas.microsoft.com/office/drawing/2014/main" id="{13CDC3E5-130A-4825-D5AB-DEDDA4041FC6}"/>
                  </a:ext>
                </a:extLst>
              </p:cNvPr>
              <p:cNvSpPr>
                <a:spLocks noChangeArrowheads="1"/>
              </p:cNvSpPr>
              <p:nvPr/>
            </p:nvSpPr>
            <p:spPr bwMode="auto">
              <a:xfrm>
                <a:off x="480" y="170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63" name="Text Box 60">
                <a:extLst>
                  <a:ext uri="{FF2B5EF4-FFF2-40B4-BE49-F238E27FC236}">
                    <a16:creationId xmlns:a16="http://schemas.microsoft.com/office/drawing/2014/main" id="{5A27B0CD-B603-1AC5-1676-28784F4429D0}"/>
                  </a:ext>
                </a:extLst>
              </p:cNvPr>
              <p:cNvSpPr txBox="1">
                <a:spLocks noChangeArrowheads="1"/>
              </p:cNvSpPr>
              <p:nvPr/>
            </p:nvSpPr>
            <p:spPr bwMode="auto">
              <a:xfrm>
                <a:off x="432" y="1565"/>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3</a:t>
                </a:r>
                <a:endParaRPr lang="en-US" altLang="en-US" sz="1300">
                  <a:latin typeface="Tahoma" panose="020B0604030504040204" pitchFamily="34" charset="0"/>
                </a:endParaRPr>
              </a:p>
            </p:txBody>
          </p:sp>
        </p:grpSp>
        <p:grpSp>
          <p:nvGrpSpPr>
            <p:cNvPr id="52253" name="Group 61">
              <a:extLst>
                <a:ext uri="{FF2B5EF4-FFF2-40B4-BE49-F238E27FC236}">
                  <a16:creationId xmlns:a16="http://schemas.microsoft.com/office/drawing/2014/main" id="{D3E0CCFE-8865-06E9-E7CD-7E62E28941CB}"/>
                </a:ext>
              </a:extLst>
            </p:cNvPr>
            <p:cNvGrpSpPr>
              <a:grpSpLocks/>
            </p:cNvGrpSpPr>
            <p:nvPr/>
          </p:nvGrpSpPr>
          <p:grpSpPr bwMode="auto">
            <a:xfrm>
              <a:off x="4416" y="1872"/>
              <a:ext cx="336" cy="215"/>
              <a:chOff x="768" y="1853"/>
              <a:chExt cx="336" cy="215"/>
            </a:xfrm>
          </p:grpSpPr>
          <p:sp>
            <p:nvSpPr>
              <p:cNvPr id="52260" name="Oval 62">
                <a:extLst>
                  <a:ext uri="{FF2B5EF4-FFF2-40B4-BE49-F238E27FC236}">
                    <a16:creationId xmlns:a16="http://schemas.microsoft.com/office/drawing/2014/main" id="{063C1C5A-47D4-8638-965E-333D19F66167}"/>
                  </a:ext>
                </a:extLst>
              </p:cNvPr>
              <p:cNvSpPr>
                <a:spLocks noChangeArrowheads="1"/>
              </p:cNvSpPr>
              <p:nvPr/>
            </p:nvSpPr>
            <p:spPr bwMode="auto">
              <a:xfrm>
                <a:off x="768"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61" name="Text Box 63">
                <a:extLst>
                  <a:ext uri="{FF2B5EF4-FFF2-40B4-BE49-F238E27FC236}">
                    <a16:creationId xmlns:a16="http://schemas.microsoft.com/office/drawing/2014/main" id="{4C66A2A2-9FD6-27DD-1E6B-CC2EB17A7C31}"/>
                  </a:ext>
                </a:extLst>
              </p:cNvPr>
              <p:cNvSpPr txBox="1">
                <a:spLocks noChangeArrowheads="1"/>
              </p:cNvSpPr>
              <p:nvPr/>
            </p:nvSpPr>
            <p:spPr bwMode="auto">
              <a:xfrm>
                <a:off x="816" y="1853"/>
                <a:ext cx="288" cy="21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2</a:t>
                </a:r>
                <a:endParaRPr lang="en-US" altLang="en-US" sz="1300">
                  <a:latin typeface="Tahoma" panose="020B0604030504040204" pitchFamily="34" charset="0"/>
                </a:endParaRPr>
              </a:p>
            </p:txBody>
          </p:sp>
        </p:grpSp>
        <p:grpSp>
          <p:nvGrpSpPr>
            <p:cNvPr id="52254" name="Group 64">
              <a:extLst>
                <a:ext uri="{FF2B5EF4-FFF2-40B4-BE49-F238E27FC236}">
                  <a16:creationId xmlns:a16="http://schemas.microsoft.com/office/drawing/2014/main" id="{49B0220C-1A3C-5B70-5273-F81EE31AF0A9}"/>
                </a:ext>
              </a:extLst>
            </p:cNvPr>
            <p:cNvGrpSpPr>
              <a:grpSpLocks/>
            </p:cNvGrpSpPr>
            <p:nvPr/>
          </p:nvGrpSpPr>
          <p:grpSpPr bwMode="auto">
            <a:xfrm>
              <a:off x="3648" y="1891"/>
              <a:ext cx="288" cy="217"/>
              <a:chOff x="0" y="1872"/>
              <a:chExt cx="288" cy="217"/>
            </a:xfrm>
          </p:grpSpPr>
          <p:sp>
            <p:nvSpPr>
              <p:cNvPr id="52258" name="Oval 65">
                <a:extLst>
                  <a:ext uri="{FF2B5EF4-FFF2-40B4-BE49-F238E27FC236}">
                    <a16:creationId xmlns:a16="http://schemas.microsoft.com/office/drawing/2014/main" id="{770F64DD-57E3-599A-6FD1-D8681E3DBE6D}"/>
                  </a:ext>
                </a:extLst>
              </p:cNvPr>
              <p:cNvSpPr>
                <a:spLocks noChangeArrowheads="1"/>
              </p:cNvSpPr>
              <p:nvPr/>
            </p:nvSpPr>
            <p:spPr bwMode="auto">
              <a:xfrm>
                <a:off x="192" y="1949"/>
                <a:ext cx="48" cy="48"/>
              </a:xfrm>
              <a:prstGeom prst="ellipse">
                <a:avLst/>
              </a:prstGeom>
              <a:solidFill>
                <a:srgbClr val="000000"/>
              </a:solidFill>
              <a:ln w="9525">
                <a:solidFill>
                  <a:srgbClr val="000000"/>
                </a:solidFill>
                <a:round/>
                <a:headEnd/>
                <a:tailEnd/>
              </a:ln>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2259" name="Text Box 66">
                <a:extLst>
                  <a:ext uri="{FF2B5EF4-FFF2-40B4-BE49-F238E27FC236}">
                    <a16:creationId xmlns:a16="http://schemas.microsoft.com/office/drawing/2014/main" id="{C5B8C50E-8241-027B-EF41-3801F623B8EA}"/>
                  </a:ext>
                </a:extLst>
              </p:cNvPr>
              <p:cNvSpPr txBox="1">
                <a:spLocks noChangeArrowheads="1"/>
              </p:cNvSpPr>
              <p:nvPr/>
            </p:nvSpPr>
            <p:spPr bwMode="auto">
              <a:xfrm>
                <a:off x="0" y="1872"/>
                <a:ext cx="288" cy="217"/>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a:spcBef>
                    <a:spcPct val="0"/>
                  </a:spcBef>
                  <a:buClrTx/>
                  <a:buSzTx/>
                  <a:buFontTx/>
                  <a:buNone/>
                </a:pPr>
                <a:r>
                  <a:rPr lang="en-US" altLang="en-US" sz="800" b="1">
                    <a:solidFill>
                      <a:srgbClr val="000000"/>
                    </a:solidFill>
                    <a:latin typeface="Tahoma" panose="020B0604030504040204" pitchFamily="34" charset="0"/>
                  </a:rPr>
                  <a:t>4</a:t>
                </a:r>
                <a:endParaRPr lang="en-US" altLang="en-US" sz="1300">
                  <a:latin typeface="Tahoma" panose="020B0604030504040204" pitchFamily="34" charset="0"/>
                </a:endParaRPr>
              </a:p>
            </p:txBody>
          </p:sp>
        </p:grpSp>
        <p:sp>
          <p:nvSpPr>
            <p:cNvPr id="52255" name="Line 67">
              <a:extLst>
                <a:ext uri="{FF2B5EF4-FFF2-40B4-BE49-F238E27FC236}">
                  <a16:creationId xmlns:a16="http://schemas.microsoft.com/office/drawing/2014/main" id="{F4679735-42F5-990F-C311-E564E87A85F0}"/>
                </a:ext>
              </a:extLst>
            </p:cNvPr>
            <p:cNvSpPr>
              <a:spLocks noChangeShapeType="1"/>
            </p:cNvSpPr>
            <p:nvPr/>
          </p:nvSpPr>
          <p:spPr bwMode="auto">
            <a:xfrm flipH="1">
              <a:off x="3840" y="1776"/>
              <a:ext cx="288" cy="2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6" name="Line 68">
              <a:extLst>
                <a:ext uri="{FF2B5EF4-FFF2-40B4-BE49-F238E27FC236}">
                  <a16:creationId xmlns:a16="http://schemas.microsoft.com/office/drawing/2014/main" id="{2DCFDC7F-66A9-E4BA-BDFB-F4899A78F4C6}"/>
                </a:ext>
              </a:extLst>
            </p:cNvPr>
            <p:cNvSpPr>
              <a:spLocks noChangeShapeType="1"/>
            </p:cNvSpPr>
            <p:nvPr/>
          </p:nvSpPr>
          <p:spPr bwMode="auto">
            <a:xfrm>
              <a:off x="3888" y="2016"/>
              <a:ext cx="57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257" name="Line 69">
              <a:extLst>
                <a:ext uri="{FF2B5EF4-FFF2-40B4-BE49-F238E27FC236}">
                  <a16:creationId xmlns:a16="http://schemas.microsoft.com/office/drawing/2014/main" id="{AA73CFB8-877C-625A-7005-21B796832723}"/>
                </a:ext>
              </a:extLst>
            </p:cNvPr>
            <p:cNvSpPr>
              <a:spLocks noChangeShapeType="1"/>
            </p:cNvSpPr>
            <p:nvPr/>
          </p:nvSpPr>
          <p:spPr bwMode="auto">
            <a:xfrm>
              <a:off x="4176" y="1776"/>
              <a:ext cx="240" cy="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8CAFFD5-CE70-FD04-EF62-B85C02A65615}"/>
              </a:ext>
            </a:extLst>
          </p:cNvPr>
          <p:cNvSpPr>
            <a:spLocks noGrp="1" noChangeArrowheads="1"/>
          </p:cNvSpPr>
          <p:nvPr>
            <p:ph type="title"/>
          </p:nvPr>
        </p:nvSpPr>
        <p:spPr>
          <a:xfrm>
            <a:off x="320675" y="234950"/>
            <a:ext cx="5280025" cy="777875"/>
          </a:xfrm>
        </p:spPr>
        <p:txBody>
          <a:bodyPr/>
          <a:lstStyle/>
          <a:p>
            <a:pPr eaLnBrk="1" hangingPunct="1"/>
            <a:r>
              <a:rPr lang="en-US" altLang="en-US" sz="2500"/>
              <a:t>Clique Partitioning – Simplex method</a:t>
            </a:r>
          </a:p>
        </p:txBody>
      </p:sp>
      <p:sp>
        <p:nvSpPr>
          <p:cNvPr id="53251" name="Rectangle 67">
            <a:extLst>
              <a:ext uri="{FF2B5EF4-FFF2-40B4-BE49-F238E27FC236}">
                <a16:creationId xmlns:a16="http://schemas.microsoft.com/office/drawing/2014/main" id="{7D57BF97-9B8F-F610-74AE-DBF5826B6886}"/>
              </a:ext>
            </a:extLst>
          </p:cNvPr>
          <p:cNvSpPr>
            <a:spLocks noGrp="1" noChangeArrowheads="1"/>
          </p:cNvSpPr>
          <p:nvPr>
            <p:ph type="body" idx="1"/>
          </p:nvPr>
        </p:nvSpPr>
        <p:spPr>
          <a:xfrm>
            <a:off x="320675" y="1227138"/>
            <a:ext cx="5759450" cy="3476625"/>
          </a:xfrm>
          <a:noFill/>
        </p:spPr>
        <p:txBody>
          <a:bodyPr/>
          <a:lstStyle/>
          <a:p>
            <a:pPr marL="427038" indent="-427038" eaLnBrk="1" hangingPunct="1">
              <a:lnSpc>
                <a:spcPct val="80000"/>
              </a:lnSpc>
            </a:pPr>
            <a:r>
              <a:rPr lang="en-US" altLang="en-US" sz="1500"/>
              <a:t>Once we have a matrix consisting of constraints and an optimization function, we decompose the matrix to maximize the function using the Simplex method</a:t>
            </a:r>
          </a:p>
          <a:p>
            <a:pPr marL="427038" indent="-427038" eaLnBrk="1" hangingPunct="1">
              <a:lnSpc>
                <a:spcPct val="80000"/>
              </a:lnSpc>
            </a:pPr>
            <a:endParaRPr lang="en-US" altLang="en-US" sz="1500"/>
          </a:p>
          <a:p>
            <a:pPr marL="427038" indent="-427038" eaLnBrk="1" hangingPunct="1">
              <a:lnSpc>
                <a:spcPct val="80000"/>
              </a:lnSpc>
            </a:pPr>
            <a:r>
              <a:rPr lang="en-US" altLang="en-US" sz="1500"/>
              <a:t>Simplex decomposition methodology</a:t>
            </a:r>
          </a:p>
          <a:p>
            <a:pPr marL="693738" lvl="1" indent="-373063" eaLnBrk="1" hangingPunct="1">
              <a:lnSpc>
                <a:spcPct val="80000"/>
              </a:lnSpc>
            </a:pPr>
            <a:r>
              <a:rPr lang="en-US" altLang="en-US" sz="1300"/>
              <a:t>Find most negative value within matrix and set as pivot column.</a:t>
            </a:r>
          </a:p>
          <a:p>
            <a:pPr marL="693738" lvl="1" indent="-373063" eaLnBrk="1" hangingPunct="1">
              <a:lnSpc>
                <a:spcPct val="80000"/>
              </a:lnSpc>
            </a:pPr>
            <a:r>
              <a:rPr lang="en-US" altLang="en-US" sz="1300"/>
              <a:t>Find the maximum ratio of edge variable, xi, to pivot column variable.</a:t>
            </a:r>
          </a:p>
          <a:p>
            <a:pPr marL="693738" lvl="1" indent="-373063" eaLnBrk="1" hangingPunct="1">
              <a:lnSpc>
                <a:spcPct val="80000"/>
              </a:lnSpc>
            </a:pPr>
            <a:r>
              <a:rPr lang="en-US" altLang="en-US" sz="1300"/>
              <a:t>Decompose by Gaussian-Jordan elimination for the appropriate pivot column until a single value of 1 is retained for the pivot row/column</a:t>
            </a:r>
          </a:p>
          <a:p>
            <a:pPr marL="693738" lvl="1" indent="-373063" eaLnBrk="1" hangingPunct="1">
              <a:lnSpc>
                <a:spcPct val="80000"/>
              </a:lnSpc>
            </a:pPr>
            <a:r>
              <a:rPr lang="en-US" altLang="en-US" sz="1300"/>
              <a:t>Repeat steps 1-3 until maximization function weights are all non-negative.</a:t>
            </a:r>
          </a:p>
          <a:p>
            <a:pPr marL="427038" indent="-427038" eaLnBrk="1" hangingPunct="1">
              <a:lnSpc>
                <a:spcPct val="80000"/>
              </a:lnSpc>
            </a:pPr>
            <a:endParaRPr lang="en-US" altLang="en-US" sz="1500"/>
          </a:p>
          <a:p>
            <a:pPr marL="427038" indent="-427038" eaLnBrk="1" hangingPunct="1">
              <a:lnSpc>
                <a:spcPct val="80000"/>
              </a:lnSpc>
            </a:pPr>
            <a:r>
              <a:rPr lang="en-US" altLang="en-US" sz="1500"/>
              <a:t>Assess matrix for solution vector</a:t>
            </a:r>
          </a:p>
          <a:p>
            <a:pPr marL="693738" lvl="1" indent="-373063" eaLnBrk="1" hangingPunct="1">
              <a:lnSpc>
                <a:spcPct val="80000"/>
              </a:lnSpc>
            </a:pPr>
            <a:r>
              <a:rPr lang="en-US" altLang="en-US" sz="1300"/>
              <a:t>0 = No association between two genes</a:t>
            </a:r>
          </a:p>
          <a:p>
            <a:pPr marL="693738" lvl="1" indent="-373063" eaLnBrk="1" hangingPunct="1">
              <a:lnSpc>
                <a:spcPct val="80000"/>
              </a:lnSpc>
            </a:pPr>
            <a:r>
              <a:rPr lang="en-US" altLang="en-US" sz="1300"/>
              <a:t>1 = Association between two genes</a:t>
            </a:r>
          </a:p>
          <a:p>
            <a:pPr marL="427038" indent="-427038" eaLnBrk="1" hangingPunct="1">
              <a:lnSpc>
                <a:spcPct val="80000"/>
              </a:lnSpc>
            </a:pPr>
            <a:endParaRPr lang="en-US" altLang="en-US" sz="1100">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DF3F13A-60D3-6ED6-F918-BBBAB7C15CA9}"/>
              </a:ext>
            </a:extLst>
          </p:cNvPr>
          <p:cNvSpPr>
            <a:spLocks noGrp="1" noChangeArrowheads="1"/>
          </p:cNvSpPr>
          <p:nvPr>
            <p:ph type="title"/>
          </p:nvPr>
        </p:nvSpPr>
        <p:spPr/>
        <p:txBody>
          <a:bodyPr/>
          <a:lstStyle/>
          <a:p>
            <a:pPr eaLnBrk="1" hangingPunct="1"/>
            <a:r>
              <a:rPr lang="en-US" altLang="en-US" sz="2500"/>
              <a:t>Clique Partitioning – Network visual </a:t>
            </a:r>
            <a:r>
              <a:rPr lang="en-US" altLang="en-US" sz="1400"/>
              <a:t>(using select genes from Spellman et al. data set)</a:t>
            </a:r>
          </a:p>
        </p:txBody>
      </p:sp>
      <p:pic>
        <p:nvPicPr>
          <p:cNvPr id="54275" name="Picture 8">
            <a:extLst>
              <a:ext uri="{FF2B5EF4-FFF2-40B4-BE49-F238E27FC236}">
                <a16:creationId xmlns:a16="http://schemas.microsoft.com/office/drawing/2014/main" id="{795EFA60-067B-7117-9924-463E34711B2E}"/>
              </a:ext>
            </a:extLst>
          </p:cNvPr>
          <p:cNvPicPr>
            <a:picLocks noChangeAspect="1" noChangeArrowheads="1"/>
          </p:cNvPicPr>
          <p:nvPr>
            <p:ph sz="half" idx="1"/>
          </p:nvPr>
        </p:nvPicPr>
        <p:blipFill>
          <a:blip r:embed="rId2">
            <a:extLst>
              <a:ext uri="{28A0092B-C50C-407E-A947-70E740481C1C}">
                <a14:useLocalDpi xmlns:a14="http://schemas.microsoft.com/office/drawing/2010/main" val="0"/>
              </a:ext>
            </a:extLst>
          </a:blip>
          <a:srcRect l="52922" b="66327"/>
          <a:stretch>
            <a:fillRect/>
          </a:stretch>
        </p:blipFill>
        <p:spPr>
          <a:xfrm>
            <a:off x="2720975" y="1173163"/>
            <a:ext cx="3146425" cy="2587625"/>
          </a:xfrm>
          <a:noFill/>
        </p:spPr>
      </p:pic>
      <p:pic>
        <p:nvPicPr>
          <p:cNvPr id="54276" name="Picture 9">
            <a:extLst>
              <a:ext uri="{FF2B5EF4-FFF2-40B4-BE49-F238E27FC236}">
                <a16:creationId xmlns:a16="http://schemas.microsoft.com/office/drawing/2014/main" id="{A4CDCAB3-EA86-C535-1D62-E01A2B92AE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2395" r="60620"/>
          <a:stretch>
            <a:fillRect/>
          </a:stretch>
        </p:blipFill>
        <p:spPr bwMode="auto">
          <a:xfrm>
            <a:off x="266700" y="2133600"/>
            <a:ext cx="2720975"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277" name="Rectangle 10">
            <a:extLst>
              <a:ext uri="{FF2B5EF4-FFF2-40B4-BE49-F238E27FC236}">
                <a16:creationId xmlns:a16="http://schemas.microsoft.com/office/drawing/2014/main" id="{7034FA89-16BD-425E-824A-7AEFD7176BD0}"/>
              </a:ext>
            </a:extLst>
          </p:cNvPr>
          <p:cNvSpPr>
            <a:spLocks noChangeArrowheads="1"/>
          </p:cNvSpPr>
          <p:nvPr/>
        </p:nvSpPr>
        <p:spPr bwMode="auto">
          <a:xfrm>
            <a:off x="4640263" y="4000500"/>
            <a:ext cx="214312" cy="106363"/>
          </a:xfrm>
          <a:prstGeom prst="rect">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4278" name="Rectangle 11">
            <a:extLst>
              <a:ext uri="{FF2B5EF4-FFF2-40B4-BE49-F238E27FC236}">
                <a16:creationId xmlns:a16="http://schemas.microsoft.com/office/drawing/2014/main" id="{39AFF45F-458C-AE9C-C2C2-BB7D7A6CC00D}"/>
              </a:ext>
            </a:extLst>
          </p:cNvPr>
          <p:cNvSpPr>
            <a:spLocks noChangeArrowheads="1"/>
          </p:cNvSpPr>
          <p:nvPr/>
        </p:nvSpPr>
        <p:spPr bwMode="auto">
          <a:xfrm>
            <a:off x="4640263" y="4267200"/>
            <a:ext cx="214312" cy="106363"/>
          </a:xfrm>
          <a:prstGeom prst="rect">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4279" name="Rectangle 12">
            <a:extLst>
              <a:ext uri="{FF2B5EF4-FFF2-40B4-BE49-F238E27FC236}">
                <a16:creationId xmlns:a16="http://schemas.microsoft.com/office/drawing/2014/main" id="{38D949D7-E4E7-8205-986B-8B440B9ABC0D}"/>
              </a:ext>
            </a:extLst>
          </p:cNvPr>
          <p:cNvSpPr>
            <a:spLocks noChangeArrowheads="1"/>
          </p:cNvSpPr>
          <p:nvPr/>
        </p:nvSpPr>
        <p:spPr bwMode="auto">
          <a:xfrm>
            <a:off x="4640263" y="4533900"/>
            <a:ext cx="214312" cy="106363"/>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300">
                <a:solidFill>
                  <a:schemeClr val="tx1"/>
                </a:solidFill>
                <a:latin typeface="Arial" panose="020B0604020202020204" pitchFamily="34" charset="0"/>
              </a:defRPr>
            </a:lvl1pPr>
            <a:lvl2pPr marL="742950" indent="-285750">
              <a:defRPr sz="1300">
                <a:solidFill>
                  <a:schemeClr val="tx1"/>
                </a:solidFill>
                <a:latin typeface="Arial" panose="020B0604020202020204" pitchFamily="34" charset="0"/>
              </a:defRPr>
            </a:lvl2pPr>
            <a:lvl3pPr marL="1143000" indent="-228600">
              <a:defRPr sz="1300">
                <a:solidFill>
                  <a:schemeClr val="tx1"/>
                </a:solidFill>
                <a:latin typeface="Arial" panose="020B0604020202020204" pitchFamily="34" charset="0"/>
              </a:defRPr>
            </a:lvl3pPr>
            <a:lvl4pPr marL="1600200" indent="-228600">
              <a:defRPr sz="1300">
                <a:solidFill>
                  <a:schemeClr val="tx1"/>
                </a:solidFill>
                <a:latin typeface="Arial" panose="020B0604020202020204" pitchFamily="34" charset="0"/>
              </a:defRPr>
            </a:lvl4pPr>
            <a:lvl5pPr marL="2057400" indent="-228600">
              <a:defRPr sz="1300">
                <a:solidFill>
                  <a:schemeClr val="tx1"/>
                </a:solidFill>
                <a:latin typeface="Arial" panose="020B0604020202020204" pitchFamily="34" charset="0"/>
              </a:defRPr>
            </a:lvl5pPr>
            <a:lvl6pPr marL="2514600" indent="-228600" eaLnBrk="0" fontAlgn="base" hangingPunct="0">
              <a:spcBef>
                <a:spcPct val="0"/>
              </a:spcBef>
              <a:spcAft>
                <a:spcPct val="0"/>
              </a:spcAft>
              <a:defRPr sz="1300">
                <a:solidFill>
                  <a:schemeClr val="tx1"/>
                </a:solidFill>
                <a:latin typeface="Arial" panose="020B0604020202020204" pitchFamily="34" charset="0"/>
              </a:defRPr>
            </a:lvl6pPr>
            <a:lvl7pPr marL="2971800" indent="-228600" eaLnBrk="0" fontAlgn="base" hangingPunct="0">
              <a:spcBef>
                <a:spcPct val="0"/>
              </a:spcBef>
              <a:spcAft>
                <a:spcPct val="0"/>
              </a:spcAft>
              <a:defRPr sz="1300">
                <a:solidFill>
                  <a:schemeClr val="tx1"/>
                </a:solidFill>
                <a:latin typeface="Arial" panose="020B0604020202020204" pitchFamily="34" charset="0"/>
              </a:defRPr>
            </a:lvl7pPr>
            <a:lvl8pPr marL="3429000" indent="-228600" eaLnBrk="0" fontAlgn="base" hangingPunct="0">
              <a:spcBef>
                <a:spcPct val="0"/>
              </a:spcBef>
              <a:spcAft>
                <a:spcPct val="0"/>
              </a:spcAft>
              <a:defRPr sz="1300">
                <a:solidFill>
                  <a:schemeClr val="tx1"/>
                </a:solidFill>
                <a:latin typeface="Arial" panose="020B0604020202020204" pitchFamily="34" charset="0"/>
              </a:defRPr>
            </a:lvl8pPr>
            <a:lvl9pPr marL="3886200" indent="-228600" eaLnBrk="0" fontAlgn="base" hangingPunct="0">
              <a:spcBef>
                <a:spcPct val="0"/>
              </a:spcBef>
              <a:spcAft>
                <a:spcPct val="0"/>
              </a:spcAft>
              <a:defRPr sz="1300">
                <a:solidFill>
                  <a:schemeClr val="tx1"/>
                </a:solidFill>
                <a:latin typeface="Arial" panose="020B0604020202020204" pitchFamily="34" charset="0"/>
              </a:defRPr>
            </a:lvl9pPr>
          </a:lstStyle>
          <a:p>
            <a:pPr eaLnBrk="1" hangingPunct="1"/>
            <a:endParaRPr lang="en-US" altLang="en-US"/>
          </a:p>
        </p:txBody>
      </p:sp>
      <p:sp>
        <p:nvSpPr>
          <p:cNvPr id="54280" name="Text Box 13">
            <a:extLst>
              <a:ext uri="{FF2B5EF4-FFF2-40B4-BE49-F238E27FC236}">
                <a16:creationId xmlns:a16="http://schemas.microsoft.com/office/drawing/2014/main" id="{65B80E15-D155-CA6B-FFE0-07CA357ED5D0}"/>
              </a:ext>
            </a:extLst>
          </p:cNvPr>
          <p:cNvSpPr txBox="1">
            <a:spLocks noChangeArrowheads="1"/>
          </p:cNvSpPr>
          <p:nvPr/>
        </p:nvSpPr>
        <p:spPr bwMode="auto">
          <a:xfrm>
            <a:off x="4906963" y="3924300"/>
            <a:ext cx="1439862"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100" b="1"/>
              <a:t>S-phase</a:t>
            </a:r>
          </a:p>
        </p:txBody>
      </p:sp>
      <p:sp>
        <p:nvSpPr>
          <p:cNvPr id="54281" name="Text Box 14">
            <a:extLst>
              <a:ext uri="{FF2B5EF4-FFF2-40B4-BE49-F238E27FC236}">
                <a16:creationId xmlns:a16="http://schemas.microsoft.com/office/drawing/2014/main" id="{9934CFB7-0277-1409-C4FF-5B7550273D41}"/>
              </a:ext>
            </a:extLst>
          </p:cNvPr>
          <p:cNvSpPr txBox="1">
            <a:spLocks noChangeArrowheads="1"/>
          </p:cNvSpPr>
          <p:nvPr/>
        </p:nvSpPr>
        <p:spPr bwMode="auto">
          <a:xfrm>
            <a:off x="4906963" y="4191000"/>
            <a:ext cx="1439862"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100" b="1"/>
              <a:t>M-phase</a:t>
            </a:r>
          </a:p>
        </p:txBody>
      </p:sp>
      <p:sp>
        <p:nvSpPr>
          <p:cNvPr id="54282" name="Text Box 15">
            <a:extLst>
              <a:ext uri="{FF2B5EF4-FFF2-40B4-BE49-F238E27FC236}">
                <a16:creationId xmlns:a16="http://schemas.microsoft.com/office/drawing/2014/main" id="{25DEE3B4-B497-0459-64C4-FD2A260E941C}"/>
              </a:ext>
            </a:extLst>
          </p:cNvPr>
          <p:cNvSpPr txBox="1">
            <a:spLocks noChangeArrowheads="1"/>
          </p:cNvSpPr>
          <p:nvPr/>
        </p:nvSpPr>
        <p:spPr bwMode="auto">
          <a:xfrm>
            <a:off x="4906963" y="4457700"/>
            <a:ext cx="1439862"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spAutoFit/>
          </a:bodyPr>
          <a:lstStyle>
            <a:lvl1pPr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320675"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397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9604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279525"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7367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1939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6511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108325"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spcBef>
                <a:spcPct val="50000"/>
              </a:spcBef>
              <a:buClrTx/>
              <a:buSzTx/>
              <a:buFontTx/>
              <a:buNone/>
            </a:pPr>
            <a:r>
              <a:rPr lang="en-US" altLang="en-US" sz="1100" b="1"/>
              <a:t>G1-phase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F8F3DB74-6479-5BF5-2AEA-B40866695F90}"/>
              </a:ext>
            </a:extLst>
          </p:cNvPr>
          <p:cNvSpPr>
            <a:spLocks noGrp="1" noChangeArrowheads="1"/>
          </p:cNvSpPr>
          <p:nvPr>
            <p:ph type="title"/>
          </p:nvPr>
        </p:nvSpPr>
        <p:spPr>
          <a:xfrm>
            <a:off x="320675" y="53975"/>
            <a:ext cx="5280025" cy="725488"/>
          </a:xfrm>
        </p:spPr>
        <p:txBody>
          <a:bodyPr/>
          <a:lstStyle/>
          <a:p>
            <a:pPr eaLnBrk="1" hangingPunct="1"/>
            <a:r>
              <a:rPr lang="en-US" altLang="en-US" sz="2400"/>
              <a:t>Clique Partitioning pros and cons</a:t>
            </a:r>
          </a:p>
        </p:txBody>
      </p:sp>
      <p:sp>
        <p:nvSpPr>
          <p:cNvPr id="55299" name="Rectangle 3">
            <a:extLst>
              <a:ext uri="{FF2B5EF4-FFF2-40B4-BE49-F238E27FC236}">
                <a16:creationId xmlns:a16="http://schemas.microsoft.com/office/drawing/2014/main" id="{86B1557D-39E7-C58A-7176-18125D6642C7}"/>
              </a:ext>
            </a:extLst>
          </p:cNvPr>
          <p:cNvSpPr>
            <a:spLocks noChangeArrowheads="1"/>
          </p:cNvSpPr>
          <p:nvPr/>
        </p:nvSpPr>
        <p:spPr bwMode="auto">
          <a:xfrm>
            <a:off x="320675" y="1066800"/>
            <a:ext cx="575945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800"/>
              <a:t>Advantages</a:t>
            </a:r>
          </a:p>
          <a:p>
            <a:pPr lvl="1" eaLnBrk="1" hangingPunct="1"/>
            <a:r>
              <a:rPr lang="en-US" altLang="en-US" sz="1500"/>
              <a:t>Good discovery tool</a:t>
            </a:r>
          </a:p>
          <a:p>
            <a:pPr lvl="1" eaLnBrk="1" hangingPunct="1"/>
            <a:r>
              <a:rPr lang="en-US" altLang="en-US" sz="1500"/>
              <a:t>Constraints can be modified to expect more than 3 gene interactions</a:t>
            </a:r>
          </a:p>
          <a:p>
            <a:pPr lvl="1" eaLnBrk="1" hangingPunct="1"/>
            <a:r>
              <a:rPr lang="en-US" altLang="en-US" sz="1500"/>
              <a:t>Gives a discrete binary result to interaction</a:t>
            </a:r>
          </a:p>
          <a:p>
            <a:pPr lvl="2" eaLnBrk="1" hangingPunct="1"/>
            <a:endParaRPr lang="en-US" altLang="en-US" sz="1400"/>
          </a:p>
          <a:p>
            <a:pPr eaLnBrk="1" hangingPunct="1"/>
            <a:r>
              <a:rPr lang="en-US" altLang="en-US" sz="1800"/>
              <a:t>Disadvantages</a:t>
            </a:r>
          </a:p>
          <a:p>
            <a:pPr lvl="1" eaLnBrk="1" hangingPunct="1"/>
            <a:r>
              <a:rPr lang="en-US" altLang="en-US" sz="1500"/>
              <a:t>Can be very computationally expensive for many genes</a:t>
            </a:r>
          </a:p>
          <a:p>
            <a:pPr lvl="1" eaLnBrk="1" hangingPunct="1"/>
            <a:r>
              <a:rPr lang="en-US" altLang="en-US" sz="1500"/>
              <a:t>Only binary solutions are predicted</a:t>
            </a:r>
          </a:p>
          <a:p>
            <a:pPr lvl="2" eaLnBrk="1" hangingPunct="1"/>
            <a:r>
              <a:rPr lang="en-US" altLang="en-US" sz="1400"/>
              <a:t>No continuous measure of association</a:t>
            </a:r>
          </a:p>
          <a:p>
            <a:pPr lvl="2" eaLnBrk="1" hangingPunct="1"/>
            <a:r>
              <a:rPr lang="en-US" altLang="en-US" sz="1400"/>
              <a:t>Connection or no connection</a:t>
            </a:r>
          </a:p>
          <a:p>
            <a:pPr lvl="1" eaLnBrk="1" hangingPunct="1"/>
            <a:endParaRPr lang="en-US" altLang="en-US" sz="1500" baseline="-25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3C8C7FD-240C-D5E4-1600-A8B88FEF9B31}"/>
              </a:ext>
            </a:extLst>
          </p:cNvPr>
          <p:cNvSpPr>
            <a:spLocks noGrp="1" noChangeArrowheads="1"/>
          </p:cNvSpPr>
          <p:nvPr>
            <p:ph type="title"/>
          </p:nvPr>
        </p:nvSpPr>
        <p:spPr/>
        <p:txBody>
          <a:bodyPr/>
          <a:lstStyle/>
          <a:p>
            <a:pPr eaLnBrk="1" hangingPunct="1"/>
            <a:r>
              <a:rPr lang="en-US" altLang="en-US" sz="2400"/>
              <a:t>References</a:t>
            </a:r>
          </a:p>
        </p:txBody>
      </p:sp>
      <p:sp>
        <p:nvSpPr>
          <p:cNvPr id="56323" name="Rectangle 3">
            <a:extLst>
              <a:ext uri="{FF2B5EF4-FFF2-40B4-BE49-F238E27FC236}">
                <a16:creationId xmlns:a16="http://schemas.microsoft.com/office/drawing/2014/main" id="{ED2F4172-A41E-8258-8D48-5566E0B5EECF}"/>
              </a:ext>
            </a:extLst>
          </p:cNvPr>
          <p:cNvSpPr>
            <a:spLocks noChangeArrowheads="1"/>
          </p:cNvSpPr>
          <p:nvPr/>
        </p:nvSpPr>
        <p:spPr bwMode="auto">
          <a:xfrm>
            <a:off x="320675" y="1173163"/>
            <a:ext cx="5759450" cy="357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r>
              <a:rPr lang="en-US" altLang="en-US" sz="1400"/>
              <a:t>1) Alizadeh A, et. al.  (2000) Distinct types of diffuse 	large B-cell lymphoma identified by gene 	expression profiling.  </a:t>
            </a:r>
            <a:r>
              <a:rPr lang="en-US" altLang="en-US" sz="1400" i="1"/>
              <a:t>Nature</a:t>
            </a:r>
            <a:r>
              <a:rPr lang="en-US" altLang="en-US" sz="1400"/>
              <a:t>.  </a:t>
            </a:r>
            <a:r>
              <a:rPr lang="en-US" altLang="en-US" sz="1400" b="1"/>
              <a:t>403</a:t>
            </a:r>
            <a:r>
              <a:rPr lang="en-US" altLang="en-US" sz="1400"/>
              <a:t>, 503-511.</a:t>
            </a:r>
          </a:p>
          <a:p>
            <a:pPr eaLnBrk="1" hangingPunct="1"/>
            <a:endParaRPr lang="en-US" altLang="en-US" sz="1400"/>
          </a:p>
          <a:p>
            <a:pPr eaLnBrk="1" hangingPunct="1"/>
            <a:r>
              <a:rPr lang="en-US" altLang="en-US" sz="1400"/>
              <a:t>2)</a:t>
            </a:r>
            <a:r>
              <a:rPr lang="en-US" altLang="en-US" sz="1400" baseline="30000"/>
              <a:t> </a:t>
            </a:r>
            <a:r>
              <a:rPr lang="en-US" altLang="en-US" sz="1400"/>
              <a:t>Datta S and Datta S.  (2003) Comparison and 	validation of statistical clustering techniques for 	microarray gene expression data.  </a:t>
            </a:r>
            <a:r>
              <a:rPr lang="en-US" altLang="en-US" sz="1400" i="1"/>
              <a:t>Bioinformatics</a:t>
            </a:r>
            <a:r>
              <a:rPr lang="en-US" altLang="en-US" sz="1400"/>
              <a:t>.  </a:t>
            </a:r>
            <a:r>
              <a:rPr lang="en-US" altLang="en-US" sz="1400" b="1"/>
              <a:t>19</a:t>
            </a:r>
            <a:r>
              <a:rPr lang="en-US" altLang="en-US" sz="1400"/>
              <a:t>, 459-466.</a:t>
            </a:r>
          </a:p>
          <a:p>
            <a:pPr eaLnBrk="1" hangingPunct="1"/>
            <a:endParaRPr lang="en-US" altLang="en-US" sz="1400"/>
          </a:p>
          <a:p>
            <a:pPr eaLnBrk="1" hangingPunct="1"/>
            <a:r>
              <a:rPr lang="en-US" altLang="en-US" sz="1400"/>
              <a:t>3)</a:t>
            </a:r>
            <a:r>
              <a:rPr lang="en-US" altLang="en-US" sz="1400" baseline="30000"/>
              <a:t> </a:t>
            </a:r>
            <a:r>
              <a:rPr lang="en-US" altLang="en-US" sz="1400"/>
              <a:t>SOM tutorial</a:t>
            </a:r>
          </a:p>
          <a:p>
            <a:pPr lvl="1" eaLnBrk="1" hangingPunct="1"/>
            <a:r>
              <a:rPr lang="en-US" altLang="en-US" sz="1400">
                <a:hlinkClick r:id="rId2"/>
              </a:rPr>
              <a:t>http://www.ai-junkie.com/som1.html</a:t>
            </a:r>
            <a:endParaRPr lang="en-US" altLang="en-US" sz="1400"/>
          </a:p>
          <a:p>
            <a:pPr lvl="1" eaLnBrk="1" hangingPunct="1"/>
            <a:endParaRPr lang="en-US" altLang="en-US" sz="1400"/>
          </a:p>
          <a:p>
            <a:pPr eaLnBrk="1" hangingPunct="1"/>
            <a:r>
              <a:rPr lang="en-US" altLang="en-US" sz="1400"/>
              <a:t>4) Grootendorst M. 9 Distance Measures in Data Science: The advantages and pitfalls of common distance measures</a:t>
            </a:r>
          </a:p>
          <a:p>
            <a:pPr eaLnBrk="1" hangingPunct="1"/>
            <a:endParaRPr lang="en-US" alt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290E74B3-B950-F72A-91D5-4D5BFE36E705}"/>
              </a:ext>
            </a:extLst>
          </p:cNvPr>
          <p:cNvSpPr>
            <a:spLocks noGrp="1" noChangeArrowheads="1"/>
          </p:cNvSpPr>
          <p:nvPr>
            <p:ph type="title"/>
          </p:nvPr>
        </p:nvSpPr>
        <p:spPr>
          <a:xfrm>
            <a:off x="320675" y="266700"/>
            <a:ext cx="5280025" cy="404813"/>
          </a:xfrm>
        </p:spPr>
        <p:txBody>
          <a:bodyPr/>
          <a:lstStyle/>
          <a:p>
            <a:pPr eaLnBrk="1" hangingPunct="1"/>
            <a:r>
              <a:rPr lang="en-US" altLang="en-US" sz="2400"/>
              <a:t>R Code</a:t>
            </a:r>
          </a:p>
        </p:txBody>
      </p:sp>
      <p:sp>
        <p:nvSpPr>
          <p:cNvPr id="57347" name="Rectangle 3">
            <a:extLst>
              <a:ext uri="{FF2B5EF4-FFF2-40B4-BE49-F238E27FC236}">
                <a16:creationId xmlns:a16="http://schemas.microsoft.com/office/drawing/2014/main" id="{F6F77333-B8AB-5A35-8D47-18049BE74C14}"/>
              </a:ext>
            </a:extLst>
          </p:cNvPr>
          <p:cNvSpPr>
            <a:spLocks noChangeArrowheads="1"/>
          </p:cNvSpPr>
          <p:nvPr/>
        </p:nvSpPr>
        <p:spPr bwMode="auto">
          <a:xfrm>
            <a:off x="320675" y="1120775"/>
            <a:ext cx="5759450" cy="357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endParaRPr lang="en-US" altLang="en-US" sz="1500"/>
          </a:p>
        </p:txBody>
      </p:sp>
      <p:sp>
        <p:nvSpPr>
          <p:cNvPr id="57348" name="Rectangle 4">
            <a:extLst>
              <a:ext uri="{FF2B5EF4-FFF2-40B4-BE49-F238E27FC236}">
                <a16:creationId xmlns:a16="http://schemas.microsoft.com/office/drawing/2014/main" id="{F4E870B4-AB96-CCFC-9FBE-EDFB5A55BE86}"/>
              </a:ext>
            </a:extLst>
          </p:cNvPr>
          <p:cNvSpPr>
            <a:spLocks noChangeArrowheads="1"/>
          </p:cNvSpPr>
          <p:nvPr/>
        </p:nvSpPr>
        <p:spPr bwMode="auto">
          <a:xfrm>
            <a:off x="427038" y="693738"/>
            <a:ext cx="5707062" cy="394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700">
                <a:latin typeface="Courier New" panose="02070309020205020404" pitchFamily="49" charset="0"/>
              </a:rPr>
              <a:t># Load Golub et al. data</a:t>
            </a:r>
          </a:p>
          <a:p>
            <a:pPr eaLnBrk="1" hangingPunct="1">
              <a:buFont typeface="Wingdings" pitchFamily="2" charset="2"/>
              <a:buNone/>
            </a:pPr>
            <a:r>
              <a:rPr lang="en-US" altLang="en-US" sz="700">
                <a:latin typeface="Courier New" panose="02070309020205020404" pitchFamily="49" charset="0"/>
              </a:rPr>
              <a:t>library(multtest)</a:t>
            </a:r>
          </a:p>
          <a:p>
            <a:pPr eaLnBrk="1" hangingPunct="1">
              <a:buFont typeface="Wingdings" pitchFamily="2" charset="2"/>
              <a:buNone/>
            </a:pPr>
            <a:r>
              <a:rPr lang="en-US" altLang="en-US" sz="700">
                <a:latin typeface="Courier New" panose="02070309020205020404" pitchFamily="49" charset="0"/>
              </a:rPr>
              <a:t>data(golub);</a:t>
            </a:r>
          </a:p>
          <a:p>
            <a:pPr eaLnBrk="1" hangingPunct="1">
              <a:buFont typeface="Wingdings" pitchFamily="2" charset="2"/>
              <a:buNone/>
            </a:pPr>
            <a:r>
              <a:rPr lang="en-US" altLang="en-US" sz="700">
                <a:latin typeface="Courier New" panose="02070309020205020404" pitchFamily="49" charset="0"/>
              </a:rPr>
              <a:t>dat &lt;- golub</a:t>
            </a:r>
          </a:p>
          <a:p>
            <a:pPr eaLnBrk="1" hangingPunct="1">
              <a:buFont typeface="Wingdings" pitchFamily="2" charset="2"/>
              <a:buNone/>
            </a:pPr>
            <a:r>
              <a:rPr lang="en-US" altLang="en-US" sz="700">
                <a:latin typeface="Courier New" panose="02070309020205020404" pitchFamily="49" charset="0"/>
              </a:rPr>
              <a:t>dat &lt;- as.data.frame(dat)</a:t>
            </a:r>
          </a:p>
          <a:p>
            <a:pPr eaLnBrk="1" hangingPunct="1">
              <a:buFont typeface="Wingdings" pitchFamily="2" charset="2"/>
              <a:buNone/>
            </a:pPr>
            <a:r>
              <a:rPr lang="en-US" altLang="en-US" sz="700">
                <a:latin typeface="Courier New" panose="02070309020205020404" pitchFamily="49" charset="0"/>
              </a:rPr>
              <a:t>ann.dat2 &lt;- golub.cl	# class labels ALL=0; AML=1</a:t>
            </a:r>
          </a:p>
          <a:p>
            <a:pPr eaLnBrk="1" hangingPunct="1">
              <a:buFont typeface="Wingdings" pitchFamily="2" charset="2"/>
              <a:buNone/>
            </a:pPr>
            <a:r>
              <a:rPr lang="en-US" altLang="en-US" sz="700">
                <a:latin typeface="Courier New" panose="02070309020205020404" pitchFamily="49" charset="0"/>
              </a:rPr>
              <a:t>ann &lt;- factor(c(rep(“ALL”,27),rep(“AML”,11)))</a:t>
            </a:r>
          </a:p>
          <a:p>
            <a:pPr eaLnBrk="1" hangingPunct="1">
              <a:buFont typeface="Wingdings" pitchFamily="2" charset="2"/>
              <a:buNone/>
            </a:pPr>
            <a:endParaRPr lang="en-US" altLang="en-US" sz="700">
              <a:latin typeface="Courier New" panose="02070309020205020404" pitchFamily="49" charset="0"/>
            </a:endParaRPr>
          </a:p>
          <a:p>
            <a:pPr eaLnBrk="1" hangingPunct="1">
              <a:buFont typeface="Wingdings" pitchFamily="2" charset="2"/>
              <a:buNone/>
            </a:pPr>
            <a:r>
              <a:rPr lang="en-US" altLang="en-US" sz="700">
                <a:latin typeface="Courier New" panose="02070309020205020404" pitchFamily="49" charset="0"/>
              </a:rPr>
              <a:t># HCA heat map of top 100 genes</a:t>
            </a:r>
          </a:p>
          <a:p>
            <a:pPr eaLnBrk="1" hangingPunct="1">
              <a:buFont typeface="Wingdings" pitchFamily="2" charset="2"/>
              <a:buNone/>
            </a:pPr>
            <a:r>
              <a:rPr lang="en-US" altLang="en-US" sz="700">
                <a:latin typeface="Courier New" panose="02070309020205020404" pitchFamily="49" charset="0"/>
              </a:rPr>
              <a:t># adjust colors for heat map</a:t>
            </a:r>
          </a:p>
          <a:p>
            <a:pPr eaLnBrk="1" hangingPunct="1">
              <a:buFont typeface="Wingdings" pitchFamily="2" charset="2"/>
              <a:buNone/>
            </a:pPr>
            <a:r>
              <a:rPr lang="en-US" altLang="en-US" sz="700">
                <a:latin typeface="Courier New" panose="02070309020205020404" pitchFamily="49" charset="0"/>
              </a:rPr>
              <a:t>dat &lt;- dat[1:100,]	# only use top 100 genes for computational speed</a:t>
            </a:r>
          </a:p>
          <a:p>
            <a:pPr eaLnBrk="1" hangingPunct="1">
              <a:buFont typeface="Wingdings" pitchFamily="2" charset="2"/>
              <a:buNone/>
            </a:pPr>
            <a:r>
              <a:rPr lang="en-US" altLang="en-US" sz="700">
                <a:latin typeface="Courier New" panose="02070309020205020404" pitchFamily="49" charset="0"/>
              </a:rPr>
              <a:t>hm.rg &lt;- c("#FF0000","#CC0000","#990000","#660000","#330000","#000000","#000000","#0A3300","#146600","#1F9900","#29CC00","#33FF00")</a:t>
            </a:r>
          </a:p>
          <a:p>
            <a:pPr eaLnBrk="1" hangingPunct="1">
              <a:buFont typeface="Wingdings" pitchFamily="2" charset="2"/>
              <a:buNone/>
            </a:pPr>
            <a:r>
              <a:rPr lang="en-US" altLang="en-US" sz="700">
                <a:latin typeface="Courier New" panose="02070309020205020404" pitchFamily="49" charset="0"/>
              </a:rPr>
              <a:t>names(dat) &lt;- ann</a:t>
            </a:r>
          </a:p>
          <a:p>
            <a:pPr eaLnBrk="1" hangingPunct="1">
              <a:buFont typeface="Wingdings" pitchFamily="2" charset="2"/>
              <a:buNone/>
            </a:pPr>
            <a:r>
              <a:rPr lang="en-US" altLang="en-US" sz="700">
                <a:latin typeface="Courier New" panose="02070309020205020404" pitchFamily="49" charset="0"/>
              </a:rPr>
              <a:t>heatmap(as.matrix(dat),col=hm.rg)</a:t>
            </a:r>
          </a:p>
          <a:p>
            <a:pPr eaLnBrk="1" hangingPunct="1">
              <a:buFont typeface="Wingdings" pitchFamily="2" charset="2"/>
              <a:buNone/>
            </a:pPr>
            <a:endParaRPr lang="en-US" altLang="en-US" sz="700">
              <a:latin typeface="Courier New" panose="02070309020205020404" pitchFamily="49" charset="0"/>
            </a:endParaRPr>
          </a:p>
          <a:p>
            <a:pPr eaLnBrk="1" hangingPunct="1">
              <a:buFont typeface="Wingdings" pitchFamily="2" charset="2"/>
              <a:buNone/>
            </a:pPr>
            <a:r>
              <a:rPr lang="en-US" altLang="en-US" sz="700">
                <a:latin typeface="Courier New" panose="02070309020205020404" pitchFamily="49" charset="0"/>
              </a:rPr>
              <a:t># kmeans clustering with random data</a:t>
            </a:r>
          </a:p>
          <a:p>
            <a:pPr eaLnBrk="1" hangingPunct="1">
              <a:buFont typeface="Wingdings" pitchFamily="2" charset="2"/>
              <a:buNone/>
            </a:pPr>
            <a:r>
              <a:rPr lang="en-US" altLang="en-US" sz="700">
                <a:latin typeface="Courier New" panose="02070309020205020404" pitchFamily="49" charset="0"/>
              </a:rPr>
              <a:t>library(mva)</a:t>
            </a:r>
          </a:p>
          <a:p>
            <a:pPr eaLnBrk="1" hangingPunct="1">
              <a:buFont typeface="Wingdings" pitchFamily="2" charset="2"/>
              <a:buNone/>
            </a:pPr>
            <a:r>
              <a:rPr lang="en-US" altLang="en-US" sz="700">
                <a:latin typeface="Courier New" panose="02070309020205020404" pitchFamily="49" charset="0"/>
              </a:rPr>
              <a:t>x &lt;- rbind(matrix(rnorm(100, sd = 0.3),ncol=2),matrix(rnorm(100, mean = 1, sd = 0.9),ncol=2),matrix( rnorm(100, mean = 4, sd = 0.75),ncol=2),matrix(rnorm(100, mean = -2, sd = 0.5), ncol = 2))</a:t>
            </a:r>
          </a:p>
          <a:p>
            <a:pPr eaLnBrk="1" hangingPunct="1">
              <a:buFont typeface="Wingdings" pitchFamily="2" charset="2"/>
              <a:buNone/>
            </a:pPr>
            <a:r>
              <a:rPr lang="en-US" altLang="en-US" sz="700">
                <a:latin typeface="Courier New" panose="02070309020205020404" pitchFamily="49" charset="0"/>
              </a:rPr>
              <a:t>cl &lt;- kmeans(x, centers=4, iter.max=20)</a:t>
            </a:r>
          </a:p>
          <a:p>
            <a:pPr eaLnBrk="1" hangingPunct="1">
              <a:buFont typeface="Wingdings" pitchFamily="2" charset="2"/>
              <a:buNone/>
            </a:pPr>
            <a:r>
              <a:rPr lang="en-US" altLang="en-US" sz="700">
                <a:latin typeface="Courier New" panose="02070309020205020404" pitchFamily="49" charset="0"/>
              </a:rPr>
              <a:t>plot(x, col = cl$cluster,cex=1)</a:t>
            </a:r>
          </a:p>
          <a:p>
            <a:pPr eaLnBrk="1" hangingPunct="1">
              <a:buFont typeface="Wingdings" pitchFamily="2" charset="2"/>
              <a:buNone/>
            </a:pPr>
            <a:r>
              <a:rPr lang="en-US" altLang="en-US" sz="700">
                <a:latin typeface="Courier New" panose="02070309020205020404" pitchFamily="49" charset="0"/>
              </a:rPr>
              <a:t>points(cl$centers, col = 1:4, pch = “*”,cex=2.5)</a:t>
            </a:r>
          </a:p>
          <a:p>
            <a:pPr eaLnBrk="1" hangingPunct="1">
              <a:buFont typeface="Wingdings" pitchFamily="2" charset="2"/>
              <a:buNone/>
            </a:pPr>
            <a:endParaRPr lang="en-US" altLang="en-US" sz="700">
              <a:latin typeface="Courier New" panose="02070309020205020404" pitchFamily="49" charset="0"/>
            </a:endParaRPr>
          </a:p>
          <a:p>
            <a:pPr eaLnBrk="1" hangingPunct="1">
              <a:buFont typeface="Wingdings" pitchFamily="2" charset="2"/>
              <a:buNone/>
            </a:pPr>
            <a:r>
              <a:rPr lang="en-US" altLang="en-US" sz="700">
                <a:latin typeface="Courier New" panose="02070309020205020404" pitchFamily="49" charset="0"/>
              </a:rPr>
              <a:t># som clustering on Golub et al. samples</a:t>
            </a:r>
          </a:p>
          <a:p>
            <a:pPr eaLnBrk="1" hangingPunct="1">
              <a:buFont typeface="Wingdings" pitchFamily="2" charset="2"/>
              <a:buNone/>
            </a:pPr>
            <a:r>
              <a:rPr lang="en-US" altLang="en-US" sz="700">
                <a:latin typeface="Courier New" panose="02070309020205020404" pitchFamily="49" charset="0"/>
              </a:rPr>
              <a:t>library(class)</a:t>
            </a:r>
          </a:p>
          <a:p>
            <a:pPr eaLnBrk="1" hangingPunct="1">
              <a:buFont typeface="Wingdings" pitchFamily="2" charset="2"/>
              <a:buNone/>
            </a:pPr>
            <a:r>
              <a:rPr lang="en-US" altLang="en-US" sz="700">
                <a:latin typeface="Courier New" panose="02070309020205020404" pitchFamily="49" charset="0"/>
              </a:rPr>
              <a:t>dat &lt;- t(scale(t(dat)))	# scale data genes</a:t>
            </a:r>
          </a:p>
          <a:p>
            <a:pPr eaLnBrk="1" hangingPunct="1">
              <a:buFont typeface="Wingdings" pitchFamily="2" charset="2"/>
              <a:buNone/>
            </a:pPr>
            <a:r>
              <a:rPr lang="en-US" altLang="en-US" sz="700">
                <a:latin typeface="Courier New" panose="02070309020205020404" pitchFamily="49" charset="0"/>
              </a:rPr>
              <a:t>colnames(dat) &lt;- ann</a:t>
            </a:r>
          </a:p>
          <a:p>
            <a:pPr eaLnBrk="1" hangingPunct="1">
              <a:buFont typeface="Wingdings" pitchFamily="2" charset="2"/>
              <a:buNone/>
            </a:pPr>
            <a:r>
              <a:rPr lang="en-US" altLang="en-US" sz="700">
                <a:latin typeface="Courier New" panose="02070309020205020404" pitchFamily="49" charset="0"/>
              </a:rPr>
              <a:t>gr &lt;- somgrid(xdim=2,ydim=3,topo = "rectangular")	# specify grid type and dimensions</a:t>
            </a:r>
          </a:p>
          <a:p>
            <a:pPr eaLnBrk="1" hangingPunct="1">
              <a:buFont typeface="Wingdings" pitchFamily="2" charset="2"/>
              <a:buNone/>
            </a:pPr>
            <a:r>
              <a:rPr lang="en-US" altLang="en-US" sz="700">
                <a:latin typeface="Courier New" panose="02070309020205020404" pitchFamily="49" charset="0"/>
              </a:rPr>
              <a:t>dat.som &lt;- SOM(dat,gr)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60D936AF-B0C5-38DF-D1F6-6F760D100FC5}"/>
              </a:ext>
            </a:extLst>
          </p:cNvPr>
          <p:cNvSpPr>
            <a:spLocks noGrp="1" noChangeArrowheads="1"/>
          </p:cNvSpPr>
          <p:nvPr>
            <p:ph type="title"/>
          </p:nvPr>
        </p:nvSpPr>
        <p:spPr>
          <a:xfrm>
            <a:off x="320675" y="266700"/>
            <a:ext cx="5280025" cy="404813"/>
          </a:xfrm>
        </p:spPr>
        <p:txBody>
          <a:bodyPr/>
          <a:lstStyle/>
          <a:p>
            <a:pPr eaLnBrk="1" hangingPunct="1"/>
            <a:r>
              <a:rPr lang="en-US" altLang="en-US" sz="2400"/>
              <a:t>R Code</a:t>
            </a:r>
          </a:p>
        </p:txBody>
      </p:sp>
      <p:sp>
        <p:nvSpPr>
          <p:cNvPr id="58371" name="Rectangle 3">
            <a:extLst>
              <a:ext uri="{FF2B5EF4-FFF2-40B4-BE49-F238E27FC236}">
                <a16:creationId xmlns:a16="http://schemas.microsoft.com/office/drawing/2014/main" id="{AA1E846E-8FCE-DBB8-A891-A47D6A47D96A}"/>
              </a:ext>
            </a:extLst>
          </p:cNvPr>
          <p:cNvSpPr>
            <a:spLocks noChangeArrowheads="1"/>
          </p:cNvSpPr>
          <p:nvPr/>
        </p:nvSpPr>
        <p:spPr bwMode="auto">
          <a:xfrm>
            <a:off x="320675" y="1120775"/>
            <a:ext cx="5759450" cy="357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484188" indent="-242888"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690563" indent="-20478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896938" indent="-20478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119188" indent="-220663"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5763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0335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4907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2947988" indent="-220663"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endParaRPr lang="en-US" altLang="en-US" sz="1500"/>
          </a:p>
        </p:txBody>
      </p:sp>
      <p:sp>
        <p:nvSpPr>
          <p:cNvPr id="58372" name="Rectangle 4">
            <a:extLst>
              <a:ext uri="{FF2B5EF4-FFF2-40B4-BE49-F238E27FC236}">
                <a16:creationId xmlns:a16="http://schemas.microsoft.com/office/drawing/2014/main" id="{E7E7C67B-C242-DBAE-BB41-891B3949C4A5}"/>
              </a:ext>
            </a:extLst>
          </p:cNvPr>
          <p:cNvSpPr>
            <a:spLocks noChangeArrowheads="1"/>
          </p:cNvSpPr>
          <p:nvPr/>
        </p:nvSpPr>
        <p:spPr bwMode="auto">
          <a:xfrm>
            <a:off x="427038" y="693738"/>
            <a:ext cx="5707062" cy="394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4008" tIns="32004" rIns="64008" bIns="32004"/>
          <a:lstStyle>
            <a:lvl1pPr marL="239713" indent="-239713" defTabSz="639763">
              <a:spcBef>
                <a:spcPct val="20000"/>
              </a:spcBef>
              <a:buClr>
                <a:schemeClr val="tx2"/>
              </a:buClr>
              <a:buSzPct val="70000"/>
              <a:buFont typeface="Wingdings" pitchFamily="2" charset="2"/>
              <a:buChar char="l"/>
              <a:defRPr sz="2100">
                <a:solidFill>
                  <a:schemeClr val="tx1"/>
                </a:solidFill>
                <a:latin typeface="Arial" panose="020B0604020202020204" pitchFamily="34" charset="0"/>
              </a:defRPr>
            </a:lvl1pPr>
            <a:lvl2pPr marL="520700" indent="-200025" defTabSz="639763">
              <a:spcBef>
                <a:spcPct val="20000"/>
              </a:spcBef>
              <a:buClr>
                <a:schemeClr val="accent2"/>
              </a:buClr>
              <a:buSzPct val="70000"/>
              <a:buFont typeface="Wingdings" pitchFamily="2" charset="2"/>
              <a:buChar char="l"/>
              <a:defRPr>
                <a:solidFill>
                  <a:schemeClr val="tx1"/>
                </a:solidFill>
                <a:latin typeface="Arial" panose="020B0604020202020204" pitchFamily="34" charset="0"/>
              </a:defRPr>
            </a:lvl2pPr>
            <a:lvl3pPr marL="800100" indent="-160338" defTabSz="639763">
              <a:spcBef>
                <a:spcPct val="20000"/>
              </a:spcBef>
              <a:buClr>
                <a:schemeClr val="accent1"/>
              </a:buClr>
              <a:buSzPct val="70000"/>
              <a:buFont typeface="Wingdings" pitchFamily="2" charset="2"/>
              <a:buChar char="l"/>
              <a:defRPr sz="1600">
                <a:solidFill>
                  <a:schemeClr val="tx1"/>
                </a:solidFill>
                <a:latin typeface="Arial" panose="020B0604020202020204" pitchFamily="34" charset="0"/>
              </a:defRPr>
            </a:lvl3pPr>
            <a:lvl4pPr marL="1120775" indent="-160338" defTabSz="639763">
              <a:spcBef>
                <a:spcPct val="20000"/>
              </a:spcBef>
              <a:buClr>
                <a:schemeClr val="tx2"/>
              </a:buClr>
              <a:buSzPct val="75000"/>
              <a:buFont typeface="Wingdings" pitchFamily="2" charset="2"/>
              <a:buChar char="§"/>
              <a:defRPr sz="1400">
                <a:solidFill>
                  <a:schemeClr val="tx1"/>
                </a:solidFill>
                <a:latin typeface="Arial" panose="020B0604020202020204" pitchFamily="34" charset="0"/>
              </a:defRPr>
            </a:lvl4pPr>
            <a:lvl5pPr marL="1439863" indent="-160338" defTabSz="639763">
              <a:spcBef>
                <a:spcPct val="20000"/>
              </a:spcBef>
              <a:buClr>
                <a:schemeClr val="folHlink"/>
              </a:buClr>
              <a:buSzPct val="80000"/>
              <a:buFont typeface="Wingdings" pitchFamily="2" charset="2"/>
              <a:buChar char="§"/>
              <a:defRPr sz="1400">
                <a:solidFill>
                  <a:schemeClr val="tx1"/>
                </a:solidFill>
                <a:latin typeface="Arial" panose="020B0604020202020204" pitchFamily="34" charset="0"/>
              </a:defRPr>
            </a:lvl5pPr>
            <a:lvl6pPr marL="18970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6pPr>
            <a:lvl7pPr marL="23542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7pPr>
            <a:lvl8pPr marL="28114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8pPr>
            <a:lvl9pPr marL="3268663" indent="-160338" defTabSz="639763" eaLnBrk="0" fontAlgn="base" hangingPunct="0">
              <a:spcBef>
                <a:spcPct val="20000"/>
              </a:spcBef>
              <a:spcAft>
                <a:spcPct val="0"/>
              </a:spcAft>
              <a:buClr>
                <a:schemeClr val="folHlink"/>
              </a:buClr>
              <a:buSzPct val="80000"/>
              <a:buFont typeface="Wingdings" pitchFamily="2" charset="2"/>
              <a:buChar char="§"/>
              <a:defRPr sz="1400">
                <a:solidFill>
                  <a:schemeClr val="tx1"/>
                </a:solidFill>
                <a:latin typeface="Arial" panose="020B0604020202020204" pitchFamily="34" charset="0"/>
              </a:defRPr>
            </a:lvl9pPr>
          </a:lstStyle>
          <a:p>
            <a:pPr eaLnBrk="1" hangingPunct="1">
              <a:buFont typeface="Wingdings" pitchFamily="2" charset="2"/>
              <a:buNone/>
            </a:pPr>
            <a:r>
              <a:rPr lang="en-US" altLang="en-US" sz="700">
                <a:latin typeface="Courier New" panose="02070309020205020404" pitchFamily="49" charset="0"/>
              </a:rPr>
              <a:t># plot representative patterns</a:t>
            </a:r>
          </a:p>
          <a:p>
            <a:pPr eaLnBrk="1" hangingPunct="1">
              <a:buFont typeface="Wingdings" pitchFamily="2" charset="2"/>
              <a:buNone/>
            </a:pPr>
            <a:r>
              <a:rPr lang="en-US" altLang="en-US" sz="700">
                <a:latin typeface="Courier New" panose="02070309020205020404" pitchFamily="49" charset="0"/>
              </a:rPr>
              <a:t># radar plot profiles where each spoke length indicates an AML/ALL sample</a:t>
            </a:r>
          </a:p>
          <a:p>
            <a:pPr eaLnBrk="1" hangingPunct="1">
              <a:buFont typeface="Wingdings" pitchFamily="2" charset="2"/>
              <a:buNone/>
            </a:pPr>
            <a:r>
              <a:rPr lang="en-US" altLang="en-US" sz="700">
                <a:latin typeface="Courier New" panose="02070309020205020404" pitchFamily="49" charset="0"/>
              </a:rPr>
              <a:t>plot(dat.som)</a:t>
            </a:r>
          </a:p>
          <a:p>
            <a:pPr eaLnBrk="1" hangingPunct="1">
              <a:buFont typeface="Wingdings" pitchFamily="2" charset="2"/>
              <a:buNone/>
            </a:pPr>
            <a:endParaRPr lang="en-US" altLang="en-US" sz="700">
              <a:latin typeface="Courier New" panose="02070309020205020404" pitchFamily="49" charset="0"/>
            </a:endParaRPr>
          </a:p>
          <a:p>
            <a:pPr eaLnBrk="1" hangingPunct="1">
              <a:buFont typeface="Wingdings" pitchFamily="2" charset="2"/>
              <a:buNone/>
            </a:pPr>
            <a:r>
              <a:rPr lang="en-US" altLang="en-US" sz="700">
                <a:latin typeface="Courier New" panose="02070309020205020404" pitchFamily="49" charset="0"/>
              </a:rPr>
              <a:t># gene profiles</a:t>
            </a:r>
          </a:p>
          <a:p>
            <a:pPr eaLnBrk="1" hangingPunct="1">
              <a:buFont typeface="Wingdings" pitchFamily="2" charset="2"/>
              <a:buNone/>
            </a:pPr>
            <a:r>
              <a:rPr lang="en-US" altLang="en-US" sz="700">
                <a:latin typeface="Courier New" panose="02070309020205020404" pitchFamily="49" charset="0"/>
              </a:rPr>
              <a:t>par(mfrow=c(3,2))</a:t>
            </a:r>
          </a:p>
          <a:p>
            <a:pPr eaLnBrk="1" hangingPunct="1">
              <a:buFont typeface="Wingdings" pitchFamily="2" charset="2"/>
              <a:buNone/>
            </a:pPr>
            <a:r>
              <a:rPr lang="en-US" altLang="en-US" sz="700">
                <a:latin typeface="Courier New" panose="02070309020205020404" pitchFamily="49" charset="0"/>
              </a:rPr>
              <a:t>for(i in 1:6) {</a:t>
            </a:r>
          </a:p>
          <a:p>
            <a:pPr eaLnBrk="1" hangingPunct="1">
              <a:buFont typeface="Wingdings" pitchFamily="2" charset="2"/>
              <a:buNone/>
            </a:pPr>
            <a:r>
              <a:rPr lang="en-US" altLang="en-US" sz="700">
                <a:latin typeface="Courier New" panose="02070309020205020404" pitchFamily="49" charset="0"/>
              </a:rPr>
              <a:t>  plot(dat.som$codes[i,],type="b",xlab="samples",ylab="Expression",main=paste("Cluster",i),col=i,lwd=2)</a:t>
            </a:r>
          </a:p>
          <a:p>
            <a:pPr eaLnBrk="1" hangingPunct="1">
              <a:buFont typeface="Wingdings" pitchFamily="2" charset="2"/>
              <a:buNone/>
            </a:pPr>
            <a:r>
              <a:rPr lang="en-US" altLang="en-US" sz="700">
                <a:latin typeface="Courier New" panose="02070309020205020404" pitchFamily="49" charset="0"/>
              </a:rPr>
              <a:t>}</a:t>
            </a:r>
          </a:p>
          <a:p>
            <a:pPr eaLnBrk="1" hangingPunct="1">
              <a:buFont typeface="Wingdings" pitchFamily="2" charset="2"/>
              <a:buNone/>
            </a:pPr>
            <a:endParaRPr lang="en-US" altLang="en-US" sz="700">
              <a:latin typeface="Courier New" panose="02070309020205020404" pitchFamily="49" charset="0"/>
            </a:endParaRP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639763" rtl="0" eaLnBrk="1" fontAlgn="base" latinLnBrk="0" hangingPunct="1">
          <a:lnSpc>
            <a:spcPct val="100000"/>
          </a:lnSpc>
          <a:spcBef>
            <a:spcPct val="0"/>
          </a:spcBef>
          <a:spcAft>
            <a:spcPct val="0"/>
          </a:spcAft>
          <a:buClrTx/>
          <a:buSzTx/>
          <a:buFontTx/>
          <a:buNone/>
          <a:tabLst/>
          <a:defRPr kumimoji="0" lang="en-US" altLang="en-US" sz="13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639763" rtl="0" eaLnBrk="1" fontAlgn="base" latinLnBrk="0" hangingPunct="1">
          <a:lnSpc>
            <a:spcPct val="100000"/>
          </a:lnSpc>
          <a:spcBef>
            <a:spcPct val="0"/>
          </a:spcBef>
          <a:spcAft>
            <a:spcPct val="0"/>
          </a:spcAft>
          <a:buClrTx/>
          <a:buSzTx/>
          <a:buFontTx/>
          <a:buNone/>
          <a:tabLst/>
          <a:defRPr kumimoji="0" lang="en-US" altLang="en-US" sz="13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3410</TotalTime>
  <Words>2871</Words>
  <Application>Microsoft Macintosh PowerPoint</Application>
  <PresentationFormat>Custom</PresentationFormat>
  <Paragraphs>506</Paragraphs>
  <Slides>55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Arial</vt:lpstr>
      <vt:lpstr>Wingdings</vt:lpstr>
      <vt:lpstr>Calibri</vt:lpstr>
      <vt:lpstr>Tahoma</vt:lpstr>
      <vt:lpstr>Times New Roman</vt:lpstr>
      <vt:lpstr>Courier New</vt:lpstr>
      <vt:lpstr>Network</vt:lpstr>
      <vt:lpstr>Lecture #9</vt:lpstr>
      <vt:lpstr>What is clustering</vt:lpstr>
      <vt:lpstr>Applications of clustering</vt:lpstr>
      <vt:lpstr>Some clustering methods</vt:lpstr>
      <vt:lpstr>Some clustering methods</vt:lpstr>
      <vt:lpstr>HCA Clustering Procedure (genes)</vt:lpstr>
      <vt:lpstr>HCA Clustering Procedure (genes)</vt:lpstr>
      <vt:lpstr>Distances and Similarities</vt:lpstr>
      <vt:lpstr>Euclidean Distance</vt:lpstr>
      <vt:lpstr>Cosine similarity</vt:lpstr>
      <vt:lpstr>Hamming distance</vt:lpstr>
      <vt:lpstr>Manhattan distance</vt:lpstr>
      <vt:lpstr>Chebyshev distance</vt:lpstr>
      <vt:lpstr>Minkowski distance</vt:lpstr>
      <vt:lpstr>Jaccard index</vt:lpstr>
      <vt:lpstr>Haversine distance</vt:lpstr>
      <vt:lpstr>Sørensen-Dice Index</vt:lpstr>
      <vt:lpstr>Grouping metrics</vt:lpstr>
      <vt:lpstr>Average Linkage</vt:lpstr>
      <vt:lpstr>Average Linkage</vt:lpstr>
      <vt:lpstr>Single Linkage</vt:lpstr>
      <vt:lpstr>Single Linkage</vt:lpstr>
      <vt:lpstr>Complete Linkage</vt:lpstr>
      <vt:lpstr>Complete Linkage</vt:lpstr>
      <vt:lpstr>Ward’s Method</vt:lpstr>
      <vt:lpstr>Ward’s Method</vt:lpstr>
      <vt:lpstr>Dendrogram Example</vt:lpstr>
      <vt:lpstr>HCA pros and cons</vt:lpstr>
      <vt:lpstr>Some clustering methods</vt:lpstr>
      <vt:lpstr>k-means procedure</vt:lpstr>
      <vt:lpstr>k-means procedure</vt:lpstr>
      <vt:lpstr>k-means procedure</vt:lpstr>
      <vt:lpstr>k-means procedure</vt:lpstr>
      <vt:lpstr>k-means procedure</vt:lpstr>
      <vt:lpstr>k-means procedure</vt:lpstr>
      <vt:lpstr>k-means clustering termination</vt:lpstr>
      <vt:lpstr>k-means pros and cons</vt:lpstr>
      <vt:lpstr>Some clustering methods</vt:lpstr>
      <vt:lpstr>SOMs</vt:lpstr>
      <vt:lpstr>SOM procedure3</vt:lpstr>
      <vt:lpstr>SOM procedure3</vt:lpstr>
      <vt:lpstr>SOM procedure3</vt:lpstr>
      <vt:lpstr>SOM procedure3</vt:lpstr>
      <vt:lpstr>SOM procedure3</vt:lpstr>
      <vt:lpstr>SOM example</vt:lpstr>
      <vt:lpstr>SOMs pros and cons</vt:lpstr>
      <vt:lpstr>Some clustering methods</vt:lpstr>
      <vt:lpstr>Clique Partitioning</vt:lpstr>
      <vt:lpstr>Clique Partitioning – triangle constraint inequalities</vt:lpstr>
      <vt:lpstr>Clique Partitioning – Simplex method</vt:lpstr>
      <vt:lpstr>Clique Partitioning – Network visual (using select genes from Spellman et al. data set)</vt:lpstr>
      <vt:lpstr>Clique Partitioning pros and cons</vt:lpstr>
      <vt:lpstr>References</vt:lpstr>
      <vt:lpstr>R Code</vt:lpstr>
      <vt:lpstr>R Code</vt:lpstr>
    </vt:vector>
  </TitlesOfParts>
  <Company>Gene Logic,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bhiggs</dc:creator>
  <cp:lastModifiedBy>Renard, Dylan T</cp:lastModifiedBy>
  <cp:revision>775</cp:revision>
  <dcterms:created xsi:type="dcterms:W3CDTF">2004-02-02T19:40:01Z</dcterms:created>
  <dcterms:modified xsi:type="dcterms:W3CDTF">2025-11-01T20:18:05Z</dcterms:modified>
</cp:coreProperties>
</file>