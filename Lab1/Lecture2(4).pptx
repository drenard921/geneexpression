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35"/>
  </p:notesMasterIdLst>
  <p:sldIdLst>
    <p:sldId id="256" r:id="rId2"/>
    <p:sldId id="257" r:id="rId3"/>
    <p:sldId id="303" r:id="rId4"/>
    <p:sldId id="258" r:id="rId5"/>
    <p:sldId id="300" r:id="rId6"/>
    <p:sldId id="259" r:id="rId7"/>
    <p:sldId id="281" r:id="rId8"/>
    <p:sldId id="274" r:id="rId9"/>
    <p:sldId id="299" r:id="rId10"/>
    <p:sldId id="275" r:id="rId11"/>
    <p:sldId id="287" r:id="rId12"/>
    <p:sldId id="276" r:id="rId13"/>
    <p:sldId id="277" r:id="rId14"/>
    <p:sldId id="278" r:id="rId15"/>
    <p:sldId id="288" r:id="rId16"/>
    <p:sldId id="279" r:id="rId17"/>
    <p:sldId id="280" r:id="rId18"/>
    <p:sldId id="292" r:id="rId19"/>
    <p:sldId id="282" r:id="rId20"/>
    <p:sldId id="295" r:id="rId21"/>
    <p:sldId id="283" r:id="rId22"/>
    <p:sldId id="285" r:id="rId23"/>
    <p:sldId id="290" r:id="rId24"/>
    <p:sldId id="296" r:id="rId25"/>
    <p:sldId id="301" r:id="rId26"/>
    <p:sldId id="302" r:id="rId27"/>
    <p:sldId id="297" r:id="rId28"/>
    <p:sldId id="286" r:id="rId29"/>
    <p:sldId id="298" r:id="rId30"/>
    <p:sldId id="291" r:id="rId31"/>
    <p:sldId id="294" r:id="rId32"/>
    <p:sldId id="293" r:id="rId33"/>
    <p:sldId id="273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5" autoAdjust="0"/>
    <p:restoredTop sz="94509" autoAdjust="0"/>
  </p:normalViewPr>
  <p:slideViewPr>
    <p:cSldViewPr>
      <p:cViewPr varScale="1">
        <p:scale>
          <a:sx n="84" d="100"/>
          <a:sy n="84" d="100"/>
        </p:scale>
        <p:origin x="112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1239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39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1239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E6901A8E-D955-4BBC-96B6-4E0D28DD9B3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54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6357F4-62C3-4263-B7C1-6350118E58BD}" type="slidenum">
              <a:rPr lang="en-US"/>
              <a:pPr/>
              <a:t>1</a:t>
            </a:fld>
            <a:endParaRPr lang="en-US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D12E40-21D3-4CB0-B1E3-D45EA467E9CC}" type="slidenum">
              <a:rPr lang="en-US"/>
              <a:pPr/>
              <a:t>2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D36A4A-1587-4382-AD8B-B0EB54448076}" type="slidenum">
              <a:rPr lang="en-US"/>
              <a:pPr/>
              <a:t>4</a:t>
            </a:fld>
            <a:endParaRPr lang="en-US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8183ED-64B7-4BF2-AE1B-50DFEA5A706F}" type="slidenum">
              <a:rPr lang="en-US"/>
              <a:pPr/>
              <a:t>6</a:t>
            </a:fld>
            <a:endParaRPr lang="en-US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0BE378-3044-4360-89FE-C891D5DF67C5}" type="slidenum">
              <a:rPr lang="en-US"/>
              <a:pPr/>
              <a:t>7</a:t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F4AF32-CAF6-4C10-9118-43E3622BA5B2}" type="slidenum">
              <a:rPr lang="en-US"/>
              <a:pPr/>
              <a:t>8</a:t>
            </a:fld>
            <a:endParaRPr lang="en-US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F4AF32-CAF6-4C10-9118-43E3622BA5B2}" type="slidenum">
              <a:rPr lang="en-US"/>
              <a:pPr/>
              <a:t>9</a:t>
            </a:fld>
            <a:endParaRPr lang="en-US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3FCD6-B6BB-48EB-836F-EBFDE172189A}" type="slidenum">
              <a:rPr lang="en-US"/>
              <a:pPr/>
              <a:t>10</a:t>
            </a:fld>
            <a:endParaRPr lang="en-US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2527CD-6380-403D-8412-A527C2968239}" type="slidenum">
              <a:rPr lang="en-US"/>
              <a:pPr/>
              <a:t>11</a:t>
            </a:fld>
            <a:endParaRPr 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188B67-50F0-421F-92EF-587E4003CA1D}" type="slidenum">
              <a:rPr lang="en-US"/>
              <a:pPr/>
              <a:t>12</a:t>
            </a:fld>
            <a:endParaRPr lang="en-U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2C3FD6-A8EE-430B-913D-0EBEC4BC7AED}" type="slidenum">
              <a:rPr lang="en-US"/>
              <a:pPr/>
              <a:t>13</a:t>
            </a:fld>
            <a:endParaRPr lang="en-US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11A9B-68D9-4B44-A119-1BB8DD20D4A5}" type="slidenum">
              <a:rPr lang="en-US"/>
              <a:pPr/>
              <a:t>14</a:t>
            </a:fld>
            <a:endParaRPr lang="en-US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E35C50-E1F2-48A2-B33E-D2E20A3F597D}" type="slidenum">
              <a:rPr lang="en-US"/>
              <a:pPr/>
              <a:t>15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CD9FA-C83F-4759-A39F-36DFC3C823A9}" type="slidenum">
              <a:rPr lang="en-US"/>
              <a:pPr/>
              <a:t>16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44159E-EAED-478D-A296-C35540874A9B}" type="slidenum">
              <a:rPr lang="en-US"/>
              <a:pPr/>
              <a:t>17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83886F-41A3-428D-B792-D553ACF57D27}" type="slidenum">
              <a:rPr lang="en-US"/>
              <a:pPr/>
              <a:t>18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8902E8-8A07-47CF-9E5D-6A0A3AF5F366}" type="slidenum">
              <a:rPr lang="en-US"/>
              <a:pPr/>
              <a:t>19</a:t>
            </a:fld>
            <a:endParaRPr 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03579-78CF-4B14-88AE-0F73702B6030}" type="slidenum">
              <a:rPr lang="en-US"/>
              <a:pPr/>
              <a:t>20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813EA9-CC4A-4B59-8EE4-895A3C380D65}" type="slidenum">
              <a:rPr lang="en-US"/>
              <a:pPr/>
              <a:t>21</a:t>
            </a:fld>
            <a:endParaRPr 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4D7B82-DBA1-4809-B18F-F15AB1ED30E6}" type="slidenum">
              <a:rPr lang="en-US"/>
              <a:pPr/>
              <a:t>22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B4D349-127F-49AB-AAD4-D403E55C7880}" type="slidenum">
              <a:rPr lang="en-US"/>
              <a:pPr/>
              <a:t>23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6FA3C7-80A5-4008-BDEF-6EDE90F86A41}" type="slidenum">
              <a:rPr lang="en-US"/>
              <a:pPr/>
              <a:t>28</a:t>
            </a:fld>
            <a:endParaRPr lang="en-US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6DD71-A0F6-4E76-8418-448D97A2B3AD}" type="slidenum">
              <a:rPr lang="en-US"/>
              <a:pPr/>
              <a:t>30</a:t>
            </a:fld>
            <a:endParaRPr lang="en-US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7DDE7B-6DD3-404E-B532-A942147F4520}" type="slidenum">
              <a:rPr lang="en-US"/>
              <a:pPr/>
              <a:t>31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D448EF-CBB9-491C-A99F-22AB846629D3}" type="slidenum">
              <a:rPr lang="en-US"/>
              <a:pPr/>
              <a:t>32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798CA2-7C62-4ED2-997B-40B7BA60BBFF}" type="slidenum">
              <a:rPr lang="en-US"/>
              <a:pPr/>
              <a:t>33</a:t>
            </a:fld>
            <a:endParaRPr lang="en-US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828783D-C984-4FA2-AD27-D0FB905F874B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62472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247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9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0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504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E8A2A-0729-4FEE-89EA-A082B1932C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656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299613-62FC-4905-885C-3EA2CC00A2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733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9FA98-2282-4460-9C75-AD29398AD6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6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DC6B3C-5978-4283-9477-EB3BF88AD0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26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0A8454-2CF6-461B-88D9-E3498241B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71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B8AF8-0227-43B9-A988-30CF3386CF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947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5DEB65-237B-4191-9F52-6DEE664AEB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394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6E7125-59ED-4D8B-AE83-72BE2A116A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8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68D368-1DEB-441B-A96D-B7E337C1AB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97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3F8B21-0D02-40EA-8783-A71207D283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051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B9842A2-6335-455A-930D-6D099055CF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522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00AC33D-F98F-4338-A77D-07A017C9AD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8027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074E016-62A6-42B3-8AFF-09A8DB5A33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02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endParaRPr lang="en-US" altLang="en-US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/>
            </a:lvl1pPr>
          </a:lstStyle>
          <a:p>
            <a:endParaRPr lang="en-US" altLang="en-US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/>
            </a:lvl1pPr>
          </a:lstStyle>
          <a:p>
            <a:fld id="{45D8D35E-50A4-4D50-96E7-E6AE14DCC57B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61448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144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en.wikibooks.org/wiki/R_Programming/Graphics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gif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gif"/><Relationship Id="rId4" Type="http://schemas.openxmlformats.org/officeDocument/2006/relationships/image" Target="../media/image17.gif"/><Relationship Id="rId9" Type="http://schemas.openxmlformats.org/officeDocument/2006/relationships/image" Target="../media/image2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#2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500" dirty="0"/>
              <a:t>The </a:t>
            </a:r>
            <a:r>
              <a:rPr lang="en-US" sz="2500" dirty="0">
                <a:latin typeface="Courier (W1)" pitchFamily="49" charset="0"/>
              </a:rPr>
              <a:t>R</a:t>
            </a:r>
            <a:r>
              <a:rPr lang="en-US" sz="2500" dirty="0"/>
              <a:t> language and environment</a:t>
            </a:r>
          </a:p>
        </p:txBody>
      </p:sp>
      <p:pic>
        <p:nvPicPr>
          <p:cNvPr id="2" name="Picture 2" descr="Why Learn R Programming Language - Reasons to Learn R">
            <a:extLst>
              <a:ext uri="{FF2B5EF4-FFF2-40B4-BE49-F238E27FC236}">
                <a16:creationId xmlns:a16="http://schemas.microsoft.com/office/drawing/2014/main" id="{EBE623C3-C423-4835-86D8-0F7C970A7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917" y="3962400"/>
            <a:ext cx="4886324" cy="255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1A5601-B89B-4681-B420-459316C302ED}"/>
              </a:ext>
            </a:extLst>
          </p:cNvPr>
          <p:cNvSpPr txBox="1"/>
          <p:nvPr/>
        </p:nvSpPr>
        <p:spPr>
          <a:xfrm>
            <a:off x="2244917" y="6413601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dirty="0"/>
              <a:t>https://data-flair.training/blogs/why-learn-r/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910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/>
              <a:t>What is </a:t>
            </a:r>
            <a:r>
              <a:rPr lang="en-US" sz="2200" dirty="0">
                <a:latin typeface="Courier (W1)" pitchFamily="49" charset="0"/>
              </a:rPr>
              <a:t>R</a:t>
            </a:r>
            <a:r>
              <a:rPr lang="en-US" sz="2200" dirty="0"/>
              <a:t>?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Basic syntax rules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Math operators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Vectors, Matrices, and Data frames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Logical operators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Casting data types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Read/Write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Iteration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Packages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Libraries/Functions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Plotting commands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Par command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Data sets in </a:t>
            </a:r>
            <a:r>
              <a:rPr lang="en-US" sz="2200" dirty="0">
                <a:latin typeface="Courier (W1)" pitchFamily="49" charset="0"/>
              </a:rPr>
              <a:t>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34AF-3EDA-4ACD-80DF-216C2367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24256"/>
            <a:ext cx="7543800" cy="868362"/>
          </a:xfrm>
        </p:spPr>
        <p:txBody>
          <a:bodyPr/>
          <a:lstStyle/>
          <a:p>
            <a:r>
              <a:rPr lang="en-US" sz="4500" dirty="0">
                <a:latin typeface="Courier (W1)" pitchFamily="49" charset="0"/>
              </a:rPr>
              <a:t>R</a:t>
            </a:r>
            <a:r>
              <a:rPr lang="en-US" dirty="0"/>
              <a:t> applications and popularity</a:t>
            </a:r>
          </a:p>
        </p:txBody>
      </p:sp>
      <p:pic>
        <p:nvPicPr>
          <p:cNvPr id="3074" name="Picture 2" descr="The Impressive Growth of R - Stack Overflow Blog">
            <a:extLst>
              <a:ext uri="{FF2B5EF4-FFF2-40B4-BE49-F238E27FC236}">
                <a16:creationId xmlns:a16="http://schemas.microsoft.com/office/drawing/2014/main" id="{C1562BF7-1DF5-4F1A-8855-2395A5DDA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62" y="2218944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6BC0499-BE94-4CF0-82C8-744F43600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123" y="2667000"/>
            <a:ext cx="426473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17CC98-5727-40CD-BD24-993B8061E70C}"/>
              </a:ext>
            </a:extLst>
          </p:cNvPr>
          <p:cNvSpPr txBox="1"/>
          <p:nvPr/>
        </p:nvSpPr>
        <p:spPr>
          <a:xfrm>
            <a:off x="4953000" y="6118300"/>
            <a:ext cx="34521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dirty="0"/>
              <a:t>https://redmonk.com/sogrady/2021/03/01/language-rankings-1-21/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3F9462-0606-43F5-9355-25A1B2E5EFBB}"/>
              </a:ext>
            </a:extLst>
          </p:cNvPr>
          <p:cNvSpPr/>
          <p:nvPr/>
        </p:nvSpPr>
        <p:spPr bwMode="auto">
          <a:xfrm>
            <a:off x="8001000" y="3048000"/>
            <a:ext cx="152400" cy="1524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27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sz="4500" dirty="0">
                <a:latin typeface="Courier (W1)" pitchFamily="49" charset="0"/>
              </a:rPr>
              <a:t>R</a:t>
            </a:r>
            <a:r>
              <a:rPr lang="en-US" dirty="0"/>
              <a:t>?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51387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Courier (W1)" pitchFamily="49" charset="0"/>
              </a:rPr>
              <a:t>R</a:t>
            </a:r>
            <a:r>
              <a:rPr lang="en-US" sz="2000" dirty="0"/>
              <a:t> is both a language and environment for statistical and computational analysis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Where does the name come from?</a:t>
            </a:r>
          </a:p>
          <a:p>
            <a:pPr lvl="1">
              <a:lnSpc>
                <a:spcPct val="90000"/>
              </a:lnSpc>
            </a:pPr>
            <a:r>
              <a:rPr lang="en-US" sz="1900" dirty="0"/>
              <a:t>Authors: Robert Gentleman and Ross </a:t>
            </a:r>
            <a:r>
              <a:rPr lang="en-US" sz="1900" dirty="0" err="1"/>
              <a:t>Ihaka</a:t>
            </a:r>
            <a:r>
              <a:rPr lang="en-US" sz="1900" dirty="0"/>
              <a:t> and S language play-on words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2000" dirty="0"/>
              <a:t>The language is similar to that of </a:t>
            </a:r>
            <a:r>
              <a:rPr lang="en-US" sz="2000" dirty="0" err="1"/>
              <a:t>Splus</a:t>
            </a:r>
            <a:r>
              <a:rPr lang="en-US" sz="2000" dirty="0"/>
              <a:t>, which gets its roots from S</a:t>
            </a:r>
          </a:p>
          <a:p>
            <a:pPr lvl="1">
              <a:lnSpc>
                <a:spcPct val="90000"/>
              </a:lnSpc>
            </a:pPr>
            <a:r>
              <a:rPr lang="en-US" sz="1900" dirty="0"/>
              <a:t>Developed by Bell Labs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latin typeface="Courier (W1)" pitchFamily="49" charset="0"/>
              </a:rPr>
              <a:t>R</a:t>
            </a:r>
            <a:r>
              <a:rPr lang="en-US" sz="2000" dirty="0"/>
              <a:t> was developed as a collaborative project from multiple contributors (CRAN)</a:t>
            </a:r>
          </a:p>
          <a:p>
            <a:pPr lvl="1">
              <a:lnSpc>
                <a:spcPct val="90000"/>
              </a:lnSpc>
            </a:pPr>
            <a:r>
              <a:rPr lang="en-US" sz="1900" dirty="0"/>
              <a:t>You can readily download and contribute “packages” to </a:t>
            </a:r>
            <a:r>
              <a:rPr lang="en-US" sz="2000" dirty="0">
                <a:latin typeface="Courier (W1)" pitchFamily="49" charset="0"/>
              </a:rPr>
              <a:t>R</a:t>
            </a:r>
            <a:endParaRPr lang="en-US" sz="19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latin typeface="Courier (W1)" pitchFamily="49" charset="0"/>
              </a:rPr>
              <a:t>R</a:t>
            </a:r>
            <a:r>
              <a:rPr lang="en-US" sz="2000" dirty="0"/>
              <a:t> software is available free, however there is no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BA32-506B-4BEB-B7F2-66354D57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dirty="0"/>
              <a:t>History of </a:t>
            </a:r>
            <a:r>
              <a:rPr lang="en-US" sz="4500" dirty="0">
                <a:latin typeface="Courier (W1)" pitchFamily="49" charset="0"/>
              </a:rPr>
              <a:t>R</a:t>
            </a:r>
            <a:endParaRPr lang="en-US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ED97A-0B56-493D-A60C-CEDDB4BD6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4411662"/>
          </a:xfrm>
        </p:spPr>
        <p:txBody>
          <a:bodyPr/>
          <a:lstStyle/>
          <a:p>
            <a:r>
              <a:rPr lang="en-US" sz="2200" dirty="0"/>
              <a:t>Early description of would soon become the </a:t>
            </a:r>
            <a:r>
              <a:rPr lang="en-US" sz="2400" dirty="0">
                <a:latin typeface="Courier (W1)" pitchFamily="49" charset="0"/>
              </a:rPr>
              <a:t>R</a:t>
            </a:r>
            <a:r>
              <a:rPr lang="en-US" sz="2200" dirty="0"/>
              <a:t> language</a:t>
            </a:r>
          </a:p>
          <a:p>
            <a:endParaRPr lang="en-US" sz="2200" dirty="0"/>
          </a:p>
          <a:p>
            <a:r>
              <a:rPr lang="en-US" sz="2200" dirty="0"/>
              <a:t>Idea of maintaining statistical libraries (mostly written in FORTRAN) that can be called</a:t>
            </a:r>
          </a:p>
          <a:p>
            <a:endParaRPr lang="en-US" sz="2200" dirty="0"/>
          </a:p>
          <a:p>
            <a:r>
              <a:rPr lang="en-US" sz="2200" dirty="0"/>
              <a:t>John Chambers description in 1976 when working at Bell Labs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88A49-F88E-46D2-8F53-93C29C5B7E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00" t="16487" r="14167" b="29256"/>
          <a:stretch/>
        </p:blipFill>
        <p:spPr>
          <a:xfrm>
            <a:off x="4800600" y="1719263"/>
            <a:ext cx="4043643" cy="49101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A8B60E-61B6-4E8D-A07F-2B194AE723BB}"/>
              </a:ext>
            </a:extLst>
          </p:cNvPr>
          <p:cNvSpPr/>
          <p:nvPr/>
        </p:nvSpPr>
        <p:spPr>
          <a:xfrm>
            <a:off x="465667" y="6629400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b="0" dirty="0"/>
              <a:t>https://www.infoq.com/presentations/r-framework-ai-apps</a:t>
            </a:r>
          </a:p>
        </p:txBody>
      </p:sp>
    </p:spTree>
    <p:extLst>
      <p:ext uri="{BB962C8B-B14F-4D97-AF65-F5344CB8AC3E}">
        <p14:creationId xmlns:p14="http://schemas.microsoft.com/office/powerpoint/2010/main" val="123073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syntax rules</a:t>
            </a:r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9101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700" dirty="0"/>
              <a:t>Procedures in </a:t>
            </a:r>
            <a:r>
              <a:rPr lang="en-US" sz="1800" dirty="0">
                <a:latin typeface="Courier (W1)" pitchFamily="49" charset="0"/>
              </a:rPr>
              <a:t>R</a:t>
            </a:r>
            <a:r>
              <a:rPr lang="en-US" sz="1700" dirty="0"/>
              <a:t> are implemented as functions</a:t>
            </a:r>
          </a:p>
          <a:p>
            <a:pPr lvl="1">
              <a:lnSpc>
                <a:spcPct val="80000"/>
              </a:lnSpc>
            </a:pPr>
            <a:r>
              <a:rPr lang="en-US" sz="1500" dirty="0">
                <a:latin typeface="Courier (W1)" pitchFamily="49" charset="0"/>
              </a:rPr>
              <a:t>“()”</a:t>
            </a:r>
            <a:r>
              <a:rPr lang="en-US" sz="1500" dirty="0"/>
              <a:t> syntax</a:t>
            </a:r>
          </a:p>
          <a:p>
            <a:pPr lvl="1">
              <a:lnSpc>
                <a:spcPct val="80000"/>
              </a:lnSpc>
            </a:pPr>
            <a:r>
              <a:rPr lang="en-US" sz="1500" dirty="0"/>
              <a:t>i.e. </a:t>
            </a:r>
            <a:r>
              <a:rPr lang="en-US" sz="1500" dirty="0">
                <a:latin typeface="Courier (W1)" pitchFamily="49" charset="0"/>
              </a:rPr>
              <a:t>c(4,5,6)</a:t>
            </a:r>
            <a:r>
              <a:rPr lang="en-US" sz="1500" dirty="0"/>
              <a:t> means to concatenate the three numbers into a vector</a:t>
            </a:r>
          </a:p>
          <a:p>
            <a:pPr>
              <a:lnSpc>
                <a:spcPct val="80000"/>
              </a:lnSpc>
            </a:pPr>
            <a:endParaRPr lang="en-US" sz="1700" dirty="0"/>
          </a:p>
          <a:p>
            <a:pPr>
              <a:lnSpc>
                <a:spcPct val="80000"/>
              </a:lnSpc>
            </a:pPr>
            <a:r>
              <a:rPr lang="en-US" sz="1800" dirty="0">
                <a:latin typeface="Courier (W1)" pitchFamily="49" charset="0"/>
              </a:rPr>
              <a:t>R</a:t>
            </a:r>
            <a:r>
              <a:rPr lang="en-US" sz="1700" dirty="0"/>
              <a:t> processes are best handled as objects</a:t>
            </a:r>
          </a:p>
          <a:p>
            <a:pPr lvl="1">
              <a:lnSpc>
                <a:spcPct val="80000"/>
              </a:lnSpc>
            </a:pPr>
            <a:r>
              <a:rPr lang="en-US" sz="1500" dirty="0"/>
              <a:t>If you run any function, assign it to a variable (object) so you can manipulate the attributes in the object</a:t>
            </a:r>
          </a:p>
          <a:p>
            <a:pPr>
              <a:lnSpc>
                <a:spcPct val="80000"/>
              </a:lnSpc>
            </a:pPr>
            <a:endParaRPr lang="en-US" sz="1700" dirty="0"/>
          </a:p>
          <a:p>
            <a:pPr>
              <a:lnSpc>
                <a:spcPct val="80000"/>
              </a:lnSpc>
            </a:pPr>
            <a:r>
              <a:rPr lang="en-US" sz="1700" dirty="0"/>
              <a:t>Numerical objects are interpreted best in formats of matrices, vectors, data frames, or lists</a:t>
            </a:r>
          </a:p>
          <a:p>
            <a:pPr lvl="1">
              <a:lnSpc>
                <a:spcPct val="80000"/>
              </a:lnSpc>
            </a:pPr>
            <a:r>
              <a:rPr lang="en-US" sz="1500" dirty="0"/>
              <a:t>Statistical language vs. computer language</a:t>
            </a:r>
          </a:p>
          <a:p>
            <a:pPr>
              <a:lnSpc>
                <a:spcPct val="80000"/>
              </a:lnSpc>
            </a:pPr>
            <a:endParaRPr lang="en-US" sz="1700" dirty="0"/>
          </a:p>
          <a:p>
            <a:pPr>
              <a:lnSpc>
                <a:spcPct val="80000"/>
              </a:lnSpc>
            </a:pPr>
            <a:r>
              <a:rPr lang="en-US" sz="1700" b="1" dirty="0">
                <a:solidFill>
                  <a:srgbClr val="FF5050"/>
                </a:solidFill>
              </a:rPr>
              <a:t>!To get help with any function in </a:t>
            </a:r>
            <a:r>
              <a:rPr lang="en-US" sz="1800" dirty="0">
                <a:latin typeface="Courier (W1)" pitchFamily="49" charset="0"/>
              </a:rPr>
              <a:t>R</a:t>
            </a:r>
            <a:r>
              <a:rPr lang="en-US" sz="1700" b="1" dirty="0">
                <a:solidFill>
                  <a:srgbClr val="FF5050"/>
                </a:solidFill>
              </a:rPr>
              <a:t>, use the help function!</a:t>
            </a:r>
          </a:p>
          <a:p>
            <a:pPr lvl="1">
              <a:lnSpc>
                <a:spcPct val="80000"/>
              </a:lnSpc>
            </a:pPr>
            <a:r>
              <a:rPr lang="en-US" sz="1500" b="1" dirty="0">
                <a:solidFill>
                  <a:srgbClr val="FF5050"/>
                </a:solidFill>
                <a:latin typeface="Courier (W1)" pitchFamily="49" charset="0"/>
              </a:rPr>
              <a:t>help(mean)</a:t>
            </a:r>
          </a:p>
          <a:p>
            <a:pPr lvl="1">
              <a:lnSpc>
                <a:spcPct val="80000"/>
              </a:lnSpc>
            </a:pPr>
            <a:r>
              <a:rPr lang="en-US" sz="1500" b="1" dirty="0">
                <a:solidFill>
                  <a:srgbClr val="FF5050"/>
                </a:solidFill>
                <a:latin typeface="Courier (W1)" pitchFamily="49" charset="0"/>
              </a:rPr>
              <a:t>?mean</a:t>
            </a:r>
          </a:p>
          <a:p>
            <a:pPr>
              <a:lnSpc>
                <a:spcPct val="80000"/>
              </a:lnSpc>
            </a:pPr>
            <a:endParaRPr lang="en-US" sz="1700" b="1" dirty="0">
              <a:solidFill>
                <a:srgbClr val="FF5050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1700" dirty="0"/>
              <a:t>To quit out of </a:t>
            </a:r>
            <a:r>
              <a:rPr lang="en-US" sz="1800" dirty="0">
                <a:latin typeface="Courier (W1)" pitchFamily="49" charset="0"/>
              </a:rPr>
              <a:t>R</a:t>
            </a:r>
            <a:r>
              <a:rPr lang="en-US" sz="1700" dirty="0"/>
              <a:t>, use the quit function</a:t>
            </a:r>
          </a:p>
          <a:p>
            <a:pPr lvl="1">
              <a:lnSpc>
                <a:spcPct val="80000"/>
              </a:lnSpc>
            </a:pPr>
            <a:r>
              <a:rPr lang="en-US" sz="1500" dirty="0">
                <a:latin typeface="Courier (W1)" pitchFamily="49" charset="0"/>
              </a:rPr>
              <a:t>q()</a:t>
            </a:r>
          </a:p>
          <a:p>
            <a:pPr>
              <a:lnSpc>
                <a:spcPct val="80000"/>
              </a:lnSpc>
            </a:pPr>
            <a:endParaRPr lang="en-US" sz="1700" dirty="0"/>
          </a:p>
          <a:p>
            <a:pPr>
              <a:lnSpc>
                <a:spcPct val="80000"/>
              </a:lnSpc>
            </a:pPr>
            <a:r>
              <a:rPr lang="en-US" sz="1700" dirty="0"/>
              <a:t>Variable assignment is </a:t>
            </a:r>
            <a:r>
              <a:rPr lang="en-US" sz="1700" dirty="0">
                <a:latin typeface="Courier (W1)" pitchFamily="49" charset="0"/>
              </a:rPr>
              <a:t>“=“</a:t>
            </a:r>
            <a:r>
              <a:rPr lang="en-US" sz="1700" dirty="0"/>
              <a:t> or </a:t>
            </a:r>
            <a:r>
              <a:rPr lang="en-US" sz="1700" dirty="0">
                <a:latin typeface="Courier (W1)" pitchFamily="49" charset="0"/>
              </a:rPr>
              <a:t>“&lt;-”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syntax rules (cont.)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19263"/>
            <a:ext cx="8229600" cy="51387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dirty="0"/>
              <a:t>Annotation syntax is </a:t>
            </a:r>
            <a:r>
              <a:rPr lang="en-US" sz="1400" dirty="0">
                <a:latin typeface="Courier (W1)" pitchFamily="49" charset="0"/>
              </a:rPr>
              <a:t>“#”</a:t>
            </a:r>
            <a:r>
              <a:rPr lang="en-US" sz="1400" dirty="0"/>
              <a:t> (</a:t>
            </a:r>
            <a:r>
              <a:rPr lang="en-US" sz="1400" dirty="0">
                <a:latin typeface="Courier (W1)" pitchFamily="49" charset="0"/>
              </a:rPr>
              <a:t>R</a:t>
            </a:r>
            <a:r>
              <a:rPr lang="en-US" sz="1400" dirty="0"/>
              <a:t> will not read comments that start with this symbol)</a:t>
            </a:r>
          </a:p>
          <a:p>
            <a:pPr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To view the objects in the database</a:t>
            </a:r>
          </a:p>
          <a:p>
            <a:pPr lvl="1">
              <a:lnSpc>
                <a:spcPct val="80000"/>
              </a:lnSpc>
            </a:pPr>
            <a:r>
              <a:rPr lang="en-US" sz="1400" dirty="0" err="1">
                <a:latin typeface="Courier (W1)" pitchFamily="49" charset="0"/>
              </a:rPr>
              <a:t>ls</a:t>
            </a:r>
            <a:r>
              <a:rPr lang="en-US" sz="1400" dirty="0">
                <a:latin typeface="Courier (W1)" pitchFamily="49" charset="0"/>
              </a:rPr>
              <a:t>()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Remove an object in the database</a:t>
            </a:r>
          </a:p>
          <a:p>
            <a:pPr lvl="1">
              <a:lnSpc>
                <a:spcPct val="80000"/>
              </a:lnSpc>
            </a:pPr>
            <a:r>
              <a:rPr lang="en-US" sz="1400" dirty="0" err="1">
                <a:latin typeface="Courier (W1)" pitchFamily="49" charset="0"/>
              </a:rPr>
              <a:t>rm</a:t>
            </a:r>
            <a:r>
              <a:rPr lang="en-US" sz="1400" dirty="0">
                <a:latin typeface="Courier (W1)" pitchFamily="49" charset="0"/>
              </a:rPr>
              <a:t>()</a:t>
            </a:r>
          </a:p>
          <a:p>
            <a:pPr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Concatenate/combine multiple numbers/objects together</a:t>
            </a:r>
          </a:p>
          <a:p>
            <a:pPr lvl="1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c()</a:t>
            </a:r>
          </a:p>
          <a:p>
            <a:pPr marL="344487" lvl="1" indent="0">
              <a:lnSpc>
                <a:spcPct val="80000"/>
              </a:lnSpc>
              <a:buNone/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400" dirty="0"/>
              <a:t>Calculate a mean and variance</a:t>
            </a:r>
          </a:p>
          <a:p>
            <a:pPr lvl="1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mean()</a:t>
            </a:r>
          </a:p>
          <a:p>
            <a:pPr lvl="1">
              <a:lnSpc>
                <a:spcPct val="80000"/>
              </a:lnSpc>
            </a:pPr>
            <a:r>
              <a:rPr lang="en-US" sz="1400" dirty="0" err="1">
                <a:latin typeface="Courier (W1)" pitchFamily="49" charset="0"/>
              </a:rPr>
              <a:t>var</a:t>
            </a:r>
            <a:r>
              <a:rPr lang="en-US" sz="1400" dirty="0">
                <a:latin typeface="Courier (W1)" pitchFamily="49" charset="0"/>
              </a:rPr>
              <a:t>()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600" dirty="0"/>
              <a:t>View current memory size and set memory limits</a:t>
            </a:r>
          </a:p>
          <a:p>
            <a:pPr lvl="1">
              <a:lnSpc>
                <a:spcPct val="80000"/>
              </a:lnSpc>
            </a:pPr>
            <a:r>
              <a:rPr lang="en-US" sz="1400" dirty="0" err="1">
                <a:latin typeface="Courier (W1)" pitchFamily="49" charset="0"/>
              </a:rPr>
              <a:t>memory.size</a:t>
            </a:r>
            <a:r>
              <a:rPr lang="en-US" sz="1400" dirty="0">
                <a:latin typeface="Courier (W1)" pitchFamily="49" charset="0"/>
              </a:rPr>
              <a:t>(T)</a:t>
            </a:r>
          </a:p>
          <a:p>
            <a:pPr lvl="1">
              <a:lnSpc>
                <a:spcPct val="80000"/>
              </a:lnSpc>
            </a:pPr>
            <a:r>
              <a:rPr lang="en-US" sz="1400" dirty="0" err="1">
                <a:latin typeface="Courier (W1)" pitchFamily="49" charset="0"/>
              </a:rPr>
              <a:t>memory.limit</a:t>
            </a:r>
            <a:r>
              <a:rPr lang="en-US" sz="1400" dirty="0">
                <a:latin typeface="Courier (W1)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calculations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719263"/>
            <a:ext cx="8305800" cy="5138737"/>
          </a:xfrm>
          <a:noFill/>
          <a:ln/>
        </p:spPr>
        <p:txBody>
          <a:bodyPr/>
          <a:lstStyle/>
          <a:p>
            <a:r>
              <a:rPr lang="en-US" dirty="0"/>
              <a:t>General math operators</a:t>
            </a:r>
          </a:p>
          <a:p>
            <a:pPr lvl="1"/>
            <a:r>
              <a:rPr lang="en-US" dirty="0">
                <a:latin typeface="Courier (W1)" pitchFamily="49" charset="0"/>
              </a:rPr>
              <a:t>&gt; 5 + 5</a:t>
            </a:r>
          </a:p>
          <a:p>
            <a:pPr lvl="1"/>
            <a:r>
              <a:rPr lang="en-US" dirty="0">
                <a:latin typeface="Courier (W1)" pitchFamily="49" charset="0"/>
              </a:rPr>
              <a:t>&gt; 10 – 2</a:t>
            </a:r>
          </a:p>
          <a:p>
            <a:pPr lvl="1"/>
            <a:r>
              <a:rPr lang="en-US" dirty="0">
                <a:latin typeface="Courier (W1)" pitchFamily="49" charset="0"/>
              </a:rPr>
              <a:t>&gt; 10 * 10</a:t>
            </a:r>
          </a:p>
          <a:p>
            <a:pPr lvl="1"/>
            <a:r>
              <a:rPr lang="en-US" dirty="0">
                <a:latin typeface="Courier (W1)" pitchFamily="49" charset="0"/>
              </a:rPr>
              <a:t>&gt; 25 / 5</a:t>
            </a:r>
          </a:p>
          <a:p>
            <a:pPr lvl="1"/>
            <a:r>
              <a:rPr lang="en-US" dirty="0">
                <a:latin typeface="Courier (W1)" pitchFamily="49" charset="0"/>
              </a:rPr>
              <a:t>&gt; 3 ^ 2</a:t>
            </a:r>
          </a:p>
          <a:p>
            <a:pPr lvl="1"/>
            <a:r>
              <a:rPr lang="en-US" dirty="0">
                <a:latin typeface="Courier (W1)" pitchFamily="49" charset="0"/>
              </a:rPr>
              <a:t>&gt; </a:t>
            </a:r>
            <a:r>
              <a:rPr lang="en-US" dirty="0" err="1">
                <a:latin typeface="Courier (W1)" pitchFamily="49" charset="0"/>
              </a:rPr>
              <a:t>exp</a:t>
            </a:r>
            <a:r>
              <a:rPr lang="en-US" dirty="0">
                <a:latin typeface="Courier (W1)" pitchFamily="49" charset="0"/>
              </a:rPr>
              <a:t>(2)</a:t>
            </a:r>
          </a:p>
          <a:p>
            <a:pPr lvl="1"/>
            <a:r>
              <a:rPr lang="en-US" dirty="0">
                <a:latin typeface="Courier (W1)" pitchFamily="49" charset="0"/>
              </a:rPr>
              <a:t>&gt; log(10)	</a:t>
            </a:r>
          </a:p>
          <a:p>
            <a:pPr lvl="1"/>
            <a:r>
              <a:rPr lang="en-US" dirty="0">
                <a:latin typeface="Courier (W1)" pitchFamily="49" charset="0"/>
              </a:rPr>
              <a:t>&gt; </a:t>
            </a:r>
            <a:r>
              <a:rPr lang="en-US" dirty="0" err="1">
                <a:latin typeface="Courier (W1)" pitchFamily="49" charset="0"/>
              </a:rPr>
              <a:t>logb</a:t>
            </a:r>
            <a:r>
              <a:rPr lang="en-US" dirty="0">
                <a:latin typeface="Courier (W1)" pitchFamily="49" charset="0"/>
              </a:rPr>
              <a:t>(10,2) 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r>
              <a:rPr lang="en-US" sz="3500" dirty="0"/>
              <a:t>Mathematical functions on vectors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719263"/>
            <a:ext cx="8305800" cy="5138737"/>
          </a:xfrm>
          <a:noFill/>
          <a:ln/>
        </p:spPr>
        <p:txBody>
          <a:bodyPr/>
          <a:lstStyle/>
          <a:p>
            <a:r>
              <a:rPr lang="en-US" sz="2500" dirty="0">
                <a:latin typeface="Courier (W1)" pitchFamily="49" charset="0"/>
              </a:rPr>
              <a:t>&gt; mean(c(2,5,7))</a:t>
            </a:r>
          </a:p>
          <a:p>
            <a:r>
              <a:rPr lang="en-US" sz="2500" dirty="0">
                <a:latin typeface="Courier (W1)" pitchFamily="49" charset="0"/>
              </a:rPr>
              <a:t>&gt; median(c(2,5,7))</a:t>
            </a:r>
          </a:p>
          <a:p>
            <a:r>
              <a:rPr lang="en-US" sz="2500" dirty="0">
                <a:latin typeface="Courier (W1)" pitchFamily="49" charset="0"/>
              </a:rPr>
              <a:t>&gt; </a:t>
            </a:r>
            <a:r>
              <a:rPr lang="en-US" sz="2500" dirty="0" err="1">
                <a:latin typeface="Courier (W1)" pitchFamily="49" charset="0"/>
              </a:rPr>
              <a:t>quantile</a:t>
            </a:r>
            <a:r>
              <a:rPr lang="en-US" sz="2500" dirty="0">
                <a:latin typeface="Courier (W1)" pitchFamily="49" charset="0"/>
              </a:rPr>
              <a:t>(c(3,5,6,8,9),</a:t>
            </a:r>
            <a:r>
              <a:rPr lang="en-US" sz="2500" dirty="0" err="1">
                <a:latin typeface="Courier (W1)" pitchFamily="49" charset="0"/>
              </a:rPr>
              <a:t>probs</a:t>
            </a:r>
            <a:r>
              <a:rPr lang="en-US" sz="2500" dirty="0">
                <a:latin typeface="Courier (W1)" pitchFamily="49" charset="0"/>
              </a:rPr>
              <a:t>=0.25)</a:t>
            </a:r>
          </a:p>
          <a:p>
            <a:r>
              <a:rPr lang="en-US" sz="2500" dirty="0">
                <a:latin typeface="Courier (W1)" pitchFamily="49" charset="0"/>
              </a:rPr>
              <a:t>&gt; summary(c(3,5,6,8,9))</a:t>
            </a:r>
          </a:p>
          <a:p>
            <a:r>
              <a:rPr lang="en-US" sz="2500" dirty="0">
                <a:latin typeface="Courier (W1)" pitchFamily="49" charset="0"/>
              </a:rPr>
              <a:t>&gt; max(c(3,5,6,7,8))</a:t>
            </a:r>
          </a:p>
          <a:p>
            <a:r>
              <a:rPr lang="en-US" sz="2500" dirty="0">
                <a:latin typeface="Courier (W1)" pitchFamily="49" charset="0"/>
              </a:rPr>
              <a:t>&gt; min(c(3,5,6,7,8))</a:t>
            </a:r>
          </a:p>
          <a:p>
            <a:r>
              <a:rPr lang="en-US" sz="2500" dirty="0">
                <a:latin typeface="Courier (W1)" pitchFamily="49" charset="0"/>
              </a:rPr>
              <a:t>&gt; scale(c(3,5,6,7,8))</a:t>
            </a:r>
          </a:p>
          <a:p>
            <a:r>
              <a:rPr lang="en-US" sz="2500" dirty="0">
                <a:latin typeface="Courier (W1)" pitchFamily="49" charset="0"/>
              </a:rPr>
              <a:t>&gt; sum(c(3,5,6,7,8))</a:t>
            </a:r>
          </a:p>
        </p:txBody>
      </p:sp>
    </p:spTree>
    <p:extLst>
      <p:ext uri="{BB962C8B-B14F-4D97-AF65-F5344CB8AC3E}">
        <p14:creationId xmlns:p14="http://schemas.microsoft.com/office/powerpoint/2010/main" val="306059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600" dirty="0"/>
              <a:t>Vector syntax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Create a vector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latin typeface="Courier (W1)" pitchFamily="49" charset="0"/>
              </a:rPr>
              <a:t>&gt; x &lt;- c(2,4,6,3,4,6)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latin typeface="Courier (W1)" pitchFamily="49" charset="0"/>
              </a:rPr>
              <a:t>&gt; y &lt;- c(5,6,7,8,8,0)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Specify certain elements of the vector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latin typeface="Courier (W1)" pitchFamily="49" charset="0"/>
              </a:rPr>
              <a:t>&gt; x[1:3]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latin typeface="Courier (W1)" pitchFamily="49" charset="0"/>
              </a:rPr>
              <a:t>	[1]   2  4  6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Remove an element from the vector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latin typeface="Courier (W1)" pitchFamily="49" charset="0"/>
              </a:rPr>
              <a:t>&gt; x[-2]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latin typeface="Courier (W1)" pitchFamily="49" charset="0"/>
              </a:rPr>
              <a:t>	[1]   2  6  3  4  6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Bind 2 vectors together (must be same length)</a:t>
            </a:r>
          </a:p>
          <a:p>
            <a:pPr lvl="2">
              <a:lnSpc>
                <a:spcPct val="90000"/>
              </a:lnSpc>
            </a:pPr>
            <a:r>
              <a:rPr lang="en-US" sz="1800" dirty="0">
                <a:latin typeface="Courier (W1)" pitchFamily="49" charset="0"/>
              </a:rPr>
              <a:t>&gt; </a:t>
            </a:r>
            <a:r>
              <a:rPr lang="en-US" sz="1800" dirty="0" err="1">
                <a:latin typeface="Courier (W1)" pitchFamily="49" charset="0"/>
              </a:rPr>
              <a:t>x.y.bound</a:t>
            </a:r>
            <a:r>
              <a:rPr lang="en-US" sz="1800" dirty="0">
                <a:latin typeface="Courier (W1)" pitchFamily="49" charset="0"/>
              </a:rPr>
              <a:t> &lt;- </a:t>
            </a:r>
            <a:r>
              <a:rPr lang="en-US" sz="1800" dirty="0" err="1">
                <a:latin typeface="Courier (W1)" pitchFamily="49" charset="0"/>
              </a:rPr>
              <a:t>cbind</a:t>
            </a:r>
            <a:r>
              <a:rPr lang="en-US" sz="1800" dirty="0">
                <a:latin typeface="Courier (W1)" pitchFamily="49" charset="0"/>
              </a:rPr>
              <a:t>(</a:t>
            </a:r>
            <a:r>
              <a:rPr lang="en-US" sz="1800" dirty="0" err="1">
                <a:latin typeface="Courier (W1)" pitchFamily="49" charset="0"/>
              </a:rPr>
              <a:t>x,y</a:t>
            </a:r>
            <a:r>
              <a:rPr lang="en-US" sz="1800" dirty="0">
                <a:latin typeface="Courier (W1)" pitchFamily="49" charset="0"/>
              </a:rPr>
              <a:t>)	# </a:t>
            </a:r>
            <a:r>
              <a:rPr lang="en-US" sz="1800" dirty="0" err="1">
                <a:latin typeface="Courier (W1)" pitchFamily="49" charset="0"/>
              </a:rPr>
              <a:t>cbind</a:t>
            </a:r>
            <a:r>
              <a:rPr lang="en-US" sz="1800" dirty="0">
                <a:latin typeface="Courier (W1)" pitchFamily="49" charset="0"/>
              </a:rPr>
              <a:t> means column bind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2100" dirty="0"/>
              <a:t>	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Misc. vector operations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600" dirty="0"/>
              <a:t>Intersect elements of 2 vectors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intersect(</a:t>
            </a:r>
            <a:r>
              <a:rPr lang="en-US" sz="2000" dirty="0" err="1">
                <a:latin typeface="Courier (W1)" pitchFamily="49" charset="0"/>
              </a:rPr>
              <a:t>x,y</a:t>
            </a:r>
            <a:r>
              <a:rPr lang="en-US" sz="2000" dirty="0">
                <a:latin typeface="Courier (W1)" pitchFamily="49" charset="0"/>
              </a:rPr>
              <a:t>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>
                <a:latin typeface="Courier (W1)" pitchFamily="49" charset="0"/>
              </a:rPr>
              <a:t>	[1]  6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Diff 2 vectors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</a:t>
            </a:r>
            <a:r>
              <a:rPr lang="en-US" sz="2000" dirty="0" err="1">
                <a:latin typeface="Courier (W1)" pitchFamily="49" charset="0"/>
              </a:rPr>
              <a:t>setdiff</a:t>
            </a:r>
            <a:r>
              <a:rPr lang="en-US" sz="2000" dirty="0">
                <a:latin typeface="Courier (W1)" pitchFamily="49" charset="0"/>
              </a:rPr>
              <a:t>(</a:t>
            </a:r>
            <a:r>
              <a:rPr lang="en-US" sz="2000" dirty="0" err="1">
                <a:latin typeface="Courier (W1)" pitchFamily="49" charset="0"/>
              </a:rPr>
              <a:t>x,y</a:t>
            </a:r>
            <a:r>
              <a:rPr lang="en-US" sz="2000" dirty="0">
                <a:latin typeface="Courier (W1)" pitchFamily="49" charset="0"/>
              </a:rPr>
              <a:t>)# what is in x that is not in y?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(W1)" pitchFamily="49" charset="0"/>
              </a:rPr>
              <a:t>	[1]  2  4  3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Find length of x vector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length(x)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(W1)" pitchFamily="49" charset="0"/>
              </a:rPr>
              <a:t>	[1]  6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200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200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2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700" dirty="0"/>
              <a:t>	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19263"/>
            <a:ext cx="8305800" cy="51387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dirty="0"/>
              <a:t>Matrix syntax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Create a matrix</a:t>
            </a:r>
          </a:p>
          <a:p>
            <a:pPr lvl="2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&gt; </a:t>
            </a:r>
            <a:r>
              <a:rPr lang="en-US" sz="1400" dirty="0" err="1">
                <a:latin typeface="Courier (W1)" pitchFamily="49" charset="0"/>
              </a:rPr>
              <a:t>x.matrix</a:t>
            </a:r>
            <a:r>
              <a:rPr lang="en-US" sz="1400" dirty="0">
                <a:latin typeface="Courier (W1)" pitchFamily="49" charset="0"/>
              </a:rPr>
              <a:t> &lt;- matrix(data=</a:t>
            </a:r>
            <a:r>
              <a:rPr lang="en-US" sz="1400" dirty="0" err="1">
                <a:latin typeface="Courier (W1)" pitchFamily="49" charset="0"/>
              </a:rPr>
              <a:t>x,nrow</a:t>
            </a:r>
            <a:r>
              <a:rPr lang="en-US" sz="1400" dirty="0">
                <a:latin typeface="Courier (W1)" pitchFamily="49" charset="0"/>
              </a:rPr>
              <a:t>=3,ncol=2)</a:t>
            </a:r>
          </a:p>
          <a:p>
            <a:pPr lvl="2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&gt; </a:t>
            </a:r>
            <a:r>
              <a:rPr lang="en-US" sz="1400" dirty="0" err="1">
                <a:latin typeface="Courier (W1)" pitchFamily="49" charset="0"/>
              </a:rPr>
              <a:t>x.matrix</a:t>
            </a:r>
            <a:endParaRPr lang="en-US" sz="1400" dirty="0">
              <a:latin typeface="Courier (W1)" pitchFamily="49" charset="0"/>
            </a:endParaRP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      [,1] [,2]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[1,]    2    3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[2,]    4    4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[3,]    6    6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Look at matrix dimensions</a:t>
            </a:r>
          </a:p>
          <a:p>
            <a:pPr lvl="2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&gt; dim(</a:t>
            </a:r>
            <a:r>
              <a:rPr lang="en-US" sz="1400" dirty="0" err="1">
                <a:latin typeface="Courier (W1)" pitchFamily="49" charset="0"/>
              </a:rPr>
              <a:t>x.matrix</a:t>
            </a:r>
            <a:r>
              <a:rPr lang="en-US" sz="1400" dirty="0">
                <a:latin typeface="Courier (W1)" pitchFamily="49" charset="0"/>
              </a:rPr>
              <a:t>)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[1]   3  2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Specify elements in the matrix</a:t>
            </a:r>
          </a:p>
          <a:p>
            <a:pPr lvl="2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&gt; </a:t>
            </a:r>
            <a:r>
              <a:rPr lang="en-US" sz="1400" dirty="0" err="1">
                <a:latin typeface="Courier (W1)" pitchFamily="49" charset="0"/>
              </a:rPr>
              <a:t>x.matrix</a:t>
            </a:r>
            <a:r>
              <a:rPr lang="en-US" sz="1400" dirty="0">
                <a:latin typeface="Courier (W1)" pitchFamily="49" charset="0"/>
              </a:rPr>
              <a:t>[1:2,2]    		# rows 1 and 2 of column 2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[1]   3  4</a:t>
            </a:r>
          </a:p>
          <a:p>
            <a:pPr lvl="2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&gt; </a:t>
            </a:r>
            <a:r>
              <a:rPr lang="en-US" sz="1400" dirty="0" err="1">
                <a:latin typeface="Courier (W1)" pitchFamily="49" charset="0"/>
              </a:rPr>
              <a:t>x.matrix</a:t>
            </a:r>
            <a:r>
              <a:rPr lang="en-US" sz="1400" dirty="0">
                <a:latin typeface="Courier (W1)" pitchFamily="49" charset="0"/>
              </a:rPr>
              <a:t>[1,]    		# rows 1, all columns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[1]   2  3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Transpose the matrix</a:t>
            </a:r>
          </a:p>
          <a:p>
            <a:pPr lvl="2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&gt; x.matrix.t &lt;- t(</a:t>
            </a:r>
            <a:r>
              <a:rPr lang="en-US" sz="1400" dirty="0" err="1">
                <a:latin typeface="Courier (W1)" pitchFamily="49" charset="0"/>
              </a:rPr>
              <a:t>x.matrix</a:t>
            </a:r>
            <a:r>
              <a:rPr lang="en-US" sz="1400" dirty="0">
                <a:latin typeface="Courier (W1)" pitchFamily="49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en-US" sz="1400" dirty="0">
                <a:latin typeface="Courier (W1)" pitchFamily="49" charset="0"/>
              </a:rPr>
              <a:t>&gt; x.matrix.t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       [,1] [,2] [,3]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[1,]    2    4    6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[2,]    3    4   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frames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19263"/>
            <a:ext cx="8153400" cy="49101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900" dirty="0"/>
              <a:t>Similar syntax to matrices, but have row and column names</a:t>
            </a:r>
          </a:p>
          <a:p>
            <a:pPr lvl="1">
              <a:lnSpc>
                <a:spcPct val="80000"/>
              </a:lnSpc>
            </a:pPr>
            <a:r>
              <a:rPr lang="en-US" sz="1700" dirty="0"/>
              <a:t>Create a data frame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x.df</a:t>
            </a:r>
            <a:r>
              <a:rPr lang="en-US" sz="1600" dirty="0">
                <a:latin typeface="Courier (W1)" pitchFamily="49" charset="0"/>
              </a:rPr>
              <a:t> &lt;- </a:t>
            </a:r>
            <a:r>
              <a:rPr lang="en-US" sz="1600" dirty="0" err="1">
                <a:latin typeface="Courier (W1)" pitchFamily="49" charset="0"/>
              </a:rPr>
              <a:t>data.frame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x,y</a:t>
            </a:r>
            <a:r>
              <a:rPr lang="en-US" sz="1600" dirty="0">
                <a:latin typeface="Courier (W1)" pitchFamily="49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x.df</a:t>
            </a:r>
            <a:endParaRPr lang="en-US" sz="1600" dirty="0">
              <a:latin typeface="Courier (W1)" pitchFamily="49" charset="0"/>
            </a:endParaRP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s-ES" sz="1600" dirty="0">
                <a:latin typeface="Courier (W1)" pitchFamily="49" charset="0"/>
              </a:rPr>
              <a:t>	   x y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s-ES" sz="1600" dirty="0">
                <a:latin typeface="Courier (W1)" pitchFamily="49" charset="0"/>
              </a:rPr>
              <a:t>	1 2 5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s-ES" sz="1600" dirty="0">
                <a:latin typeface="Courier (W1)" pitchFamily="49" charset="0"/>
              </a:rPr>
              <a:t>	2 4 6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s-ES" sz="1600" dirty="0">
                <a:latin typeface="Courier (W1)" pitchFamily="49" charset="0"/>
              </a:rPr>
              <a:t>	3 6 7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s-ES" sz="1600" dirty="0">
                <a:latin typeface="Courier (W1)" pitchFamily="49" charset="0"/>
              </a:rPr>
              <a:t>	4 3 8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s-ES" sz="1600" dirty="0">
                <a:latin typeface="Courier (W1)" pitchFamily="49" charset="0"/>
              </a:rPr>
              <a:t>	5 4 8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s-ES" sz="1600" dirty="0">
                <a:latin typeface="Courier (W1)" pitchFamily="49" charset="0"/>
              </a:rPr>
              <a:t>	6 6 0	# has </a:t>
            </a:r>
            <a:r>
              <a:rPr lang="es-ES" sz="1600" dirty="0" err="1">
                <a:latin typeface="Courier (W1)" pitchFamily="49" charset="0"/>
              </a:rPr>
              <a:t>row</a:t>
            </a:r>
            <a:r>
              <a:rPr lang="es-ES" sz="1600" dirty="0">
                <a:latin typeface="Courier (W1)" pitchFamily="49" charset="0"/>
              </a:rPr>
              <a:t> </a:t>
            </a:r>
            <a:r>
              <a:rPr lang="es-ES" sz="1600" dirty="0" err="1">
                <a:latin typeface="Courier (W1)" pitchFamily="49" charset="0"/>
              </a:rPr>
              <a:t>names</a:t>
            </a:r>
            <a:r>
              <a:rPr lang="es-ES" sz="1600" dirty="0">
                <a:latin typeface="Courier (W1)" pitchFamily="49" charset="0"/>
              </a:rPr>
              <a:t> (1-6) and </a:t>
            </a:r>
            <a:r>
              <a:rPr lang="es-ES" sz="1600" dirty="0" err="1">
                <a:latin typeface="Courier (W1)" pitchFamily="49" charset="0"/>
              </a:rPr>
              <a:t>column</a:t>
            </a:r>
            <a:r>
              <a:rPr lang="es-ES" sz="1600" dirty="0">
                <a:latin typeface="Courier (W1)" pitchFamily="49" charset="0"/>
              </a:rPr>
              <a:t> </a:t>
            </a:r>
            <a:r>
              <a:rPr lang="es-ES" sz="1600" dirty="0" err="1">
                <a:latin typeface="Courier (W1)" pitchFamily="49" charset="0"/>
              </a:rPr>
              <a:t>names</a:t>
            </a:r>
            <a:r>
              <a:rPr lang="es-ES" sz="1600" dirty="0">
                <a:latin typeface="Courier (W1)" pitchFamily="49" charset="0"/>
              </a:rPr>
              <a:t> (x and y)</a:t>
            </a:r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 lvl="1">
              <a:lnSpc>
                <a:spcPct val="80000"/>
              </a:lnSpc>
            </a:pPr>
            <a:r>
              <a:rPr lang="en-US" sz="1700" dirty="0"/>
              <a:t>Look at row names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dimnames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x.df</a:t>
            </a:r>
            <a:r>
              <a:rPr lang="en-US" sz="1600" dirty="0">
                <a:latin typeface="Courier (W1)" pitchFamily="49" charset="0"/>
              </a:rPr>
              <a:t>)[[1]]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(W1)" pitchFamily="49" charset="0"/>
              </a:rPr>
              <a:t>	[1] "1" "2" "3" "4" "5" "6“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(W1)" pitchFamily="49" charset="0"/>
              </a:rPr>
              <a:t>OR </a:t>
            </a:r>
            <a:r>
              <a:rPr lang="en-US" sz="1600" dirty="0" err="1">
                <a:latin typeface="Courier (W1)" pitchFamily="49" charset="0"/>
              </a:rPr>
              <a:t>rownames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x.df</a:t>
            </a:r>
            <a:r>
              <a:rPr lang="en-US" sz="1600" dirty="0">
                <a:latin typeface="Courier (W1)" pitchFamily="49" charset="0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en-US" sz="1700" dirty="0"/>
              <a:t>Look at column names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dimnames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x.df</a:t>
            </a:r>
            <a:r>
              <a:rPr lang="en-US" sz="1600" dirty="0">
                <a:latin typeface="Courier (W1)" pitchFamily="49" charset="0"/>
              </a:rPr>
              <a:t>)[[2]]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(W1)" pitchFamily="49" charset="0"/>
              </a:rPr>
              <a:t>	[1] “x” “y”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(W1)" pitchFamily="49" charset="0"/>
              </a:rPr>
              <a:t>OR </a:t>
            </a:r>
            <a:r>
              <a:rPr lang="en-US" sz="1600" dirty="0" err="1">
                <a:latin typeface="Courier (W1)" pitchFamily="49" charset="0"/>
              </a:rPr>
              <a:t>colnames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x.df</a:t>
            </a:r>
            <a:r>
              <a:rPr lang="en-US" sz="1600" dirty="0">
                <a:latin typeface="Courier (W1)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Operators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Courier (W1)" pitchFamily="49" charset="0"/>
              </a:rPr>
              <a:t>R</a:t>
            </a:r>
            <a:r>
              <a:rPr lang="en-US" sz="2600" dirty="0"/>
              <a:t> works very well with </a:t>
            </a:r>
            <a:r>
              <a:rPr lang="en-US" sz="2600" dirty="0" err="1"/>
              <a:t>boolean</a:t>
            </a:r>
            <a:r>
              <a:rPr lang="en-US" sz="2600" dirty="0"/>
              <a:t> logic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Look for values greater than 4 in </a:t>
            </a:r>
            <a:r>
              <a:rPr lang="en-US" sz="2200" dirty="0" err="1"/>
              <a:t>x.matrix</a:t>
            </a:r>
            <a:endParaRPr lang="en-US" sz="2200" dirty="0"/>
          </a:p>
          <a:p>
            <a:pPr lvl="2">
              <a:lnSpc>
                <a:spcPct val="90000"/>
              </a:lnSpc>
            </a:pPr>
            <a:r>
              <a:rPr lang="en-US" sz="2100" dirty="0">
                <a:latin typeface="Courier (W1)" pitchFamily="49" charset="0"/>
              </a:rPr>
              <a:t>&gt; x.matrix.g4 &lt;- </a:t>
            </a:r>
            <a:r>
              <a:rPr lang="en-US" sz="2100" dirty="0" err="1">
                <a:latin typeface="Courier (W1)" pitchFamily="49" charset="0"/>
              </a:rPr>
              <a:t>x.matrix</a:t>
            </a:r>
            <a:r>
              <a:rPr lang="en-US" sz="2100" dirty="0">
                <a:latin typeface="Courier (W1)" pitchFamily="49" charset="0"/>
              </a:rPr>
              <a:t>&gt;4</a:t>
            </a:r>
          </a:p>
          <a:p>
            <a:pPr lvl="2">
              <a:lnSpc>
                <a:spcPct val="90000"/>
              </a:lnSpc>
            </a:pPr>
            <a:r>
              <a:rPr lang="en-US" sz="2100" dirty="0">
                <a:latin typeface="Courier (W1)" pitchFamily="49" charset="0"/>
              </a:rPr>
              <a:t>&gt; x.matrix.g4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2100" dirty="0">
                <a:latin typeface="Courier (W1)" pitchFamily="49" charset="0"/>
              </a:rPr>
              <a:t>		[,1]  [,2]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2100" dirty="0">
                <a:latin typeface="Courier (W1)" pitchFamily="49" charset="0"/>
              </a:rPr>
              <a:t>	[1,] FALSE FALSE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2100" dirty="0">
                <a:latin typeface="Courier (W1)" pitchFamily="49" charset="0"/>
              </a:rPr>
              <a:t>	[2,] FALSE FALSE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2100" dirty="0">
                <a:latin typeface="Courier (W1)" pitchFamily="49" charset="0"/>
              </a:rPr>
              <a:t>	[3,]  TRUE  TRUE</a:t>
            </a:r>
          </a:p>
          <a:p>
            <a:pPr lvl="1">
              <a:lnSpc>
                <a:spcPct val="90000"/>
              </a:lnSpc>
            </a:pP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Print only those values out</a:t>
            </a:r>
          </a:p>
          <a:p>
            <a:pPr lvl="2">
              <a:lnSpc>
                <a:spcPct val="90000"/>
              </a:lnSpc>
            </a:pPr>
            <a:r>
              <a:rPr lang="en-US" sz="2100" dirty="0">
                <a:latin typeface="Courier (W1)" pitchFamily="49" charset="0"/>
              </a:rPr>
              <a:t>&gt; </a:t>
            </a:r>
            <a:r>
              <a:rPr lang="en-US" sz="2100" dirty="0" err="1">
                <a:latin typeface="Courier (W1)" pitchFamily="49" charset="0"/>
              </a:rPr>
              <a:t>x.matrix</a:t>
            </a:r>
            <a:r>
              <a:rPr lang="en-US" sz="2100" dirty="0">
                <a:latin typeface="Courier (W1)" pitchFamily="49" charset="0"/>
              </a:rPr>
              <a:t>[x.matrix.g4]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2100" dirty="0">
                <a:latin typeface="Courier (W1)" pitchFamily="49" charset="0"/>
              </a:rPr>
              <a:t>	[1]   6  6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Casting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98633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900" dirty="0"/>
              <a:t>Casting is basically changing the data-type from one type to another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i.e. data is in matrix format and you wish to convert it to a vector: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use the </a:t>
            </a:r>
            <a:r>
              <a:rPr lang="en-US" sz="1800" dirty="0">
                <a:latin typeface="Courier (W1)" pitchFamily="49" charset="0"/>
              </a:rPr>
              <a:t>as. </a:t>
            </a:r>
            <a:r>
              <a:rPr lang="en-US" sz="1800" dirty="0"/>
              <a:t>syntax followed by the desired data-type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x.vector</a:t>
            </a:r>
            <a:r>
              <a:rPr lang="en-US" sz="1600" dirty="0">
                <a:latin typeface="Courier (W1)" pitchFamily="49" charset="0"/>
              </a:rPr>
              <a:t> &lt;- </a:t>
            </a:r>
            <a:r>
              <a:rPr lang="en-US" sz="1600" dirty="0" err="1">
                <a:latin typeface="Courier (W1)" pitchFamily="49" charset="0"/>
              </a:rPr>
              <a:t>as.vector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x.matrix</a:t>
            </a:r>
            <a:r>
              <a:rPr lang="en-US" sz="1600" dirty="0">
                <a:latin typeface="Courier (W1)" pitchFamily="49" charset="0"/>
              </a:rPr>
              <a:t>)	# change to vector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x.vector</a:t>
            </a:r>
            <a:endParaRPr lang="en-US" sz="1600" dirty="0">
              <a:latin typeface="Courier (W1)" pitchFamily="49" charset="0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1800" dirty="0">
                <a:latin typeface="Courier (W1)" pitchFamily="49" charset="0"/>
              </a:rPr>
              <a:t>	</a:t>
            </a:r>
            <a:r>
              <a:rPr lang="da-DK" sz="1600" dirty="0">
                <a:latin typeface="Courier (W1)" pitchFamily="49" charset="0"/>
              </a:rPr>
              <a:t>[1] 2 4 6 3 4 6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x.df</a:t>
            </a:r>
            <a:r>
              <a:rPr lang="en-US" sz="1600" dirty="0">
                <a:latin typeface="Courier (W1)" pitchFamily="49" charset="0"/>
              </a:rPr>
              <a:t> &lt;- </a:t>
            </a:r>
            <a:r>
              <a:rPr lang="en-US" sz="1600" dirty="0" err="1">
                <a:latin typeface="Courier (W1)" pitchFamily="49" charset="0"/>
              </a:rPr>
              <a:t>as.data.frame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x.matrix</a:t>
            </a:r>
            <a:r>
              <a:rPr lang="en-US" sz="1600" dirty="0">
                <a:latin typeface="Courier (W1)" pitchFamily="49" charset="0"/>
              </a:rPr>
              <a:t>)      # change to </a:t>
            </a:r>
            <a:r>
              <a:rPr lang="en-US" sz="1600" dirty="0" err="1">
                <a:latin typeface="Courier (W1)" pitchFamily="49" charset="0"/>
              </a:rPr>
              <a:t>dataframe</a:t>
            </a:r>
            <a:endParaRPr lang="en-US" sz="1600" dirty="0">
              <a:latin typeface="Courier (W1)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x.df</a:t>
            </a:r>
            <a:endParaRPr lang="en-US" sz="1600" dirty="0">
              <a:latin typeface="Courier (W1)" pitchFamily="49" charset="0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1800" dirty="0">
                <a:latin typeface="Courier (W1)" pitchFamily="49" charset="0"/>
              </a:rPr>
              <a:t>	    </a:t>
            </a:r>
            <a:r>
              <a:rPr lang="da-DK" sz="1600" dirty="0">
                <a:latin typeface="Courier (W1)" pitchFamily="49" charset="0"/>
              </a:rPr>
              <a:t>V1 V2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1600" dirty="0">
                <a:latin typeface="Courier (W1)" pitchFamily="49" charset="0"/>
              </a:rPr>
              <a:t>	1    2  3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1600" dirty="0">
                <a:latin typeface="Courier (W1)" pitchFamily="49" charset="0"/>
              </a:rPr>
              <a:t>	2    4  4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1600" dirty="0">
                <a:latin typeface="Courier (W1)" pitchFamily="49" charset="0"/>
              </a:rPr>
              <a:t>	3    6  6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x.char</a:t>
            </a:r>
            <a:r>
              <a:rPr lang="en-US" sz="1600" dirty="0">
                <a:latin typeface="Courier (W1)" pitchFamily="49" charset="0"/>
              </a:rPr>
              <a:t> &lt;- </a:t>
            </a:r>
            <a:r>
              <a:rPr lang="en-US" sz="1600" dirty="0" err="1">
                <a:latin typeface="Courier (W1)" pitchFamily="49" charset="0"/>
              </a:rPr>
              <a:t>as.character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x.vector</a:t>
            </a:r>
            <a:r>
              <a:rPr lang="en-US" sz="1600" dirty="0">
                <a:latin typeface="Courier (W1)" pitchFamily="49" charset="0"/>
              </a:rPr>
              <a:t>)	# change to character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x.char</a:t>
            </a:r>
            <a:r>
              <a:rPr lang="en-US" sz="1600" dirty="0">
                <a:latin typeface="Courier (W1)" pitchFamily="49" charset="0"/>
              </a:rPr>
              <a:t> 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da-DK" sz="1800" dirty="0">
                <a:latin typeface="Courier (W1)" pitchFamily="49" charset="0"/>
              </a:rPr>
              <a:t>	</a:t>
            </a:r>
            <a:r>
              <a:rPr lang="da-DK" sz="1600" dirty="0">
                <a:latin typeface="Courier (W1)" pitchFamily="49" charset="0"/>
              </a:rPr>
              <a:t>[1] "2" "4" "6" "3" "4" "6"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Can also check type of data object with </a:t>
            </a:r>
            <a:r>
              <a:rPr lang="en-US" sz="1900" dirty="0">
                <a:latin typeface="Courier (W1)" pitchFamily="49" charset="0"/>
              </a:rPr>
              <a:t>mode </a:t>
            </a:r>
            <a:r>
              <a:rPr lang="en-US" sz="1900" dirty="0"/>
              <a:t>and </a:t>
            </a:r>
            <a:r>
              <a:rPr lang="en-US" sz="1900" dirty="0">
                <a:latin typeface="Courier (W1)" pitchFamily="49" charset="0"/>
              </a:rPr>
              <a:t>class</a:t>
            </a:r>
            <a:r>
              <a:rPr lang="en-US" sz="1900" dirty="0"/>
              <a:t> functions</a:t>
            </a:r>
            <a:endParaRPr lang="da-DK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 in/Write out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Multiple ways to read a data file in</a:t>
            </a:r>
          </a:p>
          <a:p>
            <a:pPr lvl="1"/>
            <a:r>
              <a:rPr lang="en-US" sz="1800" dirty="0">
                <a:latin typeface="Courier (W1)" pitchFamily="49" charset="0"/>
              </a:rPr>
              <a:t>&gt; </a:t>
            </a:r>
            <a:r>
              <a:rPr lang="en-US" sz="1800" dirty="0" err="1">
                <a:latin typeface="Courier (W1)" pitchFamily="49" charset="0"/>
              </a:rPr>
              <a:t>read.table</a:t>
            </a:r>
            <a:r>
              <a:rPr lang="en-US" sz="1800" dirty="0">
                <a:latin typeface="Courier (W1)" pitchFamily="49" charset="0"/>
              </a:rPr>
              <a:t>(file=“C:\\Class\\</a:t>
            </a:r>
            <a:r>
              <a:rPr lang="en-US" sz="1800" dirty="0" err="1">
                <a:latin typeface="Courier (W1)" pitchFamily="49" charset="0"/>
              </a:rPr>
              <a:t>data.txt”,header</a:t>
            </a:r>
            <a:r>
              <a:rPr lang="en-US" sz="1800" dirty="0">
                <a:latin typeface="Courier (W1)" pitchFamily="49" charset="0"/>
              </a:rPr>
              <a:t>=T)</a:t>
            </a:r>
          </a:p>
          <a:p>
            <a:pPr lvl="2"/>
            <a:r>
              <a:rPr lang="en-US" sz="1800" dirty="0"/>
              <a:t>must use </a:t>
            </a:r>
            <a:r>
              <a:rPr lang="en-US" sz="1800" dirty="0">
                <a:latin typeface="Courier (W1)" pitchFamily="49" charset="0"/>
              </a:rPr>
              <a:t>“\\”</a:t>
            </a:r>
            <a:r>
              <a:rPr lang="en-US" sz="1800" dirty="0"/>
              <a:t> instead of </a:t>
            </a:r>
            <a:r>
              <a:rPr lang="en-US" sz="1800" dirty="0">
                <a:latin typeface="Courier (W1)" pitchFamily="49" charset="0"/>
              </a:rPr>
              <a:t>“\”</a:t>
            </a:r>
            <a:r>
              <a:rPr lang="en-US" sz="1800" dirty="0"/>
              <a:t> for path</a:t>
            </a:r>
          </a:p>
          <a:p>
            <a:pPr lvl="1"/>
            <a:r>
              <a:rPr lang="en-US" sz="1800" dirty="0">
                <a:latin typeface="Courier (W1)" pitchFamily="49" charset="0"/>
              </a:rPr>
              <a:t>&gt; scan(file=“C:\\Class\\data.txt”)</a:t>
            </a:r>
          </a:p>
          <a:p>
            <a:pPr lvl="2"/>
            <a:r>
              <a:rPr lang="en-US" sz="1800" dirty="0"/>
              <a:t>must use </a:t>
            </a:r>
            <a:r>
              <a:rPr lang="en-US" sz="1800" dirty="0">
                <a:latin typeface="Courier (W1)" pitchFamily="49" charset="0"/>
              </a:rPr>
              <a:t>“\\”</a:t>
            </a:r>
            <a:r>
              <a:rPr lang="en-US" sz="1800" dirty="0"/>
              <a:t> instead of </a:t>
            </a:r>
            <a:r>
              <a:rPr lang="en-US" sz="1800" dirty="0">
                <a:latin typeface="Courier (W1)" pitchFamily="49" charset="0"/>
              </a:rPr>
              <a:t>“\” </a:t>
            </a:r>
            <a:r>
              <a:rPr lang="en-US" sz="1800" dirty="0"/>
              <a:t>for path</a:t>
            </a:r>
          </a:p>
          <a:p>
            <a:pPr lvl="2"/>
            <a:r>
              <a:rPr lang="en-US" sz="1800" dirty="0"/>
              <a:t>best for vectors or lists (not best for 2D data)</a:t>
            </a:r>
          </a:p>
          <a:p>
            <a:pPr lvl="1"/>
            <a:r>
              <a:rPr lang="en-US" sz="1800" dirty="0"/>
              <a:t>&gt; </a:t>
            </a:r>
            <a:r>
              <a:rPr lang="en-US" sz="1800" dirty="0" err="1">
                <a:latin typeface="Courier (W1)" pitchFamily="49" charset="0"/>
              </a:rPr>
              <a:t>readLines</a:t>
            </a:r>
            <a:r>
              <a:rPr lang="en-US" sz="1800" dirty="0">
                <a:latin typeface="Courier (W1)" pitchFamily="49" charset="0"/>
              </a:rPr>
              <a:t>(file=“C:\\Class\\data.txt”)</a:t>
            </a:r>
          </a:p>
          <a:p>
            <a:pPr lvl="2"/>
            <a:r>
              <a:rPr lang="en-US" sz="1800" dirty="0"/>
              <a:t>very memory efficient, but requires formatting input</a:t>
            </a:r>
          </a:p>
          <a:p>
            <a:endParaRPr lang="en-US" sz="2000" dirty="0"/>
          </a:p>
          <a:p>
            <a:r>
              <a:rPr lang="en-US" dirty="0"/>
              <a:t>Writing data out to a file</a:t>
            </a:r>
          </a:p>
          <a:p>
            <a:pPr lvl="1"/>
            <a:r>
              <a:rPr lang="en-US" sz="1800" dirty="0">
                <a:latin typeface="Courier (W1)" pitchFamily="49" charset="0"/>
              </a:rPr>
              <a:t>&gt; </a:t>
            </a:r>
            <a:r>
              <a:rPr lang="en-US" sz="1800" dirty="0" err="1">
                <a:latin typeface="Courier (W1)" pitchFamily="49" charset="0"/>
              </a:rPr>
              <a:t>write.table</a:t>
            </a:r>
            <a:r>
              <a:rPr lang="en-US" sz="1800" dirty="0">
                <a:latin typeface="Courier (W1)" pitchFamily="49" charset="0"/>
              </a:rPr>
              <a:t>(</a:t>
            </a:r>
            <a:r>
              <a:rPr lang="en-US" sz="1800" dirty="0" err="1">
                <a:latin typeface="Courier (W1)" pitchFamily="49" charset="0"/>
              </a:rPr>
              <a:t>x.matrix,file</a:t>
            </a:r>
            <a:r>
              <a:rPr lang="en-US" sz="1800" dirty="0">
                <a:latin typeface="Courier (W1)" pitchFamily="49" charset="0"/>
              </a:rPr>
              <a:t>=“dataFile.txt”,</a:t>
            </a:r>
            <a:r>
              <a:rPr lang="en-US" sz="1800" dirty="0" err="1">
                <a:latin typeface="Courier (W1)" pitchFamily="49" charset="0"/>
              </a:rPr>
              <a:t>sep</a:t>
            </a:r>
            <a:r>
              <a:rPr lang="en-US" sz="1800" dirty="0">
                <a:latin typeface="Courier (W1)" pitchFamily="49" charset="0"/>
              </a:rPr>
              <a:t>=“\t”)</a:t>
            </a:r>
          </a:p>
          <a:p>
            <a:pPr lvl="1"/>
            <a:r>
              <a:rPr lang="en-US" sz="1800" dirty="0">
                <a:latin typeface="Courier (W1)" pitchFamily="49" charset="0"/>
              </a:rPr>
              <a:t>&gt; write(</a:t>
            </a:r>
            <a:r>
              <a:rPr lang="en-US" sz="1800" dirty="0" err="1">
                <a:latin typeface="Courier (W1)" pitchFamily="49" charset="0"/>
              </a:rPr>
              <a:t>x.matrix,file</a:t>
            </a:r>
            <a:r>
              <a:rPr lang="en-US" sz="1800" dirty="0">
                <a:latin typeface="Courier (W1)" pitchFamily="49" charset="0"/>
              </a:rPr>
              <a:t>=“dataFile.txt”,</a:t>
            </a:r>
            <a:r>
              <a:rPr lang="en-US" sz="1800" dirty="0" err="1">
                <a:latin typeface="Courier (W1)" pitchFamily="49" charset="0"/>
              </a:rPr>
              <a:t>ncolumns</a:t>
            </a:r>
            <a:r>
              <a:rPr lang="en-US" sz="1800" dirty="0">
                <a:latin typeface="Courier (W1)" pitchFamily="49" charset="0"/>
              </a:rPr>
              <a:t>=2)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dirty="0"/>
              <a:t>Iteration &amp; </a:t>
            </a:r>
            <a:r>
              <a:rPr lang="en-US" dirty="0">
                <a:latin typeface="Courier (W1)"/>
              </a:rPr>
              <a:t>if</a:t>
            </a:r>
            <a:r>
              <a:rPr lang="en-US" dirty="0"/>
              <a:t> functions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7577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dirty="0"/>
              <a:t>Loops are not optimized in </a:t>
            </a:r>
            <a:r>
              <a:rPr lang="en-US" sz="1600" dirty="0">
                <a:latin typeface="Courier (W1)" pitchFamily="49" charset="0"/>
              </a:rPr>
              <a:t>R</a:t>
            </a:r>
            <a:endParaRPr lang="en-US" sz="1600" dirty="0"/>
          </a:p>
          <a:p>
            <a:pPr lvl="1">
              <a:lnSpc>
                <a:spcPct val="80000"/>
              </a:lnSpc>
            </a:pPr>
            <a:r>
              <a:rPr lang="en-US" sz="1600" dirty="0"/>
              <a:t>They are possible, but not memory favorable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Loop syntax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for(</a:t>
            </a:r>
            <a:r>
              <a:rPr lang="en-US" sz="1600" dirty="0" err="1">
                <a:latin typeface="Courier (W1)" pitchFamily="49" charset="0"/>
              </a:rPr>
              <a:t>i</a:t>
            </a:r>
            <a:r>
              <a:rPr lang="en-US" sz="1600" dirty="0">
                <a:latin typeface="Courier (W1)" pitchFamily="49" charset="0"/>
              </a:rPr>
              <a:t> in 1:6) {}		# for loop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while(</a:t>
            </a:r>
            <a:r>
              <a:rPr lang="en-US" sz="1600" dirty="0" err="1">
                <a:latin typeface="Courier (W1)" pitchFamily="49" charset="0"/>
              </a:rPr>
              <a:t>i</a:t>
            </a:r>
            <a:r>
              <a:rPr lang="en-US" sz="1600" dirty="0">
                <a:latin typeface="Courier (W1)" pitchFamily="49" charset="0"/>
              </a:rPr>
              <a:t> &lt; 7) {}		# while loop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apply functions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Inherent looping mechanism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Much more memory efficient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apply(x.matrix,1,mean)</a:t>
            </a:r>
          </a:p>
          <a:p>
            <a:pPr lvl="2">
              <a:lnSpc>
                <a:spcPct val="80000"/>
              </a:lnSpc>
            </a:pPr>
            <a:r>
              <a:rPr lang="en-US" sz="1400" dirty="0"/>
              <a:t>Will calculate a mean on each row in </a:t>
            </a:r>
            <a:r>
              <a:rPr lang="en-US" sz="1400" dirty="0" err="1"/>
              <a:t>x.matrix</a:t>
            </a:r>
            <a:endParaRPr lang="en-US" sz="1400" dirty="0"/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apply(x.matrix,2,mean)</a:t>
            </a:r>
          </a:p>
          <a:p>
            <a:pPr lvl="2">
              <a:lnSpc>
                <a:spcPct val="80000"/>
              </a:lnSpc>
            </a:pPr>
            <a:r>
              <a:rPr lang="en-US" sz="1400" dirty="0"/>
              <a:t>Will calculate a mean on each column in </a:t>
            </a:r>
            <a:r>
              <a:rPr lang="en-US" sz="1400" dirty="0" err="1"/>
              <a:t>x.matrix</a:t>
            </a:r>
            <a:endParaRPr lang="en-US" sz="1400" dirty="0"/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</a:t>
            </a:r>
            <a:r>
              <a:rPr lang="en-US" sz="1600" dirty="0" err="1">
                <a:latin typeface="Courier (W1)" pitchFamily="49" charset="0"/>
              </a:rPr>
              <a:t>lapply</a:t>
            </a:r>
            <a:r>
              <a:rPr lang="en-US" sz="1600" dirty="0">
                <a:latin typeface="Courier (W1)" pitchFamily="49" charset="0"/>
              </a:rPr>
              <a:t>(</a:t>
            </a:r>
            <a:r>
              <a:rPr lang="en-US" sz="1600" dirty="0" err="1">
                <a:latin typeface="Courier (W1)" pitchFamily="49" charset="0"/>
              </a:rPr>
              <a:t>x,max</a:t>
            </a:r>
            <a:r>
              <a:rPr lang="en-US" sz="1600" dirty="0">
                <a:latin typeface="Courier (W1)" pitchFamily="49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en-US" sz="1400" dirty="0"/>
              <a:t>Calculates maximum for each list element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/>
              </a:rPr>
              <a:t>&gt; </a:t>
            </a:r>
            <a:r>
              <a:rPr lang="en-US" sz="1600" dirty="0" err="1">
                <a:latin typeface="Courier (W1)"/>
              </a:rPr>
              <a:t>future_apply</a:t>
            </a:r>
            <a:r>
              <a:rPr lang="en-US" sz="1600" dirty="0">
                <a:latin typeface="Courier (W1)"/>
              </a:rPr>
              <a:t>(x.matrix</a:t>
            </a:r>
            <a:r>
              <a:rPr lang="en-US" sz="1600" dirty="0">
                <a:latin typeface="Courier (W1)" pitchFamily="49" charset="0"/>
              </a:rPr>
              <a:t>,2,mean)</a:t>
            </a:r>
          </a:p>
          <a:p>
            <a:pPr lvl="2">
              <a:lnSpc>
                <a:spcPct val="80000"/>
              </a:lnSpc>
            </a:pPr>
            <a:r>
              <a:rPr lang="en-US" sz="1300" dirty="0">
                <a:latin typeface="+mj-lt"/>
              </a:rPr>
              <a:t>Can parallelize the apply function</a:t>
            </a:r>
          </a:p>
          <a:p>
            <a:pPr>
              <a:lnSpc>
                <a:spcPct val="80000"/>
              </a:lnSpc>
            </a:pPr>
            <a:endParaRPr lang="en-US" sz="1700" dirty="0"/>
          </a:p>
          <a:p>
            <a:pPr>
              <a:lnSpc>
                <a:spcPct val="80000"/>
              </a:lnSpc>
            </a:pPr>
            <a:r>
              <a:rPr lang="en-US" sz="1700" dirty="0">
                <a:latin typeface="Courier (W1)"/>
              </a:rPr>
              <a:t>if </a:t>
            </a:r>
            <a:r>
              <a:rPr lang="en-US" sz="1700" dirty="0"/>
              <a:t>statements are fairly well implemented</a:t>
            </a:r>
          </a:p>
          <a:p>
            <a:pPr lvl="1">
              <a:lnSpc>
                <a:spcPct val="80000"/>
              </a:lnSpc>
            </a:pPr>
            <a:r>
              <a:rPr lang="en-US" sz="1500" dirty="0">
                <a:latin typeface="Courier (W1)" pitchFamily="49" charset="0"/>
              </a:rPr>
              <a:t>if(x[1]&gt;5) {x[1]=6}	     	# simple if command</a:t>
            </a:r>
          </a:p>
          <a:p>
            <a:pPr lvl="1">
              <a:lnSpc>
                <a:spcPct val="80000"/>
              </a:lnSpc>
            </a:pPr>
            <a:r>
              <a:rPr lang="en-US" sz="1500" dirty="0" err="1">
                <a:latin typeface="Courier (W1)" pitchFamily="49" charset="0"/>
              </a:rPr>
              <a:t>ifelse</a:t>
            </a:r>
            <a:r>
              <a:rPr lang="en-US" sz="1500" dirty="0">
                <a:latin typeface="Courier (W1)" pitchFamily="49" charset="0"/>
              </a:rPr>
              <a:t>(x[1]&gt;5,x[1]=6,x[1]=9)	# combine if and else into one statement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/>
              <a:t>Packages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7086600" cy="8382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Binary files that build library access structure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Allow specific functions to be accessible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If you know the package name, you can simply type: </a:t>
            </a:r>
            <a:r>
              <a:rPr lang="en-US" sz="1200" dirty="0" err="1">
                <a:latin typeface="Courier New" pitchFamily="49" charset="0"/>
              </a:rPr>
              <a:t>install.packages</a:t>
            </a:r>
            <a:r>
              <a:rPr lang="en-US" sz="1200" dirty="0">
                <a:latin typeface="Courier New" pitchFamily="49" charset="0"/>
              </a:rPr>
              <a:t>("tree")</a:t>
            </a:r>
          </a:p>
          <a:p>
            <a:pPr lvl="2">
              <a:lnSpc>
                <a:spcPct val="80000"/>
              </a:lnSpc>
            </a:pPr>
            <a:r>
              <a:rPr lang="en-US" sz="900" dirty="0">
                <a:latin typeface="Courier New" pitchFamily="49" charset="0"/>
              </a:rPr>
              <a:t>“tree” </a:t>
            </a:r>
            <a:r>
              <a:rPr lang="en-US" sz="900" dirty="0"/>
              <a:t>is the example package in this case</a:t>
            </a:r>
            <a:endParaRPr lang="en-US" sz="900" dirty="0">
              <a:latin typeface="Courier New" pitchFamily="49" charset="0"/>
            </a:endParaRPr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457200" y="2362200"/>
            <a:ext cx="3581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/>
              <a:t>Can install packages from CRAN or Bioconductor</a:t>
            </a:r>
          </a:p>
        </p:txBody>
      </p:sp>
      <p:pic>
        <p:nvPicPr>
          <p:cNvPr id="113676" name="Picture 1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97" b="28412"/>
          <a:stretch>
            <a:fillRect/>
          </a:stretch>
        </p:blipFill>
        <p:spPr>
          <a:xfrm>
            <a:off x="228600" y="3048000"/>
            <a:ext cx="3733800" cy="3657600"/>
          </a:xfrm>
          <a:ln/>
        </p:spPr>
      </p:pic>
      <p:pic>
        <p:nvPicPr>
          <p:cNvPr id="11367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3581400"/>
            <a:ext cx="1020763" cy="2130425"/>
          </a:xfrm>
          <a:noFill/>
          <a:ln/>
        </p:spPr>
      </p:pic>
      <p:sp>
        <p:nvSpPr>
          <p:cNvPr id="113677" name="Text Box 13"/>
          <p:cNvSpPr txBox="1">
            <a:spLocks noChangeArrowheads="1"/>
          </p:cNvSpPr>
          <p:nvPr/>
        </p:nvSpPr>
        <p:spPr bwMode="auto">
          <a:xfrm>
            <a:off x="5029200" y="2362200"/>
            <a:ext cx="3581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/>
              <a:t>Can install packages from local drive (if saved zip file is on local drive)</a:t>
            </a:r>
          </a:p>
        </p:txBody>
      </p:sp>
      <p:pic>
        <p:nvPicPr>
          <p:cNvPr id="11367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481" b="18890"/>
          <a:stretch>
            <a:fillRect/>
          </a:stretch>
        </p:blipFill>
        <p:spPr bwMode="auto">
          <a:xfrm>
            <a:off x="4908550" y="3048000"/>
            <a:ext cx="377825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679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886200"/>
            <a:ext cx="2695575" cy="197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r>
              <a:rPr lang="en-US" dirty="0"/>
              <a:t>Libraries &amp; Functions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51816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dirty="0"/>
              <a:t>Once package has been installed, library can be accessed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Libraries include many functions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library(base) 		# implements base library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Allows access to functions inside the library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Data sets internal to </a:t>
            </a:r>
            <a:r>
              <a:rPr lang="en-US" sz="1600" dirty="0">
                <a:latin typeface="Courier (W1)" pitchFamily="49" charset="0"/>
              </a:rPr>
              <a:t>R</a:t>
            </a:r>
            <a:r>
              <a:rPr lang="en-US" sz="1600" dirty="0"/>
              <a:t> can also be accessed and utilized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data(iris)# allows access to famous iris flower data set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1600" dirty="0"/>
              <a:t>Functions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Handled well in </a:t>
            </a:r>
            <a:r>
              <a:rPr lang="en-US" sz="1600" dirty="0">
                <a:latin typeface="Courier (W1)" pitchFamily="49" charset="0"/>
              </a:rPr>
              <a:t>R</a:t>
            </a:r>
            <a:endParaRPr lang="en-US" sz="1600" dirty="0"/>
          </a:p>
          <a:p>
            <a:pPr lvl="1">
              <a:lnSpc>
                <a:spcPct val="80000"/>
              </a:lnSpc>
            </a:pPr>
            <a:r>
              <a:rPr lang="en-US" sz="1600" dirty="0"/>
              <a:t>Similar to a subroutine in other languages </a:t>
            </a:r>
            <a:r>
              <a:rPr lang="en-US" sz="1200" dirty="0"/>
              <a:t>(packaged operation that is called)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square &lt;- function(x=num1,y=num2) {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 r1 &lt;- x^2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 r2 &lt;- y^2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 output &lt;- c(r1,r2)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	 return(output)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latin typeface="Courier (W1)" pitchFamily="49" charset="0"/>
              </a:rPr>
              <a:t>   }</a:t>
            </a:r>
          </a:p>
          <a:p>
            <a:pPr lvl="1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&gt; square(x=4,y=2)		# call square function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(W1)" pitchFamily="49" charset="0"/>
              </a:rPr>
              <a:t>		[1] 16 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Packages &amp; Libraries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50292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You can view the complete list of installed packages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.packages(all = TRUE)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400" dirty="0"/>
              <a:t>Also view the list of current attached packages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(.packages()) 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400" dirty="0"/>
              <a:t>Can set the path for </a:t>
            </a:r>
            <a:r>
              <a:rPr lang="en-US" sz="2400" dirty="0">
                <a:latin typeface="Courier (W1)" pitchFamily="49" charset="0"/>
              </a:rPr>
              <a:t>R</a:t>
            </a:r>
            <a:r>
              <a:rPr lang="en-US" sz="2400" dirty="0"/>
              <a:t> to look for the libraries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.</a:t>
            </a:r>
            <a:r>
              <a:rPr lang="en-US" sz="2000" dirty="0" err="1">
                <a:latin typeface="Courier (W1)" pitchFamily="49" charset="0"/>
              </a:rPr>
              <a:t>libPaths</a:t>
            </a:r>
            <a:r>
              <a:rPr lang="en-US" sz="2000" dirty="0">
                <a:latin typeface="Courier (W1)" pitchFamily="49" charset="0"/>
              </a:rPr>
              <a:t>("C:/PROGRA~1/R/RW2000~1/library")</a:t>
            </a:r>
          </a:p>
          <a:p>
            <a:pPr lvl="1">
              <a:lnSpc>
                <a:spcPct val="80000"/>
              </a:lnSpc>
            </a:pPr>
            <a:endParaRPr lang="en-US" sz="2000" dirty="0">
              <a:latin typeface="Courier (W1)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2400" dirty="0"/>
              <a:t>Remove package from session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detach(“</a:t>
            </a:r>
            <a:r>
              <a:rPr lang="en-US" sz="2000" dirty="0" err="1">
                <a:latin typeface="Courier (W1)" pitchFamily="49" charset="0"/>
              </a:rPr>
              <a:t>package:stats</a:t>
            </a:r>
            <a:r>
              <a:rPr lang="en-US" sz="2000" dirty="0">
                <a:latin typeface="Courier (W1)" pitchFamily="49" charset="0"/>
              </a:rPr>
              <a:t>”)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400" dirty="0"/>
              <a:t>View package contents (e.g. functions, author, date, version, description, etc.)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ourier (W1)" pitchFamily="49" charset="0"/>
              </a:rPr>
              <a:t>&gt; library(help=</a:t>
            </a:r>
            <a:r>
              <a:rPr lang="en-US" sz="2000" dirty="0" err="1">
                <a:latin typeface="Courier (W1)" pitchFamily="49" charset="0"/>
              </a:rPr>
              <a:t>odesolve</a:t>
            </a:r>
            <a:r>
              <a:rPr lang="en-US" sz="2000" dirty="0">
                <a:latin typeface="Courier (W1)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Plotting commands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600" dirty="0"/>
              <a:t>There are many optional commands available in </a:t>
            </a:r>
            <a:r>
              <a:rPr lang="en-US" sz="2800" dirty="0">
                <a:latin typeface="Courier (W1)" pitchFamily="49" charset="0"/>
              </a:rPr>
              <a:t>R</a:t>
            </a:r>
            <a:r>
              <a:rPr lang="en-US" sz="2600" dirty="0"/>
              <a:t> for plotting data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Only a few of the main commands are necessary</a:t>
            </a:r>
          </a:p>
          <a:p>
            <a:pPr lvl="1">
              <a:lnSpc>
                <a:spcPct val="80000"/>
              </a:lnSpc>
            </a:pPr>
            <a:endParaRPr lang="en-US" sz="2200" dirty="0"/>
          </a:p>
          <a:p>
            <a:pPr>
              <a:lnSpc>
                <a:spcPct val="80000"/>
              </a:lnSpc>
            </a:pPr>
            <a:r>
              <a:rPr lang="en-US" sz="2600" dirty="0"/>
              <a:t>Scatter plot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latin typeface="Courier (W1)" pitchFamily="49" charset="0"/>
              </a:rPr>
              <a:t>&gt; plot(</a:t>
            </a:r>
            <a:r>
              <a:rPr lang="en-US" sz="1800" dirty="0" err="1">
                <a:latin typeface="Courier (W1)" pitchFamily="49" charset="0"/>
              </a:rPr>
              <a:t>x,y</a:t>
            </a:r>
            <a:r>
              <a:rPr lang="en-US" sz="1800" dirty="0">
                <a:latin typeface="Courier (W1)" pitchFamily="49" charset="0"/>
              </a:rPr>
              <a:t>) # x and y must be same length and numeric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Labels</a:t>
            </a:r>
          </a:p>
          <a:p>
            <a:pPr lvl="2">
              <a:lnSpc>
                <a:spcPct val="80000"/>
              </a:lnSpc>
            </a:pPr>
            <a:r>
              <a:rPr lang="en-US" sz="2100" dirty="0" err="1">
                <a:latin typeface="Courier (W1)" pitchFamily="49" charset="0"/>
              </a:rPr>
              <a:t>xlab</a:t>
            </a:r>
            <a:r>
              <a:rPr lang="en-US" sz="2100" dirty="0">
                <a:latin typeface="Courier (W1)" pitchFamily="49" charset="0"/>
              </a:rPr>
              <a:t>=‘x vector’			# x-axis label</a:t>
            </a:r>
          </a:p>
          <a:p>
            <a:pPr lvl="2">
              <a:lnSpc>
                <a:spcPct val="80000"/>
              </a:lnSpc>
            </a:pPr>
            <a:r>
              <a:rPr lang="en-US" sz="2100" dirty="0" err="1">
                <a:latin typeface="Courier (W1)" pitchFamily="49" charset="0"/>
              </a:rPr>
              <a:t>ylab</a:t>
            </a:r>
            <a:r>
              <a:rPr lang="en-US" sz="2100" dirty="0">
                <a:latin typeface="Courier (W1)" pitchFamily="49" charset="0"/>
              </a:rPr>
              <a:t>=‘y vector’			# y-axis label</a:t>
            </a:r>
          </a:p>
          <a:p>
            <a:pPr lvl="2">
              <a:lnSpc>
                <a:spcPct val="80000"/>
              </a:lnSpc>
            </a:pPr>
            <a:r>
              <a:rPr lang="en-US" sz="2100" dirty="0">
                <a:latin typeface="Courier (W1)" pitchFamily="49" charset="0"/>
              </a:rPr>
              <a:t>main=‘Scatter plot’		# title for plot 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Points, size, and colors</a:t>
            </a:r>
          </a:p>
          <a:p>
            <a:pPr lvl="2">
              <a:lnSpc>
                <a:spcPct val="80000"/>
              </a:lnSpc>
            </a:pPr>
            <a:r>
              <a:rPr lang="en-US" sz="2100" dirty="0" err="1">
                <a:latin typeface="Courier (W1)" pitchFamily="49" charset="0"/>
              </a:rPr>
              <a:t>pch</a:t>
            </a:r>
            <a:r>
              <a:rPr lang="en-US" sz="2100" dirty="0">
                <a:latin typeface="Courier (W1)" pitchFamily="49" charset="0"/>
              </a:rPr>
              <a:t>=‘</a:t>
            </a:r>
            <a:r>
              <a:rPr lang="en-US" sz="2100" b="1" dirty="0">
                <a:latin typeface="Courier (W1)" pitchFamily="49" charset="0"/>
              </a:rPr>
              <a:t>*</a:t>
            </a:r>
            <a:r>
              <a:rPr lang="en-US" sz="2100" dirty="0">
                <a:latin typeface="Courier (W1)" pitchFamily="49" charset="0"/>
              </a:rPr>
              <a:t>’			# symbol to plot</a:t>
            </a:r>
          </a:p>
          <a:p>
            <a:pPr lvl="2">
              <a:lnSpc>
                <a:spcPct val="80000"/>
              </a:lnSpc>
            </a:pPr>
            <a:r>
              <a:rPr lang="en-US" sz="2100" dirty="0" err="1">
                <a:latin typeface="Courier (W1)" pitchFamily="49" charset="0"/>
              </a:rPr>
              <a:t>cex</a:t>
            </a:r>
            <a:r>
              <a:rPr lang="en-US" sz="2100" dirty="0">
                <a:latin typeface="Courier (W1)" pitchFamily="49" charset="0"/>
              </a:rPr>
              <a:t>=1.5		# size of symbol</a:t>
            </a:r>
          </a:p>
          <a:p>
            <a:pPr lvl="2">
              <a:lnSpc>
                <a:spcPct val="80000"/>
              </a:lnSpc>
            </a:pPr>
            <a:r>
              <a:rPr lang="en-US" sz="2100" dirty="0">
                <a:latin typeface="Courier (W1)" pitchFamily="49" charset="0"/>
              </a:rPr>
              <a:t>col=‘red’		# color of points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Plotting commands (steps)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100" dirty="0"/>
              <a:t>Plotting function can be given in subsequent commands for modifications to the graph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100" dirty="0"/>
              <a:t>Scatter plot options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Plot without points/lines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type=‘n’		# no points or lines are not drawn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type=‘b’		# lines and points drawn together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type=‘p’		# only points are draw	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latin typeface="Courier (W1)" pitchFamily="49" charset="0"/>
              </a:rPr>
              <a:t>type=‘l’		# only lines are drawn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Points only</a:t>
            </a:r>
          </a:p>
          <a:p>
            <a:pPr lvl="2">
              <a:lnSpc>
                <a:spcPct val="80000"/>
              </a:lnSpc>
            </a:pPr>
            <a:r>
              <a:rPr lang="en-US" sz="1800" dirty="0">
                <a:latin typeface="Courier (W1)" pitchFamily="49" charset="0"/>
              </a:rPr>
              <a:t>points(</a:t>
            </a:r>
            <a:r>
              <a:rPr lang="en-US" sz="1800" dirty="0" err="1">
                <a:latin typeface="Courier (W1)" pitchFamily="49" charset="0"/>
              </a:rPr>
              <a:t>x,y,col</a:t>
            </a:r>
            <a:r>
              <a:rPr lang="en-US" sz="1800" dirty="0">
                <a:latin typeface="Courier (W1)" pitchFamily="49" charset="0"/>
              </a:rPr>
              <a:t>=‘blue’)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Lines only</a:t>
            </a:r>
          </a:p>
          <a:p>
            <a:pPr lvl="2">
              <a:lnSpc>
                <a:spcPct val="80000"/>
              </a:lnSpc>
            </a:pPr>
            <a:r>
              <a:rPr lang="en-US" sz="1800" dirty="0">
                <a:latin typeface="Courier (W1)" pitchFamily="49" charset="0"/>
              </a:rPr>
              <a:t>lines(</a:t>
            </a:r>
            <a:r>
              <a:rPr lang="en-US" sz="1800" dirty="0" err="1">
                <a:latin typeface="Courier (W1)" pitchFamily="49" charset="0"/>
              </a:rPr>
              <a:t>x,y,col</a:t>
            </a:r>
            <a:r>
              <a:rPr lang="en-US" sz="1800" dirty="0">
                <a:latin typeface="Courier (W1)" pitchFamily="49" charset="0"/>
              </a:rPr>
              <a:t>=‘yellow’)</a:t>
            </a:r>
          </a:p>
          <a:p>
            <a:pPr lvl="2">
              <a:lnSpc>
                <a:spcPct val="80000"/>
              </a:lnSpc>
            </a:pPr>
            <a:r>
              <a:rPr lang="en-US" sz="1800" dirty="0" err="1">
                <a:latin typeface="Courier (W1)" pitchFamily="49" charset="0"/>
              </a:rPr>
              <a:t>lwd</a:t>
            </a:r>
            <a:r>
              <a:rPr lang="en-US" sz="1800" dirty="0">
                <a:latin typeface="Courier (W1)" pitchFamily="49" charset="0"/>
              </a:rPr>
              <a:t>(2)		# line width</a:t>
            </a:r>
          </a:p>
          <a:p>
            <a:pPr lvl="2">
              <a:lnSpc>
                <a:spcPct val="80000"/>
              </a:lnSpc>
            </a:pPr>
            <a:r>
              <a:rPr lang="en-US" sz="1800" dirty="0" err="1">
                <a:latin typeface="Courier (W1)" pitchFamily="49" charset="0"/>
              </a:rPr>
              <a:t>lty</a:t>
            </a:r>
            <a:r>
              <a:rPr lang="en-US" sz="1800" dirty="0">
                <a:latin typeface="Courier (W1)" pitchFamily="49" charset="0"/>
              </a:rPr>
              <a:t>(3)		# line pattern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r>
              <a:rPr lang="en-US"/>
              <a:t>Plot example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143000"/>
            <a:ext cx="8077200" cy="10668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 dirty="0">
                <a:latin typeface="Courier (W1)" pitchFamily="49" charset="0"/>
              </a:rPr>
              <a:t>&gt; x &lt;- c(1,4,5,6,8,9)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 dirty="0">
                <a:latin typeface="Courier (W1)" pitchFamily="49" charset="0"/>
              </a:rPr>
              <a:t>&gt; y &lt;- c(20,44,66,89,90,101)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 dirty="0">
                <a:latin typeface="Courier (W1)" pitchFamily="49" charset="0"/>
              </a:rPr>
              <a:t>&gt; plot(</a:t>
            </a:r>
            <a:r>
              <a:rPr lang="en-US" sz="1300" dirty="0" err="1">
                <a:latin typeface="Courier (W1)" pitchFamily="49" charset="0"/>
              </a:rPr>
              <a:t>x,y,type</a:t>
            </a:r>
            <a:r>
              <a:rPr lang="en-US" sz="1300" dirty="0">
                <a:latin typeface="Courier (W1)" pitchFamily="49" charset="0"/>
              </a:rPr>
              <a:t>='n',</a:t>
            </a:r>
            <a:r>
              <a:rPr lang="en-US" sz="1300" dirty="0" err="1">
                <a:latin typeface="Courier (W1)" pitchFamily="49" charset="0"/>
              </a:rPr>
              <a:t>xlab</a:t>
            </a:r>
            <a:r>
              <a:rPr lang="en-US" sz="1300" dirty="0">
                <a:latin typeface="Courier (W1)" pitchFamily="49" charset="0"/>
              </a:rPr>
              <a:t>='x vector',</a:t>
            </a:r>
            <a:r>
              <a:rPr lang="en-US" sz="1300" dirty="0" err="1">
                <a:latin typeface="Courier (W1)" pitchFamily="49" charset="0"/>
              </a:rPr>
              <a:t>ylab</a:t>
            </a:r>
            <a:r>
              <a:rPr lang="en-US" sz="1300" dirty="0">
                <a:latin typeface="Courier (W1)" pitchFamily="49" charset="0"/>
              </a:rPr>
              <a:t>='y </a:t>
            </a:r>
            <a:r>
              <a:rPr lang="en-US" sz="1300" dirty="0" err="1">
                <a:latin typeface="Courier (W1)" pitchFamily="49" charset="0"/>
              </a:rPr>
              <a:t>vector',main</a:t>
            </a:r>
            <a:r>
              <a:rPr lang="en-US" sz="1300" dirty="0">
                <a:latin typeface="Courier (W1)" pitchFamily="49" charset="0"/>
              </a:rPr>
              <a:t>='Scatter plot example')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 dirty="0">
                <a:latin typeface="Courier (W1)" pitchFamily="49" charset="0"/>
              </a:rPr>
              <a:t>&gt; points(</a:t>
            </a:r>
            <a:r>
              <a:rPr lang="en-US" sz="1300" dirty="0" err="1">
                <a:latin typeface="Courier (W1)" pitchFamily="49" charset="0"/>
              </a:rPr>
              <a:t>x,y,col</a:t>
            </a:r>
            <a:r>
              <a:rPr lang="en-US" sz="1300" dirty="0">
                <a:latin typeface="Courier (W1)" pitchFamily="49" charset="0"/>
              </a:rPr>
              <a:t>='red',</a:t>
            </a:r>
            <a:r>
              <a:rPr lang="en-US" sz="1300" dirty="0" err="1">
                <a:latin typeface="Courier (W1)" pitchFamily="49" charset="0"/>
              </a:rPr>
              <a:t>pch</a:t>
            </a:r>
            <a:r>
              <a:rPr lang="en-US" sz="1300" dirty="0">
                <a:latin typeface="Courier (W1)" pitchFamily="49" charset="0"/>
              </a:rPr>
              <a:t>='*',</a:t>
            </a:r>
            <a:r>
              <a:rPr lang="en-US" sz="1300" dirty="0" err="1">
                <a:latin typeface="Courier (W1)" pitchFamily="49" charset="0"/>
              </a:rPr>
              <a:t>cex</a:t>
            </a:r>
            <a:r>
              <a:rPr lang="en-US" sz="1300" dirty="0">
                <a:latin typeface="Courier (W1)" pitchFamily="49" charset="0"/>
              </a:rPr>
              <a:t>=3)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300" dirty="0">
                <a:latin typeface="Courier (W1)" pitchFamily="49" charset="0"/>
              </a:rPr>
              <a:t>&gt; lines(</a:t>
            </a:r>
            <a:r>
              <a:rPr lang="en-US" sz="1300" dirty="0" err="1">
                <a:latin typeface="Courier (W1)" pitchFamily="49" charset="0"/>
              </a:rPr>
              <a:t>x,y,col</a:t>
            </a:r>
            <a:r>
              <a:rPr lang="en-US" sz="1300" dirty="0">
                <a:latin typeface="Courier (W1)" pitchFamily="49" charset="0"/>
              </a:rPr>
              <a:t>='red',</a:t>
            </a:r>
            <a:r>
              <a:rPr lang="en-US" sz="1300" dirty="0" err="1">
                <a:latin typeface="Courier (W1)" pitchFamily="49" charset="0"/>
              </a:rPr>
              <a:t>lwd</a:t>
            </a:r>
            <a:r>
              <a:rPr lang="en-US" sz="1300" dirty="0">
                <a:latin typeface="Courier (W1)" pitchFamily="49" charset="0"/>
              </a:rPr>
              <a:t>=2,lty=2)</a:t>
            </a:r>
          </a:p>
          <a:p>
            <a:pPr>
              <a:lnSpc>
                <a:spcPct val="80000"/>
              </a:lnSpc>
            </a:pPr>
            <a:endParaRPr lang="en-US" sz="1300" dirty="0"/>
          </a:p>
        </p:txBody>
      </p:sp>
      <p:pic>
        <p:nvPicPr>
          <p:cNvPr id="10957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2286000"/>
            <a:ext cx="4184650" cy="45720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r>
              <a:rPr lang="en-US" dirty="0"/>
              <a:t>Other plotting functions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686800" cy="4411662"/>
          </a:xfrm>
        </p:spPr>
        <p:txBody>
          <a:bodyPr/>
          <a:lstStyle/>
          <a:p>
            <a:r>
              <a:rPr lang="en-US" sz="2000" dirty="0" err="1">
                <a:latin typeface="Courier (W1)" pitchFamily="49" charset="0"/>
              </a:rPr>
              <a:t>barplot</a:t>
            </a:r>
            <a:r>
              <a:rPr lang="en-US" sz="2000" dirty="0">
                <a:latin typeface="Courier (W1)" pitchFamily="49" charset="0"/>
              </a:rPr>
              <a:t>()	# </a:t>
            </a:r>
            <a:r>
              <a:rPr lang="en-US" sz="2000" dirty="0" err="1">
                <a:latin typeface="Courier (W1)" pitchFamily="49" charset="0"/>
              </a:rPr>
              <a:t>barplot</a:t>
            </a:r>
            <a:endParaRPr lang="en-US" sz="2000" dirty="0">
              <a:latin typeface="Courier (W1)" pitchFamily="49" charset="0"/>
            </a:endParaRPr>
          </a:p>
          <a:p>
            <a:r>
              <a:rPr lang="en-US" sz="2000" dirty="0">
                <a:latin typeface="Courier (W1)" pitchFamily="49" charset="0"/>
              </a:rPr>
              <a:t>boxplot()	# box and whisker plot</a:t>
            </a:r>
          </a:p>
          <a:p>
            <a:r>
              <a:rPr lang="en-US" sz="2000" dirty="0" err="1">
                <a:latin typeface="Courier (W1)" pitchFamily="49" charset="0"/>
              </a:rPr>
              <a:t>stripchart</a:t>
            </a:r>
            <a:r>
              <a:rPr lang="en-US" sz="2000" dirty="0">
                <a:latin typeface="Courier (W1)" pitchFamily="49" charset="0"/>
              </a:rPr>
              <a:t>()	# boxplot with just the points</a:t>
            </a:r>
          </a:p>
          <a:p>
            <a:r>
              <a:rPr lang="en-US" sz="2000" dirty="0">
                <a:latin typeface="Courier (W1)" pitchFamily="49" charset="0"/>
              </a:rPr>
              <a:t>heatmap()	# two-dimensional clustering color gradient</a:t>
            </a:r>
          </a:p>
          <a:p>
            <a:r>
              <a:rPr lang="en-US" sz="2000" dirty="0">
                <a:latin typeface="Courier (W1)" pitchFamily="49" charset="0"/>
              </a:rPr>
              <a:t>image()		# color gradient plot</a:t>
            </a:r>
          </a:p>
          <a:p>
            <a:r>
              <a:rPr lang="en-US" sz="2000" dirty="0">
                <a:latin typeface="Courier (W1)" pitchFamily="49" charset="0"/>
              </a:rPr>
              <a:t>pie()		# pie graph</a:t>
            </a:r>
          </a:p>
          <a:p>
            <a:r>
              <a:rPr lang="en-US" sz="2000" dirty="0" err="1">
                <a:latin typeface="Courier (W1)" pitchFamily="49" charset="0"/>
              </a:rPr>
              <a:t>dotchart</a:t>
            </a:r>
            <a:r>
              <a:rPr lang="en-US" sz="2000" dirty="0">
                <a:latin typeface="Courier (W1)" pitchFamily="49" charset="0"/>
              </a:rPr>
              <a:t>()	# dot plot</a:t>
            </a:r>
          </a:p>
          <a:p>
            <a:r>
              <a:rPr lang="en-US" sz="2000" dirty="0" err="1">
                <a:latin typeface="Courier (W1)" pitchFamily="49" charset="0"/>
              </a:rPr>
              <a:t>hist</a:t>
            </a:r>
            <a:r>
              <a:rPr lang="en-US" sz="2000" dirty="0">
                <a:latin typeface="Courier (W1)" pitchFamily="49" charset="0"/>
              </a:rPr>
              <a:t>()		# histogram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8910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5F03-1A64-4569-BFF4-15AAEFBC4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 sz="4000" dirty="0">
                <a:latin typeface="Courier (W1)" pitchFamily="49" charset="0"/>
              </a:rPr>
              <a:t>R</a:t>
            </a:r>
            <a:r>
              <a:rPr lang="en-US" dirty="0"/>
              <a:t> package ggplot2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AF0DE-B573-47E3-9F25-6AD66CD2096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7709" y="2123523"/>
            <a:ext cx="4724400" cy="4411662"/>
          </a:xfrm>
        </p:spPr>
        <p:txBody>
          <a:bodyPr/>
          <a:lstStyle/>
          <a:p>
            <a:r>
              <a:rPr lang="en-US" sz="1800" dirty="0"/>
              <a:t>Can be a powerful method to customize graphs</a:t>
            </a:r>
          </a:p>
          <a:p>
            <a:pPr lvl="1"/>
            <a:r>
              <a:rPr lang="en-US" sz="1000" dirty="0">
                <a:latin typeface="Courier (W1)"/>
              </a:rPr>
              <a:t>&gt; </a:t>
            </a:r>
            <a:r>
              <a:rPr lang="en-US" sz="1000" dirty="0" err="1">
                <a:latin typeface="Courier (W1)"/>
              </a:rPr>
              <a:t>dat</a:t>
            </a:r>
            <a:r>
              <a:rPr lang="en-US" sz="1000" dirty="0">
                <a:latin typeface="Courier (W1)"/>
              </a:rPr>
              <a:t> &lt;-</a:t>
            </a:r>
            <a:r>
              <a:rPr lang="en-US" sz="1000" dirty="0" err="1">
                <a:latin typeface="Courier (W1)"/>
              </a:rPr>
              <a:t>data.frame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rnorm</a:t>
            </a:r>
            <a:r>
              <a:rPr lang="en-US" sz="1000" dirty="0">
                <a:latin typeface="Courier (W1)"/>
              </a:rPr>
              <a:t>(20),c(rep(“A”,10),rep(“B”,10)))</a:t>
            </a:r>
          </a:p>
          <a:p>
            <a:pPr lvl="1"/>
            <a:r>
              <a:rPr lang="en-US" sz="1000" dirty="0">
                <a:latin typeface="Courier (W1)"/>
              </a:rPr>
              <a:t>&gt; </a:t>
            </a:r>
            <a:r>
              <a:rPr lang="en-US" sz="1000" dirty="0" err="1">
                <a:latin typeface="Courier (W1)"/>
              </a:rPr>
              <a:t>colnames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dat</a:t>
            </a:r>
            <a:r>
              <a:rPr lang="en-US" sz="1000" dirty="0">
                <a:latin typeface="Courier (W1)"/>
              </a:rPr>
              <a:t>) &lt;- c(“</a:t>
            </a:r>
            <a:r>
              <a:rPr lang="en-US" sz="1000" dirty="0" err="1">
                <a:latin typeface="Courier (W1)"/>
              </a:rPr>
              <a:t>value”,”factor</a:t>
            </a:r>
            <a:r>
              <a:rPr lang="en-US" sz="1000" dirty="0">
                <a:latin typeface="Courier (W1)"/>
              </a:rPr>
              <a:t>”)</a:t>
            </a:r>
          </a:p>
          <a:p>
            <a:pPr lvl="1"/>
            <a:r>
              <a:rPr lang="en-US" sz="1000" dirty="0">
                <a:latin typeface="Courier (W1)"/>
              </a:rPr>
              <a:t>&gt; p &lt;- </a:t>
            </a:r>
            <a:r>
              <a:rPr lang="en-US" sz="1000" dirty="0" err="1">
                <a:latin typeface="Courier (W1)"/>
              </a:rPr>
              <a:t>ggplot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dat,aes</a:t>
            </a:r>
            <a:r>
              <a:rPr lang="en-US" sz="1000" dirty="0">
                <a:latin typeface="Courier (W1)"/>
              </a:rPr>
              <a:t>(x=</a:t>
            </a:r>
            <a:r>
              <a:rPr lang="en-US" sz="1000" dirty="0" err="1">
                <a:latin typeface="Courier (W1)"/>
              </a:rPr>
              <a:t>factor,y</a:t>
            </a:r>
            <a:r>
              <a:rPr lang="en-US" sz="1000" dirty="0">
                <a:latin typeface="Courier (W1)"/>
              </a:rPr>
              <a:t>=</a:t>
            </a:r>
            <a:r>
              <a:rPr lang="en-US" sz="1000" dirty="0" err="1">
                <a:latin typeface="Courier (W1)"/>
              </a:rPr>
              <a:t>value,fill</a:t>
            </a:r>
            <a:r>
              <a:rPr lang="en-US" sz="1000" dirty="0">
                <a:latin typeface="Courier (W1)"/>
              </a:rPr>
              <a:t>=factor))+</a:t>
            </a:r>
          </a:p>
          <a:p>
            <a:pPr marL="344487" lvl="1" indent="0">
              <a:buNone/>
            </a:pPr>
            <a:r>
              <a:rPr lang="en-US" sz="1000" dirty="0">
                <a:latin typeface="Courier (W1)"/>
              </a:rPr>
              <a:t>            </a:t>
            </a:r>
            <a:r>
              <a:rPr lang="en-US" sz="1000" dirty="0" err="1">
                <a:latin typeface="Courier (W1)"/>
              </a:rPr>
              <a:t>ggtitle</a:t>
            </a:r>
            <a:r>
              <a:rPr lang="en-US" sz="1000" dirty="0">
                <a:latin typeface="Courier (W1)"/>
              </a:rPr>
              <a:t>("Plot of value \n by factor") +</a:t>
            </a:r>
          </a:p>
          <a:p>
            <a:pPr lvl="1"/>
            <a:r>
              <a:rPr lang="en-US" sz="1000" dirty="0">
                <a:latin typeface="Courier (W1)"/>
              </a:rPr>
              <a:t>       </a:t>
            </a:r>
            <a:r>
              <a:rPr lang="en-US" sz="1000" dirty="0" err="1">
                <a:latin typeface="Courier (W1)"/>
              </a:rPr>
              <a:t>geom_boxplot</a:t>
            </a:r>
            <a:r>
              <a:rPr lang="en-US" sz="1000" dirty="0">
                <a:latin typeface="Courier (W1)"/>
              </a:rPr>
              <a:t>()</a:t>
            </a:r>
          </a:p>
          <a:p>
            <a:pPr lvl="1"/>
            <a:r>
              <a:rPr lang="en-US" sz="1000" dirty="0">
                <a:latin typeface="Courier (W1)"/>
              </a:rPr>
              <a:t>&gt; p</a:t>
            </a:r>
            <a:endParaRPr lang="en-US" sz="2200" dirty="0">
              <a:latin typeface="Courier (W1)"/>
            </a:endParaRPr>
          </a:p>
          <a:p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4EE0E-420F-432C-8AFE-BAA6BE8E4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071144"/>
            <a:ext cx="2668589" cy="26646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15F6A9-68B9-49D3-ACB7-ADFF8667F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798" y="4071144"/>
            <a:ext cx="2608402" cy="260452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A300E5-71C0-4ED9-8590-DA79FA4407ED}"/>
              </a:ext>
            </a:extLst>
          </p:cNvPr>
          <p:cNvSpPr txBox="1">
            <a:spLocks/>
          </p:cNvSpPr>
          <p:nvPr/>
        </p:nvSpPr>
        <p:spPr bwMode="auto">
          <a:xfrm>
            <a:off x="5105113" y="1759200"/>
            <a:ext cx="4067091" cy="1657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2000" b="0" kern="0" dirty="0">
              <a:latin typeface="+mj-lt"/>
            </a:endParaRPr>
          </a:p>
          <a:p>
            <a:r>
              <a:rPr lang="en-US" sz="1800" b="0" kern="0" dirty="0">
                <a:latin typeface="+mj-lt"/>
              </a:rPr>
              <a:t>Then can build on graph object</a:t>
            </a:r>
          </a:p>
          <a:p>
            <a:pPr lvl="1"/>
            <a:r>
              <a:rPr lang="en-US" sz="1000" b="0" kern="0" dirty="0">
                <a:latin typeface="Courier (W1)"/>
              </a:rPr>
              <a:t>&gt; p + theme(</a:t>
            </a:r>
            <a:r>
              <a:rPr lang="en-US" sz="1000" b="0" kern="0" dirty="0" err="1">
                <a:latin typeface="Courier (W1)"/>
              </a:rPr>
              <a:t>axis.title.x</a:t>
            </a:r>
            <a:r>
              <a:rPr lang="en-US" sz="1000" b="0" kern="0" dirty="0">
                <a:latin typeface="Courier (W1)"/>
              </a:rPr>
              <a:t>=</a:t>
            </a:r>
            <a:r>
              <a:rPr lang="en-US" sz="1000" b="0" kern="0" dirty="0" err="1">
                <a:latin typeface="Courier (W1)"/>
              </a:rPr>
              <a:t>element_text</a:t>
            </a:r>
            <a:r>
              <a:rPr lang="en-US" sz="1000" b="0" kern="0" dirty="0">
                <a:latin typeface="Courier (W1)"/>
              </a:rPr>
              <a:t>(color= "blue", size=14, face="bold"))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3850E9-A2C7-42BF-ADF8-0534A1EF8A7C}"/>
              </a:ext>
            </a:extLst>
          </p:cNvPr>
          <p:cNvSpPr/>
          <p:nvPr/>
        </p:nvSpPr>
        <p:spPr>
          <a:xfrm>
            <a:off x="304800" y="1224970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Alternative method to plotting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Generally requires flat file format of data</a:t>
            </a:r>
          </a:p>
        </p:txBody>
      </p:sp>
    </p:spTree>
    <p:extLst>
      <p:ext uri="{BB962C8B-B14F-4D97-AF65-F5344CB8AC3E}">
        <p14:creationId xmlns:p14="http://schemas.microsoft.com/office/powerpoint/2010/main" val="4000152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5F03-1A64-4569-BFF4-15AAEFBC4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 sz="4000" dirty="0">
                <a:latin typeface="Courier (W1)" pitchFamily="49" charset="0"/>
              </a:rPr>
              <a:t>R</a:t>
            </a:r>
            <a:r>
              <a:rPr lang="en-US" dirty="0"/>
              <a:t> package ggplot2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AF0DE-B573-47E3-9F25-6AD66CD2096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6200" y="1223169"/>
            <a:ext cx="8749748" cy="4411662"/>
          </a:xfrm>
        </p:spPr>
        <p:txBody>
          <a:bodyPr/>
          <a:lstStyle/>
          <a:p>
            <a:r>
              <a:rPr lang="en-US" sz="1800" dirty="0"/>
              <a:t>Can use to avoid </a:t>
            </a:r>
            <a:r>
              <a:rPr lang="en-US" sz="1800" dirty="0" err="1"/>
              <a:t>overplotting</a:t>
            </a:r>
            <a:r>
              <a:rPr lang="en-US" sz="1800" dirty="0"/>
              <a:t> labels in graphs</a:t>
            </a:r>
          </a:p>
          <a:p>
            <a:pPr lvl="1"/>
            <a:r>
              <a:rPr lang="en-US" sz="1000" dirty="0">
                <a:latin typeface="Courier (W1)"/>
              </a:rPr>
              <a:t>&gt; </a:t>
            </a:r>
            <a:r>
              <a:rPr lang="en-US" sz="1000" dirty="0" err="1">
                <a:latin typeface="Courier (W1)"/>
              </a:rPr>
              <a:t>fc.pv</a:t>
            </a:r>
            <a:r>
              <a:rPr lang="en-US" sz="1000" dirty="0">
                <a:latin typeface="Courier (W1)"/>
              </a:rPr>
              <a:t> &lt;- </a:t>
            </a:r>
            <a:r>
              <a:rPr lang="en-US" sz="1000" dirty="0" err="1">
                <a:latin typeface="Courier (W1)"/>
              </a:rPr>
              <a:t>data.frame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runif</a:t>
            </a:r>
            <a:r>
              <a:rPr lang="en-US" sz="1000" dirty="0">
                <a:latin typeface="Courier (W1)"/>
              </a:rPr>
              <a:t>(50,min=0,max=3),</a:t>
            </a:r>
            <a:r>
              <a:rPr lang="en-US" sz="1000" dirty="0" err="1">
                <a:latin typeface="Courier (W1)"/>
              </a:rPr>
              <a:t>runif</a:t>
            </a:r>
            <a:r>
              <a:rPr lang="en-US" sz="1000" dirty="0">
                <a:latin typeface="Courier (W1)"/>
              </a:rPr>
              <a:t>(50,-7,7))</a:t>
            </a:r>
          </a:p>
          <a:p>
            <a:pPr lvl="1"/>
            <a:r>
              <a:rPr lang="en-US" sz="1000" dirty="0">
                <a:latin typeface="Courier (W1)"/>
              </a:rPr>
              <a:t>&gt; </a:t>
            </a:r>
            <a:r>
              <a:rPr lang="en-US" sz="1000" dirty="0" err="1">
                <a:latin typeface="Courier (W1)"/>
              </a:rPr>
              <a:t>colnames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fc.pv</a:t>
            </a:r>
            <a:r>
              <a:rPr lang="en-US" sz="1000" dirty="0">
                <a:latin typeface="Courier (W1)"/>
              </a:rPr>
              <a:t>) &lt;- c(“</a:t>
            </a:r>
            <a:r>
              <a:rPr lang="en-US" sz="1000" dirty="0" err="1">
                <a:latin typeface="Courier (W1)"/>
              </a:rPr>
              <a:t>x”,”y</a:t>
            </a:r>
            <a:r>
              <a:rPr lang="en-US" sz="1000" dirty="0">
                <a:latin typeface="Courier (W1)"/>
              </a:rPr>
              <a:t>”)</a:t>
            </a:r>
          </a:p>
          <a:p>
            <a:pPr lvl="1"/>
            <a:r>
              <a:rPr lang="en-US" sz="1000" dirty="0">
                <a:latin typeface="Courier (W1)"/>
              </a:rPr>
              <a:t>&gt; </a:t>
            </a:r>
            <a:r>
              <a:rPr lang="en-US" sz="1000" dirty="0" err="1">
                <a:latin typeface="Courier (W1)"/>
              </a:rPr>
              <a:t>rownames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fc.pv</a:t>
            </a:r>
            <a:r>
              <a:rPr lang="en-US" sz="1000" dirty="0">
                <a:latin typeface="Courier (W1)"/>
              </a:rPr>
              <a:t>) &lt;- paste(“</a:t>
            </a:r>
            <a:r>
              <a:rPr lang="en-US" sz="1000" dirty="0" err="1">
                <a:latin typeface="Courier (W1)"/>
              </a:rPr>
              <a:t>gene”,c</a:t>
            </a:r>
            <a:r>
              <a:rPr lang="en-US" sz="1000" dirty="0">
                <a:latin typeface="Courier (W1)"/>
              </a:rPr>
              <a:t>(1:50),</a:t>
            </a:r>
            <a:r>
              <a:rPr lang="en-US" sz="1000" dirty="0" err="1">
                <a:latin typeface="Courier (W1)"/>
              </a:rPr>
              <a:t>sep</a:t>
            </a:r>
            <a:r>
              <a:rPr lang="en-US" sz="1000" dirty="0">
                <a:latin typeface="Courier (W1)"/>
              </a:rPr>
              <a:t>=“”)</a:t>
            </a:r>
          </a:p>
          <a:p>
            <a:pPr lvl="1"/>
            <a:r>
              <a:rPr lang="en-US" sz="1000" dirty="0">
                <a:latin typeface="Courier (W1)"/>
              </a:rPr>
              <a:t>&gt; p &lt;- </a:t>
            </a:r>
            <a:r>
              <a:rPr lang="en-US" sz="1000" dirty="0" err="1">
                <a:latin typeface="Courier (W1)"/>
              </a:rPr>
              <a:t>ggplot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fc.pv</a:t>
            </a:r>
            <a:r>
              <a:rPr lang="en-US" sz="1000" dirty="0">
                <a:latin typeface="Courier (W1)"/>
              </a:rPr>
              <a:t>, </a:t>
            </a:r>
            <a:r>
              <a:rPr lang="en-US" sz="1000" dirty="0" err="1">
                <a:latin typeface="Courier (W1)"/>
              </a:rPr>
              <a:t>aes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x,y</a:t>
            </a:r>
            <a:r>
              <a:rPr lang="en-US" sz="1000" dirty="0">
                <a:latin typeface="Courier (W1)"/>
              </a:rPr>
              <a:t>, label = </a:t>
            </a:r>
            <a:r>
              <a:rPr lang="en-US" sz="1000" dirty="0" err="1">
                <a:latin typeface="Courier (W1)"/>
              </a:rPr>
              <a:t>rownames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fc.pv</a:t>
            </a:r>
            <a:r>
              <a:rPr lang="en-US" sz="1000" dirty="0">
                <a:latin typeface="Courier (W1)"/>
              </a:rPr>
              <a:t>))) +</a:t>
            </a:r>
          </a:p>
          <a:p>
            <a:pPr lvl="1"/>
            <a:r>
              <a:rPr lang="en-US" sz="1000" dirty="0">
                <a:latin typeface="Courier (W1)"/>
              </a:rPr>
              <a:t>   </a:t>
            </a:r>
            <a:r>
              <a:rPr lang="en-US" sz="1000" dirty="0" err="1">
                <a:latin typeface="Courier (W1)"/>
              </a:rPr>
              <a:t>geom_point</a:t>
            </a:r>
            <a:r>
              <a:rPr lang="en-US" sz="1000" dirty="0">
                <a:latin typeface="Courier (W1)"/>
              </a:rPr>
              <a:t>(color = 'red') +</a:t>
            </a:r>
          </a:p>
          <a:p>
            <a:pPr lvl="1"/>
            <a:r>
              <a:rPr lang="en-US" sz="1000" dirty="0">
                <a:latin typeface="Courier (W1)"/>
              </a:rPr>
              <a:t>    </a:t>
            </a:r>
            <a:r>
              <a:rPr lang="en-US" sz="1000" dirty="0" err="1">
                <a:latin typeface="Courier (W1)"/>
              </a:rPr>
              <a:t>geom_label_repel</a:t>
            </a:r>
            <a:r>
              <a:rPr lang="en-US" sz="1000" dirty="0">
                <a:latin typeface="Courier (W1)"/>
              </a:rPr>
              <a:t>(size=3) +</a:t>
            </a:r>
          </a:p>
          <a:p>
            <a:pPr lvl="1"/>
            <a:r>
              <a:rPr lang="en-US" sz="1000" dirty="0">
                <a:latin typeface="Courier (W1)"/>
              </a:rPr>
              <a:t>	labs(x = "log2(fold)", y = "-log10(</a:t>
            </a:r>
            <a:r>
              <a:rPr lang="en-US" sz="1000" dirty="0" err="1">
                <a:latin typeface="Courier (W1)"/>
              </a:rPr>
              <a:t>pv</a:t>
            </a:r>
            <a:r>
              <a:rPr lang="en-US" sz="1000" dirty="0">
                <a:latin typeface="Courier (W1)"/>
              </a:rPr>
              <a:t>)",size=5) +</a:t>
            </a:r>
          </a:p>
          <a:p>
            <a:pPr lvl="1"/>
            <a:r>
              <a:rPr lang="en-US" sz="1000" dirty="0">
                <a:latin typeface="Courier (W1)"/>
              </a:rPr>
              <a:t>	</a:t>
            </a:r>
            <a:r>
              <a:rPr lang="en-US" sz="1000" dirty="0" err="1">
                <a:latin typeface="Courier (W1)"/>
              </a:rPr>
              <a:t>geom_vline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xintercept</a:t>
            </a:r>
            <a:r>
              <a:rPr lang="en-US" sz="1000" dirty="0">
                <a:latin typeface="Courier (W1)"/>
              </a:rPr>
              <a:t> = 1, </a:t>
            </a:r>
            <a:r>
              <a:rPr lang="en-US" sz="1000" dirty="0" err="1">
                <a:latin typeface="Courier (W1)"/>
              </a:rPr>
              <a:t>linetype</a:t>
            </a:r>
            <a:r>
              <a:rPr lang="en-US" sz="1000" dirty="0">
                <a:latin typeface="Courier (W1)"/>
              </a:rPr>
              <a:t>="dotted", color = "grey", size=1) +</a:t>
            </a:r>
          </a:p>
          <a:p>
            <a:pPr lvl="1"/>
            <a:r>
              <a:rPr lang="en-US" sz="1000" dirty="0">
                <a:latin typeface="Courier (W1)"/>
              </a:rPr>
              <a:t>	</a:t>
            </a:r>
            <a:r>
              <a:rPr lang="en-US" sz="1000" dirty="0" err="1">
                <a:latin typeface="Courier (W1)"/>
              </a:rPr>
              <a:t>geom_vline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xintercept</a:t>
            </a:r>
            <a:r>
              <a:rPr lang="en-US" sz="1000" dirty="0">
                <a:latin typeface="Courier (W1)"/>
              </a:rPr>
              <a:t> = -1, </a:t>
            </a:r>
            <a:r>
              <a:rPr lang="en-US" sz="1000" dirty="0" err="1">
                <a:latin typeface="Courier (W1)"/>
              </a:rPr>
              <a:t>linetype</a:t>
            </a:r>
            <a:r>
              <a:rPr lang="en-US" sz="1000" dirty="0">
                <a:latin typeface="Courier (W1)"/>
              </a:rPr>
              <a:t>="dotted", color = "grey", size=1) +</a:t>
            </a:r>
          </a:p>
          <a:p>
            <a:pPr lvl="1"/>
            <a:r>
              <a:rPr lang="en-US" sz="1000" dirty="0">
                <a:latin typeface="Courier (W1)"/>
              </a:rPr>
              <a:t>	</a:t>
            </a:r>
            <a:r>
              <a:rPr lang="en-US" sz="1000" dirty="0" err="1">
                <a:latin typeface="Courier (W1)"/>
              </a:rPr>
              <a:t>ggtitle</a:t>
            </a:r>
            <a:r>
              <a:rPr lang="en-US" sz="1000" dirty="0">
                <a:latin typeface="Courier (W1)"/>
              </a:rPr>
              <a:t>("Volcano plot") +</a:t>
            </a:r>
          </a:p>
          <a:p>
            <a:pPr lvl="1"/>
            <a:r>
              <a:rPr lang="en-US" sz="1000" dirty="0">
                <a:latin typeface="Courier (W1)"/>
              </a:rPr>
              <a:t>  </a:t>
            </a:r>
            <a:r>
              <a:rPr lang="en-US" sz="1000" dirty="0" err="1">
                <a:latin typeface="Courier (W1)"/>
              </a:rPr>
              <a:t>theme_classic</a:t>
            </a:r>
            <a:r>
              <a:rPr lang="en-US" sz="1000" dirty="0">
                <a:latin typeface="Courier (W1)"/>
              </a:rPr>
              <a:t>(</a:t>
            </a:r>
            <a:r>
              <a:rPr lang="en-US" sz="1000" dirty="0" err="1">
                <a:latin typeface="Courier (W1)"/>
              </a:rPr>
              <a:t>base_size</a:t>
            </a:r>
            <a:r>
              <a:rPr lang="en-US" sz="1000" dirty="0">
                <a:latin typeface="Courier (W1)"/>
              </a:rPr>
              <a:t> = 8)</a:t>
            </a:r>
          </a:p>
          <a:p>
            <a:pPr lvl="1"/>
            <a:r>
              <a:rPr lang="en-US" sz="1000" dirty="0">
                <a:latin typeface="Courier (W1)"/>
              </a:rPr>
              <a:t>&gt; p</a:t>
            </a:r>
          </a:p>
          <a:p>
            <a:pPr lvl="1"/>
            <a:endParaRPr lang="en-US" sz="20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81F8C-C858-48CC-B290-C1050D342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281363"/>
            <a:ext cx="3581967" cy="35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46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 dirty="0"/>
              <a:t>Wiki site for </a:t>
            </a:r>
            <a:r>
              <a:rPr lang="en-US" sz="4000" dirty="0">
                <a:latin typeface="Courier (W1)" pitchFamily="49" charset="0"/>
              </a:rPr>
              <a:t>R</a:t>
            </a:r>
            <a:r>
              <a:rPr lang="en-US" dirty="0"/>
              <a:t> graphics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43454"/>
            <a:ext cx="6241459" cy="3648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843654"/>
            <a:ext cx="6477000" cy="3785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257800" y="6642556"/>
            <a:ext cx="37338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0" dirty="0">
                <a:hlinkClick r:id="rId4"/>
              </a:rPr>
              <a:t>http://en.wikibooks.org/wiki/R_Programming/Graphics#Standard_R_graphs</a:t>
            </a:r>
            <a:endParaRPr lang="en-US" sz="800" b="0" dirty="0"/>
          </a:p>
        </p:txBody>
      </p:sp>
    </p:spTree>
    <p:extLst>
      <p:ext uri="{BB962C8B-B14F-4D97-AF65-F5344CB8AC3E}">
        <p14:creationId xmlns:p14="http://schemas.microsoft.com/office/powerpoint/2010/main" val="3634563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r>
              <a:rPr lang="en-US"/>
              <a:t>Par commands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229600" cy="5181600"/>
          </a:xfrm>
        </p:spPr>
        <p:txBody>
          <a:bodyPr>
            <a:noAutofit/>
          </a:bodyPr>
          <a:lstStyle/>
          <a:p>
            <a:endParaRPr lang="en-US" sz="2600" dirty="0"/>
          </a:p>
          <a:p>
            <a:r>
              <a:rPr lang="en-US" sz="2600" dirty="0"/>
              <a:t>Page formatting to add more than 1 plot per page</a:t>
            </a:r>
          </a:p>
          <a:p>
            <a:pPr lvl="1"/>
            <a:r>
              <a:rPr lang="en-US" sz="1500" dirty="0">
                <a:latin typeface="Courier (W1)" pitchFamily="49" charset="0"/>
              </a:rPr>
              <a:t>&gt; par(</a:t>
            </a:r>
            <a:r>
              <a:rPr lang="en-US" sz="1500" dirty="0" err="1">
                <a:latin typeface="Courier (W1)" pitchFamily="49" charset="0"/>
              </a:rPr>
              <a:t>mfrow</a:t>
            </a:r>
            <a:r>
              <a:rPr lang="en-US" sz="1500" dirty="0">
                <a:latin typeface="Courier (W1)" pitchFamily="49" charset="0"/>
              </a:rPr>
              <a:t>=c(2,3))	# 6 total plots (2 rows &amp; 3 columns)</a:t>
            </a:r>
          </a:p>
          <a:p>
            <a:pPr lvl="1"/>
            <a:endParaRPr lang="en-US" sz="2200" dirty="0"/>
          </a:p>
          <a:p>
            <a:r>
              <a:rPr lang="en-US" sz="2600" dirty="0"/>
              <a:t>Page formatting to add margin sizes</a:t>
            </a:r>
          </a:p>
          <a:p>
            <a:pPr lvl="1"/>
            <a:r>
              <a:rPr lang="en-US" sz="1500" dirty="0">
                <a:latin typeface="Courier (W1)" pitchFamily="49" charset="0"/>
              </a:rPr>
              <a:t>&gt; par(</a:t>
            </a:r>
            <a:r>
              <a:rPr lang="en-US" sz="1500" dirty="0" err="1">
                <a:latin typeface="Courier (W1)" pitchFamily="49" charset="0"/>
              </a:rPr>
              <a:t>oma</a:t>
            </a:r>
            <a:r>
              <a:rPr lang="en-US" sz="1500" dirty="0">
                <a:latin typeface="Courier (W1)" pitchFamily="49" charset="0"/>
              </a:rPr>
              <a:t>=c(2,4,2,4))	#order is bottom, left, top, right</a:t>
            </a:r>
          </a:p>
          <a:p>
            <a:endParaRPr lang="en-US" dirty="0"/>
          </a:p>
          <a:p>
            <a:r>
              <a:rPr lang="en-US" sz="2600" dirty="0"/>
              <a:t>Plot sizes</a:t>
            </a:r>
          </a:p>
          <a:p>
            <a:pPr lvl="1"/>
            <a:r>
              <a:rPr lang="en-US" sz="1500" dirty="0">
                <a:latin typeface="Courier (W1)" pitchFamily="49" charset="0"/>
              </a:rPr>
              <a:t>&gt; par(pin=c(2,2))</a:t>
            </a:r>
          </a:p>
          <a:p>
            <a:pPr lvl="1"/>
            <a:endParaRPr lang="en-US" sz="2200" dirty="0"/>
          </a:p>
          <a:p>
            <a:r>
              <a:rPr lang="en-US" sz="2600" dirty="0"/>
              <a:t>Multiple other page format options</a:t>
            </a:r>
          </a:p>
          <a:p>
            <a:pPr lvl="1"/>
            <a:r>
              <a:rPr lang="en-US" sz="1500" dirty="0"/>
              <a:t>See help section for </a:t>
            </a:r>
            <a:r>
              <a:rPr lang="en-US" sz="1500" dirty="0">
                <a:latin typeface="Courier (W1)" pitchFamily="49" charset="0"/>
              </a:rPr>
              <a:t>par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http://www.hindawi.com/journals/mpe/2013/floats/948303/figures/948303.tab.002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933450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 dirty="0"/>
              <a:t>Example graphics using </a:t>
            </a:r>
            <a:r>
              <a:rPr lang="en-US" sz="4000" dirty="0">
                <a:latin typeface="Courier (W1)" pitchFamily="49" charset="0"/>
              </a:rPr>
              <a:t>R</a:t>
            </a:r>
            <a:endParaRPr lang="en-US" dirty="0"/>
          </a:p>
        </p:txBody>
      </p:sp>
      <p:pic>
        <p:nvPicPr>
          <p:cNvPr id="2050" name="Picture 2" descr="File:Mandelbrot Creation Animation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505075"/>
            <a:ext cx="22479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le:Em old faithful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25" y="4171950"/>
            <a:ext cx="2667000" cy="266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www.r-project.org/hpgraphic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452" y="4905376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://rltangblog.files.wordpress.com/2012/07/mv-basic-bivariate-gaussian-plot-simu001-scatterplot3d-sigma-12-0.jpe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714499"/>
            <a:ext cx="22479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ttps://encrypted-tbn1.gstatic.com/images?q=tbn:ANd9GcQVDbTN_zCbI3Hn1nI_UlSfyPzMLRkf7dxF3sy5GRtmJbCGgytl1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5000625"/>
            <a:ext cx="253365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http://www.stanford.edu/~messing/frnetlabeled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923925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http://www.springerimages.com/img/Images/BMC/MEDIUM_1471-2105-9-S9-S10-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579" y="3298229"/>
            <a:ext cx="1692048" cy="132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http://1.bp.blogspot.com/-pgMAHiIWvuw/Tql5HIXNdRI/AAAAAAAABLI/I2zPF5cLRwQ/s1600/clust.gif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202" y="1790699"/>
            <a:ext cx="2393847" cy="245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031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r>
              <a:rPr lang="en-US" dirty="0"/>
              <a:t>Data sets in </a:t>
            </a:r>
            <a:r>
              <a:rPr lang="en-US" sz="4000" dirty="0">
                <a:latin typeface="Courier (W1)" pitchFamily="49" charset="0"/>
              </a:rPr>
              <a:t>R</a:t>
            </a:r>
            <a:endParaRPr lang="en-US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/>
              <a:t>Using packages in </a:t>
            </a:r>
            <a:r>
              <a:rPr lang="en-US" sz="1200" dirty="0" err="1"/>
              <a:t>Bioconductor</a:t>
            </a:r>
            <a:r>
              <a:rPr lang="en-US" sz="1200" dirty="0"/>
              <a:t>, multiple microarray data sets are available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library(</a:t>
            </a:r>
            <a:r>
              <a:rPr lang="en-US" sz="1200" dirty="0" err="1">
                <a:latin typeface="Courier (W1)" pitchFamily="49" charset="0"/>
              </a:rPr>
              <a:t>Biobase</a:t>
            </a:r>
            <a:r>
              <a:rPr lang="en-US" sz="1200" dirty="0">
                <a:latin typeface="Courier (W1)" pitchFamily="49" charset="0"/>
              </a:rPr>
              <a:t>);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library(annotate);	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library(</a:t>
            </a:r>
            <a:r>
              <a:rPr lang="en-US" sz="1200" dirty="0" err="1">
                <a:latin typeface="Courier (W1)" pitchFamily="49" charset="0"/>
              </a:rPr>
              <a:t>golubEsets</a:t>
            </a:r>
            <a:r>
              <a:rPr lang="en-US" sz="1200" dirty="0">
                <a:latin typeface="Courier (W1)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library(</a:t>
            </a:r>
            <a:r>
              <a:rPr lang="en-US" sz="1200" dirty="0" err="1">
                <a:latin typeface="Courier (W1)" pitchFamily="49" charset="0"/>
              </a:rPr>
              <a:t>multtest</a:t>
            </a:r>
            <a:r>
              <a:rPr lang="en-US" sz="1200" dirty="0">
                <a:latin typeface="Courier (W1)" pitchFamily="49" charset="0"/>
              </a:rPr>
              <a:t>);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1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u="sng" dirty="0" err="1"/>
              <a:t>Golub</a:t>
            </a:r>
            <a:r>
              <a:rPr lang="en-US" sz="1200" u="sng" dirty="0"/>
              <a:t> et al. AML/ALL </a:t>
            </a:r>
            <a:r>
              <a:rPr lang="en-US" sz="1200" u="sng" dirty="0" err="1"/>
              <a:t>Affy</a:t>
            </a:r>
            <a:r>
              <a:rPr lang="en-US" sz="1200" u="sng" dirty="0"/>
              <a:t> data set (training set and test set are separate)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n-US" sz="1200" dirty="0">
                <a:latin typeface="Courier (W1)" pitchFamily="49" charset="0"/>
              </a:rPr>
              <a:t>data(</a:t>
            </a:r>
            <a:r>
              <a:rPr lang="en-US" sz="1200" dirty="0" err="1">
                <a:latin typeface="Courier (W1)" pitchFamily="49" charset="0"/>
              </a:rPr>
              <a:t>golubTrain</a:t>
            </a:r>
            <a:r>
              <a:rPr lang="en-US" sz="1200" dirty="0">
                <a:latin typeface="Courier (W1)" pitchFamily="49" charset="0"/>
              </a:rPr>
              <a:t>);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data(</a:t>
            </a:r>
            <a:r>
              <a:rPr lang="en-US" sz="1200" dirty="0" err="1">
                <a:latin typeface="Courier (W1)" pitchFamily="49" charset="0"/>
              </a:rPr>
              <a:t>golubTest</a:t>
            </a:r>
            <a:r>
              <a:rPr lang="en-US" sz="1200" dirty="0">
                <a:latin typeface="Courier (W1)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dat.train</a:t>
            </a:r>
            <a:r>
              <a:rPr lang="en-US" sz="1200" dirty="0">
                <a:latin typeface="Courier (W1)" pitchFamily="49" charset="0"/>
              </a:rPr>
              <a:t> &lt;- </a:t>
            </a:r>
            <a:r>
              <a:rPr lang="en-US" sz="1200" dirty="0" err="1">
                <a:latin typeface="Courier (W1)" pitchFamily="49" charset="0"/>
              </a:rPr>
              <a:t>exprs</a:t>
            </a:r>
            <a:r>
              <a:rPr lang="en-US" sz="1200" dirty="0">
                <a:latin typeface="Courier (W1)" pitchFamily="49" charset="0"/>
              </a:rPr>
              <a:t>(</a:t>
            </a:r>
            <a:r>
              <a:rPr lang="en-US" sz="1200" dirty="0" err="1">
                <a:latin typeface="Courier (W1)" pitchFamily="49" charset="0"/>
              </a:rPr>
              <a:t>golubTrain</a:t>
            </a:r>
            <a:r>
              <a:rPr lang="en-US" sz="1200" dirty="0">
                <a:latin typeface="Courier (W1)" pitchFamily="49" charset="0"/>
              </a:rPr>
              <a:t>)		 (7129 genes x 38 samples)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data(</a:t>
            </a:r>
            <a:r>
              <a:rPr lang="en-US" sz="1200" dirty="0" err="1">
                <a:latin typeface="Courier (W1)" pitchFamily="49" charset="0"/>
              </a:rPr>
              <a:t>golubTest</a:t>
            </a:r>
            <a:r>
              <a:rPr lang="en-US" sz="1200" dirty="0">
                <a:latin typeface="Courier (W1)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dat.test</a:t>
            </a:r>
            <a:r>
              <a:rPr lang="en-US" sz="1200" dirty="0">
                <a:latin typeface="Courier (W1)" pitchFamily="49" charset="0"/>
              </a:rPr>
              <a:t> &lt;- </a:t>
            </a:r>
            <a:r>
              <a:rPr lang="en-US" sz="1200" dirty="0" err="1">
                <a:latin typeface="Courier (W1)" pitchFamily="49" charset="0"/>
              </a:rPr>
              <a:t>exprs</a:t>
            </a:r>
            <a:r>
              <a:rPr lang="en-US" sz="1200" dirty="0">
                <a:latin typeface="Courier (W1)" pitchFamily="49" charset="0"/>
              </a:rPr>
              <a:t>(</a:t>
            </a:r>
            <a:r>
              <a:rPr lang="en-US" sz="1200" dirty="0" err="1">
                <a:latin typeface="Courier (W1)" pitchFamily="49" charset="0"/>
              </a:rPr>
              <a:t>golubTest</a:t>
            </a:r>
            <a:r>
              <a:rPr lang="en-US" sz="1200" dirty="0">
                <a:latin typeface="Courier (W1)" pitchFamily="49" charset="0"/>
              </a:rPr>
              <a:t>) 		(7129 genes x 34 samples)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clas</a:t>
            </a:r>
            <a:r>
              <a:rPr lang="en-US" sz="1200" dirty="0">
                <a:latin typeface="Courier (W1)" pitchFamily="49" charset="0"/>
              </a:rPr>
              <a:t> &lt;- </a:t>
            </a:r>
            <a:r>
              <a:rPr lang="en-US" sz="1200" dirty="0" err="1">
                <a:latin typeface="Courier (W1)" pitchFamily="49" charset="0"/>
              </a:rPr>
              <a:t>pData</a:t>
            </a:r>
            <a:r>
              <a:rPr lang="en-US" sz="1200" dirty="0">
                <a:latin typeface="Courier (W1)" pitchFamily="49" charset="0"/>
              </a:rPr>
              <a:t>(</a:t>
            </a:r>
            <a:r>
              <a:rPr lang="en-US" sz="1200" dirty="0" err="1">
                <a:latin typeface="Courier (W1)" pitchFamily="49" charset="0"/>
              </a:rPr>
              <a:t>phenoData</a:t>
            </a:r>
            <a:r>
              <a:rPr lang="en-US" sz="1200" dirty="0">
                <a:latin typeface="Courier (W1)" pitchFamily="49" charset="0"/>
              </a:rPr>
              <a:t>(</a:t>
            </a:r>
            <a:r>
              <a:rPr lang="en-US" sz="1200" dirty="0" err="1">
                <a:latin typeface="Courier (W1)" pitchFamily="49" charset="0"/>
              </a:rPr>
              <a:t>golubTrain</a:t>
            </a:r>
            <a:r>
              <a:rPr lang="en-US" sz="1200" dirty="0">
                <a:latin typeface="Courier (W1)" pitchFamily="49" charset="0"/>
              </a:rPr>
              <a:t>))	(class labels for training set samples)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or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data(</a:t>
            </a:r>
            <a:r>
              <a:rPr lang="en-US" sz="1200" dirty="0" err="1">
                <a:latin typeface="Courier (W1)" pitchFamily="49" charset="0"/>
              </a:rPr>
              <a:t>golub</a:t>
            </a:r>
            <a:r>
              <a:rPr lang="en-US" sz="1200" dirty="0">
                <a:latin typeface="Courier (W1)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smallgd</a:t>
            </a:r>
            <a:r>
              <a:rPr lang="en-US" sz="1200" dirty="0">
                <a:latin typeface="Courier (W1)" pitchFamily="49" charset="0"/>
              </a:rPr>
              <a:t>&lt;-</a:t>
            </a:r>
            <a:r>
              <a:rPr lang="en-US" sz="1200" dirty="0" err="1">
                <a:latin typeface="Courier (W1)" pitchFamily="49" charset="0"/>
              </a:rPr>
              <a:t>golub</a:t>
            </a:r>
            <a:r>
              <a:rPr lang="en-US" sz="1200" dirty="0">
                <a:latin typeface="Courier (W1)" pitchFamily="49" charset="0"/>
              </a:rPr>
              <a:t> 		(7129 genes x 38 samples)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classlabel</a:t>
            </a:r>
            <a:r>
              <a:rPr lang="en-US" sz="1200" dirty="0">
                <a:latin typeface="Courier (W1)" pitchFamily="49" charset="0"/>
              </a:rPr>
              <a:t>&lt;-golub.cl		# class labels for training set samples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2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u="sng" dirty="0" err="1"/>
              <a:t>Alon</a:t>
            </a:r>
            <a:r>
              <a:rPr lang="en-US" sz="1200" u="sng" dirty="0"/>
              <a:t> et al. colon cancer </a:t>
            </a:r>
            <a:r>
              <a:rPr lang="en-US" sz="1200" u="sng" dirty="0" err="1"/>
              <a:t>Affy</a:t>
            </a:r>
            <a:r>
              <a:rPr lang="en-US" sz="1200" u="sng" dirty="0"/>
              <a:t> data set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n-US" sz="1200" dirty="0">
                <a:latin typeface="Courier (W1)" pitchFamily="49" charset="0"/>
              </a:rPr>
              <a:t>library(</a:t>
            </a:r>
            <a:r>
              <a:rPr lang="en-US" sz="1200" dirty="0" err="1">
                <a:latin typeface="Courier (W1)" pitchFamily="49" charset="0"/>
              </a:rPr>
              <a:t>colonCA</a:t>
            </a:r>
            <a:r>
              <a:rPr lang="en-US" sz="1200" dirty="0">
                <a:latin typeface="Courier (W1)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data(</a:t>
            </a:r>
            <a:r>
              <a:rPr lang="en-US" sz="1200" dirty="0" err="1">
                <a:latin typeface="Courier (W1)" pitchFamily="49" charset="0"/>
              </a:rPr>
              <a:t>colonCA</a:t>
            </a:r>
            <a:r>
              <a:rPr lang="en-US" sz="1200" dirty="0">
                <a:latin typeface="Courier (W1)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dat</a:t>
            </a:r>
            <a:r>
              <a:rPr lang="en-US" sz="1200" dirty="0">
                <a:latin typeface="Courier (W1)" pitchFamily="49" charset="0"/>
              </a:rPr>
              <a:t> &lt;- </a:t>
            </a:r>
            <a:r>
              <a:rPr lang="en-US" sz="1200" dirty="0" err="1">
                <a:latin typeface="Courier (W1)" pitchFamily="49" charset="0"/>
              </a:rPr>
              <a:t>exprs</a:t>
            </a:r>
            <a:r>
              <a:rPr lang="en-US" sz="1200" dirty="0">
                <a:latin typeface="Courier (W1)" pitchFamily="49" charset="0"/>
              </a:rPr>
              <a:t>(</a:t>
            </a:r>
            <a:r>
              <a:rPr lang="en-US" sz="1200" dirty="0" err="1">
                <a:latin typeface="Courier (W1)" pitchFamily="49" charset="0"/>
              </a:rPr>
              <a:t>colonCA</a:t>
            </a:r>
            <a:r>
              <a:rPr lang="en-US" sz="1200" dirty="0">
                <a:latin typeface="Courier (W1)" pitchFamily="49" charset="0"/>
              </a:rPr>
              <a:t>)		(2000 genes x 62 samples)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classlabel</a:t>
            </a:r>
            <a:r>
              <a:rPr lang="en-US" sz="1200" dirty="0">
                <a:latin typeface="Courier (W1)" pitchFamily="49" charset="0"/>
              </a:rPr>
              <a:t> &lt;- </a:t>
            </a:r>
            <a:r>
              <a:rPr lang="en-US" sz="1200" dirty="0" err="1">
                <a:latin typeface="Courier (W1)" pitchFamily="49" charset="0"/>
              </a:rPr>
              <a:t>colonCA$class</a:t>
            </a:r>
            <a:r>
              <a:rPr lang="en-US" sz="1200" dirty="0">
                <a:latin typeface="Courier (W1)" pitchFamily="49" charset="0"/>
              </a:rPr>
              <a:t>	# class labels for samples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2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u="sng" dirty="0"/>
              <a:t>Some unidentified </a:t>
            </a:r>
            <a:r>
              <a:rPr lang="en-US" sz="1200" u="sng" dirty="0" err="1"/>
              <a:t>Affy</a:t>
            </a:r>
            <a:r>
              <a:rPr lang="en-US" sz="1200" u="sng" dirty="0"/>
              <a:t> data set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n-US" sz="1200" dirty="0">
                <a:latin typeface="Courier (W1)" pitchFamily="49" charset="0"/>
              </a:rPr>
              <a:t>data(</a:t>
            </a:r>
            <a:r>
              <a:rPr lang="en-US" sz="1200" dirty="0" err="1">
                <a:latin typeface="Courier (W1)" pitchFamily="49" charset="0"/>
              </a:rPr>
              <a:t>geneData</a:t>
            </a:r>
            <a:r>
              <a:rPr lang="en-US" sz="1200" dirty="0">
                <a:latin typeface="Courier (W1)" pitchFamily="49" charset="0"/>
              </a:rPr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200" dirty="0">
                <a:latin typeface="Courier (W1)" pitchFamily="49" charset="0"/>
              </a:rPr>
              <a:t>	</a:t>
            </a:r>
            <a:r>
              <a:rPr lang="en-US" sz="1200" dirty="0" err="1">
                <a:latin typeface="Courier (W1)" pitchFamily="49" charset="0"/>
              </a:rPr>
              <a:t>dat</a:t>
            </a:r>
            <a:r>
              <a:rPr lang="en-US" sz="1200" dirty="0">
                <a:latin typeface="Courier (W1)" pitchFamily="49" charset="0"/>
              </a:rPr>
              <a:t> &lt;- </a:t>
            </a:r>
            <a:r>
              <a:rPr lang="en-US" sz="1200" dirty="0" err="1">
                <a:latin typeface="Courier (W1)" pitchFamily="49" charset="0"/>
              </a:rPr>
              <a:t>geneData</a:t>
            </a:r>
            <a:r>
              <a:rPr lang="en-US" sz="1200" dirty="0">
                <a:latin typeface="Courier (W1)" pitchFamily="49" charset="0"/>
              </a:rPr>
              <a:t>	(500 genes x 26 samples)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543800" cy="944562"/>
          </a:xfrm>
        </p:spPr>
        <p:txBody>
          <a:bodyPr/>
          <a:lstStyle/>
          <a:p>
            <a:r>
              <a:rPr lang="en-US" sz="3200" dirty="0"/>
              <a:t>Getting data sets from </a:t>
            </a:r>
            <a:r>
              <a:rPr lang="en-US" sz="3200" dirty="0" err="1"/>
              <a:t>Bioconductor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92CE4-93B1-4B10-AFBE-E8F993900D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00" t="10844" r="24999" b="1806"/>
          <a:stretch/>
        </p:blipFill>
        <p:spPr>
          <a:xfrm>
            <a:off x="342900" y="2438400"/>
            <a:ext cx="3884294" cy="3754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AB7EB4-9432-455A-9230-694FAB7598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00" t="12650" r="24999" b="3613"/>
          <a:stretch/>
        </p:blipFill>
        <p:spPr>
          <a:xfrm>
            <a:off x="5029200" y="2438400"/>
            <a:ext cx="3884294" cy="35994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543800" cy="868362"/>
          </a:xfrm>
        </p:spPr>
        <p:txBody>
          <a:bodyPr/>
          <a:lstStyle/>
          <a:p>
            <a:r>
              <a:rPr lang="en-US" sz="2600" dirty="0"/>
              <a:t>Getting data sets from </a:t>
            </a:r>
            <a:r>
              <a:rPr lang="en-US" sz="2600" dirty="0" err="1"/>
              <a:t>Bioconductor</a:t>
            </a:r>
            <a:r>
              <a:rPr lang="en-US" sz="2600" dirty="0"/>
              <a:t> (cont.)</a:t>
            </a:r>
          </a:p>
        </p:txBody>
      </p:sp>
      <p:sp>
        <p:nvSpPr>
          <p:cNvPr id="116751" name="Rectangle 15"/>
          <p:cNvSpPr>
            <a:spLocks noChangeArrowheads="1"/>
          </p:cNvSpPr>
          <p:nvPr/>
        </p:nvSpPr>
        <p:spPr bwMode="auto">
          <a:xfrm>
            <a:off x="533400" y="1578333"/>
            <a:ext cx="7848600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0" dirty="0"/>
              <a:t>Once the zip file has been downloaded to a local directory, go into </a:t>
            </a:r>
            <a:r>
              <a:rPr lang="en-US" sz="2400" dirty="0">
                <a:latin typeface="Courier (W1)" pitchFamily="49" charset="0"/>
              </a:rPr>
              <a:t>R </a:t>
            </a:r>
            <a:r>
              <a:rPr lang="en-US" sz="2200" b="0" dirty="0"/>
              <a:t>and use package instructions to install zip file from local directory</a:t>
            </a:r>
          </a:p>
          <a:p>
            <a:endParaRPr lang="en-US" sz="2200" b="0" dirty="0"/>
          </a:p>
          <a:p>
            <a:r>
              <a:rPr lang="en-US" sz="2200" b="0" dirty="0"/>
              <a:t>Then,</a:t>
            </a:r>
          </a:p>
          <a:p>
            <a:endParaRPr lang="en-US" sz="2200" b="0" dirty="0"/>
          </a:p>
          <a:p>
            <a:r>
              <a:rPr lang="en-US" sz="2200" b="0" dirty="0"/>
              <a:t>access data from data object as follows:</a:t>
            </a:r>
          </a:p>
          <a:p>
            <a:endParaRPr lang="en-US" sz="2200" b="0" dirty="0"/>
          </a:p>
          <a:p>
            <a:r>
              <a:rPr lang="en-US" sz="1800" b="0" dirty="0"/>
              <a:t># load package from local drive</a:t>
            </a:r>
          </a:p>
          <a:p>
            <a:r>
              <a:rPr lang="en-US" sz="1800" b="0" dirty="0"/>
              <a:t>&gt; </a:t>
            </a:r>
            <a:r>
              <a:rPr lang="en-US" sz="1800" b="0" dirty="0">
                <a:latin typeface="Courier (W1)" pitchFamily="49" charset="0"/>
              </a:rPr>
              <a:t>library(</a:t>
            </a:r>
            <a:r>
              <a:rPr lang="en-US" sz="1800" b="0" dirty="0" err="1">
                <a:latin typeface="Courier (W1)" pitchFamily="49" charset="0"/>
              </a:rPr>
              <a:t>Biobase</a:t>
            </a:r>
            <a:r>
              <a:rPr lang="en-US" sz="1800" b="0" dirty="0">
                <a:latin typeface="Courier (W1)" pitchFamily="49" charset="0"/>
              </a:rPr>
              <a:t>)</a:t>
            </a:r>
          </a:p>
          <a:p>
            <a:r>
              <a:rPr lang="en-US" sz="1800" b="0" dirty="0">
                <a:latin typeface="Courier (W1)" pitchFamily="49" charset="0"/>
              </a:rPr>
              <a:t>&gt; library(annotate)	</a:t>
            </a:r>
          </a:p>
          <a:p>
            <a:r>
              <a:rPr lang="en-US" sz="1800" b="0" dirty="0">
                <a:latin typeface="Courier (W1)" pitchFamily="49" charset="0"/>
              </a:rPr>
              <a:t>&gt; library(</a:t>
            </a:r>
            <a:r>
              <a:rPr lang="en-US" sz="1800" b="0" dirty="0" err="1">
                <a:latin typeface="Courier (W1)" pitchFamily="49" charset="0"/>
              </a:rPr>
              <a:t>colonCA</a:t>
            </a:r>
            <a:r>
              <a:rPr lang="en-US" sz="1800" b="0" dirty="0">
                <a:latin typeface="Courier (W1)" pitchFamily="49" charset="0"/>
              </a:rPr>
              <a:t>)</a:t>
            </a:r>
          </a:p>
          <a:p>
            <a:r>
              <a:rPr lang="en-US" sz="1800" b="0" dirty="0">
                <a:latin typeface="Courier (W1)" pitchFamily="49" charset="0"/>
              </a:rPr>
              <a:t>&gt; data(</a:t>
            </a:r>
            <a:r>
              <a:rPr lang="en-US" sz="1800" b="0" dirty="0" err="1">
                <a:latin typeface="Courier (W1)" pitchFamily="49" charset="0"/>
              </a:rPr>
              <a:t>colonCA</a:t>
            </a:r>
            <a:r>
              <a:rPr lang="en-US" sz="1800" b="0" dirty="0">
                <a:latin typeface="Courier (W1)" pitchFamily="49" charset="0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en-US" sz="1800" b="0" dirty="0">
                <a:latin typeface="Courier (W1)" pitchFamily="49" charset="0"/>
              </a:rPr>
              <a:t>&gt; </a:t>
            </a:r>
            <a:r>
              <a:rPr lang="en-US" sz="1800" b="0" dirty="0" err="1">
                <a:latin typeface="Courier (W1)" pitchFamily="49" charset="0"/>
              </a:rPr>
              <a:t>dat</a:t>
            </a:r>
            <a:r>
              <a:rPr lang="en-US" sz="1800" b="0" dirty="0">
                <a:latin typeface="Courier (W1)" pitchFamily="49" charset="0"/>
              </a:rPr>
              <a:t> &lt;- </a:t>
            </a:r>
            <a:r>
              <a:rPr lang="en-US" sz="1800" b="0" dirty="0" err="1">
                <a:latin typeface="Courier (W1)" pitchFamily="49" charset="0"/>
              </a:rPr>
              <a:t>exprs</a:t>
            </a:r>
            <a:r>
              <a:rPr lang="en-US" sz="1800" b="0" dirty="0">
                <a:latin typeface="Courier (W1)" pitchFamily="49" charset="0"/>
              </a:rPr>
              <a:t>(</a:t>
            </a:r>
            <a:r>
              <a:rPr lang="en-US" sz="1800" b="0" dirty="0" err="1">
                <a:latin typeface="Courier (W1)" pitchFamily="49" charset="0"/>
              </a:rPr>
              <a:t>colonCA</a:t>
            </a:r>
            <a:r>
              <a:rPr lang="en-US" sz="1800" b="0" dirty="0">
                <a:latin typeface="Courier (W1)" pitchFamily="49" charset="0"/>
              </a:rPr>
              <a:t>)		# expression data</a:t>
            </a:r>
          </a:p>
          <a:p>
            <a:pPr>
              <a:buFont typeface="Wingdings" pitchFamily="2" charset="2"/>
              <a:buNone/>
            </a:pPr>
            <a:r>
              <a:rPr lang="en-US" sz="1800" b="0" dirty="0">
                <a:latin typeface="Courier (W1)" pitchFamily="49" charset="0"/>
              </a:rPr>
              <a:t>&gt;</a:t>
            </a:r>
            <a:r>
              <a:rPr lang="en-US" sz="1800" dirty="0">
                <a:latin typeface="Courier (W1)" pitchFamily="49" charset="0"/>
              </a:rPr>
              <a:t> </a:t>
            </a:r>
            <a:r>
              <a:rPr lang="en-US" sz="1800" b="0" dirty="0">
                <a:latin typeface="Courier (W1)" pitchFamily="49" charset="0"/>
              </a:rPr>
              <a:t>ann.dat &lt;- </a:t>
            </a:r>
            <a:r>
              <a:rPr lang="en-US" sz="1800" b="0" dirty="0" err="1">
                <a:latin typeface="Courier (W1)" pitchFamily="49" charset="0"/>
              </a:rPr>
              <a:t>colonCA$class</a:t>
            </a:r>
            <a:r>
              <a:rPr lang="en-US" sz="1800" b="0" dirty="0">
                <a:latin typeface="Courier (W1)" pitchFamily="49" charset="0"/>
              </a:rPr>
              <a:t>	# annotations for samples</a:t>
            </a:r>
          </a:p>
          <a:p>
            <a:pPr eaLnBrk="0" hangingPunct="0"/>
            <a:endParaRPr lang="en-US" sz="1800" b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/>
              <a:t>References</a:t>
            </a: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800" b="0" dirty="0"/>
              <a:t>R Primer: http://www.r-project.org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800" b="0" dirty="0"/>
              <a:t>Introductory Statistics with R, Peter </a:t>
            </a:r>
            <a:r>
              <a:rPr lang="en-US" sz="1800" b="0" dirty="0" err="1"/>
              <a:t>Dalgaard</a:t>
            </a:r>
            <a:endParaRPr lang="en-US" sz="1800" b="0" dirty="0"/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800" b="0" dirty="0"/>
              <a:t>http://en.wikibooks.org/wiki/R_Programming/Graphics#Standard_R_graphs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</a:pPr>
            <a:r>
              <a:rPr lang="en-US" sz="1800" b="0" dirty="0"/>
              <a:t>https://www.stat.auckland.ac.nz/~paul/RG2e/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888</TotalTime>
  <Words>3090</Words>
  <Application>Microsoft Office PowerPoint</Application>
  <PresentationFormat>On-screen Show (4:3)</PresentationFormat>
  <Paragraphs>438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Courier (W1)</vt:lpstr>
      <vt:lpstr>Courier New</vt:lpstr>
      <vt:lpstr>Wingdings</vt:lpstr>
      <vt:lpstr>Network</vt:lpstr>
      <vt:lpstr>Lecture #2</vt:lpstr>
      <vt:lpstr>Outline</vt:lpstr>
      <vt:lpstr>R applications and popularity</vt:lpstr>
      <vt:lpstr>What is R?</vt:lpstr>
      <vt:lpstr>History of R</vt:lpstr>
      <vt:lpstr>Basic syntax rules</vt:lpstr>
      <vt:lpstr>Basic syntax rules (cont.)</vt:lpstr>
      <vt:lpstr>Mathematical calculations</vt:lpstr>
      <vt:lpstr>Mathematical functions on vectors</vt:lpstr>
      <vt:lpstr>Vectors</vt:lpstr>
      <vt:lpstr>Misc. vector operations</vt:lpstr>
      <vt:lpstr>Matrices</vt:lpstr>
      <vt:lpstr>Data frames</vt:lpstr>
      <vt:lpstr>Logical Operators</vt:lpstr>
      <vt:lpstr>Casting</vt:lpstr>
      <vt:lpstr>Read in/Write out</vt:lpstr>
      <vt:lpstr>Iteration &amp; if functions</vt:lpstr>
      <vt:lpstr>Packages</vt:lpstr>
      <vt:lpstr>Libraries &amp; Functions</vt:lpstr>
      <vt:lpstr>Packages &amp; Libraries</vt:lpstr>
      <vt:lpstr>Plotting commands</vt:lpstr>
      <vt:lpstr>Plotting commands (steps)</vt:lpstr>
      <vt:lpstr>Plot example</vt:lpstr>
      <vt:lpstr>Other plotting functions</vt:lpstr>
      <vt:lpstr>R package ggplot2</vt:lpstr>
      <vt:lpstr>R package ggplot2</vt:lpstr>
      <vt:lpstr>Wiki site for R graphics</vt:lpstr>
      <vt:lpstr>Par commands</vt:lpstr>
      <vt:lpstr>Example graphics using R</vt:lpstr>
      <vt:lpstr>Data sets in R</vt:lpstr>
      <vt:lpstr>Getting data sets from Bioconductor</vt:lpstr>
      <vt:lpstr>Getting data sets from Bioconductor (cont.)</vt:lpstr>
      <vt:lpstr>References</vt:lpstr>
    </vt:vector>
  </TitlesOfParts>
  <Company>Gene Logic,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bhiggs</dc:creator>
  <cp:lastModifiedBy>Brandon Higgs (NJ)</cp:lastModifiedBy>
  <cp:revision>207</cp:revision>
  <dcterms:created xsi:type="dcterms:W3CDTF">2004-02-02T19:40:01Z</dcterms:created>
  <dcterms:modified xsi:type="dcterms:W3CDTF">2021-08-24T17:51:43Z</dcterms:modified>
</cp:coreProperties>
</file>